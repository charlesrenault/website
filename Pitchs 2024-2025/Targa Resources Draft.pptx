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Arial Narrow"/>
      <p:regular r:id="rId30"/>
      <p:bold r:id="rId31"/>
      <p:italic r:id="rId32"/>
      <p:boldItalic r:id="rId33"/>
    </p:embeddedFont>
    <p:embeddedFont>
      <p:font typeface="Open Sans Light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2" roundtripDataSignature="AMtx7miq6y0Ax8sYVJ5H3h/AGr/HExAz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5B8AA7-C280-4B67-883E-E709F7526369}">
  <a:tblStyle styleId="{965B8AA7-C280-4B67-883E-E709F752636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2D6F53A8-0D2E-4CC3-9AB9-82E8753ABF8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alNarrow-bold.fntdata"/><Relationship Id="rId30" Type="http://schemas.openxmlformats.org/officeDocument/2006/relationships/font" Target="fonts/ArialNarrow-regular.fntdata"/><Relationship Id="rId11" Type="http://schemas.openxmlformats.org/officeDocument/2006/relationships/slide" Target="slides/slide5.xml"/><Relationship Id="rId33" Type="http://schemas.openxmlformats.org/officeDocument/2006/relationships/font" Target="fonts/ArialNarrow-boldItalic.fntdata"/><Relationship Id="rId10" Type="http://schemas.openxmlformats.org/officeDocument/2006/relationships/slide" Target="slides/slide4.xml"/><Relationship Id="rId32" Type="http://schemas.openxmlformats.org/officeDocument/2006/relationships/font" Target="fonts/ArialNarrow-italic.fntdata"/><Relationship Id="rId13" Type="http://schemas.openxmlformats.org/officeDocument/2006/relationships/slide" Target="slides/slide7.xml"/><Relationship Id="rId35" Type="http://schemas.openxmlformats.org/officeDocument/2006/relationships/font" Target="fonts/OpenSansLight-bold.fntdata"/><Relationship Id="rId12" Type="http://schemas.openxmlformats.org/officeDocument/2006/relationships/slide" Target="slides/slide6.xml"/><Relationship Id="rId34" Type="http://schemas.openxmlformats.org/officeDocument/2006/relationships/font" Target="fonts/OpenSansLight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Light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000"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3cb6d3ced7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3cb6d3ce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3cb6d3ced7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3cb6d3ced7_1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3cb6d3ced7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3cb6d3ced7_1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ctrTitle"/>
          </p:nvPr>
        </p:nvSpPr>
        <p:spPr>
          <a:xfrm>
            <a:off x="381000" y="2680771"/>
            <a:ext cx="7772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381000" y="3352800"/>
            <a:ext cx="64008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4" name="Google Shape;24;p23"/>
          <p:cNvCxnSpPr/>
          <p:nvPr/>
        </p:nvCxnSpPr>
        <p:spPr>
          <a:xfrm>
            <a:off x="0" y="838200"/>
            <a:ext cx="9144000" cy="1588"/>
          </a:xfrm>
          <a:prstGeom prst="straightConnector1">
            <a:avLst/>
          </a:prstGeom>
          <a:noFill/>
          <a:ln cap="flat" cmpd="sng" w="222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23"/>
          <p:cNvSpPr/>
          <p:nvPr/>
        </p:nvSpPr>
        <p:spPr>
          <a:xfrm>
            <a:off x="0" y="838200"/>
            <a:ext cx="155448" cy="374904"/>
          </a:xfrm>
          <a:prstGeom prst="rect">
            <a:avLst/>
          </a:prstGeom>
          <a:solidFill>
            <a:srgbClr val="2A90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54278" y="121136"/>
            <a:ext cx="513737" cy="671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427300" y="1646238"/>
            <a:ext cx="9136380" cy="1341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>
            <a:lvl1pPr indent="-33528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▪"/>
              <a:defRPr b="0" i="0" u="none"/>
            </a:lvl1pPr>
            <a:lvl2pPr indent="-33528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/>
            </a:lvl2pPr>
            <a:lvl3pPr indent="-33528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⮚"/>
              <a:defRPr/>
            </a:lvl3pPr>
            <a:lvl4pPr indent="-33528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/>
            </a:lvl4pPr>
            <a:lvl5pPr indent="-335279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type="title"/>
          </p:nvPr>
        </p:nvSpPr>
        <p:spPr>
          <a:xfrm>
            <a:off x="381000" y="386834"/>
            <a:ext cx="8305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" name="Google Shape;31;p24"/>
          <p:cNvCxnSpPr/>
          <p:nvPr/>
        </p:nvCxnSpPr>
        <p:spPr>
          <a:xfrm>
            <a:off x="0" y="838200"/>
            <a:ext cx="9144000" cy="1588"/>
          </a:xfrm>
          <a:prstGeom prst="straightConnector1">
            <a:avLst/>
          </a:prstGeom>
          <a:noFill/>
          <a:ln cap="flat" cmpd="sng" w="222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4"/>
          <p:cNvSpPr/>
          <p:nvPr/>
        </p:nvSpPr>
        <p:spPr>
          <a:xfrm>
            <a:off x="0" y="838200"/>
            <a:ext cx="155448" cy="374904"/>
          </a:xfrm>
          <a:prstGeom prst="rect">
            <a:avLst/>
          </a:prstGeom>
          <a:solidFill>
            <a:srgbClr val="2A90B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24"/>
          <p:cNvCxnSpPr/>
          <p:nvPr/>
        </p:nvCxnSpPr>
        <p:spPr>
          <a:xfrm>
            <a:off x="0" y="6248400"/>
            <a:ext cx="9144000" cy="1588"/>
          </a:xfrm>
          <a:prstGeom prst="straightConnector1">
            <a:avLst/>
          </a:prstGeom>
          <a:noFill/>
          <a:ln cap="flat" cmpd="sng" w="222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4" name="Google Shape;3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54278" y="121136"/>
            <a:ext cx="513737" cy="671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381000" y="386834"/>
            <a:ext cx="8305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381000" y="1646238"/>
            <a:ext cx="8305800" cy="1341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⮚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528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5279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Arial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/>
        </p:nvSpPr>
        <p:spPr>
          <a:xfrm>
            <a:off x="-3429000" y="386834"/>
            <a:ext cx="32004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Arial Slide Title – 24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Content/Section Title Text – 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Bullet and Subtitle Text –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Chart, Profile, and Currency Text –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2"/>
          <p:cNvSpPr/>
          <p:nvPr/>
        </p:nvSpPr>
        <p:spPr>
          <a:xfrm>
            <a:off x="-2186151" y="2659942"/>
            <a:ext cx="1957551" cy="4635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Outline: black, ½ 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2"/>
          <p:cNvSpPr/>
          <p:nvPr/>
        </p:nvSpPr>
        <p:spPr>
          <a:xfrm>
            <a:off x="-2186151" y="3383473"/>
            <a:ext cx="1957551" cy="466344"/>
          </a:xfrm>
          <a:prstGeom prst="rect">
            <a:avLst/>
          </a:prstGeom>
          <a:solidFill>
            <a:srgbClr val="CCD1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204 – 209 – 215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2"/>
          <p:cNvSpPr/>
          <p:nvPr/>
        </p:nvSpPr>
        <p:spPr>
          <a:xfrm>
            <a:off x="-2186151" y="4109848"/>
            <a:ext cx="1957551" cy="466344"/>
          </a:xfrm>
          <a:prstGeom prst="rect">
            <a:avLst/>
          </a:prstGeom>
          <a:solidFill>
            <a:srgbClr val="485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72 – 80 – 89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2"/>
          <p:cNvSpPr/>
          <p:nvPr/>
        </p:nvSpPr>
        <p:spPr>
          <a:xfrm>
            <a:off x="-2186151" y="4836223"/>
            <a:ext cx="1957551" cy="466344"/>
          </a:xfrm>
          <a:prstGeom prst="rect">
            <a:avLst/>
          </a:prstGeom>
          <a:solidFill>
            <a:srgbClr val="5E7C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94 – 124 – 158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2"/>
          <p:cNvSpPr/>
          <p:nvPr/>
        </p:nvSpPr>
        <p:spPr>
          <a:xfrm>
            <a:off x="-2186151" y="5562600"/>
            <a:ext cx="1957551" cy="466344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17 – 61 – 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2"/>
          <p:cNvSpPr/>
          <p:nvPr/>
        </p:nvSpPr>
        <p:spPr>
          <a:xfrm>
            <a:off x="-2186151" y="1936411"/>
            <a:ext cx="1957551" cy="46350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Normal shapes w/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2"/>
          <p:cNvSpPr txBox="1"/>
          <p:nvPr/>
        </p:nvSpPr>
        <p:spPr>
          <a:xfrm>
            <a:off x="239485" y="6400412"/>
            <a:ext cx="3537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A90BC"/>
                </a:solidFill>
                <a:latin typeface="Arial Narrow"/>
                <a:ea typeface="Arial Narrow"/>
                <a:cs typeface="Arial Narrow"/>
                <a:sym typeface="Arial Narrow"/>
              </a:rPr>
              <a:t>ESSEC Capital Investments Club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inance.yahoo.com/quote/TRGP/key-statistics/" TargetMode="External"/><Relationship Id="rId4" Type="http://schemas.openxmlformats.org/officeDocument/2006/relationships/hyperlink" Target="https://www.targaresources.com/investors/events" TargetMode="External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hyperlink" Target="https://www.targaresources.com/static-files/6baad9cb-15e2-4dae-8606-55972406dd30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marketscreener.com/quote/stock/TARGA-RESOURCES-CORP-6948144/finances/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https://finance.yahoo.com/quote/TRGP/holder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hyperlink" Target="https://www.tipranks.com/stocks/trgp/foreca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/>
          <p:nvPr/>
        </p:nvSpPr>
        <p:spPr>
          <a:xfrm>
            <a:off x="392763" y="3267215"/>
            <a:ext cx="8358475" cy="1287899"/>
          </a:xfrm>
          <a:prstGeom prst="parallelogram">
            <a:avLst>
              <a:gd fmla="val 25000" name="adj"/>
            </a:avLst>
          </a:prstGeom>
          <a:solidFill>
            <a:srgbClr val="333F44"/>
          </a:solidFill>
          <a:ln cap="flat" cmpd="sng" w="25400">
            <a:solidFill>
              <a:srgbClr val="33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358273" y="3267215"/>
            <a:ext cx="2392964" cy="1287899"/>
          </a:xfrm>
          <a:prstGeom prst="parallelogram">
            <a:avLst>
              <a:gd fmla="val 25000" name="adj"/>
            </a:avLst>
          </a:prstGeom>
          <a:solidFill>
            <a:srgbClr val="2A90BC"/>
          </a:solidFill>
          <a:ln cap="flat" cmpd="sng" w="25400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 txBox="1"/>
          <p:nvPr/>
        </p:nvSpPr>
        <p:spPr>
          <a:xfrm>
            <a:off x="927284" y="3616721"/>
            <a:ext cx="4896468" cy="2866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pen Sans Light"/>
              <a:buNone/>
            </a:pPr>
            <a:r>
              <a:rPr lang="en-US" sz="2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Targa Resources (TRGP)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1110293" y="3877661"/>
            <a:ext cx="4058523" cy="262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2</a:t>
            </a:r>
            <a:r>
              <a:rPr b="0" i="0" lang="en-US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4/</a:t>
            </a:r>
            <a:r>
              <a:rPr lang="en-US" sz="15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02</a:t>
            </a:r>
            <a:r>
              <a:rPr b="0" i="0" lang="en-US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/202</a:t>
            </a:r>
            <a:r>
              <a:rPr lang="en-US" sz="15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6713516" y="3521501"/>
            <a:ext cx="1503200" cy="1851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50" spcFirstLastPara="1" rIns="68550" wrap="square" tIns="3427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ECI Utilities</a:t>
            </a:r>
            <a:endParaRPr b="0" i="0" sz="825" u="none" cap="none" strike="noStrike">
              <a:solidFill>
                <a:srgbClr val="00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3236559" y="6384794"/>
            <a:ext cx="5371414" cy="473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This  presentation is for informational purposes only and is not an offer to buy or sell or a solicitation to buy or sell any securities, investment products or other financial product or service, or an official confirmation of any transaction.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927284" y="2480153"/>
            <a:ext cx="33941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325" y="1589473"/>
            <a:ext cx="4896476" cy="1396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451811" y="1453332"/>
            <a:ext cx="2457450" cy="734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Table of 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2419453" y="1334814"/>
            <a:ext cx="2763827" cy="336716"/>
            <a:chOff x="321275" y="1079156"/>
            <a:chExt cx="4458973" cy="408143"/>
          </a:xfrm>
        </p:grpSpPr>
        <p:sp>
          <p:nvSpPr>
            <p:cNvPr id="53" name="Google Shape;53;p2"/>
            <p:cNvSpPr/>
            <p:nvPr/>
          </p:nvSpPr>
          <p:spPr>
            <a:xfrm>
              <a:off x="424248" y="1179521"/>
              <a:ext cx="4356000" cy="307778"/>
            </a:xfrm>
            <a:prstGeom prst="rect">
              <a:avLst/>
            </a:prstGeom>
            <a:solidFill>
              <a:srgbClr val="333F44"/>
            </a:solidFill>
            <a:ln>
              <a:noFill/>
            </a:ln>
          </p:spPr>
          <p:txBody>
            <a:bodyPr anchorCtr="0" anchor="ctr" bIns="34275" lIns="135000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Company Overview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21275" y="1079156"/>
              <a:ext cx="304920" cy="229091"/>
            </a:xfrm>
            <a:prstGeom prst="ellipse">
              <a:avLst/>
            </a:prstGeom>
            <a:solidFill>
              <a:srgbClr val="333F44"/>
            </a:solidFill>
            <a:ln cap="flat" cmpd="sng" w="19050">
              <a:solidFill>
                <a:srgbClr val="2A90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2"/>
          <p:cNvSpPr txBox="1"/>
          <p:nvPr/>
        </p:nvSpPr>
        <p:spPr>
          <a:xfrm>
            <a:off x="2605146" y="1690425"/>
            <a:ext cx="2517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Company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2605146" y="1955510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Business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2605146" y="2220595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Operating Forecast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2605146" y="2485680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Shareholder Ownership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2"/>
          <p:cNvGrpSpPr/>
          <p:nvPr/>
        </p:nvGrpSpPr>
        <p:grpSpPr>
          <a:xfrm>
            <a:off x="2419453" y="2915968"/>
            <a:ext cx="2763827" cy="336716"/>
            <a:chOff x="321275" y="1079156"/>
            <a:chExt cx="4458973" cy="408142"/>
          </a:xfrm>
        </p:grpSpPr>
        <p:sp>
          <p:nvSpPr>
            <p:cNvPr id="60" name="Google Shape;60;p2"/>
            <p:cNvSpPr/>
            <p:nvPr/>
          </p:nvSpPr>
          <p:spPr>
            <a:xfrm>
              <a:off x="424248" y="1179520"/>
              <a:ext cx="4356000" cy="307778"/>
            </a:xfrm>
            <a:prstGeom prst="rect">
              <a:avLst/>
            </a:prstGeom>
            <a:solidFill>
              <a:srgbClr val="333F44"/>
            </a:solidFill>
            <a:ln>
              <a:noFill/>
            </a:ln>
          </p:spPr>
          <p:txBody>
            <a:bodyPr anchorCtr="0" anchor="ctr" bIns="34275" lIns="135000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Industry Overview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21275" y="1079156"/>
              <a:ext cx="304920" cy="229091"/>
            </a:xfrm>
            <a:prstGeom prst="ellipse">
              <a:avLst/>
            </a:prstGeom>
            <a:solidFill>
              <a:srgbClr val="333F44"/>
            </a:solidFill>
            <a:ln cap="flat" cmpd="sng" w="19050">
              <a:solidFill>
                <a:srgbClr val="2A90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2"/>
          <p:cNvSpPr txBox="1"/>
          <p:nvPr/>
        </p:nvSpPr>
        <p:spPr>
          <a:xfrm>
            <a:off x="2605146" y="3271577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Competitive 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2605146" y="3540239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Key Industry Trends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2605146" y="3808901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Corporate Finance 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2"/>
          <p:cNvGrpSpPr/>
          <p:nvPr/>
        </p:nvGrpSpPr>
        <p:grpSpPr>
          <a:xfrm>
            <a:off x="2419453" y="4020756"/>
            <a:ext cx="2763827" cy="336716"/>
            <a:chOff x="321275" y="1079156"/>
            <a:chExt cx="4458973" cy="408142"/>
          </a:xfrm>
        </p:grpSpPr>
        <p:sp>
          <p:nvSpPr>
            <p:cNvPr id="66" name="Google Shape;66;p2"/>
            <p:cNvSpPr/>
            <p:nvPr/>
          </p:nvSpPr>
          <p:spPr>
            <a:xfrm>
              <a:off x="424248" y="1179520"/>
              <a:ext cx="4356000" cy="307778"/>
            </a:xfrm>
            <a:prstGeom prst="rect">
              <a:avLst/>
            </a:prstGeom>
            <a:solidFill>
              <a:srgbClr val="333F44"/>
            </a:solidFill>
            <a:ln>
              <a:noFill/>
            </a:ln>
          </p:spPr>
          <p:txBody>
            <a:bodyPr anchorCtr="0" anchor="ctr" bIns="34275" lIns="135000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Investment Thesis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21275" y="1079156"/>
              <a:ext cx="304920" cy="229091"/>
            </a:xfrm>
            <a:prstGeom prst="ellipse">
              <a:avLst/>
            </a:prstGeom>
            <a:solidFill>
              <a:srgbClr val="333F44"/>
            </a:solidFill>
            <a:ln cap="flat" cmpd="sng" w="19050">
              <a:solidFill>
                <a:srgbClr val="2A90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2"/>
          <p:cNvSpPr txBox="1"/>
          <p:nvPr/>
        </p:nvSpPr>
        <p:spPr>
          <a:xfrm>
            <a:off x="2605146" y="4406846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Rationale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5958539" y="1690425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Historical Share Price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5958538" y="1982173"/>
            <a:ext cx="2860341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Valuation Overview Incl. Football Field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5958539" y="2274655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11. Valuation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2"/>
          <p:cNvGrpSpPr/>
          <p:nvPr/>
        </p:nvGrpSpPr>
        <p:grpSpPr>
          <a:xfrm>
            <a:off x="5752066" y="1334812"/>
            <a:ext cx="2771221" cy="325864"/>
            <a:chOff x="3995155" y="4984684"/>
            <a:chExt cx="3694961" cy="434486"/>
          </a:xfrm>
        </p:grpSpPr>
        <p:sp>
          <p:nvSpPr>
            <p:cNvPr id="73" name="Google Shape;73;p2"/>
            <p:cNvSpPr/>
            <p:nvPr/>
          </p:nvSpPr>
          <p:spPr>
            <a:xfrm>
              <a:off x="4090116" y="5080615"/>
              <a:ext cx="3600000" cy="338555"/>
            </a:xfrm>
            <a:prstGeom prst="rect">
              <a:avLst/>
            </a:prstGeom>
            <a:solidFill>
              <a:srgbClr val="333F44"/>
            </a:solidFill>
            <a:ln>
              <a:noFill/>
            </a:ln>
          </p:spPr>
          <p:txBody>
            <a:bodyPr anchorCtr="0" anchor="ctr" bIns="34275" lIns="135000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Valuation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995155" y="4984684"/>
              <a:ext cx="252000" cy="252000"/>
            </a:xfrm>
            <a:prstGeom prst="ellipse">
              <a:avLst/>
            </a:prstGeom>
            <a:solidFill>
              <a:srgbClr val="333F44"/>
            </a:solidFill>
            <a:ln cap="flat" cmpd="sng" w="28575">
              <a:solidFill>
                <a:srgbClr val="2A90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5752066" y="2915964"/>
            <a:ext cx="2771221" cy="325864"/>
            <a:chOff x="3995155" y="4984684"/>
            <a:chExt cx="3694961" cy="434486"/>
          </a:xfrm>
        </p:grpSpPr>
        <p:sp>
          <p:nvSpPr>
            <p:cNvPr id="76" name="Google Shape;76;p2"/>
            <p:cNvSpPr/>
            <p:nvPr/>
          </p:nvSpPr>
          <p:spPr>
            <a:xfrm>
              <a:off x="4090116" y="5080615"/>
              <a:ext cx="3600000" cy="338555"/>
            </a:xfrm>
            <a:prstGeom prst="rect">
              <a:avLst/>
            </a:prstGeom>
            <a:solidFill>
              <a:srgbClr val="333F44"/>
            </a:solidFill>
            <a:ln>
              <a:noFill/>
            </a:ln>
          </p:spPr>
          <p:txBody>
            <a:bodyPr anchorCtr="0" anchor="ctr" bIns="34275" lIns="135000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Catalysts and Risks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995155" y="4984684"/>
              <a:ext cx="252000" cy="252000"/>
            </a:xfrm>
            <a:prstGeom prst="ellipse">
              <a:avLst/>
            </a:prstGeom>
            <a:solidFill>
              <a:srgbClr val="333F44"/>
            </a:solidFill>
            <a:ln cap="flat" cmpd="sng" w="28575">
              <a:solidFill>
                <a:srgbClr val="2A90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2"/>
          <p:cNvSpPr txBox="1"/>
          <p:nvPr/>
        </p:nvSpPr>
        <p:spPr>
          <a:xfrm>
            <a:off x="5958539" y="3509759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14. The Four W’s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5958539" y="2565669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 Comparables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2"/>
          <p:cNvGrpSpPr/>
          <p:nvPr/>
        </p:nvGrpSpPr>
        <p:grpSpPr>
          <a:xfrm>
            <a:off x="5752066" y="4031606"/>
            <a:ext cx="2771221" cy="325864"/>
            <a:chOff x="3995155" y="4984684"/>
            <a:chExt cx="3694961" cy="434486"/>
          </a:xfrm>
        </p:grpSpPr>
        <p:sp>
          <p:nvSpPr>
            <p:cNvPr id="81" name="Google Shape;81;p2"/>
            <p:cNvSpPr/>
            <p:nvPr/>
          </p:nvSpPr>
          <p:spPr>
            <a:xfrm>
              <a:off x="4090116" y="5080615"/>
              <a:ext cx="3600000" cy="338555"/>
            </a:xfrm>
            <a:prstGeom prst="rect">
              <a:avLst/>
            </a:prstGeom>
            <a:solidFill>
              <a:srgbClr val="333F44"/>
            </a:solidFill>
            <a:ln>
              <a:noFill/>
            </a:ln>
          </p:spPr>
          <p:txBody>
            <a:bodyPr anchorCtr="0" anchor="ctr" bIns="34275" lIns="135000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Recommendation</a:t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995155" y="4984684"/>
              <a:ext cx="252000" cy="252000"/>
            </a:xfrm>
            <a:prstGeom prst="ellipse">
              <a:avLst/>
            </a:prstGeom>
            <a:solidFill>
              <a:srgbClr val="333F44"/>
            </a:solidFill>
            <a:ln cap="flat" cmpd="sng" w="28575">
              <a:solidFill>
                <a:srgbClr val="2A90B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3" name="Google Shape;83;p2"/>
          <p:cNvCxnSpPr/>
          <p:nvPr/>
        </p:nvCxnSpPr>
        <p:spPr>
          <a:xfrm>
            <a:off x="1" y="2191249"/>
            <a:ext cx="1638860" cy="0"/>
          </a:xfrm>
          <a:prstGeom prst="straightConnector1">
            <a:avLst/>
          </a:prstGeom>
          <a:noFill/>
          <a:ln cap="flat" cmpd="sng" w="19050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"/>
          <p:cNvSpPr txBox="1"/>
          <p:nvPr/>
        </p:nvSpPr>
        <p:spPr>
          <a:xfrm>
            <a:off x="5958539" y="4406846"/>
            <a:ext cx="2700000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15. Optimal Price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5958539" y="3264228"/>
            <a:ext cx="2517306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13. Risk Considerations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2173265" y="5326918"/>
            <a:ext cx="47974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or remove slides if necessary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3249216" y="2296996"/>
            <a:ext cx="2645569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3265160" y="2296996"/>
            <a:ext cx="236495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3265160" y="3181354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3265160" y="3640266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3265159" y="4099177"/>
            <a:ext cx="37759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3583212" y="2296996"/>
            <a:ext cx="2311573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Company Overview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3583212" y="3181354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Investment 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3583212" y="3640266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3583212" y="4099177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Catalysts and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3265160" y="4558088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3583212" y="4558088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3249215" y="2739175"/>
            <a:ext cx="320246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3567267" y="2739175"/>
            <a:ext cx="232751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3"/>
          <p:cNvCxnSpPr/>
          <p:nvPr/>
        </p:nvCxnSpPr>
        <p:spPr>
          <a:xfrm>
            <a:off x="1" y="2191249"/>
            <a:ext cx="1638860" cy="0"/>
          </a:xfrm>
          <a:prstGeom prst="straightConnector1">
            <a:avLst/>
          </a:prstGeom>
          <a:noFill/>
          <a:ln cap="flat" cmpd="sng" w="19050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3"/>
          <p:cNvSpPr/>
          <p:nvPr/>
        </p:nvSpPr>
        <p:spPr>
          <a:xfrm>
            <a:off x="465270" y="1619532"/>
            <a:ext cx="2457450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3383407" y="1754609"/>
            <a:ext cx="23931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228600" y="1014984"/>
            <a:ext cx="5486400" cy="26161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Company Highlights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4"/>
          <p:cNvGraphicFramePr/>
          <p:nvPr/>
        </p:nvGraphicFramePr>
        <p:xfrm>
          <a:off x="5752918" y="38372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{965B8AA7-C280-4B67-883E-E709F7526369}</a:tableStyleId>
              </a:tblPr>
              <a:tblGrid>
                <a:gridCol w="712525"/>
                <a:gridCol w="960625"/>
                <a:gridCol w="1588600"/>
              </a:tblGrid>
              <a:tr h="253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Share Price</a:t>
                      </a:r>
                      <a:endParaRPr sz="1400" u="none" cap="none" strike="noStrike"/>
                    </a:p>
                  </a:txBody>
                  <a:tcPr marT="27425" marB="27425" marR="0" marL="73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Current: </a:t>
                      </a: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b="1" lang="en-US" sz="900">
                          <a:solidFill>
                            <a:schemeClr val="lt1"/>
                          </a:solidFill>
                        </a:rPr>
                        <a:t>200.36</a:t>
                      </a:r>
                      <a:endParaRPr sz="1400" u="none" cap="none" strike="noStrike"/>
                    </a:p>
                  </a:txBody>
                  <a:tcPr marT="27425" marB="27425" marR="0" marL="457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High/Low: </a:t>
                      </a: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b="1" lang="en-US" sz="900">
                          <a:solidFill>
                            <a:schemeClr val="lt1"/>
                          </a:solidFill>
                        </a:rPr>
                        <a:t>161.24</a:t>
                      </a:r>
                      <a:r>
                        <a:rPr b="0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 </a:t>
                      </a: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b="1" lang="en-US" sz="900">
                          <a:solidFill>
                            <a:schemeClr val="lt1"/>
                          </a:solidFill>
                        </a:rPr>
                        <a:t>217</a:t>
                      </a: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</a:rPr>
                        <a:t>.3</a:t>
                      </a:r>
                      <a:r>
                        <a:rPr b="1" lang="en-US" sz="900">
                          <a:solidFill>
                            <a:schemeClr val="lt1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27425" marB="27425" marR="0" marL="457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Google Shape;113;p4"/>
          <p:cNvGraphicFramePr/>
          <p:nvPr/>
        </p:nvGraphicFramePr>
        <p:xfrm>
          <a:off x="5802568" y="15413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{2D6F53A8-0D2E-4CC3-9AB9-82E8753ABF87}</a:tableStyleId>
              </a:tblPr>
              <a:tblGrid>
                <a:gridCol w="987450"/>
                <a:gridCol w="522475"/>
                <a:gridCol w="1066875"/>
                <a:gridCol w="536050"/>
              </a:tblGrid>
              <a:tr h="548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Enterprise Value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20575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$57.81 B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20575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 (FY23)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n-US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16.38B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0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9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Market Cap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20575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$43.70 B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20575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EBITDA (FY23)</a:t>
                      </a:r>
                      <a:endParaRPr sz="1400" u="none" cap="none" strike="noStrike"/>
                    </a:p>
                  </a:txBody>
                  <a:tcPr marT="13725" marB="13725" marR="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b="1" lang="en-US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4.13B</a:t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0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P/E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20575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34.91</a:t>
                      </a:r>
                      <a:endParaRPr sz="1400" u="none" cap="none" strike="noStrike"/>
                    </a:p>
                  </a:txBody>
                  <a:tcPr marT="13725" marB="13725" marR="20575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EBITDA Margin ‘23</a:t>
                      </a:r>
                      <a:endParaRPr sz="1400" u="none" cap="none" strike="noStrike"/>
                    </a:p>
                  </a:txBody>
                  <a:tcPr marT="13725" marB="13725" marR="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25.22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0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EV/EBITDA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20575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20575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Debt / EV</a:t>
                      </a:r>
                      <a:endParaRPr sz="1400" u="none" cap="none" strike="noStrike"/>
                    </a:p>
                  </a:txBody>
                  <a:tcPr marT="13725" marB="13725" marR="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0.24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0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99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</a:t>
                      </a:r>
                      <a:endParaRPr sz="1400" u="none" cap="none" strike="noStrike"/>
                    </a:p>
                  </a:txBody>
                  <a:tcPr marT="13725" marB="13725" marR="20575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n-US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157.3 M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20575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Debt</a:t>
                      </a:r>
                      <a:endParaRPr sz="1400" u="none" cap="none" strike="noStrike"/>
                    </a:p>
                  </a:txBody>
                  <a:tcPr marT="13725" marB="13725" marR="0" marL="72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$14.29 B</a:t>
                      </a:r>
                      <a:endParaRPr sz="1400" u="none" cap="none" strike="noStrike"/>
                    </a:p>
                  </a:txBody>
                  <a:tcPr marT="13725" marB="13725" marR="0" marL="20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4" name="Google Shape;114;p4"/>
          <p:cNvGraphicFramePr/>
          <p:nvPr/>
        </p:nvGraphicFramePr>
        <p:xfrm>
          <a:off x="5802568" y="13055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{965B8AA7-C280-4B67-883E-E709F7526369}</a:tableStyleId>
              </a:tblPr>
              <a:tblGrid>
                <a:gridCol w="3112825"/>
              </a:tblGrid>
              <a:tr h="23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Valuation Statistics </a:t>
                      </a:r>
                      <a:endParaRPr b="0" i="1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575" marB="20575" marR="0" marL="548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90BC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4"/>
          <p:cNvSpPr/>
          <p:nvPr/>
        </p:nvSpPr>
        <p:spPr>
          <a:xfrm>
            <a:off x="0" y="396096"/>
            <a:ext cx="3189593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Company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23750" y="1408400"/>
            <a:ext cx="559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0487" lvl="0" marL="1285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57"/>
              </a:buClr>
              <a:buSzPts val="900"/>
              <a:buFont typeface="Arial"/>
              <a:buChar char="•"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History: </a:t>
            </a:r>
            <a:r>
              <a:rPr lang="en-US" sz="900">
                <a:solidFill>
                  <a:schemeClr val="dk1"/>
                </a:solidFill>
              </a:rPr>
              <a:t>Founded in 2003, Targa expanded through key acquisitions, including Dynegy’s midstream assets ($2.35B, 2005) and Atlas Pipeline Partners ($7.7B, 2015). It went public in 2010.</a:t>
            </a:r>
            <a:endParaRPr sz="900">
              <a:solidFill>
                <a:schemeClr val="dk1"/>
              </a:solidFill>
            </a:endParaRPr>
          </a:p>
          <a:p>
            <a:pPr indent="-90487" lvl="0" marL="128587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32E57"/>
              </a:buClr>
              <a:buSzPts val="900"/>
              <a:buFont typeface="Arial"/>
              <a:buChar char="•"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Valuation: </a:t>
            </a:r>
            <a:r>
              <a:rPr lang="en-US" sz="900">
                <a:solidFill>
                  <a:schemeClr val="dk1"/>
                </a:solidFill>
              </a:rPr>
              <a:t>Stock performance is driven by energy prices, production volumes, and infrastructure expansion. As of 2025, shares trade at </a:t>
            </a:r>
            <a:r>
              <a:rPr lang="en-US" sz="900">
                <a:solidFill>
                  <a:schemeClr val="dk1"/>
                </a:solidFill>
              </a:rPr>
              <a:t>$198.47</a:t>
            </a:r>
            <a:r>
              <a:rPr lang="en-US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-90487" lvl="0" marL="128587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32E57"/>
              </a:buClr>
              <a:buSzPts val="900"/>
              <a:buFont typeface="Arial"/>
              <a:buChar char="•"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Strategy: </a:t>
            </a:r>
            <a:r>
              <a:rPr lang="en-US" sz="900">
                <a:solidFill>
                  <a:schemeClr val="dk1"/>
                </a:solidFill>
              </a:rPr>
              <a:t>Focus on operational excellence, sustainability, and NGL infrastructure growth, particularly in the Permian Basin.</a:t>
            </a:r>
            <a:endParaRPr sz="900">
              <a:solidFill>
                <a:schemeClr val="dk1"/>
              </a:solidFill>
            </a:endParaRPr>
          </a:p>
          <a:p>
            <a:pPr indent="-90487" lvl="0" marL="128587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32E57"/>
              </a:buClr>
              <a:buSzPts val="900"/>
              <a:buFont typeface="Arial"/>
              <a:buChar char="•"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Corporate Finance Transactions: </a:t>
            </a:r>
            <a:r>
              <a:rPr lang="en-US" sz="900">
                <a:solidFill>
                  <a:schemeClr val="dk1"/>
                </a:solidFill>
              </a:rPr>
              <a:t>Major deals include the 2015 Atlas acquisition and the Grand Prix NGL Pipeline project, enhancing transportation from the Permian Basin.</a:t>
            </a:r>
            <a:endParaRPr sz="900">
              <a:solidFill>
                <a:schemeClr val="dk1"/>
              </a:solidFill>
            </a:endParaRPr>
          </a:p>
          <a:p>
            <a:pPr indent="-90488" lvl="0" marL="128588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132E57"/>
              </a:buClr>
              <a:buSzPts val="900"/>
              <a:buFont typeface="Arial"/>
              <a:buChar char="•"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Ownership: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chemeClr val="dk1"/>
                </a:solidFill>
              </a:rPr>
              <a:t>Major institutional holders include Vanguard Group Inc. (12.45%), BlackRock Inc. (9.49%), State Street Corporation (6.37%), Wellington Management Group (5.88%), Geode Capital Management (2.72%), and Blackstone Inc. (2.15%) as of December 31, 2024.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5802568" y="1018937"/>
            <a:ext cx="3112832" cy="253916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Valuation &amp; Share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p4"/>
          <p:cNvGraphicFramePr/>
          <p:nvPr/>
        </p:nvGraphicFramePr>
        <p:xfrm>
          <a:off x="196028" y="3424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{965B8AA7-C280-4B67-883E-E709F7526369}</a:tableStyleId>
              </a:tblPr>
              <a:tblGrid>
                <a:gridCol w="1572400"/>
                <a:gridCol w="1027500"/>
              </a:tblGrid>
              <a:tr h="1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Industry Data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Average</a:t>
                      </a:r>
                      <a:endParaRPr sz="1400" u="none" cap="none" strike="noStrike"/>
                    </a:p>
                  </a:txBody>
                  <a:tcPr marT="0" marB="137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</a:tr>
              <a:tr h="1924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1" lang="en-US" sz="900" u="none" cap="none" strike="noStrike">
                          <a:solidFill>
                            <a:schemeClr val="lt1"/>
                          </a:solidFill>
                        </a:rPr>
                        <a:t>Overall</a:t>
                      </a:r>
                      <a:endParaRPr sz="1400" u="none" cap="none" strike="noStrike"/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90BC"/>
                    </a:solidFill>
                  </a:tcPr>
                </a:tc>
                <a:tc hMerge="1"/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i="0" lang="en-US" sz="900" u="none" cap="none" strike="noStrike">
                          <a:solidFill>
                            <a:srgbClr val="000000"/>
                          </a:solidFill>
                        </a:rPr>
                        <a:t>EV/EBITDA - </a:t>
                      </a:r>
                      <a:r>
                        <a:rPr lang="en-US" sz="900"/>
                        <a:t>14</a:t>
                      </a:r>
                      <a:endParaRPr i="0"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/>
                        <a:t>11</a:t>
                      </a:r>
                      <a:endParaRPr i="0"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i="0" lang="en-US" sz="900" u="none" cap="none" strike="noStrike">
                          <a:solidFill>
                            <a:srgbClr val="000000"/>
                          </a:solidFill>
                        </a:rPr>
                        <a:t>EV/Revenue - </a:t>
                      </a:r>
                      <a:r>
                        <a:rPr lang="en-US" sz="900">
                          <a:solidFill>
                            <a:srgbClr val="232A31"/>
                          </a:solidFill>
                          <a:highlight>
                            <a:srgbClr val="FFFFFF"/>
                          </a:highlight>
                        </a:rPr>
                        <a:t>3.53</a:t>
                      </a:r>
                      <a:endParaRPr i="0"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i="0" lang="en-US" sz="900" u="none" cap="none" strike="noStrike">
                          <a:solidFill>
                            <a:srgbClr val="000000"/>
                          </a:solidFill>
                        </a:rPr>
                        <a:t>2.392</a:t>
                      </a:r>
                      <a:endParaRPr i="0"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i="0" lang="en-US" sz="900" u="none" cap="none" strike="noStrike">
                          <a:solidFill>
                            <a:srgbClr val="000000"/>
                          </a:solidFill>
                        </a:rPr>
                        <a:t>P/E -</a:t>
                      </a:r>
                      <a:r>
                        <a:rPr lang="en-US" sz="900" u="none" cap="none" strike="noStrike"/>
                        <a:t>   </a:t>
                      </a:r>
                      <a:r>
                        <a:rPr lang="en-US" sz="900">
                          <a:solidFill>
                            <a:srgbClr val="232A31"/>
                          </a:solidFill>
                          <a:highlight>
                            <a:srgbClr val="FFFFFF"/>
                          </a:highlight>
                        </a:rPr>
                        <a:t>34.91</a:t>
                      </a:r>
                      <a:endParaRPr i="0"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i="0" lang="en-US" sz="900" u="none" cap="none" strike="noStrike">
                          <a:solidFill>
                            <a:srgbClr val="000000"/>
                          </a:solidFill>
                        </a:rPr>
                        <a:t>2</a:t>
                      </a:r>
                      <a:r>
                        <a:rPr lang="en-US" sz="900"/>
                        <a:t>5.6</a:t>
                      </a:r>
                      <a:endParaRPr i="0"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7150" marB="0" marR="7150" marL="7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" name="Google Shape;119;p4"/>
          <p:cNvGraphicFramePr/>
          <p:nvPr/>
        </p:nvGraphicFramePr>
        <p:xfrm>
          <a:off x="3063762" y="3424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{965B8AA7-C280-4B67-883E-E709F7526369}</a:tableStyleId>
              </a:tblPr>
              <a:tblGrid>
                <a:gridCol w="1190775"/>
                <a:gridCol w="1247625"/>
              </a:tblGrid>
              <a:tr h="15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Metrics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</a:t>
                      </a:r>
                      <a:endParaRPr sz="1400" u="none" cap="none" strike="noStrike"/>
                    </a:p>
                  </a:txBody>
                  <a:tcPr marT="27425" marB="274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</a:tr>
              <a:tr h="13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Gross Margin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16</a:t>
                      </a: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39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Bn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ROIC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20.7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Debt to Equity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323.44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Cash 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$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157.3 Mn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ROA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7.76%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Pretax Margin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$1.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93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 Bn</a:t>
                      </a:r>
                      <a:endParaRPr sz="1400" u="none" cap="none" strike="noStrike"/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" name="Google Shape;120;p4"/>
          <p:cNvGraphicFramePr/>
          <p:nvPr/>
        </p:nvGraphicFramePr>
        <p:xfrm>
          <a:off x="193013" y="453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{965B8AA7-C280-4B67-883E-E709F7526369}</a:tableStyleId>
              </a:tblPr>
              <a:tblGrid>
                <a:gridCol w="1469975"/>
                <a:gridCol w="465675"/>
                <a:gridCol w="860950"/>
              </a:tblGrid>
              <a:tr h="250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Revenue Mix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b="1" i="0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Gross </a:t>
                      </a:r>
                      <a:r>
                        <a:rPr b="0" i="1" lang="en-US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($</a:t>
                      </a:r>
                      <a:r>
                        <a:rPr i="1" lang="en-US" sz="700" u="none" cap="none" strike="noStrike">
                          <a:solidFill>
                            <a:schemeClr val="lt1"/>
                          </a:solidFill>
                        </a:rPr>
                        <a:t>bn</a:t>
                      </a:r>
                      <a:r>
                        <a:rPr b="0" i="1" lang="en-US" sz="7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b="0" i="1" sz="9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</a:tr>
              <a:tr h="21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Gathering and Processing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32.67</a:t>
                      </a: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7.23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Logistics and Transportation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67.33</a:t>
                      </a: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13.66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Overlapping Revenue Adjusted in Consolidated Statements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13725" marB="13725" marR="34300" marL="34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4"/>
          <p:cNvSpPr txBox="1"/>
          <p:nvPr/>
        </p:nvSpPr>
        <p:spPr>
          <a:xfrm>
            <a:off x="6790025" y="5892650"/>
            <a:ext cx="30036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Source: Yahoo Finance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269550" y="5846150"/>
            <a:ext cx="265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u="sng">
                <a:solidFill>
                  <a:schemeClr val="hlink"/>
                </a:solidFill>
                <a:hlinkClick r:id="rId4"/>
              </a:rPr>
              <a:t>Source: Targa Resources Website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2950" y="4128350"/>
            <a:ext cx="3212101" cy="18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322625" y="1609750"/>
            <a:ext cx="4871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1. Gathering and Processing Segment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Core Activities: Gathering/purchasing/sale of natural gas, removing impurities, processing raw natural gas, extracting NGLs &amp; gathering/terminaling/purchase/sale of crude oil.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2. Logistics and Transportation Segment (Downstream Business)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Core Activities: Converting mixed NGLs into NGL products, transporting, storing, fractionating, terminaling, and marketing NGLs and NGL products. Additional Services: Services to LPG exporters and natural gas supply/marketing activities supporting other business segments.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3. Other Segment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Contains unrealized mark-to-market gains/losses from derivative contracts not designated as cash flow hedges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5369859" y="1100740"/>
            <a:ext cx="2911022" cy="442266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Figures as of </a:t>
            </a:r>
            <a:r>
              <a:rPr b="1" lang="en-US">
                <a:solidFill>
                  <a:schemeClr val="lt1"/>
                </a:solidFill>
              </a:rPr>
              <a:t>Feb </a:t>
            </a: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b="1" lang="en-US">
                <a:solidFill>
                  <a:schemeClr val="lt1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660581" y="1100740"/>
            <a:ext cx="2910900" cy="44220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Operating Segments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596534" y="3842197"/>
            <a:ext cx="2910900" cy="44220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Competitors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0" y="396096"/>
            <a:ext cx="3810000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lang="en-US" sz="2400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Targa</a:t>
            </a: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Business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226372" y="658368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96" y="4404199"/>
            <a:ext cx="1282525" cy="718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7635" y="4542175"/>
            <a:ext cx="1014741" cy="44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0749" y="4623550"/>
            <a:ext cx="1552025" cy="26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6823" y="5242200"/>
            <a:ext cx="1456700" cy="7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/>
          <p:cNvPicPr preferRelativeResize="0"/>
          <p:nvPr/>
        </p:nvPicPr>
        <p:blipFill rotWithShape="1">
          <a:blip r:embed="rId7">
            <a:alphaModFix/>
          </a:blip>
          <a:srcRect b="0" l="0" r="31791" t="0"/>
          <a:stretch/>
        </p:blipFill>
        <p:spPr>
          <a:xfrm>
            <a:off x="2158900" y="5313400"/>
            <a:ext cx="2123867" cy="62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9850" y="2214181"/>
            <a:ext cx="3645174" cy="178025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6338350" y="4081100"/>
            <a:ext cx="2459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9"/>
              </a:rPr>
              <a:t>Source: Targa Investor Presentation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396096"/>
            <a:ext cx="3189593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Operating Forecast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294401" y="1208725"/>
            <a:ext cx="8695200" cy="26160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Revenue, EBITDA Forecast &amp; Key Drivers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1125950" y="4304550"/>
            <a:ext cx="73026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marR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Drivers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Q4 Performance: Targa reported a Q4 2024 net income of $351 million, up from $299.6 million in Q4 2023.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EBITDA Growth: Adjusted EBITDA for Q4 2024 reached $1.12 billion, reflecting solid financial performance.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2025 Projections: Full-year 2025 adjusted EBITDA is expected to range between $4.65B - $4.85B, a 15% increase over 2024.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Dividend Increase: Targa plans a 33% dividend hike, raising it to $4.00 per share in 2025.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Rising Global Demand: Natural gas &amp; NGL demand is projected to grow, particularly in Asian markets (IEA).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Supply Growth: Supply expansion remains modest, leading to tighter market conditions and stronger pricing.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U.S. Price Forecast: The Henry Hub spot price is now expected to average $3.80/MMBtu in 2025 due to increased consumption (EIA).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3813300" y="3996750"/>
            <a:ext cx="151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Sources: Marketscreener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800" y="1538150"/>
            <a:ext cx="3988805" cy="245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0700" y="1504225"/>
            <a:ext cx="3429058" cy="252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396096"/>
            <a:ext cx="4572000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Shareholder Ownership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12670" y="1514828"/>
            <a:ext cx="883706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6667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/>
              <a:t>Targa Resources' shareholder ownership is primarily dominated by institutional investors, with Vanguard holding 12.45%, BlackRock owning 9.49%, and Wellington Trust possessing 5.88%, while insiders own 22.01%, retail investors hold a minimal share, and the majority of shareholders (76.15%) are based in the U.S. with smaller portions in the U.K., Canada, and France.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212670" y="1236771"/>
            <a:ext cx="8837062" cy="26161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Ownership Analysis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902" y="2142675"/>
            <a:ext cx="7308575" cy="372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3511700" y="5938550"/>
            <a:ext cx="1517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u="sng">
                <a:solidFill>
                  <a:schemeClr val="hlink"/>
                </a:solidFill>
                <a:hlinkClick r:id="rId4"/>
              </a:rPr>
              <a:t>Sources: Yahoo Finance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3249216" y="2296996"/>
            <a:ext cx="2645569" cy="316292"/>
          </a:xfrm>
          <a:prstGeom prst="rect">
            <a:avLst/>
          </a:prstGeom>
          <a:solidFill>
            <a:srgbClr val="333F44"/>
          </a:solidFill>
          <a:ln cap="flat" cmpd="sng" w="9525">
            <a:solidFill>
              <a:srgbClr val="33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3265160" y="2296996"/>
            <a:ext cx="236495" cy="316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3265160" y="3181354"/>
            <a:ext cx="318052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3265160" y="3640266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3265159" y="4099177"/>
            <a:ext cx="37759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3583212" y="2296996"/>
            <a:ext cx="2311573" cy="316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Company Overview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3583212" y="3181354"/>
            <a:ext cx="2311573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Investment 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3583212" y="3640266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3583212" y="4099177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Catalysts and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3265160" y="4558088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3583212" y="4558088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3249215" y="2739175"/>
            <a:ext cx="320246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3567267" y="2739175"/>
            <a:ext cx="232751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Industry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11"/>
          <p:cNvCxnSpPr/>
          <p:nvPr/>
        </p:nvCxnSpPr>
        <p:spPr>
          <a:xfrm>
            <a:off x="1" y="2191249"/>
            <a:ext cx="1638860" cy="0"/>
          </a:xfrm>
          <a:prstGeom prst="straightConnector1">
            <a:avLst/>
          </a:prstGeom>
          <a:noFill/>
          <a:ln cap="flat" cmpd="sng" w="19050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1"/>
          <p:cNvSpPr/>
          <p:nvPr/>
        </p:nvSpPr>
        <p:spPr>
          <a:xfrm>
            <a:off x="465270" y="1619532"/>
            <a:ext cx="2457450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3383407" y="1754609"/>
            <a:ext cx="23931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0" y="396096"/>
            <a:ext cx="4114261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1" i="0" lang="en-US" sz="2400" u="none" cap="none" strike="noStrike">
                <a:solidFill>
                  <a:srgbClr val="333F44"/>
                </a:solidFill>
                <a:latin typeface="Open Sans"/>
                <a:ea typeface="Open Sans"/>
                <a:cs typeface="Open Sans"/>
                <a:sym typeface="Open Sans"/>
              </a:rPr>
              <a:t>Investment Thesis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13450" y="1257300"/>
            <a:ext cx="1758000" cy="4816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96838" lvl="0" marL="17303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757450" y="4887925"/>
            <a:ext cx="2155800" cy="95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Resilient Financials &amp; Diversified Business Model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803650" y="3202000"/>
            <a:ext cx="2063400" cy="95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Commitment to Energy Transition &amp; Efficiency</a:t>
            </a:r>
            <a:endParaRPr b="1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775600" y="1516075"/>
            <a:ext cx="2063400" cy="95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Expansion in Midstream Infrastructure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3504700" y="976925"/>
            <a:ext cx="2027100" cy="280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View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6477975" y="976925"/>
            <a:ext cx="2027100" cy="280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Implications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12"/>
          <p:cNvCxnSpPr/>
          <p:nvPr/>
        </p:nvCxnSpPr>
        <p:spPr>
          <a:xfrm flipH="1" rot="10800000">
            <a:off x="3641050" y="2819275"/>
            <a:ext cx="1754400" cy="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92" name="Google Shape;192;p12"/>
          <p:cNvSpPr txBox="1"/>
          <p:nvPr/>
        </p:nvSpPr>
        <p:spPr>
          <a:xfrm>
            <a:off x="3072000" y="1513050"/>
            <a:ext cx="30000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Significant investments in natural gas and natural gas liquids infrastructure expansion, including new fractionation and pipeline projects.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Copper and Lithium Ventures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Expansion of Grand Prix NGL Pipeline and additional fractionation capacity at Mont Belvieu.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2949800" y="3085400"/>
            <a:ext cx="30000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Focus on reducing emissions through carbon capture initiatives and efficiency improvements in natural gas processing.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Increasing investment in renewable natural gas and sustainable midstream solutions.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5949800" y="174780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Positions Targa to capitalize on growing U.S domestic demand after tariffs applied to Canadian gas.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Increased processing and transport capabilities enhance revenue stability and scalability.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6032550" y="3154700"/>
            <a:ext cx="3000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Stronger positioning as ESG factors increasingly influence investment decisions and regulatory policies.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Potential for long-term cost savings and premium pricing in eco-conscious markets.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2952375" y="4713825"/>
            <a:ext cx="3000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free cash flow supporting dividend growth and share repurchases.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Diversified revenue streams across natural gas gathering, processing, and NGL transportation.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5991500" y="473302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Targa remains resilient in both high and low commodity price environments.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Reduced reliance on commodity price fluctuations, ensuring consistent performance and adaptability.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12"/>
          <p:cNvCxnSpPr/>
          <p:nvPr/>
        </p:nvCxnSpPr>
        <p:spPr>
          <a:xfrm flipH="1" rot="10800000">
            <a:off x="6614325" y="2818450"/>
            <a:ext cx="1754400" cy="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199" name="Google Shape;199;p12"/>
          <p:cNvCxnSpPr/>
          <p:nvPr/>
        </p:nvCxnSpPr>
        <p:spPr>
          <a:xfrm flipH="1" rot="10800000">
            <a:off x="6614325" y="4494850"/>
            <a:ext cx="1754400" cy="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cxnSp>
        <p:nvCxnSpPr>
          <p:cNvPr id="200" name="Google Shape;200;p12"/>
          <p:cNvCxnSpPr/>
          <p:nvPr/>
        </p:nvCxnSpPr>
        <p:spPr>
          <a:xfrm flipH="1" rot="10800000">
            <a:off x="3641050" y="4494850"/>
            <a:ext cx="1754400" cy="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3249216" y="2296996"/>
            <a:ext cx="2645569" cy="316292"/>
          </a:xfrm>
          <a:prstGeom prst="rect">
            <a:avLst/>
          </a:prstGeom>
          <a:solidFill>
            <a:srgbClr val="333F44"/>
          </a:solidFill>
          <a:ln cap="flat" cmpd="sng" w="9525">
            <a:solidFill>
              <a:srgbClr val="33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3265160" y="2296996"/>
            <a:ext cx="236495" cy="316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3265160" y="3181354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3265160" y="3640266"/>
            <a:ext cx="318052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3265159" y="4099177"/>
            <a:ext cx="37759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3583212" y="2296996"/>
            <a:ext cx="2311573" cy="316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Company Overview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3583212" y="3181354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Investment 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3583212" y="3640266"/>
            <a:ext cx="2311573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3583212" y="4099177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Catalysts and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3265160" y="4558088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3583212" y="4558088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3249215" y="2739175"/>
            <a:ext cx="320246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3567267" y="2739175"/>
            <a:ext cx="232751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Industry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13"/>
          <p:cNvCxnSpPr/>
          <p:nvPr/>
        </p:nvCxnSpPr>
        <p:spPr>
          <a:xfrm>
            <a:off x="1" y="2191249"/>
            <a:ext cx="1638860" cy="0"/>
          </a:xfrm>
          <a:prstGeom prst="straightConnector1">
            <a:avLst/>
          </a:prstGeom>
          <a:noFill/>
          <a:ln cap="flat" cmpd="sng" w="19050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13"/>
          <p:cNvSpPr/>
          <p:nvPr/>
        </p:nvSpPr>
        <p:spPr>
          <a:xfrm>
            <a:off x="465270" y="1619532"/>
            <a:ext cx="2457450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3383407" y="1754609"/>
            <a:ext cx="23931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0" y="396096"/>
            <a:ext cx="4489704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Historical Share Price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269396" y="4645097"/>
            <a:ext cx="42204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arenR"/>
            </a:pPr>
            <a:r>
              <a:rPr b="1" lang="en-US" sz="1100">
                <a:solidFill>
                  <a:schemeClr val="dk1"/>
                </a:solidFill>
              </a:rPr>
              <a:t>Dec 7, 2010</a:t>
            </a:r>
            <a:r>
              <a:rPr lang="en-US" sz="1100">
                <a:solidFill>
                  <a:schemeClr val="dk1"/>
                </a:solidFill>
              </a:rPr>
              <a:t> – Targa Resources (TRGP) IPO at $22/share, listing 16.375M shares on NYSE.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lang="en-US" sz="1100">
                <a:solidFill>
                  <a:schemeClr val="dk1"/>
                </a:solidFill>
              </a:rPr>
              <a:t>  2)   </a:t>
            </a:r>
            <a:r>
              <a:rPr b="1" lang="en-US" sz="1100">
                <a:solidFill>
                  <a:schemeClr val="dk1"/>
                </a:solidFill>
              </a:rPr>
              <a:t>   Sep, 2014</a:t>
            </a:r>
            <a:r>
              <a:rPr lang="en-US" sz="1100">
                <a:solidFill>
                  <a:schemeClr val="dk1"/>
                </a:solidFill>
              </a:rPr>
              <a:t> – TRGP stock fell as NGL prices dropped and its $7.7B Atlas acquisition raised debt concerns.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3)       </a:t>
            </a:r>
            <a:r>
              <a:rPr b="1" lang="en-US" sz="1100">
                <a:solidFill>
                  <a:schemeClr val="dk1"/>
                </a:solidFill>
              </a:rPr>
              <a:t>Mar, 2016 </a:t>
            </a:r>
            <a:r>
              <a:rPr lang="en-US" sz="1100">
                <a:solidFill>
                  <a:schemeClr val="dk1"/>
                </a:solidFill>
              </a:rPr>
              <a:t>– </a:t>
            </a:r>
            <a:r>
              <a:rPr lang="en-US" sz="1100">
                <a:solidFill>
                  <a:schemeClr val="dk1"/>
                </a:solidFill>
              </a:rPr>
              <a:t>TRGP’s stock rebounded after securing $1 billion from investors, enhancing liquidity and reducing debt.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1200" y="1262760"/>
            <a:ext cx="2476529" cy="26161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Events &amp; Share Price Drivers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489700" y="4645100"/>
            <a:ext cx="4489800" cy="10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4)</a:t>
            </a:r>
            <a:r>
              <a:rPr b="1" lang="en-US" sz="1100">
                <a:solidFill>
                  <a:schemeClr val="dk1"/>
                </a:solidFill>
              </a:rPr>
              <a:t>     Feb, 2020 </a:t>
            </a:r>
            <a:r>
              <a:rPr lang="en-US" sz="1100">
                <a:solidFill>
                  <a:schemeClr val="dk1"/>
                </a:solidFill>
              </a:rPr>
              <a:t>– TRGP fell amid COVID-19 and the oil price war.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5)</a:t>
            </a:r>
            <a:r>
              <a:rPr b="1" lang="en-US" sz="1100">
                <a:solidFill>
                  <a:schemeClr val="dk1"/>
                </a:solidFill>
              </a:rPr>
              <a:t>     Jan 2024</a:t>
            </a:r>
            <a:r>
              <a:rPr lang="en-US" sz="1100">
                <a:solidFill>
                  <a:schemeClr val="dk1"/>
                </a:solidFill>
              </a:rPr>
              <a:t> – TRGP surged on strong Q4 2023 earnings, a 50% dividend hike, and a $40.6M share repurchase.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6)  </a:t>
            </a:r>
            <a:r>
              <a:rPr b="1" lang="en-US" sz="1100">
                <a:solidFill>
                  <a:schemeClr val="dk1"/>
                </a:solidFill>
              </a:rPr>
              <a:t>  Jan 21, 2025</a:t>
            </a:r>
            <a:r>
              <a:rPr lang="en-US" sz="1100">
                <a:solidFill>
                  <a:schemeClr val="dk1"/>
                </a:solidFill>
              </a:rPr>
              <a:t> – TRGP reached an all-time high closing price of $217.22. 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229" name="Google Shape;229;p14"/>
          <p:cNvSpPr txBox="1"/>
          <p:nvPr/>
        </p:nvSpPr>
        <p:spPr>
          <a:xfrm>
            <a:off x="1859967" y="2675574"/>
            <a:ext cx="5960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t/>
            </a:r>
            <a:endParaRPr b="1" i="0" sz="80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2990175" y="2635025"/>
            <a:ext cx="12153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4"/>
          <p:cNvSpPr txBox="1"/>
          <p:nvPr/>
        </p:nvSpPr>
        <p:spPr>
          <a:xfrm>
            <a:off x="5679575" y="2925888"/>
            <a:ext cx="127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6860825" y="2093738"/>
            <a:ext cx="127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7496525" y="2312100"/>
            <a:ext cx="1279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375"/>
            <a:ext cx="9144003" cy="29059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 txBox="1"/>
          <p:nvPr/>
        </p:nvSpPr>
        <p:spPr>
          <a:xfrm>
            <a:off x="132900" y="3510950"/>
            <a:ext cx="29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2403400" y="2413975"/>
            <a:ext cx="29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2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3223000" y="3510950"/>
            <a:ext cx="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5679575" y="3444500"/>
            <a:ext cx="376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4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7919050" y="2879650"/>
            <a:ext cx="2991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5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8572500" y="1605950"/>
            <a:ext cx="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6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"/>
          <p:cNvSpPr/>
          <p:nvPr/>
        </p:nvSpPr>
        <p:spPr>
          <a:xfrm>
            <a:off x="0" y="396096"/>
            <a:ext cx="4114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Valuation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6" name="Google Shape;246;p15"/>
          <p:cNvGraphicFramePr/>
          <p:nvPr/>
        </p:nvGraphicFramePr>
        <p:xfrm>
          <a:off x="4897437" y="40878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{965B8AA7-C280-4B67-883E-E709F7526369}</a:tableStyleId>
              </a:tblPr>
              <a:tblGrid>
                <a:gridCol w="1158950"/>
                <a:gridCol w="906225"/>
                <a:gridCol w="935175"/>
                <a:gridCol w="883175"/>
              </a:tblGrid>
              <a:tr h="20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Broker Estimates</a:t>
                      </a:r>
                      <a:endParaRPr b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90000" marL="9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 Prices </a:t>
                      </a:r>
                      <a:r>
                        <a:rPr b="0" i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($)</a:t>
                      </a:r>
                      <a:endParaRPr b="0" i="1" sz="1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300" marB="1830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Upside </a:t>
                      </a:r>
                      <a:r>
                        <a:rPr b="0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(%)</a:t>
                      </a:r>
                      <a:endParaRPr sz="1400" u="none" cap="none" strike="noStrike"/>
                    </a:p>
                  </a:txBody>
                  <a:tcPr marT="18300" marB="1830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Rating</a:t>
                      </a:r>
                      <a:endParaRPr sz="1800" u="none" cap="none" strike="noStrike"/>
                    </a:p>
                  </a:txBody>
                  <a:tcPr marT="18300" marB="1830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D63"/>
                    </a:solidFill>
                  </a:tcPr>
                </a:tc>
              </a:tr>
              <a:tr h="19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Wells Fargo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0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50" marB="9150" marR="90000" marL="9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227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14.4</a:t>
                      </a: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Buy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izuho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/0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i="0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50" marB="9150" marR="90000" marL="9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226</a:t>
                      </a:r>
                      <a:endParaRPr sz="18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14.1</a:t>
                      </a: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</a:t>
                      </a:r>
                      <a:r>
                        <a:rPr b="1" lang="en-US" sz="1000" u="none" cap="none" strike="noStrik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Buy</a:t>
                      </a:r>
                      <a:endParaRPr b="1" sz="180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CIti group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400" u="none" cap="none" strike="noStrike"/>
                    </a:p>
                  </a:txBody>
                  <a:tcPr marT="9150" marB="9150" marR="90000" marL="9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227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14.4</a:t>
                      </a: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Buy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Goldman Sachs 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/0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400" u="none" cap="none" strike="noStrike"/>
                    </a:p>
                  </a:txBody>
                  <a:tcPr marT="9150" marB="9150" marR="90000" marL="90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222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B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11.9%</a:t>
                      </a:r>
                      <a:endParaRPr sz="1400" u="none" cap="none" strike="noStrike"/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000"/>
                        <a:buFont typeface="Calibri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Buy</a:t>
                      </a:r>
                      <a:endParaRPr b="1" sz="1800" u="none" cap="none" strike="noStrike">
                        <a:solidFill>
                          <a:srgbClr val="00B050"/>
                        </a:solidFill>
                      </a:endParaRPr>
                    </a:p>
                  </a:txBody>
                  <a:tcPr marT="9150" marB="9150" marR="27425" marL="45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15"/>
          <p:cNvSpPr/>
          <p:nvPr/>
        </p:nvSpPr>
        <p:spPr>
          <a:xfrm>
            <a:off x="225775" y="1533675"/>
            <a:ext cx="4000800" cy="30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               TRGP trades at $198.47, up 103.7% YoY, beating the S&amp;P 500’s        18.31% gain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/>
              <a:t>YoY, It outperforms peers:</a:t>
            </a:r>
            <a:endParaRPr b="1"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/>
              <a:t>KMI: +63.28%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/>
              <a:t>WMB: +73.51%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/>
              <a:t>Record Adjusted EBITDA Growth – </a:t>
            </a:r>
            <a:r>
              <a:rPr lang="en-US" sz="900"/>
              <a:t>TRGP’s adjusted EBITDA rose by 17% YoY, driven by higher Permian volumes and increased NGL prices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/>
              <a:t>Strategic investments: </a:t>
            </a:r>
            <a:r>
              <a:rPr lang="en-US" sz="900"/>
              <a:t>Targa’s expansion in the Permian Basin, including the addition of new processing plants, has positioned the company to capitalize on increased production levels</a:t>
            </a:r>
            <a:endParaRPr sz="900"/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/>
          </a:p>
          <a:p>
            <a:pPr indent="-85725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57"/>
              </a:buClr>
              <a:buSzPts val="135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187938" y="891821"/>
            <a:ext cx="4225200" cy="26160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Stock Price Performance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4955559" y="891821"/>
            <a:ext cx="3861600" cy="26160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Valuation Football Field 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63" y="4489850"/>
            <a:ext cx="3640174" cy="168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8975" y="1305821"/>
            <a:ext cx="4286781" cy="2629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"/>
          <p:cNvSpPr/>
          <p:nvPr/>
        </p:nvSpPr>
        <p:spPr>
          <a:xfrm>
            <a:off x="0" y="396096"/>
            <a:ext cx="4114261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Comparables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0" y="1814675"/>
            <a:ext cx="9144000" cy="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The midstream energy sector plays a key role in transporting and processing </a:t>
            </a:r>
            <a:r>
              <a:rPr b="1" lang="en-US" sz="1000">
                <a:solidFill>
                  <a:schemeClr val="dk1"/>
                </a:solidFill>
              </a:rPr>
              <a:t>oil</a:t>
            </a:r>
            <a:r>
              <a:rPr lang="en-US" sz="1000">
                <a:solidFill>
                  <a:schemeClr val="dk1"/>
                </a:solidFill>
              </a:rPr>
              <a:t> and </a:t>
            </a:r>
            <a:r>
              <a:rPr b="1" lang="en-US" sz="1000">
                <a:solidFill>
                  <a:schemeClr val="dk1"/>
                </a:solidFill>
              </a:rPr>
              <a:t>gas</a:t>
            </a:r>
            <a:r>
              <a:rPr lang="en-US" sz="1000">
                <a:solidFill>
                  <a:schemeClr val="dk1"/>
                </a:solidFill>
              </a:rPr>
              <a:t>, benefiting from </a:t>
            </a:r>
            <a:r>
              <a:rPr b="1" lang="en-US" sz="1000">
                <a:solidFill>
                  <a:schemeClr val="dk1"/>
                </a:solidFill>
              </a:rPr>
              <a:t>stable cash flows</a:t>
            </a:r>
            <a:r>
              <a:rPr lang="en-US" sz="1000">
                <a:solidFill>
                  <a:schemeClr val="dk1"/>
                </a:solidFill>
              </a:rPr>
              <a:t> and </a:t>
            </a:r>
            <a:r>
              <a:rPr b="1" lang="en-US" sz="1000">
                <a:solidFill>
                  <a:schemeClr val="dk1"/>
                </a:solidFill>
              </a:rPr>
              <a:t>strong margins</a:t>
            </a:r>
            <a:r>
              <a:rPr lang="en-US" sz="1000">
                <a:solidFill>
                  <a:schemeClr val="dk1"/>
                </a:solidFill>
              </a:rPr>
              <a:t>. Larger players dominate with diversified operations, while smaller firms focus on niche markets. Investor confidence varies, with some companies trading at higher valuations due to growth prospects.</a:t>
            </a:r>
            <a:endParaRPr sz="1000">
              <a:solidFill>
                <a:schemeClr val="dk1"/>
              </a:solidFill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1" marL="66673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-1200" y="1294121"/>
            <a:ext cx="9144000" cy="261600"/>
          </a:xfrm>
          <a:prstGeom prst="rect">
            <a:avLst/>
          </a:prstGeom>
          <a:solidFill>
            <a:srgbClr val="113D6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Comparable Company Rationale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3879047" y="3490522"/>
            <a:ext cx="132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1" i="0" sz="18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33605" y="4062975"/>
            <a:ext cx="758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AngloAmerican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33588" y="4264485"/>
            <a:ext cx="5430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Glencore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33588" y="3897885"/>
            <a:ext cx="5430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BHP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4389438" y="3066897"/>
            <a:ext cx="365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FY+1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6373563" y="3066897"/>
            <a:ext cx="365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FY+1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8272213" y="3066897"/>
            <a:ext cx="365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FY+1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6"/>
          <p:cNvGrpSpPr/>
          <p:nvPr/>
        </p:nvGrpSpPr>
        <p:grpSpPr>
          <a:xfrm>
            <a:off x="0" y="2866872"/>
            <a:ext cx="9234488" cy="3411537"/>
            <a:chOff x="0" y="1589"/>
            <a:chExt cx="5817" cy="2149"/>
          </a:xfrm>
        </p:grpSpPr>
        <p:sp>
          <p:nvSpPr>
            <p:cNvPr id="268" name="Google Shape;268;p16"/>
            <p:cNvSpPr/>
            <p:nvPr/>
          </p:nvSpPr>
          <p:spPr>
            <a:xfrm>
              <a:off x="0" y="1589"/>
              <a:ext cx="5700" cy="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5553" y="3001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13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1394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$134,353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1794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$180,526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2203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10.7x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2499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12.5x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2799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10.9x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3104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11.3x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3382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36.2x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3697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25.4x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4005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24.4x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301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21.7x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620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46.6x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4926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42.9x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5225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37.9x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5517" y="3141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39.5x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13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Median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1394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$54,999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1794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$70,212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2203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2.4x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2499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2.3x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2799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3104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2.2x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3382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13.5x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3697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18.1x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4005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16.35x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4301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15.0x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4597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101.5x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4926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21.1x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5225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18.7x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5517" y="3260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19.6x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13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Mean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394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$62,219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1794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$71,420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2203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2.8x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2499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2799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3104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3.2x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3382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16.7x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3697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20.2x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4005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17.4x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4301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17.4x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4597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103.8x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4926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22.9x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5225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22.4x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5517" y="3379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23.1x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13" y="3498"/>
              <a:ext cx="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Low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6"/>
            <p:cNvSpPr/>
            <p:nvPr/>
          </p:nvSpPr>
          <p:spPr>
            <a:xfrm>
              <a:off x="1394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$16.165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1794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$18,685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2203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1.4x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2499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1.4x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2799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1.2x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3104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1.29x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3382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12.1x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16"/>
            <p:cNvSpPr/>
            <p:nvPr/>
          </p:nvSpPr>
          <p:spPr>
            <a:xfrm>
              <a:off x="3697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10.6x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6"/>
            <p:cNvSpPr/>
            <p:nvPr/>
          </p:nvSpPr>
          <p:spPr>
            <a:xfrm>
              <a:off x="4005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11.40x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6"/>
            <p:cNvSpPr/>
            <p:nvPr/>
          </p:nvSpPr>
          <p:spPr>
            <a:xfrm>
              <a:off x="4301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13.0x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6"/>
            <p:cNvSpPr/>
            <p:nvPr/>
          </p:nvSpPr>
          <p:spPr>
            <a:xfrm>
              <a:off x="4620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12.9x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6"/>
            <p:cNvSpPr/>
            <p:nvPr/>
          </p:nvSpPr>
          <p:spPr>
            <a:xfrm>
              <a:off x="4926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17.3x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6"/>
            <p:cNvSpPr/>
            <p:nvPr/>
          </p:nvSpPr>
          <p:spPr>
            <a:xfrm>
              <a:off x="5225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12.8x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6"/>
            <p:cNvSpPr/>
            <p:nvPr/>
          </p:nvSpPr>
          <p:spPr>
            <a:xfrm>
              <a:off x="5517" y="3498"/>
              <a:ext cx="300" cy="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13.5x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16"/>
            <p:cNvCxnSpPr/>
            <p:nvPr/>
          </p:nvCxnSpPr>
          <p:spPr>
            <a:xfrm>
              <a:off x="0" y="2980"/>
              <a:ext cx="5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1" name="Google Shape;331;p16"/>
            <p:cNvSpPr/>
            <p:nvPr/>
          </p:nvSpPr>
          <p:spPr>
            <a:xfrm>
              <a:off x="0" y="2980"/>
              <a:ext cx="5700" cy="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2" name="Google Shape;332;p16"/>
            <p:cNvCxnSpPr/>
            <p:nvPr/>
          </p:nvCxnSpPr>
          <p:spPr>
            <a:xfrm>
              <a:off x="0" y="3099"/>
              <a:ext cx="5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3" name="Google Shape;333;p16"/>
            <p:cNvSpPr/>
            <p:nvPr/>
          </p:nvSpPr>
          <p:spPr>
            <a:xfrm>
              <a:off x="0" y="3099"/>
              <a:ext cx="5700" cy="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4" name="Google Shape;334;p16"/>
            <p:cNvCxnSpPr/>
            <p:nvPr/>
          </p:nvCxnSpPr>
          <p:spPr>
            <a:xfrm>
              <a:off x="0" y="3104"/>
              <a:ext cx="5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35" name="Google Shape;335;p16"/>
            <p:cNvGrpSpPr/>
            <p:nvPr/>
          </p:nvGrpSpPr>
          <p:grpSpPr>
            <a:xfrm>
              <a:off x="0" y="1589"/>
              <a:ext cx="5794" cy="2149"/>
              <a:chOff x="0" y="1589"/>
              <a:chExt cx="5794" cy="2149"/>
            </a:xfrm>
          </p:grpSpPr>
          <p:sp>
            <p:nvSpPr>
              <p:cNvPr id="336" name="Google Shape;336;p16"/>
              <p:cNvSpPr/>
              <p:nvPr/>
            </p:nvSpPr>
            <p:spPr>
              <a:xfrm>
                <a:off x="0" y="1589"/>
                <a:ext cx="5700" cy="300"/>
              </a:xfrm>
              <a:prstGeom prst="rect">
                <a:avLst/>
              </a:prstGeom>
              <a:solidFill>
                <a:srgbClr val="113D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0" y="1872"/>
                <a:ext cx="5700" cy="12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0" y="2980"/>
                <a:ext cx="5700" cy="0"/>
              </a:xfrm>
              <a:prstGeom prst="rect">
                <a:avLst/>
              </a:prstGeom>
              <a:solidFill>
                <a:srgbClr val="ED942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16"/>
              <p:cNvSpPr/>
              <p:nvPr/>
            </p:nvSpPr>
            <p:spPr>
              <a:xfrm>
                <a:off x="0" y="3138"/>
                <a:ext cx="5700" cy="600"/>
              </a:xfrm>
              <a:prstGeom prst="rect">
                <a:avLst/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6"/>
              <p:cNvSpPr/>
              <p:nvPr/>
            </p:nvSpPr>
            <p:spPr>
              <a:xfrm>
                <a:off x="9" y="1614"/>
                <a:ext cx="9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800"/>
                  <a:buFont typeface="Arial"/>
                  <a:buNone/>
                </a:pPr>
                <a:r>
                  <a:rPr b="0" i="1" lang="en-US" sz="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(in millions of U.S. dollars)</a:t>
                </a:r>
                <a:endParaRPr b="0" i="0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6"/>
              <p:cNvSpPr/>
              <p:nvPr/>
            </p:nvSpPr>
            <p:spPr>
              <a:xfrm>
                <a:off x="1070" y="159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Stock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6"/>
              <p:cNvSpPr/>
              <p:nvPr/>
            </p:nvSpPr>
            <p:spPr>
              <a:xfrm>
                <a:off x="1402" y="159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Equity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16"/>
              <p:cNvSpPr/>
              <p:nvPr/>
            </p:nvSpPr>
            <p:spPr>
              <a:xfrm>
                <a:off x="1826" y="159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Firm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2505" y="1592"/>
                <a:ext cx="6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Net Income</a:t>
                </a:r>
                <a:endParaRPr b="1" i="0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2109" y="1702"/>
                <a:ext cx="1200" cy="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3748" y="1592"/>
                <a:ext cx="6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TEV / EBITDA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3330" y="1702"/>
                <a:ext cx="1200" cy="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4906" y="1592"/>
                <a:ext cx="6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Price / Earnings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16"/>
              <p:cNvSpPr/>
              <p:nvPr/>
            </p:nvSpPr>
            <p:spPr>
              <a:xfrm>
                <a:off x="4550" y="1702"/>
                <a:ext cx="1200" cy="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104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Company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6"/>
              <p:cNvSpPr/>
              <p:nvPr/>
            </p:nvSpPr>
            <p:spPr>
              <a:xfrm>
                <a:off x="639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Symbol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16"/>
              <p:cNvSpPr/>
              <p:nvPr/>
            </p:nvSpPr>
            <p:spPr>
              <a:xfrm>
                <a:off x="1076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Price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6"/>
              <p:cNvSpPr/>
              <p:nvPr/>
            </p:nvSpPr>
            <p:spPr>
              <a:xfrm>
                <a:off x="1411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Value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6"/>
              <p:cNvSpPr/>
              <p:nvPr/>
            </p:nvSpPr>
            <p:spPr>
              <a:xfrm>
                <a:off x="1811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Value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16"/>
              <p:cNvSpPr/>
              <p:nvPr/>
            </p:nvSpPr>
            <p:spPr>
              <a:xfrm>
                <a:off x="2149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2490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LTM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6"/>
              <p:cNvSpPr/>
              <p:nvPr/>
            </p:nvSpPr>
            <p:spPr>
              <a:xfrm>
                <a:off x="3370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6"/>
              <p:cNvSpPr/>
              <p:nvPr/>
            </p:nvSpPr>
            <p:spPr>
              <a:xfrm>
                <a:off x="3710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LTM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6"/>
              <p:cNvSpPr/>
              <p:nvPr/>
            </p:nvSpPr>
            <p:spPr>
              <a:xfrm>
                <a:off x="4287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6"/>
              <p:cNvSpPr/>
              <p:nvPr/>
            </p:nvSpPr>
            <p:spPr>
              <a:xfrm>
                <a:off x="4590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>
                <a:off x="4931" y="171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LTM</a:t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647" y="188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6"/>
              <p:cNvSpPr/>
              <p:nvPr/>
            </p:nvSpPr>
            <p:spPr>
              <a:xfrm>
                <a:off x="2799" y="187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6"/>
              <p:cNvSpPr/>
              <p:nvPr/>
            </p:nvSpPr>
            <p:spPr>
              <a:xfrm>
                <a:off x="3104" y="187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3382" y="187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3697" y="187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4005" y="187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647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1049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1394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1794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2203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2799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3104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6"/>
              <p:cNvSpPr/>
              <p:nvPr/>
            </p:nvSpPr>
            <p:spPr>
              <a:xfrm>
                <a:off x="3382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6"/>
              <p:cNvSpPr/>
              <p:nvPr/>
            </p:nvSpPr>
            <p:spPr>
              <a:xfrm>
                <a:off x="3697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4005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4301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4620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4903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5202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5494" y="199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6"/>
              <p:cNvSpPr/>
              <p:nvPr/>
            </p:nvSpPr>
            <p:spPr>
              <a:xfrm>
                <a:off x="29" y="2110"/>
                <a:ext cx="6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VALE</a:t>
                </a:r>
                <a:endParaRPr b="0" i="0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6"/>
              <p:cNvSpPr/>
              <p:nvPr/>
            </p:nvSpPr>
            <p:spPr>
              <a:xfrm>
                <a:off x="647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NYSE:GE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6"/>
              <p:cNvSpPr/>
              <p:nvPr/>
            </p:nvSpPr>
            <p:spPr>
              <a:xfrm>
                <a:off x="1049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161.82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6"/>
              <p:cNvSpPr/>
              <p:nvPr/>
            </p:nvSpPr>
            <p:spPr>
              <a:xfrm>
                <a:off x="1394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$57,850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6"/>
              <p:cNvSpPr/>
              <p:nvPr/>
            </p:nvSpPr>
            <p:spPr>
              <a:xfrm>
                <a:off x="1794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$47,780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16"/>
              <p:cNvSpPr/>
              <p:nvPr/>
            </p:nvSpPr>
            <p:spPr>
              <a:xfrm>
                <a:off x="2499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2,410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2799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2,800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3104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16"/>
              <p:cNvSpPr/>
              <p:nvPr/>
            </p:nvSpPr>
            <p:spPr>
              <a:xfrm>
                <a:off x="3382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6"/>
              <p:cNvSpPr/>
              <p:nvPr/>
            </p:nvSpPr>
            <p:spPr>
              <a:xfrm>
                <a:off x="3697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2.8x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6"/>
              <p:cNvSpPr/>
              <p:nvPr/>
            </p:nvSpPr>
            <p:spPr>
              <a:xfrm>
                <a:off x="4005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2.6x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6"/>
              <p:cNvSpPr/>
              <p:nvPr/>
            </p:nvSpPr>
            <p:spPr>
              <a:xfrm>
                <a:off x="4301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6"/>
              <p:cNvSpPr/>
              <p:nvPr/>
            </p:nvSpPr>
            <p:spPr>
              <a:xfrm>
                <a:off x="4620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6"/>
              <p:cNvSpPr/>
              <p:nvPr/>
            </p:nvSpPr>
            <p:spPr>
              <a:xfrm>
                <a:off x="4903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19.8x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>
                <a:off x="5202" y="2113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17.1x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647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NYSE:LHX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1030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7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214.05 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1394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$159,410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1794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$145,410</a:t>
                </a:r>
                <a:endParaRPr b="0" i="0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2203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2499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6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13,700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2799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14,200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3104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3382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3697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5.5x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4005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5.2x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4301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4597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6"/>
              <p:cNvSpPr/>
              <p:nvPr/>
            </p:nvSpPr>
            <p:spPr>
              <a:xfrm>
                <a:off x="4903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10.6x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6"/>
              <p:cNvSpPr/>
              <p:nvPr/>
            </p:nvSpPr>
            <p:spPr>
              <a:xfrm>
                <a:off x="5202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10.2x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5494" y="2232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647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NYSE:GD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1038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287.09 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1394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$53,550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6"/>
              <p:cNvSpPr/>
              <p:nvPr/>
            </p:nvSpPr>
            <p:spPr>
              <a:xfrm>
                <a:off x="1794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$30,000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2203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2499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3,100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2799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3,500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3104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>
                <a:off x="3382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3697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3.7x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4005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3.4x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6"/>
              <p:cNvSpPr/>
              <p:nvPr/>
            </p:nvSpPr>
            <p:spPr>
              <a:xfrm>
                <a:off x="4301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4597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4903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9.7x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5202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8.6x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6"/>
              <p:cNvSpPr/>
              <p:nvPr/>
            </p:nvSpPr>
            <p:spPr>
              <a:xfrm>
                <a:off x="5494" y="2351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647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NYSE:LMT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1049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464.93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1394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$49,700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1794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$68,340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6"/>
              <p:cNvSpPr/>
              <p:nvPr/>
            </p:nvSpPr>
            <p:spPr>
              <a:xfrm>
                <a:off x="2203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2499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4,600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2799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5,100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6"/>
              <p:cNvSpPr/>
              <p:nvPr/>
            </p:nvSpPr>
            <p:spPr>
              <a:xfrm>
                <a:off x="3104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>
                <a:off x="3382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6"/>
              <p:cNvSpPr/>
              <p:nvPr/>
            </p:nvSpPr>
            <p:spPr>
              <a:xfrm>
                <a:off x="3697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5.3x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6"/>
              <p:cNvSpPr/>
              <p:nvPr/>
            </p:nvSpPr>
            <p:spPr>
              <a:xfrm>
                <a:off x="4005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4.9x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6"/>
              <p:cNvSpPr/>
              <p:nvPr/>
            </p:nvSpPr>
            <p:spPr>
              <a:xfrm>
                <a:off x="4301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6"/>
              <p:cNvSpPr/>
              <p:nvPr/>
            </p:nvSpPr>
            <p:spPr>
              <a:xfrm>
                <a:off x="4597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6"/>
              <p:cNvSpPr/>
              <p:nvPr/>
            </p:nvSpPr>
            <p:spPr>
              <a:xfrm>
                <a:off x="4903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12.4x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6"/>
              <p:cNvSpPr/>
              <p:nvPr/>
            </p:nvSpPr>
            <p:spPr>
              <a:xfrm>
                <a:off x="5202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11.4x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6"/>
              <p:cNvSpPr/>
              <p:nvPr/>
            </p:nvSpPr>
            <p:spPr>
              <a:xfrm>
                <a:off x="5494" y="2470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6"/>
              <p:cNvSpPr/>
              <p:nvPr/>
            </p:nvSpPr>
            <p:spPr>
              <a:xfrm>
                <a:off x="29" y="2589"/>
                <a:ext cx="6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Chalco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6"/>
              <p:cNvSpPr/>
              <p:nvPr/>
            </p:nvSpPr>
            <p:spPr>
              <a:xfrm>
                <a:off x="647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NYSE:TDG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6"/>
              <p:cNvSpPr/>
              <p:nvPr/>
            </p:nvSpPr>
            <p:spPr>
              <a:xfrm>
                <a:off x="1017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1,248.03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6"/>
              <p:cNvSpPr/>
              <p:nvPr/>
            </p:nvSpPr>
            <p:spPr>
              <a:xfrm>
                <a:off x="1394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$20,500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6"/>
              <p:cNvSpPr/>
              <p:nvPr/>
            </p:nvSpPr>
            <p:spPr>
              <a:xfrm>
                <a:off x="1794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$14,826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6"/>
              <p:cNvSpPr/>
              <p:nvPr/>
            </p:nvSpPr>
            <p:spPr>
              <a:xfrm>
                <a:off x="2203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6"/>
              <p:cNvSpPr/>
              <p:nvPr/>
            </p:nvSpPr>
            <p:spPr>
              <a:xfrm>
                <a:off x="2499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1,200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6"/>
              <p:cNvSpPr/>
              <p:nvPr/>
            </p:nvSpPr>
            <p:spPr>
              <a:xfrm>
                <a:off x="2799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7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1,300</a:t>
                </a:r>
                <a:endParaRPr b="0" i="0" sz="1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6"/>
              <p:cNvSpPr/>
              <p:nvPr/>
            </p:nvSpPr>
            <p:spPr>
              <a:xfrm>
                <a:off x="3104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6"/>
              <p:cNvSpPr/>
              <p:nvPr/>
            </p:nvSpPr>
            <p:spPr>
              <a:xfrm>
                <a:off x="3382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6"/>
              <p:cNvSpPr/>
              <p:nvPr/>
            </p:nvSpPr>
            <p:spPr>
              <a:xfrm>
                <a:off x="3697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5.9x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6"/>
              <p:cNvSpPr/>
              <p:nvPr/>
            </p:nvSpPr>
            <p:spPr>
              <a:xfrm>
                <a:off x="4005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5.4x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16"/>
              <p:cNvSpPr/>
              <p:nvPr/>
            </p:nvSpPr>
            <p:spPr>
              <a:xfrm>
                <a:off x="4301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6"/>
              <p:cNvSpPr/>
              <p:nvPr/>
            </p:nvSpPr>
            <p:spPr>
              <a:xfrm>
                <a:off x="4597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6"/>
              <p:cNvSpPr/>
              <p:nvPr/>
            </p:nvSpPr>
            <p:spPr>
              <a:xfrm>
                <a:off x="4903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14.9x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6"/>
              <p:cNvSpPr/>
              <p:nvPr/>
            </p:nvSpPr>
            <p:spPr>
              <a:xfrm>
                <a:off x="5202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13.4x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16"/>
              <p:cNvSpPr/>
              <p:nvPr/>
            </p:nvSpPr>
            <p:spPr>
              <a:xfrm>
                <a:off x="5494" y="2589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6"/>
              <p:cNvSpPr/>
              <p:nvPr/>
            </p:nvSpPr>
            <p:spPr>
              <a:xfrm>
                <a:off x="29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6"/>
              <p:cNvSpPr/>
              <p:nvPr/>
            </p:nvSpPr>
            <p:spPr>
              <a:xfrm>
                <a:off x="647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16"/>
              <p:cNvSpPr/>
              <p:nvPr/>
            </p:nvSpPr>
            <p:spPr>
              <a:xfrm>
                <a:off x="1051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16"/>
              <p:cNvSpPr/>
              <p:nvPr/>
            </p:nvSpPr>
            <p:spPr>
              <a:xfrm>
                <a:off x="1394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6"/>
              <p:cNvSpPr/>
              <p:nvPr/>
            </p:nvSpPr>
            <p:spPr>
              <a:xfrm>
                <a:off x="1794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16"/>
              <p:cNvSpPr/>
              <p:nvPr/>
            </p:nvSpPr>
            <p:spPr>
              <a:xfrm>
                <a:off x="2203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6"/>
              <p:cNvSpPr/>
              <p:nvPr/>
            </p:nvSpPr>
            <p:spPr>
              <a:xfrm>
                <a:off x="2499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6"/>
              <p:cNvSpPr/>
              <p:nvPr/>
            </p:nvSpPr>
            <p:spPr>
              <a:xfrm>
                <a:off x="2799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6"/>
              <p:cNvSpPr/>
              <p:nvPr/>
            </p:nvSpPr>
            <p:spPr>
              <a:xfrm>
                <a:off x="3104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6"/>
              <p:cNvSpPr/>
              <p:nvPr/>
            </p:nvSpPr>
            <p:spPr>
              <a:xfrm>
                <a:off x="3382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16"/>
              <p:cNvSpPr/>
              <p:nvPr/>
            </p:nvSpPr>
            <p:spPr>
              <a:xfrm>
                <a:off x="3697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16"/>
              <p:cNvSpPr/>
              <p:nvPr/>
            </p:nvSpPr>
            <p:spPr>
              <a:xfrm>
                <a:off x="4005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6"/>
              <p:cNvSpPr/>
              <p:nvPr/>
            </p:nvSpPr>
            <p:spPr>
              <a:xfrm>
                <a:off x="4301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6"/>
              <p:cNvSpPr/>
              <p:nvPr/>
            </p:nvSpPr>
            <p:spPr>
              <a:xfrm>
                <a:off x="4597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4903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16"/>
              <p:cNvSpPr/>
              <p:nvPr/>
            </p:nvSpPr>
            <p:spPr>
              <a:xfrm>
                <a:off x="5202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16"/>
              <p:cNvSpPr/>
              <p:nvPr/>
            </p:nvSpPr>
            <p:spPr>
              <a:xfrm>
                <a:off x="5494" y="2708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16"/>
              <p:cNvSpPr/>
              <p:nvPr/>
            </p:nvSpPr>
            <p:spPr>
              <a:xfrm>
                <a:off x="29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16"/>
              <p:cNvSpPr/>
              <p:nvPr/>
            </p:nvSpPr>
            <p:spPr>
              <a:xfrm>
                <a:off x="1072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16"/>
              <p:cNvSpPr/>
              <p:nvPr/>
            </p:nvSpPr>
            <p:spPr>
              <a:xfrm>
                <a:off x="1394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16"/>
              <p:cNvSpPr/>
              <p:nvPr/>
            </p:nvSpPr>
            <p:spPr>
              <a:xfrm>
                <a:off x="1794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16"/>
              <p:cNvSpPr/>
              <p:nvPr/>
            </p:nvSpPr>
            <p:spPr>
              <a:xfrm>
                <a:off x="2203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16"/>
              <p:cNvSpPr/>
              <p:nvPr/>
            </p:nvSpPr>
            <p:spPr>
              <a:xfrm>
                <a:off x="2499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16"/>
              <p:cNvSpPr/>
              <p:nvPr/>
            </p:nvSpPr>
            <p:spPr>
              <a:xfrm>
                <a:off x="3382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16"/>
              <p:cNvSpPr/>
              <p:nvPr/>
            </p:nvSpPr>
            <p:spPr>
              <a:xfrm>
                <a:off x="3697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6"/>
              <p:cNvSpPr/>
              <p:nvPr/>
            </p:nvSpPr>
            <p:spPr>
              <a:xfrm>
                <a:off x="4903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16"/>
              <p:cNvSpPr/>
              <p:nvPr/>
            </p:nvSpPr>
            <p:spPr>
              <a:xfrm>
                <a:off x="5202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16"/>
              <p:cNvSpPr/>
              <p:nvPr/>
            </p:nvSpPr>
            <p:spPr>
              <a:xfrm>
                <a:off x="5494" y="2827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6"/>
              <p:cNvSpPr/>
              <p:nvPr/>
            </p:nvSpPr>
            <p:spPr>
              <a:xfrm>
                <a:off x="16" y="3008"/>
                <a:ext cx="6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RIO Tinto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6"/>
              <p:cNvSpPr/>
              <p:nvPr/>
            </p:nvSpPr>
            <p:spPr>
              <a:xfrm>
                <a:off x="641" y="3014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NYSE:BA</a:t>
                </a:r>
                <a:endParaRPr b="0" i="0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1040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$167.84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1394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$103,034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6"/>
              <p:cNvSpPr/>
              <p:nvPr/>
            </p:nvSpPr>
            <p:spPr>
              <a:xfrm>
                <a:off x="1794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$143,438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6"/>
              <p:cNvSpPr/>
              <p:nvPr/>
            </p:nvSpPr>
            <p:spPr>
              <a:xfrm>
                <a:off x="2203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2.6x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6"/>
              <p:cNvSpPr/>
              <p:nvPr/>
            </p:nvSpPr>
            <p:spPr>
              <a:xfrm>
                <a:off x="2795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1.8x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6"/>
              <p:cNvSpPr/>
              <p:nvPr/>
            </p:nvSpPr>
            <p:spPr>
              <a:xfrm>
                <a:off x="3100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2.6x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6"/>
              <p:cNvSpPr/>
              <p:nvPr/>
            </p:nvSpPr>
            <p:spPr>
              <a:xfrm>
                <a:off x="3382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10.5x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6"/>
              <p:cNvSpPr/>
              <p:nvPr/>
            </p:nvSpPr>
            <p:spPr>
              <a:xfrm>
                <a:off x="3697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46.50x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6"/>
              <p:cNvSpPr/>
              <p:nvPr/>
            </p:nvSpPr>
            <p:spPr>
              <a:xfrm>
                <a:off x="4005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23.10x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6"/>
              <p:cNvSpPr/>
              <p:nvPr/>
            </p:nvSpPr>
            <p:spPr>
              <a:xfrm>
                <a:off x="4301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29.20x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6"/>
              <p:cNvSpPr/>
              <p:nvPr/>
            </p:nvSpPr>
            <p:spPr>
              <a:xfrm>
                <a:off x="4655" y="3005"/>
                <a:ext cx="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6"/>
              <p:cNvSpPr/>
              <p:nvPr/>
            </p:nvSpPr>
            <p:spPr>
              <a:xfrm>
                <a:off x="5261" y="3002"/>
                <a:ext cx="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16"/>
              <p:cNvSpPr/>
              <p:nvPr/>
            </p:nvSpPr>
            <p:spPr>
              <a:xfrm>
                <a:off x="2499" y="3005"/>
                <a:ext cx="30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1.9x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6"/>
              <p:cNvSpPr/>
              <p:nvPr/>
            </p:nvSpPr>
            <p:spPr>
              <a:xfrm>
                <a:off x="4962" y="3002"/>
                <a:ext cx="0" cy="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NM</a:t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507" name="Google Shape;5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0" y="3328477"/>
            <a:ext cx="9144003" cy="25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3cb6d3ced7_1_0"/>
          <p:cNvSpPr txBox="1"/>
          <p:nvPr>
            <p:ph idx="1" type="body"/>
          </p:nvPr>
        </p:nvSpPr>
        <p:spPr>
          <a:xfrm>
            <a:off x="6189950" y="1126700"/>
            <a:ext cx="2813700" cy="28065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12M Tgt Px =&gt; 218.8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Return potential 18.3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Out of 29 global recommendation comes out very well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- &gt; Tgt Px goes as high as 250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g33cb6d3ced7_1_0"/>
          <p:cNvSpPr txBox="1"/>
          <p:nvPr>
            <p:ph type="title"/>
          </p:nvPr>
        </p:nvSpPr>
        <p:spPr>
          <a:xfrm>
            <a:off x="126350" y="415759"/>
            <a:ext cx="8305800" cy="332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lang="en-US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ANR – Analyst Recommendations</a:t>
            </a:r>
            <a:endParaRPr>
              <a:solidFill>
                <a:srgbClr val="333F44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515" name="Google Shape;515;g33cb6d3ced7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50" y="983850"/>
            <a:ext cx="5778275" cy="50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3cb6d3ced7_1_9"/>
          <p:cNvSpPr txBox="1"/>
          <p:nvPr>
            <p:ph idx="1" type="body"/>
          </p:nvPr>
        </p:nvSpPr>
        <p:spPr>
          <a:xfrm>
            <a:off x="7059800" y="1837250"/>
            <a:ext cx="2544900" cy="8106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/>
              <a:t>Rev: 2025 -&gt;  ~22 B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/>
              <a:t>         2026 -&gt;  ~24 B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3cb6d3ced7_1_9"/>
          <p:cNvSpPr txBox="1"/>
          <p:nvPr>
            <p:ph type="title"/>
          </p:nvPr>
        </p:nvSpPr>
        <p:spPr>
          <a:xfrm>
            <a:off x="131875" y="401484"/>
            <a:ext cx="8305800" cy="332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ANR – Analyst Recommendations</a:t>
            </a:r>
            <a:endParaRPr/>
          </a:p>
        </p:txBody>
      </p:sp>
      <p:pic>
        <p:nvPicPr>
          <p:cNvPr id="523" name="Google Shape;523;g33cb6d3ced7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875" y="1080625"/>
            <a:ext cx="6782124" cy="49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g33cb6d3ced7_1_9"/>
          <p:cNvSpPr txBox="1"/>
          <p:nvPr>
            <p:ph idx="1" type="body"/>
          </p:nvPr>
        </p:nvSpPr>
        <p:spPr>
          <a:xfrm>
            <a:off x="7059800" y="3097000"/>
            <a:ext cx="2544900" cy="559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/>
              <a:t>Profite: 2025 -&gt;  ~5.7 B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/>
              <a:t>             2026 -&gt;  ~ 6 B</a:t>
            </a:r>
            <a:endParaRPr/>
          </a:p>
        </p:txBody>
      </p:sp>
      <p:sp>
        <p:nvSpPr>
          <p:cNvPr id="525" name="Google Shape;525;g33cb6d3ced7_1_9"/>
          <p:cNvSpPr txBox="1"/>
          <p:nvPr>
            <p:ph idx="1" type="body"/>
          </p:nvPr>
        </p:nvSpPr>
        <p:spPr>
          <a:xfrm>
            <a:off x="7059800" y="4356750"/>
            <a:ext cx="2544900" cy="5592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/>
              <a:t>Income: 2025 -&gt;  ~3.3 B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en-US"/>
              <a:t>               2026 -&gt;  ~3.7 B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8"/>
          <p:cNvSpPr/>
          <p:nvPr/>
        </p:nvSpPr>
        <p:spPr>
          <a:xfrm>
            <a:off x="3249216" y="2296996"/>
            <a:ext cx="2645569" cy="316292"/>
          </a:xfrm>
          <a:prstGeom prst="rect">
            <a:avLst/>
          </a:prstGeom>
          <a:solidFill>
            <a:srgbClr val="333F44"/>
          </a:solidFill>
          <a:ln cap="flat" cmpd="sng" w="9525">
            <a:solidFill>
              <a:srgbClr val="33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8"/>
          <p:cNvSpPr txBox="1"/>
          <p:nvPr/>
        </p:nvSpPr>
        <p:spPr>
          <a:xfrm>
            <a:off x="3265160" y="2296996"/>
            <a:ext cx="236495" cy="316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 txBox="1"/>
          <p:nvPr/>
        </p:nvSpPr>
        <p:spPr>
          <a:xfrm>
            <a:off x="3265160" y="3181354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8"/>
          <p:cNvSpPr txBox="1"/>
          <p:nvPr/>
        </p:nvSpPr>
        <p:spPr>
          <a:xfrm>
            <a:off x="3265160" y="3640266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8"/>
          <p:cNvSpPr txBox="1"/>
          <p:nvPr/>
        </p:nvSpPr>
        <p:spPr>
          <a:xfrm>
            <a:off x="3265159" y="4099177"/>
            <a:ext cx="377597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8"/>
          <p:cNvSpPr txBox="1"/>
          <p:nvPr/>
        </p:nvSpPr>
        <p:spPr>
          <a:xfrm>
            <a:off x="3583212" y="2296996"/>
            <a:ext cx="2311573" cy="316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Company Overview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8"/>
          <p:cNvSpPr txBox="1"/>
          <p:nvPr/>
        </p:nvSpPr>
        <p:spPr>
          <a:xfrm>
            <a:off x="3583212" y="3181354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Investment 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"/>
          <p:cNvSpPr txBox="1"/>
          <p:nvPr/>
        </p:nvSpPr>
        <p:spPr>
          <a:xfrm>
            <a:off x="3583212" y="3640266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8"/>
          <p:cNvSpPr txBox="1"/>
          <p:nvPr/>
        </p:nvSpPr>
        <p:spPr>
          <a:xfrm>
            <a:off x="3583212" y="4099177"/>
            <a:ext cx="2311573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Catalysts and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8"/>
          <p:cNvSpPr txBox="1"/>
          <p:nvPr/>
        </p:nvSpPr>
        <p:spPr>
          <a:xfrm>
            <a:off x="3265160" y="4558088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8"/>
          <p:cNvSpPr txBox="1"/>
          <p:nvPr/>
        </p:nvSpPr>
        <p:spPr>
          <a:xfrm>
            <a:off x="3583212" y="4558088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8"/>
          <p:cNvSpPr txBox="1"/>
          <p:nvPr/>
        </p:nvSpPr>
        <p:spPr>
          <a:xfrm>
            <a:off x="3249215" y="2739175"/>
            <a:ext cx="320246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8"/>
          <p:cNvSpPr txBox="1"/>
          <p:nvPr/>
        </p:nvSpPr>
        <p:spPr>
          <a:xfrm>
            <a:off x="3567267" y="2739175"/>
            <a:ext cx="232751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Investment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p18"/>
          <p:cNvCxnSpPr/>
          <p:nvPr/>
        </p:nvCxnSpPr>
        <p:spPr>
          <a:xfrm>
            <a:off x="1" y="2191249"/>
            <a:ext cx="1638860" cy="0"/>
          </a:xfrm>
          <a:prstGeom prst="straightConnector1">
            <a:avLst/>
          </a:prstGeom>
          <a:noFill/>
          <a:ln cap="flat" cmpd="sng" w="19050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18"/>
          <p:cNvSpPr/>
          <p:nvPr/>
        </p:nvSpPr>
        <p:spPr>
          <a:xfrm>
            <a:off x="465270" y="1619532"/>
            <a:ext cx="2457450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8"/>
          <p:cNvSpPr txBox="1"/>
          <p:nvPr/>
        </p:nvSpPr>
        <p:spPr>
          <a:xfrm>
            <a:off x="3383407" y="1754609"/>
            <a:ext cx="23931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9"/>
          <p:cNvSpPr/>
          <p:nvPr/>
        </p:nvSpPr>
        <p:spPr>
          <a:xfrm>
            <a:off x="0" y="396100"/>
            <a:ext cx="6556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Risk and opportunities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572621" y="5810246"/>
            <a:ext cx="7998758" cy="221819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9"/>
          <p:cNvCxnSpPr/>
          <p:nvPr/>
        </p:nvCxnSpPr>
        <p:spPr>
          <a:xfrm rot="10800000">
            <a:off x="572621" y="5810246"/>
            <a:ext cx="799875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3" name="Google Shape;553;p19"/>
          <p:cNvSpPr/>
          <p:nvPr/>
        </p:nvSpPr>
        <p:spPr>
          <a:xfrm rot="-5400000">
            <a:off x="-1801855" y="3435771"/>
            <a:ext cx="4526280" cy="222671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		       		       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9"/>
          <p:cNvSpPr/>
          <p:nvPr/>
        </p:nvSpPr>
        <p:spPr>
          <a:xfrm rot="-5400000">
            <a:off x="349685" y="5809130"/>
            <a:ext cx="223200" cy="22267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5" name="Google Shape;555;p19"/>
          <p:cNvCxnSpPr/>
          <p:nvPr/>
        </p:nvCxnSpPr>
        <p:spPr>
          <a:xfrm flipH="1">
            <a:off x="349949" y="5808864"/>
            <a:ext cx="222671" cy="223201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6" name="Google Shape;556;p19"/>
          <p:cNvSpPr txBox="1"/>
          <p:nvPr/>
        </p:nvSpPr>
        <p:spPr>
          <a:xfrm>
            <a:off x="983242" y="4636339"/>
            <a:ext cx="3586200" cy="4617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Trump’s administration deregulation and incentives for energetic industries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9"/>
          <p:cNvSpPr txBox="1"/>
          <p:nvPr/>
        </p:nvSpPr>
        <p:spPr>
          <a:xfrm>
            <a:off x="2072626" y="3519700"/>
            <a:ext cx="2888700" cy="4617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Targa’s fully integrated midstream model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9"/>
          <p:cNvSpPr txBox="1"/>
          <p:nvPr/>
        </p:nvSpPr>
        <p:spPr>
          <a:xfrm>
            <a:off x="5563537" y="4636347"/>
            <a:ext cx="2112300" cy="4617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Targa’s leadership position in Permian basin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9"/>
          <p:cNvSpPr txBox="1"/>
          <p:nvPr/>
        </p:nvSpPr>
        <p:spPr>
          <a:xfrm>
            <a:off x="5303441" y="3177093"/>
            <a:ext cx="2469000" cy="276900"/>
          </a:xfrm>
          <a:prstGeom prst="rect">
            <a:avLst/>
          </a:prstGeom>
          <a:solidFill>
            <a:srgbClr val="FEF7F3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Political instability 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9"/>
          <p:cNvSpPr txBox="1"/>
          <p:nvPr/>
        </p:nvSpPr>
        <p:spPr>
          <a:xfrm>
            <a:off x="1762841" y="1840413"/>
            <a:ext cx="2351400" cy="461700"/>
          </a:xfrm>
          <a:prstGeom prst="rect">
            <a:avLst/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/>
              <a:t>Saturation and competition pressure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9"/>
          <p:cNvSpPr txBox="1"/>
          <p:nvPr/>
        </p:nvSpPr>
        <p:spPr>
          <a:xfrm>
            <a:off x="5807576" y="2059700"/>
            <a:ext cx="1998600" cy="276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/>
              <a:t>Climate risk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9"/>
          <p:cNvSpPr txBox="1"/>
          <p:nvPr/>
        </p:nvSpPr>
        <p:spPr>
          <a:xfrm>
            <a:off x="1680740" y="1111154"/>
            <a:ext cx="7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9"/>
          <p:cNvSpPr txBox="1"/>
          <p:nvPr/>
        </p:nvSpPr>
        <p:spPr>
          <a:xfrm>
            <a:off x="2634625" y="840587"/>
            <a:ext cx="607800" cy="2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1614825" y="1129325"/>
            <a:ext cx="457800" cy="1698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rgbClr val="0E0E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9"/>
          <p:cNvSpPr/>
          <p:nvPr/>
        </p:nvSpPr>
        <p:spPr>
          <a:xfrm>
            <a:off x="2264125" y="1129600"/>
            <a:ext cx="457800" cy="169800"/>
          </a:xfrm>
          <a:prstGeom prst="rect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9"/>
          <p:cNvSpPr/>
          <p:nvPr/>
        </p:nvSpPr>
        <p:spPr>
          <a:xfrm>
            <a:off x="2985100" y="1129600"/>
            <a:ext cx="457800" cy="16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9"/>
          <p:cNvSpPr/>
          <p:nvPr/>
        </p:nvSpPr>
        <p:spPr>
          <a:xfrm>
            <a:off x="3706075" y="1129325"/>
            <a:ext cx="457800" cy="169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9"/>
          <p:cNvSpPr/>
          <p:nvPr/>
        </p:nvSpPr>
        <p:spPr>
          <a:xfrm>
            <a:off x="4427050" y="1129325"/>
            <a:ext cx="457800" cy="1698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9"/>
          <p:cNvSpPr/>
          <p:nvPr/>
        </p:nvSpPr>
        <p:spPr>
          <a:xfrm>
            <a:off x="5214400" y="1129325"/>
            <a:ext cx="457800" cy="1698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9"/>
          <p:cNvSpPr txBox="1"/>
          <p:nvPr/>
        </p:nvSpPr>
        <p:spPr>
          <a:xfrm>
            <a:off x="1443663" y="1503463"/>
            <a:ext cx="2469000" cy="13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</p:txBody>
      </p:sp>
      <p:sp>
        <p:nvSpPr>
          <p:cNvPr id="571" name="Google Shape;571;p19"/>
          <p:cNvSpPr txBox="1"/>
          <p:nvPr/>
        </p:nvSpPr>
        <p:spPr>
          <a:xfrm>
            <a:off x="483700" y="1014388"/>
            <a:ext cx="24690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opportunity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2" name="Google Shape;572;p19"/>
          <p:cNvSpPr txBox="1"/>
          <p:nvPr/>
        </p:nvSpPr>
        <p:spPr>
          <a:xfrm>
            <a:off x="5741875" y="1014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risk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"/>
          <p:cNvSpPr/>
          <p:nvPr/>
        </p:nvSpPr>
        <p:spPr>
          <a:xfrm>
            <a:off x="3249216" y="2296996"/>
            <a:ext cx="2645569" cy="316292"/>
          </a:xfrm>
          <a:prstGeom prst="rect">
            <a:avLst/>
          </a:prstGeom>
          <a:solidFill>
            <a:srgbClr val="333F44"/>
          </a:solidFill>
          <a:ln cap="flat" cmpd="sng" w="9525">
            <a:solidFill>
              <a:srgbClr val="33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0"/>
          <p:cNvSpPr txBox="1"/>
          <p:nvPr/>
        </p:nvSpPr>
        <p:spPr>
          <a:xfrm>
            <a:off x="3265160" y="2296996"/>
            <a:ext cx="236495" cy="316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0"/>
          <p:cNvSpPr txBox="1"/>
          <p:nvPr/>
        </p:nvSpPr>
        <p:spPr>
          <a:xfrm>
            <a:off x="3265160" y="3181354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0"/>
          <p:cNvSpPr txBox="1"/>
          <p:nvPr/>
        </p:nvSpPr>
        <p:spPr>
          <a:xfrm>
            <a:off x="3265160" y="3640266"/>
            <a:ext cx="318052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0"/>
          <p:cNvSpPr txBox="1"/>
          <p:nvPr/>
        </p:nvSpPr>
        <p:spPr>
          <a:xfrm>
            <a:off x="3265159" y="4099177"/>
            <a:ext cx="37759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3583212" y="2296996"/>
            <a:ext cx="2311573" cy="316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Company Overview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 txBox="1"/>
          <p:nvPr/>
        </p:nvSpPr>
        <p:spPr>
          <a:xfrm>
            <a:off x="3583212" y="3181354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Investment 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0"/>
          <p:cNvSpPr txBox="1"/>
          <p:nvPr/>
        </p:nvSpPr>
        <p:spPr>
          <a:xfrm>
            <a:off x="3583212" y="3640266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0"/>
          <p:cNvSpPr txBox="1"/>
          <p:nvPr/>
        </p:nvSpPr>
        <p:spPr>
          <a:xfrm>
            <a:off x="3583212" y="4099177"/>
            <a:ext cx="2311573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Catalysts and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0"/>
          <p:cNvSpPr txBox="1"/>
          <p:nvPr/>
        </p:nvSpPr>
        <p:spPr>
          <a:xfrm>
            <a:off x="3265160" y="4558088"/>
            <a:ext cx="318052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0"/>
          <p:cNvSpPr txBox="1"/>
          <p:nvPr/>
        </p:nvSpPr>
        <p:spPr>
          <a:xfrm>
            <a:off x="3583212" y="4558088"/>
            <a:ext cx="2311573" cy="316292"/>
          </a:xfrm>
          <a:prstGeom prst="rect">
            <a:avLst/>
          </a:prstGeom>
          <a:solidFill>
            <a:srgbClr val="2A90BC"/>
          </a:solidFill>
          <a:ln cap="flat" cmpd="sng" w="9525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0"/>
          <p:cNvSpPr txBox="1"/>
          <p:nvPr/>
        </p:nvSpPr>
        <p:spPr>
          <a:xfrm>
            <a:off x="3249215" y="2739175"/>
            <a:ext cx="320246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0"/>
          <p:cNvSpPr txBox="1"/>
          <p:nvPr/>
        </p:nvSpPr>
        <p:spPr>
          <a:xfrm>
            <a:off x="3567267" y="2739175"/>
            <a:ext cx="2327517" cy="316292"/>
          </a:xfrm>
          <a:prstGeom prst="rect">
            <a:avLst/>
          </a:prstGeom>
          <a:solidFill>
            <a:srgbClr val="333F44"/>
          </a:solidFill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Investment</a:t>
            </a:r>
            <a: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p20"/>
          <p:cNvCxnSpPr/>
          <p:nvPr/>
        </p:nvCxnSpPr>
        <p:spPr>
          <a:xfrm>
            <a:off x="1" y="2191249"/>
            <a:ext cx="1638860" cy="0"/>
          </a:xfrm>
          <a:prstGeom prst="straightConnector1">
            <a:avLst/>
          </a:prstGeom>
          <a:noFill/>
          <a:ln cap="flat" cmpd="sng" w="19050">
            <a:solidFill>
              <a:srgbClr val="2A90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1" name="Google Shape;591;p20"/>
          <p:cNvSpPr/>
          <p:nvPr/>
        </p:nvSpPr>
        <p:spPr>
          <a:xfrm>
            <a:off x="465270" y="1619532"/>
            <a:ext cx="2457450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0"/>
          <p:cNvSpPr txBox="1"/>
          <p:nvPr/>
        </p:nvSpPr>
        <p:spPr>
          <a:xfrm>
            <a:off x="3383407" y="1754609"/>
            <a:ext cx="23931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1"/>
          <p:cNvSpPr/>
          <p:nvPr/>
        </p:nvSpPr>
        <p:spPr>
          <a:xfrm>
            <a:off x="0" y="396096"/>
            <a:ext cx="4862079" cy="401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F44"/>
              </a:buClr>
              <a:buSzPts val="2400"/>
              <a:buFont typeface="Open Sans Light"/>
              <a:buNone/>
            </a:pPr>
            <a:r>
              <a:rPr b="0" i="0" lang="en-US" sz="2400" u="none" cap="none" strike="noStrike">
                <a:solidFill>
                  <a:srgbClr val="333F44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Price Target &amp; Recommendation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3900" y="1697599"/>
            <a:ext cx="5120576" cy="287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400" y="1124119"/>
            <a:ext cx="3276100" cy="4371053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1"/>
          <p:cNvSpPr txBox="1"/>
          <p:nvPr/>
        </p:nvSpPr>
        <p:spPr>
          <a:xfrm>
            <a:off x="1017800" y="5616950"/>
            <a:ext cx="182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Source: Tip Ranks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2010-05-26T09:54:24Z</dcterms:created>
  <dc:creator>BIWS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0x010100615F4D5F2B10064CBE583E3864B6AE5E</vt:lpwstr>
  </property>
</Properties>
</file>