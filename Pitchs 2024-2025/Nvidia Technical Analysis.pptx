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9144000"/>
  <p:notesSz cx="6858000" cy="9144000"/>
  <p:embeddedFontLst>
    <p:embeddedFont>
      <p:font typeface="Arial Narrow"/>
      <p:regular r:id="rId30"/>
      <p:bold r:id="rId31"/>
      <p:italic r:id="rId32"/>
      <p:boldItalic r:id="rId33"/>
    </p:embeddedFont>
    <p:embeddedFont>
      <p:font typeface="Poppins"/>
      <p:regular r:id="rId34"/>
      <p:bold r:id="rId35"/>
      <p:italic r:id="rId36"/>
      <p:boldItalic r:id="rId37"/>
    </p:embeddedFont>
    <p:embeddedFont>
      <p:font typeface="Open Sans Light"/>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2" roundtripDataSignature="AMtx7mi05Pwm9axcVsaW/BdeKDgx+G1p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OpenSansLight-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OpenSansLight-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rialNarrow-bold.fntdata"/><Relationship Id="rId30" Type="http://schemas.openxmlformats.org/officeDocument/2006/relationships/font" Target="fonts/ArialNarrow-regular.fntdata"/><Relationship Id="rId11" Type="http://schemas.openxmlformats.org/officeDocument/2006/relationships/slide" Target="slides/slide6.xml"/><Relationship Id="rId33" Type="http://schemas.openxmlformats.org/officeDocument/2006/relationships/font" Target="fonts/ArialNarrow-boldItalic.fntdata"/><Relationship Id="rId10" Type="http://schemas.openxmlformats.org/officeDocument/2006/relationships/slide" Target="slides/slide5.xml"/><Relationship Id="rId32" Type="http://schemas.openxmlformats.org/officeDocument/2006/relationships/font" Target="fonts/ArialNarrow-italic.fntdata"/><Relationship Id="rId13" Type="http://schemas.openxmlformats.org/officeDocument/2006/relationships/slide" Target="slides/slide8.xml"/><Relationship Id="rId35" Type="http://schemas.openxmlformats.org/officeDocument/2006/relationships/font" Target="fonts/Poppins-bold.fntdata"/><Relationship Id="rId12" Type="http://schemas.openxmlformats.org/officeDocument/2006/relationships/slide" Target="slides/slide7.xml"/><Relationship Id="rId34" Type="http://schemas.openxmlformats.org/officeDocument/2006/relationships/font" Target="fonts/Poppins-regular.fntdata"/><Relationship Id="rId15" Type="http://schemas.openxmlformats.org/officeDocument/2006/relationships/slide" Target="slides/slide10.xml"/><Relationship Id="rId37" Type="http://schemas.openxmlformats.org/officeDocument/2006/relationships/font" Target="fonts/Poppins-boldItalic.fntdata"/><Relationship Id="rId14" Type="http://schemas.openxmlformats.org/officeDocument/2006/relationships/slide" Target="slides/slide9.xml"/><Relationship Id="rId36" Type="http://schemas.openxmlformats.org/officeDocument/2006/relationships/font" Target="fonts/Poppins-italic.fntdata"/><Relationship Id="rId17" Type="http://schemas.openxmlformats.org/officeDocument/2006/relationships/slide" Target="slides/slide12.xml"/><Relationship Id="rId39" Type="http://schemas.openxmlformats.org/officeDocument/2006/relationships/font" Target="fonts/OpenSansLight-bold.fntdata"/><Relationship Id="rId16" Type="http://schemas.openxmlformats.org/officeDocument/2006/relationships/slide" Target="slides/slide11.xml"/><Relationship Id="rId38" Type="http://schemas.openxmlformats.org/officeDocument/2006/relationships/font" Target="fonts/OpenSansLigh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 name="Google Shape;3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9" name="Google Shape;4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0" name="Google Shape;7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7" name="Google Shape;7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3" name="Google Shape;8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9" name="Google Shape;8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5" name="Google Shape;9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1" name="Google Shape;10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8" name="Google Shape;10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4" name="Google Shape;11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0" name="Google Shape;12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6" name="Google Shape;12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2" name="Google Shape;13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8" name="Google Shape;13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4" name="Google Shape;14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0" name="Google Shape;15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6" name="Google Shape;15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2" name="Google Shape;16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8" name="Google Shape;16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75" name="Google Shape;17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1" name="Google Shape;18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7" name="Google Shape;18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3" name="Google Shape;19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9" name="Google Shape;19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6"/>
          <p:cNvSpPr txBox="1"/>
          <p:nvPr>
            <p:ph type="ctrTitle"/>
          </p:nvPr>
        </p:nvSpPr>
        <p:spPr>
          <a:xfrm>
            <a:off x="381000" y="2680771"/>
            <a:ext cx="7772400" cy="36933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sz="2400"/>
            </a:lvl1pPr>
            <a:lvl2pPr lvl="1" algn="just">
              <a:lnSpc>
                <a:spcPct val="100000"/>
              </a:lnSpc>
              <a:spcBef>
                <a:spcPts val="0"/>
              </a:spcBef>
              <a:spcAft>
                <a:spcPts val="0"/>
              </a:spcAft>
              <a:buSzPts val="1400"/>
              <a:buNone/>
              <a:defRPr/>
            </a:lvl2pPr>
            <a:lvl3pPr lvl="2" algn="just">
              <a:lnSpc>
                <a:spcPct val="100000"/>
              </a:lnSpc>
              <a:spcBef>
                <a:spcPts val="0"/>
              </a:spcBef>
              <a:spcAft>
                <a:spcPts val="0"/>
              </a:spcAft>
              <a:buSzPts val="1400"/>
              <a:buNone/>
              <a:defRPr/>
            </a:lvl3pPr>
            <a:lvl4pPr lvl="3" algn="just">
              <a:lnSpc>
                <a:spcPct val="100000"/>
              </a:lnSpc>
              <a:spcBef>
                <a:spcPts val="0"/>
              </a:spcBef>
              <a:spcAft>
                <a:spcPts val="0"/>
              </a:spcAft>
              <a:buSzPts val="1400"/>
              <a:buNone/>
              <a:defRPr/>
            </a:lvl4pPr>
            <a:lvl5pPr lvl="4" algn="just">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26"/>
          <p:cNvSpPr txBox="1"/>
          <p:nvPr>
            <p:ph idx="1" type="subTitle"/>
          </p:nvPr>
        </p:nvSpPr>
        <p:spPr>
          <a:xfrm>
            <a:off x="381000" y="3352800"/>
            <a:ext cx="6400800" cy="215444"/>
          </a:xfrm>
          <a:prstGeom prst="rect">
            <a:avLst/>
          </a:prstGeom>
          <a:noFill/>
          <a:ln>
            <a:noFill/>
          </a:ln>
        </p:spPr>
        <p:txBody>
          <a:bodyPr anchorCtr="0" anchor="t" bIns="0" lIns="0" spcFirstLastPara="1" rIns="0" wrap="square" tIns="0">
            <a:spAutoFit/>
          </a:bodyPr>
          <a:lstStyle>
            <a:lvl1pPr lvl="0" algn="l">
              <a:lnSpc>
                <a:spcPct val="100000"/>
              </a:lnSpc>
              <a:spcBef>
                <a:spcPts val="280"/>
              </a:spcBef>
              <a:spcAft>
                <a:spcPts val="0"/>
              </a:spcAft>
              <a:buClr>
                <a:srgbClr val="888888"/>
              </a:buClr>
              <a:buSzPts val="1680"/>
              <a:buNone/>
              <a:defRPr>
                <a:solidFill>
                  <a:srgbClr val="888888"/>
                </a:solidFill>
              </a:defRPr>
            </a:lvl1pPr>
            <a:lvl2pPr lvl="1" algn="ctr">
              <a:lnSpc>
                <a:spcPct val="100000"/>
              </a:lnSpc>
              <a:spcBef>
                <a:spcPts val="280"/>
              </a:spcBef>
              <a:spcAft>
                <a:spcPts val="0"/>
              </a:spcAft>
              <a:buClr>
                <a:srgbClr val="888888"/>
              </a:buClr>
              <a:buSzPts val="1680"/>
              <a:buNone/>
              <a:defRPr>
                <a:solidFill>
                  <a:srgbClr val="888888"/>
                </a:solidFill>
              </a:defRPr>
            </a:lvl2pPr>
            <a:lvl3pPr lvl="2" algn="ctr">
              <a:lnSpc>
                <a:spcPct val="100000"/>
              </a:lnSpc>
              <a:spcBef>
                <a:spcPts val="280"/>
              </a:spcBef>
              <a:spcAft>
                <a:spcPts val="0"/>
              </a:spcAft>
              <a:buClr>
                <a:srgbClr val="888888"/>
              </a:buClr>
              <a:buSzPts val="1680"/>
              <a:buNone/>
              <a:defRPr>
                <a:solidFill>
                  <a:srgbClr val="888888"/>
                </a:solidFill>
              </a:defRPr>
            </a:lvl3pPr>
            <a:lvl4pPr lvl="3" algn="ctr">
              <a:lnSpc>
                <a:spcPct val="100000"/>
              </a:lnSpc>
              <a:spcBef>
                <a:spcPts val="280"/>
              </a:spcBef>
              <a:spcAft>
                <a:spcPts val="0"/>
              </a:spcAft>
              <a:buClr>
                <a:srgbClr val="888888"/>
              </a:buClr>
              <a:buSzPts val="1680"/>
              <a:buNone/>
              <a:defRPr>
                <a:solidFill>
                  <a:srgbClr val="888888"/>
                </a:solidFill>
              </a:defRPr>
            </a:lvl4pPr>
            <a:lvl5pPr lvl="4" algn="ctr">
              <a:lnSpc>
                <a:spcPct val="100000"/>
              </a:lnSpc>
              <a:spcBef>
                <a:spcPts val="280"/>
              </a:spcBef>
              <a:spcAft>
                <a:spcPts val="0"/>
              </a:spcAft>
              <a:buClr>
                <a:srgbClr val="888888"/>
              </a:buClr>
              <a:buSzPts val="168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5" name="Google Shape;25;p26"/>
          <p:cNvCxnSpPr/>
          <p:nvPr/>
        </p:nvCxnSpPr>
        <p:spPr>
          <a:xfrm>
            <a:off x="0" y="838200"/>
            <a:ext cx="9144000" cy="1588"/>
          </a:xfrm>
          <a:prstGeom prst="straightConnector1">
            <a:avLst/>
          </a:prstGeom>
          <a:noFill/>
          <a:ln cap="flat" cmpd="sng" w="22225">
            <a:solidFill>
              <a:srgbClr val="2A90BC"/>
            </a:solidFill>
            <a:prstDash val="solid"/>
            <a:round/>
            <a:headEnd len="sm" w="sm" type="none"/>
            <a:tailEnd len="sm" w="sm" type="none"/>
          </a:ln>
        </p:spPr>
      </p:cxnSp>
      <p:sp>
        <p:nvSpPr>
          <p:cNvPr id="26" name="Google Shape;26;p26"/>
          <p:cNvSpPr/>
          <p:nvPr/>
        </p:nvSpPr>
        <p:spPr>
          <a:xfrm>
            <a:off x="0" y="838200"/>
            <a:ext cx="155448" cy="374904"/>
          </a:xfrm>
          <a:prstGeom prst="rect">
            <a:avLst/>
          </a:prstGeom>
          <a:solidFill>
            <a:srgbClr val="2A90B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7" name="Google Shape;27;p26"/>
          <p:cNvPicPr preferRelativeResize="0"/>
          <p:nvPr/>
        </p:nvPicPr>
        <p:blipFill rotWithShape="1">
          <a:blip r:embed="rId2">
            <a:alphaModFix/>
          </a:blip>
          <a:srcRect b="0" l="0" r="0" t="0"/>
          <a:stretch/>
        </p:blipFill>
        <p:spPr>
          <a:xfrm>
            <a:off x="8554278" y="121136"/>
            <a:ext cx="513737" cy="6712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8" name="Shape 28"/>
        <p:cNvGrpSpPr/>
        <p:nvPr/>
      </p:nvGrpSpPr>
      <p:grpSpPr>
        <a:xfrm>
          <a:off x="0" y="0"/>
          <a:ext cx="0" cy="0"/>
          <a:chOff x="0" y="0"/>
          <a:chExt cx="0" cy="0"/>
        </a:xfrm>
      </p:grpSpPr>
      <p:sp>
        <p:nvSpPr>
          <p:cNvPr id="29" name="Google Shape;29;p27"/>
          <p:cNvSpPr txBox="1"/>
          <p:nvPr>
            <p:ph idx="1" type="body"/>
          </p:nvPr>
        </p:nvSpPr>
        <p:spPr>
          <a:xfrm>
            <a:off x="427300" y="1646238"/>
            <a:ext cx="9136380" cy="1341906"/>
          </a:xfrm>
          <a:prstGeom prst="rect">
            <a:avLst/>
          </a:prstGeom>
          <a:noFill/>
          <a:ln>
            <a:noFill/>
          </a:ln>
        </p:spPr>
        <p:txBody>
          <a:bodyPr anchorCtr="0" anchor="t" bIns="45700" lIns="0" spcFirstLastPara="1" rIns="0" wrap="square" tIns="45700">
            <a:spAutoFit/>
          </a:bodyPr>
          <a:lstStyle>
            <a:lvl1pPr indent="-335280" lvl="0" marL="457200" algn="l">
              <a:lnSpc>
                <a:spcPct val="100000"/>
              </a:lnSpc>
              <a:spcBef>
                <a:spcPts val="280"/>
              </a:spcBef>
              <a:spcAft>
                <a:spcPts val="0"/>
              </a:spcAft>
              <a:buClr>
                <a:schemeClr val="dk1"/>
              </a:buClr>
              <a:buSzPts val="1680"/>
              <a:buFont typeface="Noto Sans Symbols"/>
              <a:buChar char="▪"/>
              <a:defRPr b="0" i="0" u="none"/>
            </a:lvl1pPr>
            <a:lvl2pPr indent="-335280" lvl="1" marL="914400" algn="l">
              <a:lnSpc>
                <a:spcPct val="100000"/>
              </a:lnSpc>
              <a:spcBef>
                <a:spcPts val="280"/>
              </a:spcBef>
              <a:spcAft>
                <a:spcPts val="0"/>
              </a:spcAft>
              <a:buClr>
                <a:schemeClr val="dk1"/>
              </a:buClr>
              <a:buSzPts val="1680"/>
              <a:buFont typeface="Arial"/>
              <a:buChar char="•"/>
              <a:defRPr/>
            </a:lvl2pPr>
            <a:lvl3pPr indent="-335280" lvl="2" marL="1371600" algn="l">
              <a:lnSpc>
                <a:spcPct val="100000"/>
              </a:lnSpc>
              <a:spcBef>
                <a:spcPts val="280"/>
              </a:spcBef>
              <a:spcAft>
                <a:spcPts val="0"/>
              </a:spcAft>
              <a:buClr>
                <a:schemeClr val="dk1"/>
              </a:buClr>
              <a:buSzPts val="1680"/>
              <a:buFont typeface="Noto Sans Symbols"/>
              <a:buChar char="⮚"/>
              <a:defRPr/>
            </a:lvl3pPr>
            <a:lvl4pPr indent="-335280" lvl="3" marL="1828800" algn="l">
              <a:lnSpc>
                <a:spcPct val="100000"/>
              </a:lnSpc>
              <a:spcBef>
                <a:spcPts val="280"/>
              </a:spcBef>
              <a:spcAft>
                <a:spcPts val="0"/>
              </a:spcAft>
              <a:buClr>
                <a:schemeClr val="dk1"/>
              </a:buClr>
              <a:buSzPts val="1680"/>
              <a:buChar char="–"/>
              <a:defRPr/>
            </a:lvl4pPr>
            <a:lvl5pPr indent="-335279" lvl="4" marL="2286000" algn="l">
              <a:lnSpc>
                <a:spcPct val="100000"/>
              </a:lnSpc>
              <a:spcBef>
                <a:spcPts val="280"/>
              </a:spcBef>
              <a:spcAft>
                <a:spcPts val="0"/>
              </a:spcAft>
              <a:buClr>
                <a:schemeClr val="dk1"/>
              </a:buClr>
              <a:buSzPts val="168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 name="Google Shape;3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7"/>
          <p:cNvSpPr txBox="1"/>
          <p:nvPr>
            <p:ph type="title"/>
          </p:nvPr>
        </p:nvSpPr>
        <p:spPr>
          <a:xfrm>
            <a:off x="381000" y="386834"/>
            <a:ext cx="8305800" cy="369332"/>
          </a:xfrm>
          <a:prstGeom prst="rect">
            <a:avLst/>
          </a:prstGeom>
          <a:noFill/>
          <a:ln>
            <a:noFill/>
          </a:ln>
        </p:spPr>
        <p:txBody>
          <a:bodyPr anchorCtr="0" anchor="ctr" bIns="0" lIns="0" spcFirstLastPara="1" rIns="0" wrap="square" tIns="0">
            <a:spAutoFit/>
          </a:bodyPr>
          <a:lstStyle>
            <a:lvl1pPr lvl="0" algn="just">
              <a:lnSpc>
                <a:spcPct val="100000"/>
              </a:lnSpc>
              <a:spcBef>
                <a:spcPts val="0"/>
              </a:spcBef>
              <a:spcAft>
                <a:spcPts val="0"/>
              </a:spcAft>
              <a:buSzPts val="1400"/>
              <a:buNone/>
              <a:defRPr/>
            </a:lvl1pPr>
            <a:lvl2pPr lvl="1" algn="just">
              <a:lnSpc>
                <a:spcPct val="100000"/>
              </a:lnSpc>
              <a:spcBef>
                <a:spcPts val="0"/>
              </a:spcBef>
              <a:spcAft>
                <a:spcPts val="0"/>
              </a:spcAft>
              <a:buSzPts val="1400"/>
              <a:buNone/>
              <a:defRPr/>
            </a:lvl2pPr>
            <a:lvl3pPr lvl="2" algn="just">
              <a:lnSpc>
                <a:spcPct val="100000"/>
              </a:lnSpc>
              <a:spcBef>
                <a:spcPts val="0"/>
              </a:spcBef>
              <a:spcAft>
                <a:spcPts val="0"/>
              </a:spcAft>
              <a:buSzPts val="1400"/>
              <a:buNone/>
              <a:defRPr/>
            </a:lvl3pPr>
            <a:lvl4pPr lvl="3" algn="just">
              <a:lnSpc>
                <a:spcPct val="100000"/>
              </a:lnSpc>
              <a:spcBef>
                <a:spcPts val="0"/>
              </a:spcBef>
              <a:spcAft>
                <a:spcPts val="0"/>
              </a:spcAft>
              <a:buSzPts val="1400"/>
              <a:buNone/>
              <a:defRPr/>
            </a:lvl4pPr>
            <a:lvl5pPr lvl="4" algn="just">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cxnSp>
        <p:nvCxnSpPr>
          <p:cNvPr id="32" name="Google Shape;32;p27"/>
          <p:cNvCxnSpPr/>
          <p:nvPr/>
        </p:nvCxnSpPr>
        <p:spPr>
          <a:xfrm>
            <a:off x="0" y="838200"/>
            <a:ext cx="9144000" cy="1588"/>
          </a:xfrm>
          <a:prstGeom prst="straightConnector1">
            <a:avLst/>
          </a:prstGeom>
          <a:noFill/>
          <a:ln cap="flat" cmpd="sng" w="22225">
            <a:solidFill>
              <a:srgbClr val="2A90BC"/>
            </a:solidFill>
            <a:prstDash val="solid"/>
            <a:round/>
            <a:headEnd len="sm" w="sm" type="none"/>
            <a:tailEnd len="sm" w="sm" type="none"/>
          </a:ln>
        </p:spPr>
      </p:cxnSp>
      <p:sp>
        <p:nvSpPr>
          <p:cNvPr id="33" name="Google Shape;33;p27"/>
          <p:cNvSpPr/>
          <p:nvPr/>
        </p:nvSpPr>
        <p:spPr>
          <a:xfrm>
            <a:off x="0" y="838200"/>
            <a:ext cx="155448" cy="374904"/>
          </a:xfrm>
          <a:prstGeom prst="rect">
            <a:avLst/>
          </a:prstGeom>
          <a:solidFill>
            <a:srgbClr val="2A90B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34" name="Google Shape;34;p27"/>
          <p:cNvCxnSpPr/>
          <p:nvPr/>
        </p:nvCxnSpPr>
        <p:spPr>
          <a:xfrm>
            <a:off x="0" y="6248400"/>
            <a:ext cx="9144000" cy="1588"/>
          </a:xfrm>
          <a:prstGeom prst="straightConnector1">
            <a:avLst/>
          </a:prstGeom>
          <a:noFill/>
          <a:ln cap="flat" cmpd="sng" w="22225">
            <a:solidFill>
              <a:srgbClr val="2A90BC"/>
            </a:solidFill>
            <a:prstDash val="solid"/>
            <a:round/>
            <a:headEnd len="sm" w="sm" type="none"/>
            <a:tailEnd len="sm" w="sm" type="none"/>
          </a:ln>
        </p:spPr>
      </p:cxnSp>
      <p:pic>
        <p:nvPicPr>
          <p:cNvPr id="35" name="Google Shape;35;p27"/>
          <p:cNvPicPr preferRelativeResize="0"/>
          <p:nvPr/>
        </p:nvPicPr>
        <p:blipFill rotWithShape="1">
          <a:blip r:embed="rId2">
            <a:alphaModFix/>
          </a:blip>
          <a:srcRect b="0" l="0" r="0" t="0"/>
          <a:stretch/>
        </p:blipFill>
        <p:spPr>
          <a:xfrm>
            <a:off x="8554278" y="121136"/>
            <a:ext cx="513737" cy="67128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381000" y="386834"/>
            <a:ext cx="8305800" cy="369332"/>
          </a:xfrm>
          <a:prstGeom prst="rect">
            <a:avLst/>
          </a:prstGeom>
          <a:noFill/>
          <a:ln>
            <a:noFill/>
          </a:ln>
        </p:spPr>
        <p:txBody>
          <a:bodyPr anchorCtr="0" anchor="ctr" bIns="0" lIns="0" spcFirstLastPara="1" rIns="0" wrap="square" tIns="0">
            <a:spAutoFit/>
          </a:bodyPr>
          <a:lstStyle>
            <a:lvl1pPr lvl="0" marR="0" rtl="0" algn="just">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1pPr>
            <a:lvl2pPr lvl="1" marR="0" rtl="0" algn="just">
              <a:lnSpc>
                <a:spcPct val="100000"/>
              </a:lnSpc>
              <a:spcBef>
                <a:spcPts val="0"/>
              </a:spcBef>
              <a:spcAft>
                <a:spcPts val="0"/>
              </a:spcAft>
              <a:buClr>
                <a:srgbClr val="000000"/>
              </a:buClr>
              <a:buSzPts val="1400"/>
              <a:buFont typeface="Arial"/>
              <a:buNone/>
              <a:defRPr b="0" i="0" sz="3200" u="none" cap="none" strike="noStrike">
                <a:solidFill>
                  <a:schemeClr val="dk1"/>
                </a:solidFill>
                <a:latin typeface="Arial"/>
                <a:ea typeface="Arial"/>
                <a:cs typeface="Arial"/>
                <a:sym typeface="Arial"/>
              </a:defRPr>
            </a:lvl2pPr>
            <a:lvl3pPr lvl="2" marR="0" rtl="0" algn="just">
              <a:lnSpc>
                <a:spcPct val="100000"/>
              </a:lnSpc>
              <a:spcBef>
                <a:spcPts val="0"/>
              </a:spcBef>
              <a:spcAft>
                <a:spcPts val="0"/>
              </a:spcAft>
              <a:buClr>
                <a:srgbClr val="000000"/>
              </a:buClr>
              <a:buSzPts val="1400"/>
              <a:buFont typeface="Arial"/>
              <a:buNone/>
              <a:defRPr b="0" i="0" sz="3200" u="none" cap="none" strike="noStrike">
                <a:solidFill>
                  <a:schemeClr val="dk1"/>
                </a:solidFill>
                <a:latin typeface="Arial"/>
                <a:ea typeface="Arial"/>
                <a:cs typeface="Arial"/>
                <a:sym typeface="Arial"/>
              </a:defRPr>
            </a:lvl3pPr>
            <a:lvl4pPr lvl="3" marR="0" rtl="0" algn="just">
              <a:lnSpc>
                <a:spcPct val="100000"/>
              </a:lnSpc>
              <a:spcBef>
                <a:spcPts val="0"/>
              </a:spcBef>
              <a:spcAft>
                <a:spcPts val="0"/>
              </a:spcAft>
              <a:buClr>
                <a:srgbClr val="000000"/>
              </a:buClr>
              <a:buSzPts val="1400"/>
              <a:buFont typeface="Arial"/>
              <a:buNone/>
              <a:defRPr b="0" i="0" sz="3200" u="none" cap="none" strike="noStrike">
                <a:solidFill>
                  <a:schemeClr val="dk1"/>
                </a:solidFill>
                <a:latin typeface="Arial"/>
                <a:ea typeface="Arial"/>
                <a:cs typeface="Arial"/>
                <a:sym typeface="Arial"/>
              </a:defRPr>
            </a:lvl4pPr>
            <a:lvl5pPr lvl="4" marR="0" rtl="0" algn="just">
              <a:lnSpc>
                <a:spcPct val="100000"/>
              </a:lnSpc>
              <a:spcBef>
                <a:spcPts val="0"/>
              </a:spcBef>
              <a:spcAft>
                <a:spcPts val="0"/>
              </a:spcAft>
              <a:buClr>
                <a:srgbClr val="000000"/>
              </a:buClr>
              <a:buSzPts val="1400"/>
              <a:buFont typeface="Arial"/>
              <a:buNone/>
              <a:defRPr b="0" i="0" sz="3200" u="none" cap="none" strike="noStrike">
                <a:solidFill>
                  <a:schemeClr val="dk1"/>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25"/>
          <p:cNvSpPr txBox="1"/>
          <p:nvPr>
            <p:ph idx="1" type="body"/>
          </p:nvPr>
        </p:nvSpPr>
        <p:spPr>
          <a:xfrm>
            <a:off x="381000" y="1646238"/>
            <a:ext cx="8305800" cy="1341906"/>
          </a:xfrm>
          <a:prstGeom prst="rect">
            <a:avLst/>
          </a:prstGeom>
          <a:noFill/>
          <a:ln>
            <a:noFill/>
          </a:ln>
        </p:spPr>
        <p:txBody>
          <a:bodyPr anchorCtr="0" anchor="t" bIns="45700" lIns="0" spcFirstLastPara="1" rIns="0" wrap="square" tIns="45700">
            <a:spAutoFit/>
          </a:bodyPr>
          <a:lstStyle>
            <a:lvl1pPr indent="-335280" lvl="0" marL="457200" marR="0" rtl="0" algn="l">
              <a:lnSpc>
                <a:spcPct val="100000"/>
              </a:lnSpc>
              <a:spcBef>
                <a:spcPts val="280"/>
              </a:spcBef>
              <a:spcAft>
                <a:spcPts val="0"/>
              </a:spcAft>
              <a:buClr>
                <a:schemeClr val="dk1"/>
              </a:buClr>
              <a:buSzPts val="1680"/>
              <a:buFont typeface="Noto Sans Symbols"/>
              <a:buChar char="▪"/>
              <a:defRPr b="0" i="0" sz="1400" u="none" cap="none" strike="noStrike">
                <a:solidFill>
                  <a:schemeClr val="dk1"/>
                </a:solidFill>
                <a:latin typeface="Arial"/>
                <a:ea typeface="Arial"/>
                <a:cs typeface="Arial"/>
                <a:sym typeface="Arial"/>
              </a:defRPr>
            </a:lvl1pPr>
            <a:lvl2pPr indent="-335280" lvl="1" marL="914400" marR="0" rtl="0" algn="l">
              <a:lnSpc>
                <a:spcPct val="100000"/>
              </a:lnSpc>
              <a:spcBef>
                <a:spcPts val="280"/>
              </a:spcBef>
              <a:spcAft>
                <a:spcPts val="0"/>
              </a:spcAft>
              <a:buClr>
                <a:schemeClr val="dk1"/>
              </a:buClr>
              <a:buSzPts val="1680"/>
              <a:buFont typeface="Arial"/>
              <a:buChar char="•"/>
              <a:defRPr b="0" i="0" sz="1400" u="none" cap="none" strike="noStrike">
                <a:solidFill>
                  <a:schemeClr val="dk1"/>
                </a:solidFill>
                <a:latin typeface="Arial"/>
                <a:ea typeface="Arial"/>
                <a:cs typeface="Arial"/>
                <a:sym typeface="Arial"/>
              </a:defRPr>
            </a:lvl2pPr>
            <a:lvl3pPr indent="-335280" lvl="2" marL="1371600" marR="0" rtl="0" algn="l">
              <a:lnSpc>
                <a:spcPct val="100000"/>
              </a:lnSpc>
              <a:spcBef>
                <a:spcPts val="280"/>
              </a:spcBef>
              <a:spcAft>
                <a:spcPts val="0"/>
              </a:spcAft>
              <a:buClr>
                <a:schemeClr val="dk1"/>
              </a:buClr>
              <a:buSzPts val="1680"/>
              <a:buFont typeface="Noto Sans Symbols"/>
              <a:buChar char="⮚"/>
              <a:defRPr b="0" i="0" sz="1400" u="none" cap="none" strike="noStrike">
                <a:solidFill>
                  <a:schemeClr val="dk1"/>
                </a:solidFill>
                <a:latin typeface="Arial"/>
                <a:ea typeface="Arial"/>
                <a:cs typeface="Arial"/>
                <a:sym typeface="Arial"/>
              </a:defRPr>
            </a:lvl3pPr>
            <a:lvl4pPr indent="-335280" lvl="3" marL="1828800" marR="0" rtl="0" algn="l">
              <a:lnSpc>
                <a:spcPct val="100000"/>
              </a:lnSpc>
              <a:spcBef>
                <a:spcPts val="280"/>
              </a:spcBef>
              <a:spcAft>
                <a:spcPts val="0"/>
              </a:spcAft>
              <a:buClr>
                <a:schemeClr val="dk1"/>
              </a:buClr>
              <a:buSzPts val="1680"/>
              <a:buFont typeface="Arial"/>
              <a:buChar char="–"/>
              <a:defRPr b="0" i="0" sz="1400" u="none" cap="none" strike="noStrike">
                <a:solidFill>
                  <a:schemeClr val="dk1"/>
                </a:solidFill>
                <a:latin typeface="Arial"/>
                <a:ea typeface="Arial"/>
                <a:cs typeface="Arial"/>
                <a:sym typeface="Arial"/>
              </a:defRPr>
            </a:lvl4pPr>
            <a:lvl5pPr indent="-335279" lvl="4" marL="2286000" marR="0" rtl="0" algn="l">
              <a:lnSpc>
                <a:spcPct val="100000"/>
              </a:lnSpc>
              <a:spcBef>
                <a:spcPts val="280"/>
              </a:spcBef>
              <a:spcAft>
                <a:spcPts val="0"/>
              </a:spcAft>
              <a:buClr>
                <a:schemeClr val="dk1"/>
              </a:buClr>
              <a:buSzPts val="1680"/>
              <a:buFont typeface="Arial"/>
              <a:buChar char="»"/>
              <a:defRPr b="0" i="0" sz="14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5"/>
          <p:cNvSpPr txBox="1"/>
          <p:nvPr/>
        </p:nvSpPr>
        <p:spPr>
          <a:xfrm>
            <a:off x="-3429000" y="386834"/>
            <a:ext cx="3200400" cy="1384995"/>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Arial Slide Title – 24</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12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Content/Section Title Text – 14</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120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Bullet and Subtitle Text – 12</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120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Chart, Profile, and Currency Text – 10</a:t>
            </a:r>
            <a:endParaRPr b="0" i="0" sz="1400" u="none" cap="none" strike="noStrike">
              <a:solidFill>
                <a:srgbClr val="000000"/>
              </a:solidFill>
              <a:latin typeface="Arial"/>
              <a:ea typeface="Arial"/>
              <a:cs typeface="Arial"/>
              <a:sym typeface="Arial"/>
            </a:endParaRPr>
          </a:p>
        </p:txBody>
      </p:sp>
      <p:sp>
        <p:nvSpPr>
          <p:cNvPr id="14" name="Google Shape;14;p25"/>
          <p:cNvSpPr/>
          <p:nvPr/>
        </p:nvSpPr>
        <p:spPr>
          <a:xfrm>
            <a:off x="-2186151" y="2659942"/>
            <a:ext cx="1957551" cy="463500"/>
          </a:xfrm>
          <a:prstGeom prst="rect">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Outline: black, ½ pt.</a:t>
            </a:r>
            <a:endParaRPr b="0" i="0" sz="1400" u="none" cap="none" strike="noStrike">
              <a:solidFill>
                <a:srgbClr val="000000"/>
              </a:solidFill>
              <a:latin typeface="Arial"/>
              <a:ea typeface="Arial"/>
              <a:cs typeface="Arial"/>
              <a:sym typeface="Arial"/>
            </a:endParaRPr>
          </a:p>
        </p:txBody>
      </p:sp>
      <p:sp>
        <p:nvSpPr>
          <p:cNvPr id="15" name="Google Shape;15;p25"/>
          <p:cNvSpPr/>
          <p:nvPr/>
        </p:nvSpPr>
        <p:spPr>
          <a:xfrm>
            <a:off x="-2186151" y="3383473"/>
            <a:ext cx="1957551" cy="466344"/>
          </a:xfrm>
          <a:prstGeom prst="rect">
            <a:avLst/>
          </a:prstGeom>
          <a:solidFill>
            <a:srgbClr val="CCD1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204 – 209 – 215</a:t>
            </a:r>
            <a:endParaRPr b="0" i="0" sz="1200" u="none" cap="none" strike="noStrike">
              <a:solidFill>
                <a:schemeClr val="dk1"/>
              </a:solidFill>
              <a:latin typeface="Arial"/>
              <a:ea typeface="Arial"/>
              <a:cs typeface="Arial"/>
              <a:sym typeface="Arial"/>
            </a:endParaRPr>
          </a:p>
        </p:txBody>
      </p:sp>
      <p:sp>
        <p:nvSpPr>
          <p:cNvPr id="16" name="Google Shape;16;p25"/>
          <p:cNvSpPr/>
          <p:nvPr/>
        </p:nvSpPr>
        <p:spPr>
          <a:xfrm>
            <a:off x="-2186151" y="4109848"/>
            <a:ext cx="1957551" cy="466344"/>
          </a:xfrm>
          <a:prstGeom prst="rect">
            <a:avLst/>
          </a:prstGeom>
          <a:solidFill>
            <a:srgbClr val="4850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ial"/>
                <a:ea typeface="Arial"/>
                <a:cs typeface="Arial"/>
                <a:sym typeface="Arial"/>
              </a:rPr>
              <a:t>72 – 80 – 89 </a:t>
            </a:r>
            <a:endParaRPr b="0" i="0" sz="1200" u="none" cap="none" strike="noStrike">
              <a:solidFill>
                <a:schemeClr val="lt1"/>
              </a:solidFill>
              <a:latin typeface="Arial"/>
              <a:ea typeface="Arial"/>
              <a:cs typeface="Arial"/>
              <a:sym typeface="Arial"/>
            </a:endParaRPr>
          </a:p>
        </p:txBody>
      </p:sp>
      <p:sp>
        <p:nvSpPr>
          <p:cNvPr id="17" name="Google Shape;17;p25"/>
          <p:cNvSpPr/>
          <p:nvPr/>
        </p:nvSpPr>
        <p:spPr>
          <a:xfrm>
            <a:off x="-2186151" y="4836223"/>
            <a:ext cx="1957551" cy="466344"/>
          </a:xfrm>
          <a:prstGeom prst="rect">
            <a:avLst/>
          </a:prstGeom>
          <a:solidFill>
            <a:srgbClr val="5E7C9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ial"/>
                <a:ea typeface="Arial"/>
                <a:cs typeface="Arial"/>
                <a:sym typeface="Arial"/>
              </a:rPr>
              <a:t>94 – 124 – 158</a:t>
            </a:r>
            <a:endParaRPr b="0" i="0" sz="1200" u="none" cap="none" strike="noStrike">
              <a:solidFill>
                <a:schemeClr val="lt1"/>
              </a:solidFill>
              <a:latin typeface="Arial"/>
              <a:ea typeface="Arial"/>
              <a:cs typeface="Arial"/>
              <a:sym typeface="Arial"/>
            </a:endParaRPr>
          </a:p>
        </p:txBody>
      </p:sp>
      <p:sp>
        <p:nvSpPr>
          <p:cNvPr id="18" name="Google Shape;18;p25"/>
          <p:cNvSpPr/>
          <p:nvPr/>
        </p:nvSpPr>
        <p:spPr>
          <a:xfrm>
            <a:off x="-2186151" y="5562600"/>
            <a:ext cx="1957551" cy="466344"/>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ial"/>
                <a:ea typeface="Arial"/>
                <a:cs typeface="Arial"/>
                <a:sym typeface="Arial"/>
              </a:rPr>
              <a:t>17 – 61 – 99</a:t>
            </a:r>
            <a:endParaRPr b="0" i="0" sz="1400" u="none" cap="none" strike="noStrike">
              <a:solidFill>
                <a:srgbClr val="000000"/>
              </a:solidFill>
              <a:latin typeface="Arial"/>
              <a:ea typeface="Arial"/>
              <a:cs typeface="Arial"/>
              <a:sym typeface="Arial"/>
            </a:endParaRPr>
          </a:p>
        </p:txBody>
      </p:sp>
      <p:sp>
        <p:nvSpPr>
          <p:cNvPr id="19" name="Google Shape;19;p25"/>
          <p:cNvSpPr/>
          <p:nvPr/>
        </p:nvSpPr>
        <p:spPr>
          <a:xfrm>
            <a:off x="-2186151" y="1936411"/>
            <a:ext cx="1957551" cy="463500"/>
          </a:xfrm>
          <a:prstGeom prst="rect">
            <a:avLst/>
          </a:prstGeom>
          <a:solidFill>
            <a:srgbClr val="113D63"/>
          </a:solidFill>
          <a:ln>
            <a:noFill/>
          </a:ln>
        </p:spPr>
        <p:txBody>
          <a:bodyPr anchorCtr="0" anchor="ctr" bIns="45700" lIns="91425" spcFirstLastPara="1" rIns="91425" wrap="square" tIns="45700">
            <a:noAutofit/>
          </a:bodyPr>
          <a:lstStyle/>
          <a:p>
            <a:pPr indent="-171450" lvl="0" marL="171450" marR="0" rtl="0" algn="l">
              <a:lnSpc>
                <a:spcPct val="100000"/>
              </a:lnSpc>
              <a:spcBef>
                <a:spcPts val="0"/>
              </a:spcBef>
              <a:spcAft>
                <a:spcPts val="0"/>
              </a:spcAft>
              <a:buClr>
                <a:schemeClr val="lt1"/>
              </a:buClr>
              <a:buSzPts val="1200"/>
              <a:buFont typeface="Noto Sans Symbols"/>
              <a:buChar char="▪"/>
            </a:pPr>
            <a:r>
              <a:rPr b="0" i="0" lang="en-US" sz="1200" u="none" cap="none" strike="noStrike">
                <a:solidFill>
                  <a:schemeClr val="lt1"/>
                </a:solidFill>
                <a:latin typeface="Arial"/>
                <a:ea typeface="Arial"/>
                <a:cs typeface="Arial"/>
                <a:sym typeface="Arial"/>
              </a:rPr>
              <a:t>Normal shapes w/ text</a:t>
            </a:r>
            <a:endParaRPr b="0" i="0" sz="1400" u="none" cap="none" strike="noStrike">
              <a:solidFill>
                <a:srgbClr val="000000"/>
              </a:solidFill>
              <a:latin typeface="Arial"/>
              <a:ea typeface="Arial"/>
              <a:cs typeface="Arial"/>
              <a:sym typeface="Arial"/>
            </a:endParaRPr>
          </a:p>
        </p:txBody>
      </p:sp>
      <p:sp>
        <p:nvSpPr>
          <p:cNvPr id="20" name="Google Shape;20;p25"/>
          <p:cNvSpPr txBox="1"/>
          <p:nvPr/>
        </p:nvSpPr>
        <p:spPr>
          <a:xfrm>
            <a:off x="239485" y="6400412"/>
            <a:ext cx="3537857"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A90BC"/>
                </a:solidFill>
                <a:latin typeface="Arial Narrow"/>
                <a:ea typeface="Arial Narrow"/>
                <a:cs typeface="Arial Narrow"/>
                <a:sym typeface="Arial Narrow"/>
              </a:rPr>
              <a:t>ESSEC ICI Investment Club</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reuters.com/technology/chinas-deepseek-sets-off-ai-market-rout-2025-01-27/?utm_source=chatgpt.com" TargetMode="External"/><Relationship Id="rId4" Type="http://schemas.openxmlformats.org/officeDocument/2006/relationships/hyperlink" Target="https://www.reuters.com/technology/crucial-nvidia-results-set-course-faltering-magnificent-seven-2025-02-26/?utm_source=chatgpt.com" TargetMode="External"/><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docs.google.com/document/d/1kj7HYihOFkGvgQ79fM7Xx3dEpchFOLfbVRDIADn_QMo/edit?usp=shar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1"/>
          <p:cNvSpPr/>
          <p:nvPr/>
        </p:nvSpPr>
        <p:spPr>
          <a:xfrm>
            <a:off x="392763" y="3267215"/>
            <a:ext cx="8358475" cy="1287899"/>
          </a:xfrm>
          <a:prstGeom prst="parallelogram">
            <a:avLst>
              <a:gd fmla="val 25000" name="adj"/>
            </a:avLst>
          </a:prstGeom>
          <a:solidFill>
            <a:srgbClr val="333F44"/>
          </a:solidFill>
          <a:ln cap="flat" cmpd="sng" w="25400">
            <a:solidFill>
              <a:srgbClr val="333F4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 name="Google Shape;41;p1"/>
          <p:cNvSpPr/>
          <p:nvPr/>
        </p:nvSpPr>
        <p:spPr>
          <a:xfrm>
            <a:off x="6358273" y="3267215"/>
            <a:ext cx="2392964" cy="1287899"/>
          </a:xfrm>
          <a:prstGeom prst="parallelogram">
            <a:avLst>
              <a:gd fmla="val 25000" name="adj"/>
            </a:avLst>
          </a:prstGeom>
          <a:solidFill>
            <a:srgbClr val="2A90BC"/>
          </a:solidFill>
          <a:ln cap="flat" cmpd="sng" w="25400">
            <a:solidFill>
              <a:srgbClr val="2A90B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 name="Google Shape;42;p1"/>
          <p:cNvSpPr txBox="1"/>
          <p:nvPr/>
        </p:nvSpPr>
        <p:spPr>
          <a:xfrm>
            <a:off x="927284" y="3616721"/>
            <a:ext cx="4896468" cy="286638"/>
          </a:xfrm>
          <a:prstGeom prst="rect">
            <a:avLst/>
          </a:prstGeom>
          <a:noFill/>
          <a:ln>
            <a:noFill/>
          </a:ln>
        </p:spPr>
        <p:txBody>
          <a:bodyPr anchorCtr="0" anchor="b" bIns="34275" lIns="68550" spcFirstLastPara="1" rIns="68550" wrap="square" tIns="34275">
            <a:noAutofit/>
          </a:bodyPr>
          <a:lstStyle/>
          <a:p>
            <a:pPr indent="0" lvl="0" marL="0" marR="0" rtl="0" algn="l">
              <a:lnSpc>
                <a:spcPct val="90000"/>
              </a:lnSpc>
              <a:spcBef>
                <a:spcPts val="0"/>
              </a:spcBef>
              <a:spcAft>
                <a:spcPts val="0"/>
              </a:spcAft>
              <a:buClr>
                <a:schemeClr val="lt1"/>
              </a:buClr>
              <a:buSzPts val="2000"/>
              <a:buFont typeface="Open Sans Light"/>
              <a:buNone/>
            </a:pPr>
            <a:r>
              <a:rPr b="0" i="0" lang="en-US" sz="2100" u="none" cap="none" strike="noStrike">
                <a:solidFill>
                  <a:schemeClr val="lt1"/>
                </a:solidFill>
                <a:latin typeface="Open Sans Light"/>
                <a:ea typeface="Open Sans Light"/>
                <a:cs typeface="Open Sans Light"/>
                <a:sym typeface="Open Sans Light"/>
              </a:rPr>
              <a:t>NASDAQ: NVDA</a:t>
            </a:r>
            <a:endParaRPr b="0" i="0" sz="1400" u="none" cap="none" strike="noStrike">
              <a:solidFill>
                <a:srgbClr val="000000"/>
              </a:solidFill>
              <a:latin typeface="Arial"/>
              <a:ea typeface="Arial"/>
              <a:cs typeface="Arial"/>
              <a:sym typeface="Arial"/>
            </a:endParaRPr>
          </a:p>
        </p:txBody>
      </p:sp>
      <p:sp>
        <p:nvSpPr>
          <p:cNvPr id="43" name="Google Shape;43;p1"/>
          <p:cNvSpPr txBox="1"/>
          <p:nvPr/>
        </p:nvSpPr>
        <p:spPr>
          <a:xfrm>
            <a:off x="927284" y="3877661"/>
            <a:ext cx="4058523" cy="262081"/>
          </a:xfrm>
          <a:prstGeom prst="rect">
            <a:avLst/>
          </a:prstGeom>
          <a:noFill/>
          <a:ln>
            <a:noFill/>
          </a:ln>
        </p:spPr>
        <p:txBody>
          <a:bodyPr anchorCtr="0" anchor="t" bIns="34275" lIns="68550" spcFirstLastPara="1" rIns="68550" wrap="square" tIns="34275">
            <a:noAutofit/>
          </a:bodyPr>
          <a:lstStyle/>
          <a:p>
            <a:pPr indent="0" lvl="0" marL="0" marR="0" rtl="0" algn="l">
              <a:lnSpc>
                <a:spcPct val="90000"/>
              </a:lnSpc>
              <a:spcBef>
                <a:spcPts val="0"/>
              </a:spcBef>
              <a:spcAft>
                <a:spcPts val="0"/>
              </a:spcAft>
              <a:buClr>
                <a:schemeClr val="lt1"/>
              </a:buClr>
              <a:buSzPts val="1600"/>
              <a:buFont typeface="Arial"/>
              <a:buNone/>
            </a:pPr>
            <a:r>
              <a:rPr b="0" i="0" lang="en-US" sz="1500" u="none" cap="none" strike="noStrike">
                <a:solidFill>
                  <a:schemeClr val="lt1"/>
                </a:solidFill>
                <a:latin typeface="Open Sans Light"/>
                <a:ea typeface="Open Sans Light"/>
                <a:cs typeface="Open Sans Light"/>
                <a:sym typeface="Open Sans Light"/>
              </a:rPr>
              <a:t>March 2024</a:t>
            </a:r>
            <a:endParaRPr b="0" i="0" sz="1400" u="none" cap="none" strike="noStrike">
              <a:solidFill>
                <a:srgbClr val="000000"/>
              </a:solidFill>
              <a:latin typeface="Arial"/>
              <a:ea typeface="Arial"/>
              <a:cs typeface="Arial"/>
              <a:sym typeface="Arial"/>
            </a:endParaRPr>
          </a:p>
        </p:txBody>
      </p:sp>
      <p:sp>
        <p:nvSpPr>
          <p:cNvPr id="44" name="Google Shape;44;p1"/>
          <p:cNvSpPr txBox="1"/>
          <p:nvPr/>
        </p:nvSpPr>
        <p:spPr>
          <a:xfrm>
            <a:off x="2637469" y="6385774"/>
            <a:ext cx="6372563" cy="34624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25"/>
              <a:buFont typeface="Arial"/>
              <a:buNone/>
            </a:pPr>
            <a:r>
              <a:rPr b="0" i="0" lang="en-US" sz="825" u="none" cap="none" strike="noStrike">
                <a:solidFill>
                  <a:schemeClr val="dk1"/>
                </a:solidFill>
                <a:latin typeface="Open Sans Light"/>
                <a:ea typeface="Open Sans Light"/>
                <a:cs typeface="Open Sans Light"/>
                <a:sym typeface="Open Sans Light"/>
              </a:rPr>
              <a:t>This  presentation is for informational purposes only and is not an offer to buy or sell or a solicitation to buy or sell any securities, investment products or other financial product or service, or an official confirmation of any transaction.</a:t>
            </a:r>
            <a:endParaRPr b="0" i="0" sz="1400" u="none" cap="none" strike="noStrike">
              <a:solidFill>
                <a:srgbClr val="000000"/>
              </a:solidFill>
              <a:latin typeface="Arial"/>
              <a:ea typeface="Arial"/>
              <a:cs typeface="Arial"/>
              <a:sym typeface="Arial"/>
            </a:endParaRPr>
          </a:p>
        </p:txBody>
      </p:sp>
      <p:pic>
        <p:nvPicPr>
          <p:cNvPr id="45" name="Google Shape;45;p1"/>
          <p:cNvPicPr preferRelativeResize="0"/>
          <p:nvPr/>
        </p:nvPicPr>
        <p:blipFill rotWithShape="1">
          <a:blip r:embed="rId3">
            <a:alphaModFix/>
          </a:blip>
          <a:srcRect b="0" l="0" r="0" t="0"/>
          <a:stretch/>
        </p:blipFill>
        <p:spPr>
          <a:xfrm>
            <a:off x="273276" y="1789524"/>
            <a:ext cx="2630849" cy="1477700"/>
          </a:xfrm>
          <a:prstGeom prst="rect">
            <a:avLst/>
          </a:prstGeom>
          <a:noFill/>
          <a:ln>
            <a:noFill/>
          </a:ln>
        </p:spPr>
      </p:pic>
      <p:sp>
        <p:nvSpPr>
          <p:cNvPr id="46" name="Google Shape;46;p1"/>
          <p:cNvSpPr txBox="1"/>
          <p:nvPr/>
        </p:nvSpPr>
        <p:spPr>
          <a:xfrm>
            <a:off x="6961056" y="3780075"/>
            <a:ext cx="1187400" cy="262200"/>
          </a:xfrm>
          <a:prstGeom prst="rect">
            <a:avLst/>
          </a:prstGeom>
          <a:noFill/>
          <a:ln>
            <a:noFill/>
          </a:ln>
        </p:spPr>
        <p:txBody>
          <a:bodyPr anchorCtr="0" anchor="t" bIns="34275" lIns="68550" spcFirstLastPara="1" rIns="68550" wrap="square" tIns="34275">
            <a:noAutofit/>
          </a:bodyPr>
          <a:lstStyle/>
          <a:p>
            <a:pPr indent="0" lvl="0" marL="0" marR="0" rtl="0" algn="ctr">
              <a:lnSpc>
                <a:spcPct val="90000"/>
              </a:lnSpc>
              <a:spcBef>
                <a:spcPts val="0"/>
              </a:spcBef>
              <a:spcAft>
                <a:spcPts val="0"/>
              </a:spcAft>
              <a:buClr>
                <a:schemeClr val="lt1"/>
              </a:buClr>
              <a:buSzPts val="1600"/>
              <a:buFont typeface="Arial"/>
              <a:buNone/>
            </a:pPr>
            <a:r>
              <a:rPr b="0" i="0" lang="en-US" sz="1500" u="none" cap="none" strike="noStrike">
                <a:solidFill>
                  <a:schemeClr val="lt1"/>
                </a:solidFill>
                <a:latin typeface="Open Sans Light"/>
                <a:ea typeface="Open Sans Light"/>
                <a:cs typeface="Open Sans Light"/>
                <a:sym typeface="Open Sans Light"/>
              </a:rPr>
              <a:t>TMT Team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p:nvPr/>
        </p:nvSpPr>
        <p:spPr>
          <a:xfrm>
            <a:off x="451811" y="1453332"/>
            <a:ext cx="2457450" cy="734047"/>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333F44"/>
              </a:buClr>
              <a:buSzPts val="2400"/>
              <a:buFont typeface="Open Sans Light"/>
              <a:buNone/>
            </a:pPr>
            <a:r>
              <a:rPr b="0" i="0" lang="en-US" sz="2400" u="none" cap="none" strike="noStrike">
                <a:solidFill>
                  <a:srgbClr val="333F44"/>
                </a:solidFill>
                <a:latin typeface="Open Sans Light"/>
                <a:ea typeface="Open Sans Light"/>
                <a:cs typeface="Open Sans Light"/>
                <a:sym typeface="Open Sans Light"/>
              </a:rPr>
              <a:t>Table of Contents</a:t>
            </a:r>
            <a:endParaRPr b="0" i="0" sz="1400" u="none" cap="none" strike="noStrike">
              <a:solidFill>
                <a:srgbClr val="000000"/>
              </a:solidFill>
              <a:latin typeface="Arial"/>
              <a:ea typeface="Arial"/>
              <a:cs typeface="Arial"/>
              <a:sym typeface="Arial"/>
            </a:endParaRPr>
          </a:p>
        </p:txBody>
      </p:sp>
      <p:grpSp>
        <p:nvGrpSpPr>
          <p:cNvPr id="52" name="Google Shape;52;p2"/>
          <p:cNvGrpSpPr/>
          <p:nvPr/>
        </p:nvGrpSpPr>
        <p:grpSpPr>
          <a:xfrm>
            <a:off x="3190154" y="2679857"/>
            <a:ext cx="2763671" cy="336718"/>
            <a:chOff x="321275" y="1079156"/>
            <a:chExt cx="4458973" cy="408143"/>
          </a:xfrm>
        </p:grpSpPr>
        <p:sp>
          <p:nvSpPr>
            <p:cNvPr id="53" name="Google Shape;53;p2"/>
            <p:cNvSpPr/>
            <p:nvPr/>
          </p:nvSpPr>
          <p:spPr>
            <a:xfrm>
              <a:off x="424248" y="1179521"/>
              <a:ext cx="4356000" cy="307778"/>
            </a:xfrm>
            <a:prstGeom prst="rect">
              <a:avLst/>
            </a:prstGeom>
            <a:solidFill>
              <a:srgbClr val="333F44"/>
            </a:solidFill>
            <a:ln>
              <a:noFill/>
            </a:ln>
          </p:spPr>
          <p:txBody>
            <a:bodyPr anchorCtr="0" anchor="ctr" bIns="34275" lIns="135000"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ial"/>
                  <a:ea typeface="Arial"/>
                  <a:cs typeface="Arial"/>
                  <a:sym typeface="Arial"/>
                </a:rPr>
                <a:t>Trend</a:t>
              </a:r>
              <a:endParaRPr b="0" i="0" sz="1200" u="none" cap="none" strike="noStrike">
                <a:solidFill>
                  <a:schemeClr val="lt1"/>
                </a:solidFill>
                <a:latin typeface="Arial"/>
                <a:ea typeface="Arial"/>
                <a:cs typeface="Arial"/>
                <a:sym typeface="Arial"/>
              </a:endParaRPr>
            </a:p>
          </p:txBody>
        </p:sp>
        <p:sp>
          <p:nvSpPr>
            <p:cNvPr id="54" name="Google Shape;54;p2"/>
            <p:cNvSpPr/>
            <p:nvPr/>
          </p:nvSpPr>
          <p:spPr>
            <a:xfrm>
              <a:off x="321275" y="1079156"/>
              <a:ext cx="304920" cy="229091"/>
            </a:xfrm>
            <a:prstGeom prst="ellipse">
              <a:avLst/>
            </a:prstGeom>
            <a:solidFill>
              <a:srgbClr val="333F44"/>
            </a:solidFill>
            <a:ln cap="flat" cmpd="sng" w="19050">
              <a:solidFill>
                <a:srgbClr val="2A90B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grpSp>
        <p:nvGrpSpPr>
          <p:cNvPr id="55" name="Google Shape;55;p2"/>
          <p:cNvGrpSpPr/>
          <p:nvPr/>
        </p:nvGrpSpPr>
        <p:grpSpPr>
          <a:xfrm>
            <a:off x="3190154" y="3151759"/>
            <a:ext cx="2763671" cy="336717"/>
            <a:chOff x="321275" y="1079156"/>
            <a:chExt cx="4458973" cy="408142"/>
          </a:xfrm>
        </p:grpSpPr>
        <p:sp>
          <p:nvSpPr>
            <p:cNvPr id="56" name="Google Shape;56;p2"/>
            <p:cNvSpPr/>
            <p:nvPr/>
          </p:nvSpPr>
          <p:spPr>
            <a:xfrm>
              <a:off x="424248" y="1179520"/>
              <a:ext cx="4356000" cy="307778"/>
            </a:xfrm>
            <a:prstGeom prst="rect">
              <a:avLst/>
            </a:prstGeom>
            <a:solidFill>
              <a:srgbClr val="333F44"/>
            </a:solidFill>
            <a:ln>
              <a:noFill/>
            </a:ln>
          </p:spPr>
          <p:txBody>
            <a:bodyPr anchorCtr="0" anchor="ctr" bIns="34275" lIns="135000"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ial"/>
                  <a:ea typeface="Arial"/>
                  <a:cs typeface="Arial"/>
                  <a:sym typeface="Arial"/>
                </a:rPr>
                <a:t>Chart Analysis</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321275" y="1079156"/>
              <a:ext cx="304920" cy="229091"/>
            </a:xfrm>
            <a:prstGeom prst="ellipse">
              <a:avLst/>
            </a:prstGeom>
            <a:solidFill>
              <a:srgbClr val="333F44"/>
            </a:solidFill>
            <a:ln cap="flat" cmpd="sng" w="19050">
              <a:solidFill>
                <a:srgbClr val="2A90B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sp>
        <p:nvSpPr>
          <p:cNvPr id="58" name="Google Shape;58;p2"/>
          <p:cNvSpPr txBox="1"/>
          <p:nvPr/>
        </p:nvSpPr>
        <p:spPr>
          <a:xfrm>
            <a:off x="3375859" y="3507364"/>
            <a:ext cx="25173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dk1"/>
                </a:solidFill>
                <a:latin typeface="Arial"/>
                <a:ea typeface="Arial"/>
                <a:cs typeface="Arial"/>
                <a:sym typeface="Arial"/>
              </a:rPr>
              <a:t>Canals</a:t>
            </a:r>
            <a:endParaRPr b="0" i="0" sz="1400" u="none" cap="none" strike="noStrike">
              <a:solidFill>
                <a:srgbClr val="000000"/>
              </a:solidFill>
              <a:latin typeface="Arial"/>
              <a:ea typeface="Arial"/>
              <a:cs typeface="Arial"/>
              <a:sym typeface="Arial"/>
            </a:endParaRPr>
          </a:p>
        </p:txBody>
      </p:sp>
      <p:sp>
        <p:nvSpPr>
          <p:cNvPr id="59" name="Google Shape;59;p2"/>
          <p:cNvSpPr txBox="1"/>
          <p:nvPr/>
        </p:nvSpPr>
        <p:spPr>
          <a:xfrm>
            <a:off x="3375859" y="3776027"/>
            <a:ext cx="25173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dk1"/>
                </a:solidFill>
                <a:latin typeface="Arial"/>
                <a:ea typeface="Arial"/>
                <a:cs typeface="Arial"/>
                <a:sym typeface="Arial"/>
              </a:rPr>
              <a:t>Support/Resistance</a:t>
            </a:r>
            <a:endParaRPr b="0" i="0" sz="1400" u="none" cap="none" strike="noStrike">
              <a:solidFill>
                <a:srgbClr val="000000"/>
              </a:solidFill>
              <a:latin typeface="Arial"/>
              <a:ea typeface="Arial"/>
              <a:cs typeface="Arial"/>
              <a:sym typeface="Arial"/>
            </a:endParaRPr>
          </a:p>
        </p:txBody>
      </p:sp>
      <p:sp>
        <p:nvSpPr>
          <p:cNvPr id="60" name="Google Shape;60;p2"/>
          <p:cNvSpPr txBox="1"/>
          <p:nvPr/>
        </p:nvSpPr>
        <p:spPr>
          <a:xfrm>
            <a:off x="3375859" y="4044689"/>
            <a:ext cx="25173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dk1"/>
                </a:solidFill>
                <a:latin typeface="Arial"/>
                <a:ea typeface="Arial"/>
                <a:cs typeface="Arial"/>
                <a:sym typeface="Arial"/>
              </a:rPr>
              <a:t>Candle sticks</a:t>
            </a:r>
            <a:endParaRPr b="0" i="0" sz="1400" u="none" cap="none" strike="noStrike">
              <a:solidFill>
                <a:srgbClr val="000000"/>
              </a:solidFill>
              <a:latin typeface="Arial"/>
              <a:ea typeface="Arial"/>
              <a:cs typeface="Arial"/>
              <a:sym typeface="Arial"/>
            </a:endParaRPr>
          </a:p>
        </p:txBody>
      </p:sp>
      <p:grpSp>
        <p:nvGrpSpPr>
          <p:cNvPr id="61" name="Google Shape;61;p2"/>
          <p:cNvGrpSpPr/>
          <p:nvPr/>
        </p:nvGrpSpPr>
        <p:grpSpPr>
          <a:xfrm>
            <a:off x="3190167" y="4313347"/>
            <a:ext cx="2763671" cy="336717"/>
            <a:chOff x="321275" y="1079156"/>
            <a:chExt cx="4458973" cy="408142"/>
          </a:xfrm>
        </p:grpSpPr>
        <p:sp>
          <p:nvSpPr>
            <p:cNvPr id="62" name="Google Shape;62;p2"/>
            <p:cNvSpPr/>
            <p:nvPr/>
          </p:nvSpPr>
          <p:spPr>
            <a:xfrm>
              <a:off x="424248" y="1179520"/>
              <a:ext cx="4356000" cy="307778"/>
            </a:xfrm>
            <a:prstGeom prst="rect">
              <a:avLst/>
            </a:prstGeom>
            <a:solidFill>
              <a:srgbClr val="333F44"/>
            </a:solidFill>
            <a:ln>
              <a:noFill/>
            </a:ln>
          </p:spPr>
          <p:txBody>
            <a:bodyPr anchorCtr="0" anchor="ctr" bIns="34275" lIns="135000"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ial"/>
                  <a:ea typeface="Arial"/>
                  <a:cs typeface="Arial"/>
                  <a:sym typeface="Arial"/>
                </a:rPr>
                <a:t>Technical inidcators</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a:off x="321275" y="1079156"/>
              <a:ext cx="304920" cy="229091"/>
            </a:xfrm>
            <a:prstGeom prst="ellipse">
              <a:avLst/>
            </a:prstGeom>
            <a:solidFill>
              <a:srgbClr val="333F44"/>
            </a:solidFill>
            <a:ln cap="flat" cmpd="sng" w="19050">
              <a:solidFill>
                <a:srgbClr val="2A90B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cxnSp>
        <p:nvCxnSpPr>
          <p:cNvPr id="64" name="Google Shape;64;p2"/>
          <p:cNvCxnSpPr/>
          <p:nvPr/>
        </p:nvCxnSpPr>
        <p:spPr>
          <a:xfrm>
            <a:off x="1" y="2191249"/>
            <a:ext cx="1638860" cy="0"/>
          </a:xfrm>
          <a:prstGeom prst="straightConnector1">
            <a:avLst/>
          </a:prstGeom>
          <a:noFill/>
          <a:ln cap="flat" cmpd="sng" w="19050">
            <a:solidFill>
              <a:srgbClr val="2A90BC"/>
            </a:solidFill>
            <a:prstDash val="solid"/>
            <a:round/>
            <a:headEnd len="sm" w="sm" type="none"/>
            <a:tailEnd len="sm" w="sm" type="none"/>
          </a:ln>
        </p:spPr>
      </p:cxnSp>
      <p:grpSp>
        <p:nvGrpSpPr>
          <p:cNvPr id="65" name="Google Shape;65;p2"/>
          <p:cNvGrpSpPr/>
          <p:nvPr/>
        </p:nvGrpSpPr>
        <p:grpSpPr>
          <a:xfrm>
            <a:off x="3190154" y="2207932"/>
            <a:ext cx="2763671" cy="336736"/>
            <a:chOff x="321275" y="1079156"/>
            <a:chExt cx="4458973" cy="408165"/>
          </a:xfrm>
        </p:grpSpPr>
        <p:sp>
          <p:nvSpPr>
            <p:cNvPr id="66" name="Google Shape;66;p2"/>
            <p:cNvSpPr/>
            <p:nvPr/>
          </p:nvSpPr>
          <p:spPr>
            <a:xfrm>
              <a:off x="424248" y="1179521"/>
              <a:ext cx="4356000" cy="307800"/>
            </a:xfrm>
            <a:prstGeom prst="rect">
              <a:avLst/>
            </a:prstGeom>
            <a:solidFill>
              <a:srgbClr val="333F44"/>
            </a:solidFill>
            <a:ln>
              <a:noFill/>
            </a:ln>
          </p:spPr>
          <p:txBody>
            <a:bodyPr anchorCtr="0" anchor="ctr" bIns="34275" lIns="135000"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ial"/>
                  <a:ea typeface="Arial"/>
                  <a:cs typeface="Arial"/>
                  <a:sym typeface="Arial"/>
                </a:rPr>
                <a:t>Context</a:t>
              </a:r>
              <a:endParaRPr b="0" i="0" sz="1200" u="none" cap="none" strike="noStrike">
                <a:solidFill>
                  <a:schemeClr val="lt1"/>
                </a:solidFill>
                <a:latin typeface="Arial"/>
                <a:ea typeface="Arial"/>
                <a:cs typeface="Arial"/>
                <a:sym typeface="Arial"/>
              </a:endParaRPr>
            </a:p>
          </p:txBody>
        </p:sp>
        <p:sp>
          <p:nvSpPr>
            <p:cNvPr id="67" name="Google Shape;67;p2"/>
            <p:cNvSpPr/>
            <p:nvPr/>
          </p:nvSpPr>
          <p:spPr>
            <a:xfrm>
              <a:off x="321275" y="1079156"/>
              <a:ext cx="304800" cy="229200"/>
            </a:xfrm>
            <a:prstGeom prst="ellipse">
              <a:avLst/>
            </a:prstGeom>
            <a:solidFill>
              <a:srgbClr val="333F44"/>
            </a:solidFill>
            <a:ln cap="flat" cmpd="sng" w="19050">
              <a:solidFill>
                <a:srgbClr val="2A90B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p:nvPr/>
        </p:nvSpPr>
        <p:spPr>
          <a:xfrm>
            <a:off x="0" y="396096"/>
            <a:ext cx="3189593" cy="401648"/>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Context</a:t>
            </a:r>
            <a:endParaRPr b="0" i="0" sz="1400" u="none" cap="none" strike="noStrike">
              <a:solidFill>
                <a:srgbClr val="000000"/>
              </a:solidFill>
              <a:latin typeface="Arial"/>
              <a:ea typeface="Arial"/>
              <a:cs typeface="Arial"/>
              <a:sym typeface="Arial"/>
            </a:endParaRPr>
          </a:p>
        </p:txBody>
      </p:sp>
      <p:sp>
        <p:nvSpPr>
          <p:cNvPr id="73" name="Google Shape;73;p3"/>
          <p:cNvSpPr/>
          <p:nvPr/>
        </p:nvSpPr>
        <p:spPr>
          <a:xfrm>
            <a:off x="171900" y="1230829"/>
            <a:ext cx="8800200" cy="1394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Impact of DeepSeek:</a:t>
            </a:r>
            <a:r>
              <a:rPr b="0" i="0" lang="en-US" sz="1100" u="none" cap="none" strike="noStrike">
                <a:solidFill>
                  <a:schemeClr val="dk1"/>
                </a:solidFill>
                <a:latin typeface="Arial"/>
                <a:ea typeface="Arial"/>
                <a:cs typeface="Arial"/>
                <a:sym typeface="Arial"/>
              </a:rPr>
              <a:t> On January 27, 2025, Chinese startup DeepSeek announced the launch of its AI model, DeepSeek R1, which is both powerful and cost-effective. This announcement triggered a </a:t>
            </a:r>
            <a:r>
              <a:rPr b="1" i="0" lang="en-US" sz="1100" u="none" cap="none" strike="noStrike">
                <a:solidFill>
                  <a:schemeClr val="dk1"/>
                </a:solidFill>
                <a:latin typeface="Arial"/>
                <a:ea typeface="Arial"/>
                <a:cs typeface="Arial"/>
                <a:sym typeface="Arial"/>
              </a:rPr>
              <a:t>17% drop in NVIDIA's stock</a:t>
            </a:r>
            <a:r>
              <a:rPr b="0" i="0" lang="en-US" sz="1100" u="none" cap="none" strike="noStrike">
                <a:solidFill>
                  <a:schemeClr val="dk1"/>
                </a:solidFill>
                <a:latin typeface="Arial"/>
                <a:ea typeface="Arial"/>
                <a:cs typeface="Arial"/>
                <a:sym typeface="Arial"/>
              </a:rPr>
              <a:t>, wiping out nearly </a:t>
            </a:r>
            <a:r>
              <a:rPr b="1" i="0" lang="en-US" sz="1100" u="none" cap="none" strike="noStrike">
                <a:solidFill>
                  <a:schemeClr val="dk1"/>
                </a:solidFill>
                <a:latin typeface="Arial"/>
                <a:ea typeface="Arial"/>
                <a:cs typeface="Arial"/>
                <a:sym typeface="Arial"/>
              </a:rPr>
              <a:t>$600 billion in market capitalization</a:t>
            </a:r>
            <a:r>
              <a:rPr b="0" i="0" lang="en-US" sz="1100" u="none" cap="none" strike="noStrike">
                <a:solidFill>
                  <a:schemeClr val="dk1"/>
                </a:solidFill>
                <a:latin typeface="Arial"/>
                <a:ea typeface="Arial"/>
                <a:cs typeface="Arial"/>
                <a:sym typeface="Arial"/>
              </a:rPr>
              <a:t>, marking the largest single-day loss for a publicly traded company in U.S. history. (</a:t>
            </a:r>
            <a:r>
              <a:rPr b="0" i="0" lang="en-US" sz="1100" u="sng" cap="none" strike="noStrike">
                <a:solidFill>
                  <a:schemeClr val="hlink"/>
                </a:solidFill>
                <a:latin typeface="Arial"/>
                <a:ea typeface="Arial"/>
                <a:cs typeface="Arial"/>
                <a:sym typeface="Arial"/>
                <a:hlinkClick r:id="rId3"/>
              </a:rPr>
              <a:t>Source: Reuters</a:t>
            </a:r>
            <a:r>
              <a:rPr b="0" i="0" lang="en-US"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Q1 2025 Earnings Report:</a:t>
            </a:r>
            <a:r>
              <a:rPr b="0" i="0" lang="en-US" sz="1100" u="none" cap="none" strike="noStrike">
                <a:solidFill>
                  <a:schemeClr val="dk1"/>
                </a:solidFill>
                <a:latin typeface="Arial"/>
                <a:ea typeface="Arial"/>
                <a:cs typeface="Arial"/>
                <a:sym typeface="Arial"/>
              </a:rPr>
              <a:t> On February 26, 2025, NVIDIA reported its </a:t>
            </a:r>
            <a:r>
              <a:rPr b="1" i="0" lang="en-US" sz="1100" u="none" cap="none" strike="noStrike">
                <a:solidFill>
                  <a:schemeClr val="dk1"/>
                </a:solidFill>
                <a:latin typeface="Arial"/>
                <a:ea typeface="Arial"/>
                <a:cs typeface="Arial"/>
                <a:sym typeface="Arial"/>
              </a:rPr>
              <a:t>Q4 </a:t>
            </a:r>
            <a:r>
              <a:rPr b="1" i="0" lang="en-US" sz="1100" u="none" cap="none" strike="noStrike">
                <a:solidFill>
                  <a:schemeClr val="dk1"/>
                </a:solidFill>
                <a:latin typeface="Arial"/>
                <a:ea typeface="Arial"/>
                <a:cs typeface="Arial"/>
                <a:sym typeface="Arial"/>
              </a:rPr>
              <a:t>fiscal </a:t>
            </a:r>
            <a:r>
              <a:rPr b="1" i="0" lang="en-US" sz="1100" u="none" cap="none" strike="noStrike">
                <a:solidFill>
                  <a:schemeClr val="dk1"/>
                </a:solidFill>
                <a:latin typeface="Arial"/>
                <a:ea typeface="Arial"/>
                <a:cs typeface="Arial"/>
                <a:sym typeface="Arial"/>
              </a:rPr>
              <a:t>year 2025 earnings</a:t>
            </a:r>
            <a:r>
              <a:rPr b="0" i="0" lang="en-US" sz="1100" u="none" cap="none" strike="noStrike">
                <a:solidFill>
                  <a:schemeClr val="dk1"/>
                </a:solidFill>
                <a:latin typeface="Arial"/>
                <a:ea typeface="Arial"/>
                <a:cs typeface="Arial"/>
                <a:sym typeface="Arial"/>
              </a:rPr>
              <a:t>, posting record revenue of </a:t>
            </a:r>
            <a:r>
              <a:rPr b="1" i="0" lang="en-US" sz="1100" u="none" cap="none" strike="noStrike">
                <a:solidFill>
                  <a:schemeClr val="dk1"/>
                </a:solidFill>
                <a:latin typeface="Arial"/>
                <a:ea typeface="Arial"/>
                <a:cs typeface="Arial"/>
                <a:sym typeface="Arial"/>
              </a:rPr>
              <a:t>$39.3 billion</a:t>
            </a:r>
            <a:r>
              <a:rPr b="0" i="0" lang="en-US" sz="1100" u="none" cap="none" strike="noStrike">
                <a:solidFill>
                  <a:schemeClr val="dk1"/>
                </a:solidFill>
                <a:latin typeface="Arial"/>
                <a:ea typeface="Arial"/>
                <a:cs typeface="Arial"/>
                <a:sym typeface="Arial"/>
              </a:rPr>
              <a:t>, a </a:t>
            </a:r>
            <a:r>
              <a:rPr b="1" i="0" lang="en-US" sz="1100" u="none" cap="none" strike="noStrike">
                <a:solidFill>
                  <a:schemeClr val="dk1"/>
                </a:solidFill>
                <a:latin typeface="Arial"/>
                <a:ea typeface="Arial"/>
                <a:cs typeface="Arial"/>
                <a:sym typeface="Arial"/>
              </a:rPr>
              <a:t>78% year-over-year increase</a:t>
            </a:r>
            <a:r>
              <a:rPr b="0" i="0" lang="en-US" sz="1100" u="none" cap="none" strike="noStrike">
                <a:solidFill>
                  <a:schemeClr val="dk1"/>
                </a:solidFill>
                <a:latin typeface="Arial"/>
                <a:ea typeface="Arial"/>
                <a:cs typeface="Arial"/>
                <a:sym typeface="Arial"/>
              </a:rPr>
              <a:t>. However, despite strong financial results, NVIDIA's stock fell by </a:t>
            </a:r>
            <a:r>
              <a:rPr b="1" i="0" lang="en-US" sz="1100" u="none" cap="none" strike="noStrike">
                <a:solidFill>
                  <a:schemeClr val="dk1"/>
                </a:solidFill>
                <a:latin typeface="Arial"/>
                <a:ea typeface="Arial"/>
                <a:cs typeface="Arial"/>
                <a:sym typeface="Arial"/>
              </a:rPr>
              <a:t>8.5%</a:t>
            </a:r>
            <a:r>
              <a:rPr b="0" i="0" lang="en-US" sz="1100" u="none" cap="none" strike="noStrike">
                <a:solidFill>
                  <a:schemeClr val="dk1"/>
                </a:solidFill>
                <a:latin typeface="Arial"/>
                <a:ea typeface="Arial"/>
                <a:cs typeface="Arial"/>
                <a:sym typeface="Arial"/>
              </a:rPr>
              <a:t> due to concerns about </a:t>
            </a:r>
            <a:r>
              <a:rPr b="1" i="0" lang="en-US" sz="1100" u="none" cap="none" strike="noStrike">
                <a:solidFill>
                  <a:schemeClr val="dk1"/>
                </a:solidFill>
                <a:latin typeface="Arial"/>
                <a:ea typeface="Arial"/>
                <a:cs typeface="Arial"/>
                <a:sym typeface="Arial"/>
              </a:rPr>
              <a:t>rising spending in the tech sector and lower profit margins</a:t>
            </a:r>
            <a:r>
              <a:rPr b="0" i="0" lang="en-US" sz="1100" u="none" cap="none" strike="noStrike">
                <a:solidFill>
                  <a:schemeClr val="dk1"/>
                </a:solidFill>
                <a:latin typeface="Arial"/>
                <a:ea typeface="Arial"/>
                <a:cs typeface="Arial"/>
                <a:sym typeface="Arial"/>
              </a:rPr>
              <a:t> projected for Q1 2025. (</a:t>
            </a:r>
            <a:r>
              <a:rPr b="0" i="0" lang="en-US" sz="1100" u="sng" cap="none" strike="noStrike">
                <a:solidFill>
                  <a:schemeClr val="hlink"/>
                </a:solidFill>
                <a:latin typeface="Arial"/>
                <a:ea typeface="Arial"/>
                <a:cs typeface="Arial"/>
                <a:sym typeface="Arial"/>
                <a:hlinkClick r:id="rId4"/>
              </a:rPr>
              <a:t>Source: Reuters</a:t>
            </a:r>
            <a:r>
              <a:rPr b="0" i="0" lang="en-US"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113665" lvl="1" marL="18034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74" name="Google Shape;74;p3"/>
          <p:cNvPicPr preferRelativeResize="0"/>
          <p:nvPr/>
        </p:nvPicPr>
        <p:blipFill rotWithShape="1">
          <a:blip r:embed="rId5">
            <a:alphaModFix/>
          </a:blip>
          <a:srcRect b="0" l="0" r="0" t="0"/>
          <a:stretch/>
        </p:blipFill>
        <p:spPr>
          <a:xfrm>
            <a:off x="1565534" y="2811325"/>
            <a:ext cx="6012925" cy="2771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4"/>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Context</a:t>
            </a:r>
            <a:endParaRPr b="0" i="0" sz="1400" u="none" cap="none" strike="noStrike">
              <a:solidFill>
                <a:srgbClr val="000000"/>
              </a:solidFill>
              <a:latin typeface="Arial"/>
              <a:ea typeface="Arial"/>
              <a:cs typeface="Arial"/>
              <a:sym typeface="Arial"/>
            </a:endParaRPr>
          </a:p>
        </p:txBody>
      </p:sp>
      <p:pic>
        <p:nvPicPr>
          <p:cNvPr id="80" name="Google Shape;80;p4"/>
          <p:cNvPicPr preferRelativeResize="0"/>
          <p:nvPr/>
        </p:nvPicPr>
        <p:blipFill rotWithShape="1">
          <a:blip r:embed="rId3">
            <a:alphaModFix/>
          </a:blip>
          <a:srcRect b="0" l="0" r="0" t="0"/>
          <a:stretch/>
        </p:blipFill>
        <p:spPr>
          <a:xfrm>
            <a:off x="1951062" y="2000250"/>
            <a:ext cx="5241875" cy="2857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p:nvPr/>
        </p:nvSpPr>
        <p:spPr>
          <a:xfrm>
            <a:off x="0" y="557925"/>
            <a:ext cx="7876800" cy="7491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rgbClr val="333F44"/>
                </a:solidFill>
                <a:latin typeface="Open Sans Light"/>
                <a:ea typeface="Open Sans Light"/>
                <a:cs typeface="Open Sans Light"/>
                <a:sym typeface="Open Sans Light"/>
              </a:rPr>
              <a:t>Market Inefficiency and the Generalized Overvaluation of Financial Assets</a:t>
            </a:r>
            <a:endParaRPr b="0" i="0" sz="1700" u="none" cap="none" strike="noStrike">
              <a:solidFill>
                <a:srgbClr val="333F44"/>
              </a:solidFill>
              <a:latin typeface="Open Sans Light"/>
              <a:ea typeface="Open Sans Light"/>
              <a:cs typeface="Open Sans Light"/>
              <a:sym typeface="Open Sans Light"/>
            </a:endParaRPr>
          </a:p>
          <a:p>
            <a:pPr indent="0" lvl="0" marL="0" marR="0" rtl="0" algn="l">
              <a:lnSpc>
                <a:spcPct val="90000"/>
              </a:lnSpc>
              <a:spcBef>
                <a:spcPts val="0"/>
              </a:spcBef>
              <a:spcAft>
                <a:spcPts val="0"/>
              </a:spcAft>
              <a:buClr>
                <a:srgbClr val="000000"/>
              </a:buClr>
              <a:buSzPts val="1700"/>
              <a:buFont typeface="Arial"/>
              <a:buNone/>
            </a:pPr>
            <a:r>
              <a:t/>
            </a:r>
            <a:endParaRPr b="0" i="0" sz="1700" u="none" cap="none" strike="noStrike">
              <a:solidFill>
                <a:srgbClr val="333F44"/>
              </a:solidFill>
              <a:latin typeface="Open Sans Light"/>
              <a:ea typeface="Open Sans Light"/>
              <a:cs typeface="Open Sans Light"/>
              <a:sym typeface="Open Sans Light"/>
            </a:endParaRPr>
          </a:p>
          <a:p>
            <a:pPr indent="0" lvl="0" marL="0" marR="0" rtl="0" algn="l">
              <a:lnSpc>
                <a:spcPct val="90000"/>
              </a:lnSpc>
              <a:spcBef>
                <a:spcPts val="0"/>
              </a:spcBef>
              <a:spcAft>
                <a:spcPts val="0"/>
              </a:spcAft>
              <a:buClr>
                <a:srgbClr val="000000"/>
              </a:buClr>
              <a:buSzPts val="1700"/>
              <a:buFont typeface="Arial"/>
              <a:buNone/>
            </a:pPr>
            <a:r>
              <a:t/>
            </a:r>
            <a:endParaRPr b="0" i="0" sz="1700" u="none" cap="none" strike="noStrike">
              <a:solidFill>
                <a:srgbClr val="333F44"/>
              </a:solidFill>
              <a:latin typeface="Open Sans Light"/>
              <a:ea typeface="Open Sans Light"/>
              <a:cs typeface="Open Sans Light"/>
              <a:sym typeface="Open Sans Light"/>
            </a:endParaRPr>
          </a:p>
        </p:txBody>
      </p:sp>
      <p:sp>
        <p:nvSpPr>
          <p:cNvPr id="86" name="Google Shape;86;p5"/>
          <p:cNvSpPr/>
          <p:nvPr/>
        </p:nvSpPr>
        <p:spPr>
          <a:xfrm>
            <a:off x="171900" y="1002215"/>
            <a:ext cx="8800200" cy="50490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1. The Efficient Market Hypothesis: Foundations and Assumptions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The Efficient Market Hypothesis (EMH), formulated by Eugene Fama in 1970, asserts that financial asset prices always incorporate all available information. This theory relies on several fundamental assumptions: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Investor Rationality: All market participants are rational and make decisions based on economic fundamentals.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Perfect Arbitrage: Even if some investors act irrationally, arbitrage by other market participants quickly corrects any mispricing.</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Instant Information Diffusion: Any new information is immediately reflected in asset prices, making it impossible to consistently beat the market without taking on additional risk.</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EMH exists in three forms: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Weak-form efficiency: Current prices incorporate all past information, rendering technical analysis ineffective.</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Semi-strong efficiency: All publicly available information is already reflected in prices, making fundamental analysis futile.</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Strong-form efficiency: Even private and confidential information is already priced in, meaning no investor can gain an advantage, even with insider knowledge.</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2. Generalized Market Overvaluation: Evidence of Inefficiency</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Today, overvaluation is not limited to the technology sector—the entire U.S. financial market exhibits excessive valuation levels.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High Price-to-Earnings (P/E) Ratio: The average P/E ratio of the S&amp;P 500 is significantly above historical averages, a trend seen across multiple sectors, including finance, industry, and consumer goods.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Market Capitalization-to-GDP Ratio ("Buffett Indicator") at record levels, suggesting that the market is detached from real economic growth.</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Elevated Valuation Multiples: The Price-to-Book (P/B), EV/EBITDA, and Q Ratio indicate that assets are trading well above their intrinsic value.</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Speculative Effect and Excess Liquidity: Accommodative monetary policies in recent years have fueled excessive risk-taking, pushing valuations to historically high levels.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This widespread overvaluation demonstrates that asset prices are no longer solely dictated by economic fundamentals but also by irrational behaviors, massive capital flows, and crowd effects.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6"/>
          <p:cNvSpPr/>
          <p:nvPr/>
        </p:nvSpPr>
        <p:spPr>
          <a:xfrm>
            <a:off x="171900" y="1002215"/>
            <a:ext cx="8800200" cy="50490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3. Academic Evidence of Market Inefficiency</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Several empirical studies challenge Fama’s theory and show that the market is not fully efficient:</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Robert Shiller (1981) and Irrational Exuberance: He demonstrated that stock prices are far more volatile than underlying economic fundamentals justify. This observation invalidates EMH by highlighting the presence of speculative bubbles.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Momentum Effect (Jegadeesh &amp; Titman, 1993): These researchers proved that stocks that have performed well over the past 3 to 12 months tend to continue outperforming, which contradicts weak-form efficiency.</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Value vs. Growth Anomaly (Fama &amp; French, 1992): They found that undervalued stocks (low P/E, low P/B) outperform in the long run, contradicting semi-strong efficiency.</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Market Crashes and Speculative Bubbles: Events like the 2000 Dot-Com Bubble, the 2008 Subprime Crisis, and the 2021 Crypto Bubble demonstrate that markets do not always reflect the intrinsic value of assets.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All these findings suggest that markets are not purely rational and that behavioral biases play a key role in price evolution.</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4. Why Technical Analysis Becomes an Essential Tool</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In a market where prices are influenced by investor irrationality, speculation, and crowd effects, fundamental analysis loses effectiveness. This is where technical analysis becomes relevant.</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Definition and Principles of Technical Analysis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Technical analysis relies on studying past price movements to identify future trends. It is based on three principles: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The Market Prices in Everything: Charts reflect all relevant information (investor psychology, capital flows, liquidity).</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Prices Follow Trends: Financial assets tend to move in upward and downward cycles, often dictated by collective behaviors.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History Repeats Itself: Investor reactions to events are cyclical, allowing for the identification of chart patterns and recurring formations.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92" name="Google Shape;92;p6"/>
          <p:cNvSpPr/>
          <p:nvPr/>
        </p:nvSpPr>
        <p:spPr>
          <a:xfrm>
            <a:off x="0" y="557925"/>
            <a:ext cx="7876800" cy="7491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rgbClr val="333F44"/>
                </a:solidFill>
                <a:latin typeface="Open Sans Light"/>
                <a:ea typeface="Open Sans Light"/>
                <a:cs typeface="Open Sans Light"/>
                <a:sym typeface="Open Sans Light"/>
              </a:rPr>
              <a:t>Market Inefficiency and the Generalized Overvaluation of Financial Assets</a:t>
            </a:r>
            <a:endParaRPr b="0" i="0" sz="1700" u="none" cap="none" strike="noStrike">
              <a:solidFill>
                <a:srgbClr val="333F44"/>
              </a:solidFill>
              <a:latin typeface="Open Sans Light"/>
              <a:ea typeface="Open Sans Light"/>
              <a:cs typeface="Open Sans Light"/>
              <a:sym typeface="Open Sans Light"/>
            </a:endParaRPr>
          </a:p>
          <a:p>
            <a:pPr indent="0" lvl="0" marL="0" marR="0" rtl="0" algn="l">
              <a:lnSpc>
                <a:spcPct val="90000"/>
              </a:lnSpc>
              <a:spcBef>
                <a:spcPts val="0"/>
              </a:spcBef>
              <a:spcAft>
                <a:spcPts val="0"/>
              </a:spcAft>
              <a:buClr>
                <a:srgbClr val="000000"/>
              </a:buClr>
              <a:buSzPts val="1700"/>
              <a:buFont typeface="Arial"/>
              <a:buNone/>
            </a:pPr>
            <a:r>
              <a:t/>
            </a:r>
            <a:endParaRPr b="0" i="0" sz="1700" u="none" cap="none" strike="noStrike">
              <a:solidFill>
                <a:srgbClr val="333F44"/>
              </a:solidFill>
              <a:latin typeface="Open Sans Light"/>
              <a:ea typeface="Open Sans Light"/>
              <a:cs typeface="Open Sans Light"/>
              <a:sym typeface="Open Sans Light"/>
            </a:endParaRPr>
          </a:p>
          <a:p>
            <a:pPr indent="0" lvl="0" marL="0" marR="0" rtl="0" algn="l">
              <a:lnSpc>
                <a:spcPct val="90000"/>
              </a:lnSpc>
              <a:spcBef>
                <a:spcPts val="0"/>
              </a:spcBef>
              <a:spcAft>
                <a:spcPts val="0"/>
              </a:spcAft>
              <a:buClr>
                <a:srgbClr val="000000"/>
              </a:buClr>
              <a:buSzPts val="1700"/>
              <a:buFont typeface="Arial"/>
              <a:buNone/>
            </a:pPr>
            <a:r>
              <a:t/>
            </a:r>
            <a:endParaRPr b="0" i="0" sz="1700" u="none" cap="none" strike="noStrike">
              <a:solidFill>
                <a:srgbClr val="333F44"/>
              </a:solidFill>
              <a:latin typeface="Open Sans Light"/>
              <a:ea typeface="Open Sans Light"/>
              <a:cs typeface="Open Sans Light"/>
              <a:sym typeface="Open Sans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7"/>
          <p:cNvSpPr/>
          <p:nvPr/>
        </p:nvSpPr>
        <p:spPr>
          <a:xfrm>
            <a:off x="171900" y="1002215"/>
            <a:ext cx="8800200" cy="50490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4.2. Connection to Behavioral Finance</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Technical analysis indirectly relies on behavioral finance, which studies investors’ cognitive biases. Some irrational behaviors explain why markets deviate from fundamentals: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Confirmation Bias: Investors tend to seek information that confirms their beliefs, fueling speculative bubbles.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Herd Mentality: Many traders follow the general trend, amplifying market rallies and downturns.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Loss Aversion: Investors react more strongly to losses than to gains, leading to panic selling during bad news.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Thus, technical analysis helps anticipate these irrational reactions by identifying key support and resistance levels and reversal signals.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5. Conclusion: Shifting to Technical Analysis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The extreme valuations of U.S. financial markets indicate that the market is largely inefficient. Prices are not solely driven by fundamentals but also by investor psychology, liquidity flows, and speculation.</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Given this inefficiency, we will use technical analysis to identify trends and opportunities. In the next section, we will examine key technical indicators to anticipate future price movements.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Disclaimer: In retail trading, the expected return remains negative. The failure of individual investors in the stock market is not due to a lack of knowledge but to psychology: overconfidence, fear of losses, and impulsivity destroy performance. Unlike day trading and scalping, where high fees and competition with algorithms reduce the expected return, swing trading allows traders to capture broader trends with less stress and fewer impulsive decisions. A disciplined approach tailored to market structure is essential to maximize profitability.</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sng" cap="none" strike="noStrike">
                <a:solidFill>
                  <a:schemeClr val="hlink"/>
                </a:solidFill>
                <a:latin typeface="Arial"/>
                <a:ea typeface="Arial"/>
                <a:cs typeface="Arial"/>
                <a:sym typeface="Arial"/>
                <a:hlinkClick r:id="rId3"/>
              </a:rPr>
              <a:t>https://docs.google.com/document/d/1kj7HYihOFkGvgQ79fM7Xx3dEpchFOLfbVRDIADn_QMo/edit?usp=sharing</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98" name="Google Shape;98;p7"/>
          <p:cNvSpPr/>
          <p:nvPr/>
        </p:nvSpPr>
        <p:spPr>
          <a:xfrm>
            <a:off x="0" y="557925"/>
            <a:ext cx="7876800" cy="7491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rgbClr val="333F44"/>
                </a:solidFill>
                <a:latin typeface="Open Sans Light"/>
                <a:ea typeface="Open Sans Light"/>
                <a:cs typeface="Open Sans Light"/>
                <a:sym typeface="Open Sans Light"/>
              </a:rPr>
              <a:t>Market Inefficiency and the Generalized Overvaluation of Financial Assets</a:t>
            </a:r>
            <a:endParaRPr b="0" i="0" sz="1700" u="none" cap="none" strike="noStrike">
              <a:solidFill>
                <a:srgbClr val="333F44"/>
              </a:solidFill>
              <a:latin typeface="Open Sans Light"/>
              <a:ea typeface="Open Sans Light"/>
              <a:cs typeface="Open Sans Light"/>
              <a:sym typeface="Open Sans Light"/>
            </a:endParaRPr>
          </a:p>
          <a:p>
            <a:pPr indent="0" lvl="0" marL="0" marR="0" rtl="0" algn="l">
              <a:lnSpc>
                <a:spcPct val="90000"/>
              </a:lnSpc>
              <a:spcBef>
                <a:spcPts val="0"/>
              </a:spcBef>
              <a:spcAft>
                <a:spcPts val="0"/>
              </a:spcAft>
              <a:buClr>
                <a:srgbClr val="000000"/>
              </a:buClr>
              <a:buSzPts val="1700"/>
              <a:buFont typeface="Arial"/>
              <a:buNone/>
            </a:pPr>
            <a:r>
              <a:t/>
            </a:r>
            <a:endParaRPr b="0" i="0" sz="1700" u="none" cap="none" strike="noStrike">
              <a:solidFill>
                <a:srgbClr val="333F44"/>
              </a:solidFill>
              <a:latin typeface="Open Sans Light"/>
              <a:ea typeface="Open Sans Light"/>
              <a:cs typeface="Open Sans Light"/>
              <a:sym typeface="Open Sans Light"/>
            </a:endParaRPr>
          </a:p>
          <a:p>
            <a:pPr indent="0" lvl="0" marL="0" marR="0" rtl="0" algn="l">
              <a:lnSpc>
                <a:spcPct val="90000"/>
              </a:lnSpc>
              <a:spcBef>
                <a:spcPts val="0"/>
              </a:spcBef>
              <a:spcAft>
                <a:spcPts val="0"/>
              </a:spcAft>
              <a:buClr>
                <a:srgbClr val="000000"/>
              </a:buClr>
              <a:buSzPts val="1700"/>
              <a:buFont typeface="Arial"/>
              <a:buNone/>
            </a:pPr>
            <a:r>
              <a:t/>
            </a:r>
            <a:endParaRPr b="0" i="0" sz="1700" u="none" cap="none" strike="noStrike">
              <a:solidFill>
                <a:srgbClr val="333F44"/>
              </a:solidFill>
              <a:latin typeface="Open Sans Light"/>
              <a:ea typeface="Open Sans Light"/>
              <a:cs typeface="Open Sans Light"/>
              <a:sym typeface="Open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8"/>
          <p:cNvSpPr/>
          <p:nvPr/>
        </p:nvSpPr>
        <p:spPr>
          <a:xfrm>
            <a:off x="0" y="396096"/>
            <a:ext cx="3189593" cy="401648"/>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333F44"/>
              </a:buClr>
              <a:buSzPts val="2400"/>
              <a:buFont typeface="Open Sans Light"/>
              <a:buNone/>
            </a:pPr>
            <a:r>
              <a:rPr b="0" i="0" lang="en-US" sz="2400" u="none" cap="none" strike="noStrike">
                <a:solidFill>
                  <a:srgbClr val="333F44"/>
                </a:solidFill>
                <a:latin typeface="Open Sans Light"/>
                <a:ea typeface="Open Sans Light"/>
                <a:cs typeface="Open Sans Light"/>
                <a:sym typeface="Open Sans Light"/>
              </a:rPr>
              <a:t>Trend</a:t>
            </a:r>
            <a:endParaRPr b="0" i="0" sz="1400" u="none" cap="none" strike="noStrike">
              <a:solidFill>
                <a:srgbClr val="000000"/>
              </a:solidFill>
              <a:latin typeface="Arial"/>
              <a:ea typeface="Arial"/>
              <a:cs typeface="Arial"/>
              <a:sym typeface="Arial"/>
            </a:endParaRPr>
          </a:p>
        </p:txBody>
      </p:sp>
      <p:pic>
        <p:nvPicPr>
          <p:cNvPr id="104" name="Google Shape;104;p8"/>
          <p:cNvPicPr preferRelativeResize="0"/>
          <p:nvPr/>
        </p:nvPicPr>
        <p:blipFill rotWithShape="1">
          <a:blip r:embed="rId3">
            <a:alphaModFix/>
          </a:blip>
          <a:srcRect b="0" l="0" r="0" t="0"/>
          <a:stretch/>
        </p:blipFill>
        <p:spPr>
          <a:xfrm>
            <a:off x="152400" y="2234106"/>
            <a:ext cx="8839200" cy="2389784"/>
          </a:xfrm>
          <a:prstGeom prst="rect">
            <a:avLst/>
          </a:prstGeom>
          <a:noFill/>
          <a:ln>
            <a:noFill/>
          </a:ln>
        </p:spPr>
      </p:pic>
      <p:sp>
        <p:nvSpPr>
          <p:cNvPr id="105" name="Google Shape;105;p8"/>
          <p:cNvSpPr/>
          <p:nvPr/>
        </p:nvSpPr>
        <p:spPr>
          <a:xfrm>
            <a:off x="2287650" y="4768375"/>
            <a:ext cx="4568700" cy="5238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From $14.86 in 03/01/2023 to $147.63 04/11/2024</a:t>
            </a:r>
            <a:endParaRPr b="0" i="0" sz="11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(+893,47%) (x9.93)</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333F44"/>
              </a:buClr>
              <a:buSzPts val="2400"/>
              <a:buFont typeface="Open Sans Light"/>
              <a:buNone/>
            </a:pPr>
            <a:r>
              <a:rPr b="0" i="0" lang="en-US" sz="2400" u="none" cap="none" strike="noStrike">
                <a:solidFill>
                  <a:srgbClr val="333F44"/>
                </a:solidFill>
                <a:latin typeface="Open Sans Light"/>
                <a:ea typeface="Open Sans Light"/>
                <a:cs typeface="Open Sans Light"/>
                <a:sym typeface="Open Sans Light"/>
              </a:rPr>
              <a:t>Trend</a:t>
            </a:r>
            <a:endParaRPr b="0" i="0" sz="1400" u="none" cap="none" strike="noStrike">
              <a:solidFill>
                <a:srgbClr val="000000"/>
              </a:solidFill>
              <a:latin typeface="Arial"/>
              <a:ea typeface="Arial"/>
              <a:cs typeface="Arial"/>
              <a:sym typeface="Arial"/>
            </a:endParaRPr>
          </a:p>
        </p:txBody>
      </p:sp>
      <p:pic>
        <p:nvPicPr>
          <p:cNvPr id="111" name="Google Shape;111;p9"/>
          <p:cNvPicPr preferRelativeResize="0"/>
          <p:nvPr/>
        </p:nvPicPr>
        <p:blipFill rotWithShape="1">
          <a:blip r:embed="rId3">
            <a:alphaModFix/>
          </a:blip>
          <a:srcRect b="0" l="0" r="0" t="0"/>
          <a:stretch/>
        </p:blipFill>
        <p:spPr>
          <a:xfrm>
            <a:off x="590950" y="1227801"/>
            <a:ext cx="7962100" cy="4402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0"/>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333F44"/>
              </a:buClr>
              <a:buSzPts val="2400"/>
              <a:buFont typeface="Open Sans Light"/>
              <a:buNone/>
            </a:pPr>
            <a:r>
              <a:rPr b="0" i="0" lang="en-US" sz="2400" u="none" cap="none" strike="noStrike">
                <a:solidFill>
                  <a:srgbClr val="333F44"/>
                </a:solidFill>
                <a:latin typeface="Open Sans Light"/>
                <a:ea typeface="Open Sans Light"/>
                <a:cs typeface="Open Sans Light"/>
                <a:sym typeface="Open Sans Light"/>
              </a:rPr>
              <a:t>Trend</a:t>
            </a:r>
            <a:endParaRPr b="0" i="0" sz="1400" u="none" cap="none" strike="noStrike">
              <a:solidFill>
                <a:srgbClr val="000000"/>
              </a:solidFill>
              <a:latin typeface="Arial"/>
              <a:ea typeface="Arial"/>
              <a:cs typeface="Arial"/>
              <a:sym typeface="Arial"/>
            </a:endParaRPr>
          </a:p>
        </p:txBody>
      </p:sp>
      <p:pic>
        <p:nvPicPr>
          <p:cNvPr id="117" name="Google Shape;117;p10"/>
          <p:cNvPicPr preferRelativeResize="0"/>
          <p:nvPr/>
        </p:nvPicPr>
        <p:blipFill rotWithShape="1">
          <a:blip r:embed="rId3">
            <a:alphaModFix/>
          </a:blip>
          <a:srcRect b="0" l="0" r="0" t="0"/>
          <a:stretch/>
        </p:blipFill>
        <p:spPr>
          <a:xfrm>
            <a:off x="590975" y="1227800"/>
            <a:ext cx="7962063" cy="4402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1"/>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333F44"/>
              </a:buClr>
              <a:buSzPts val="2400"/>
              <a:buFont typeface="Open Sans Light"/>
              <a:buNone/>
            </a:pPr>
            <a:r>
              <a:rPr b="0" i="0" lang="en-US" sz="2400" u="none" cap="none" strike="noStrike">
                <a:solidFill>
                  <a:srgbClr val="333F44"/>
                </a:solidFill>
                <a:latin typeface="Open Sans Light"/>
                <a:ea typeface="Open Sans Light"/>
                <a:cs typeface="Open Sans Light"/>
                <a:sym typeface="Open Sans Light"/>
              </a:rPr>
              <a:t>Trend</a:t>
            </a:r>
            <a:endParaRPr b="0" i="0" sz="1400" u="none" cap="none" strike="noStrike">
              <a:solidFill>
                <a:srgbClr val="000000"/>
              </a:solidFill>
              <a:latin typeface="Arial"/>
              <a:ea typeface="Arial"/>
              <a:cs typeface="Arial"/>
              <a:sym typeface="Arial"/>
            </a:endParaRPr>
          </a:p>
        </p:txBody>
      </p:sp>
      <p:pic>
        <p:nvPicPr>
          <p:cNvPr id="123" name="Google Shape;123;p11"/>
          <p:cNvPicPr preferRelativeResize="0"/>
          <p:nvPr/>
        </p:nvPicPr>
        <p:blipFill rotWithShape="1">
          <a:blip r:embed="rId3">
            <a:alphaModFix/>
          </a:blip>
          <a:srcRect b="0" l="0" r="0" t="0"/>
          <a:stretch/>
        </p:blipFill>
        <p:spPr>
          <a:xfrm>
            <a:off x="590950" y="1227800"/>
            <a:ext cx="7962100" cy="4402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2"/>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333F44"/>
              </a:buClr>
              <a:buSzPts val="2400"/>
              <a:buFont typeface="Open Sans Light"/>
              <a:buNone/>
            </a:pPr>
            <a:r>
              <a:rPr b="0" i="0" lang="en-US" sz="2400" u="none" cap="none" strike="noStrike">
                <a:solidFill>
                  <a:srgbClr val="333F44"/>
                </a:solidFill>
                <a:latin typeface="Open Sans Light"/>
                <a:ea typeface="Open Sans Light"/>
                <a:cs typeface="Open Sans Light"/>
                <a:sym typeface="Open Sans Light"/>
              </a:rPr>
              <a:t>Trend</a:t>
            </a:r>
            <a:endParaRPr b="0" i="0" sz="1400" u="none" cap="none" strike="noStrike">
              <a:solidFill>
                <a:srgbClr val="000000"/>
              </a:solidFill>
              <a:latin typeface="Arial"/>
              <a:ea typeface="Arial"/>
              <a:cs typeface="Arial"/>
              <a:sym typeface="Arial"/>
            </a:endParaRPr>
          </a:p>
        </p:txBody>
      </p:sp>
      <p:pic>
        <p:nvPicPr>
          <p:cNvPr id="129" name="Google Shape;129;p12"/>
          <p:cNvPicPr preferRelativeResize="0"/>
          <p:nvPr/>
        </p:nvPicPr>
        <p:blipFill rotWithShape="1">
          <a:blip r:embed="rId3">
            <a:alphaModFix/>
          </a:blip>
          <a:srcRect b="0" l="0" r="0" t="0"/>
          <a:stretch/>
        </p:blipFill>
        <p:spPr>
          <a:xfrm>
            <a:off x="590950" y="1227800"/>
            <a:ext cx="7962100" cy="440240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Trend explanation</a:t>
            </a:r>
            <a:endParaRPr b="0" i="0" sz="1400" u="none" cap="none" strike="noStrike">
              <a:solidFill>
                <a:srgbClr val="000000"/>
              </a:solidFill>
              <a:latin typeface="Arial"/>
              <a:ea typeface="Arial"/>
              <a:cs typeface="Arial"/>
              <a:sym typeface="Arial"/>
            </a:endParaRPr>
          </a:p>
        </p:txBody>
      </p:sp>
      <p:sp>
        <p:nvSpPr>
          <p:cNvPr id="135" name="Google Shape;135;p13"/>
          <p:cNvSpPr/>
          <p:nvPr/>
        </p:nvSpPr>
        <p:spPr>
          <a:xfrm>
            <a:off x="208500" y="1424998"/>
            <a:ext cx="8727000" cy="40080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A downtrend (or bearish trend) is a market phase characterized by a gradual decline in prices. It is defined by a series of lower highs (LH) and lower lows (LL).</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Explanation with Lower Highs and Lower Lows: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Lower High (LH)</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Each new high is lower than the previous high. This indicates that buyers are losing strength and sellers are gaining control.</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Lower Low (LL)</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Each new low is lower than the previous low. This confirms that selling pressure is dominant and the market continues to decline.</a:t>
            </a:r>
            <a:br>
              <a:rPr b="0" i="0" lang="en-US" sz="1100" u="none" cap="none" strike="noStrike">
                <a:solidFill>
                  <a:schemeClr val="dk1"/>
                </a:solidFill>
                <a:latin typeface="Arial"/>
                <a:ea typeface="Arial"/>
                <a:cs typeface="Arial"/>
                <a:sym typeface="Arial"/>
              </a:rPr>
            </a:b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An uptrend (or bullish trend) is a market phase characterized by a gradual increase in prices. It is defined by a series of higher highs (HH) and higher lows (HL).</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Explanation with Higher Highs and Higher Lows: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Higher High (HH)</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Each new high is higher than the previous high. This indicates that buyers are in control and pushing prices upward.</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Higher Low (HL)</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Each new low is higher than the previous low. This confirms that buying pressure is dominant and the market continues to rise.</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Support</a:t>
            </a:r>
            <a:endParaRPr b="0" i="0" sz="1400" u="none" cap="none" strike="noStrike">
              <a:solidFill>
                <a:srgbClr val="000000"/>
              </a:solidFill>
              <a:latin typeface="Arial"/>
              <a:ea typeface="Arial"/>
              <a:cs typeface="Arial"/>
              <a:sym typeface="Arial"/>
            </a:endParaRPr>
          </a:p>
        </p:txBody>
      </p:sp>
      <p:pic>
        <p:nvPicPr>
          <p:cNvPr id="141" name="Google Shape;141;p14"/>
          <p:cNvPicPr preferRelativeResize="0"/>
          <p:nvPr/>
        </p:nvPicPr>
        <p:blipFill rotWithShape="1">
          <a:blip r:embed="rId3">
            <a:alphaModFix/>
          </a:blip>
          <a:srcRect b="0" l="0" r="0" t="0"/>
          <a:stretch/>
        </p:blipFill>
        <p:spPr>
          <a:xfrm>
            <a:off x="590963" y="1227800"/>
            <a:ext cx="7962077" cy="440238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Pattern</a:t>
            </a:r>
            <a:endParaRPr b="0" i="0" sz="1400" u="none" cap="none" strike="noStrike">
              <a:solidFill>
                <a:srgbClr val="000000"/>
              </a:solidFill>
              <a:latin typeface="Arial"/>
              <a:ea typeface="Arial"/>
              <a:cs typeface="Arial"/>
              <a:sym typeface="Arial"/>
            </a:endParaRPr>
          </a:p>
        </p:txBody>
      </p:sp>
      <p:pic>
        <p:nvPicPr>
          <p:cNvPr id="147" name="Google Shape;147;p15"/>
          <p:cNvPicPr preferRelativeResize="0"/>
          <p:nvPr/>
        </p:nvPicPr>
        <p:blipFill rotWithShape="1">
          <a:blip r:embed="rId3">
            <a:alphaModFix/>
          </a:blip>
          <a:srcRect b="0" l="0" r="0" t="0"/>
          <a:stretch/>
        </p:blipFill>
        <p:spPr>
          <a:xfrm>
            <a:off x="590963" y="1227800"/>
            <a:ext cx="7962077" cy="4402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Pattern</a:t>
            </a:r>
            <a:endParaRPr b="0" i="0" sz="1400" u="none" cap="none" strike="noStrike">
              <a:solidFill>
                <a:srgbClr val="000000"/>
              </a:solidFill>
              <a:latin typeface="Arial"/>
              <a:ea typeface="Arial"/>
              <a:cs typeface="Arial"/>
              <a:sym typeface="Arial"/>
            </a:endParaRPr>
          </a:p>
        </p:txBody>
      </p:sp>
      <p:pic>
        <p:nvPicPr>
          <p:cNvPr id="153" name="Google Shape;153;p16"/>
          <p:cNvPicPr preferRelativeResize="0"/>
          <p:nvPr/>
        </p:nvPicPr>
        <p:blipFill rotWithShape="1">
          <a:blip r:embed="rId3">
            <a:alphaModFix/>
          </a:blip>
          <a:srcRect b="0" l="0" r="0" t="0"/>
          <a:stretch/>
        </p:blipFill>
        <p:spPr>
          <a:xfrm>
            <a:off x="590962" y="1227799"/>
            <a:ext cx="7962077" cy="440239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Pattern explanation</a:t>
            </a:r>
            <a:endParaRPr b="0" i="0" sz="1400" u="none" cap="none" strike="noStrike">
              <a:solidFill>
                <a:srgbClr val="000000"/>
              </a:solidFill>
              <a:latin typeface="Arial"/>
              <a:ea typeface="Arial"/>
              <a:cs typeface="Arial"/>
              <a:sym typeface="Arial"/>
            </a:endParaRPr>
          </a:p>
        </p:txBody>
      </p:sp>
      <p:sp>
        <p:nvSpPr>
          <p:cNvPr id="159" name="Google Shape;159;p17"/>
          <p:cNvSpPr/>
          <p:nvPr/>
        </p:nvSpPr>
        <p:spPr>
          <a:xfrm>
            <a:off x="208500" y="797801"/>
            <a:ext cx="8727000" cy="5344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Why Does Pattern Recognition Work in Trading?</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Pattern recognition in trading works because financial markets are influenced by repetitive human behaviors. These behaviors create recurring patterns on price charts, which can be leveraged to anticipate future movements. Here’s why this approach is effective:</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1. Crowd Psychology and Repetitive Behavior</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Traders and investors often react similarly to market events (fear, euphoria, uncertainty). These reactions create recognizable formations, such as continuation patterns (flags, triangles) or reversal patterns (head and shoulders, double top).</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2. Self-Fulfilling Effect</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Many traders and algorithms use technical analysis and look for the same patterns. When a pattern is identified, orders are placed based on its predictions, reinforcing its validity (e.g., a support breakdown triggering massive selling).</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3. Based on Probabilities, Not Certainties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Pattern recognition does not predict the future with certainty, but it identifies configurations with high probability of success based on historical price behavior. Combining these patterns with other technical indicators (volume, RSI, MACD, etc.) improves forecast reliability.</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4. Alignment with Dow Theory</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Dow Theory states that markets move in trends and that history repeats itself. Pattern recognition relies on these principles by identifying structures that indicate trend reversals or continuations.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Limitations of Pattern Recognition</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False Signals: A pattern may seem valid but fail (false flag breakout, fake breakout).</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Market Context: The same pattern can behave differently depending on volatility, economic news, or volume.</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Need for Confirmation: Traders often combine pattern recognition with other indicators to avoid acting on isolated signals.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Conclusion: Pattern recognition works because it leverages market psychology and repetitive trends. It does not guarantee 100% success, but when used correctly, it provides a statistical edge in trading decisions.</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Candle Sticks W</a:t>
            </a:r>
            <a:endParaRPr b="0" i="0" sz="1400" u="none" cap="none" strike="noStrike">
              <a:solidFill>
                <a:srgbClr val="000000"/>
              </a:solidFill>
              <a:latin typeface="Arial"/>
              <a:ea typeface="Arial"/>
              <a:cs typeface="Arial"/>
              <a:sym typeface="Arial"/>
            </a:endParaRPr>
          </a:p>
        </p:txBody>
      </p:sp>
      <p:pic>
        <p:nvPicPr>
          <p:cNvPr id="165" name="Google Shape;165;p18"/>
          <p:cNvPicPr preferRelativeResize="0"/>
          <p:nvPr/>
        </p:nvPicPr>
        <p:blipFill rotWithShape="1">
          <a:blip r:embed="rId3">
            <a:alphaModFix/>
          </a:blip>
          <a:srcRect b="0" l="0" r="0" t="0"/>
          <a:stretch/>
        </p:blipFill>
        <p:spPr>
          <a:xfrm>
            <a:off x="590950" y="1227800"/>
            <a:ext cx="7962100" cy="440240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Candle Sticks D</a:t>
            </a:r>
            <a:endParaRPr b="0" i="0" sz="1400" u="none" cap="none" strike="noStrike">
              <a:solidFill>
                <a:srgbClr val="000000"/>
              </a:solidFill>
              <a:latin typeface="Arial"/>
              <a:ea typeface="Arial"/>
              <a:cs typeface="Arial"/>
              <a:sym typeface="Arial"/>
            </a:endParaRPr>
          </a:p>
        </p:txBody>
      </p:sp>
      <p:pic>
        <p:nvPicPr>
          <p:cNvPr id="171" name="Google Shape;171;p19"/>
          <p:cNvPicPr preferRelativeResize="0"/>
          <p:nvPr/>
        </p:nvPicPr>
        <p:blipFill rotWithShape="1">
          <a:blip r:embed="rId3">
            <a:alphaModFix/>
          </a:blip>
          <a:srcRect b="0" l="0" r="0" t="0"/>
          <a:stretch/>
        </p:blipFill>
        <p:spPr>
          <a:xfrm>
            <a:off x="1284525" y="1149502"/>
            <a:ext cx="6574975" cy="3635451"/>
          </a:xfrm>
          <a:prstGeom prst="rect">
            <a:avLst/>
          </a:prstGeom>
          <a:noFill/>
          <a:ln>
            <a:noFill/>
          </a:ln>
        </p:spPr>
      </p:pic>
      <p:sp>
        <p:nvSpPr>
          <p:cNvPr id="172" name="Google Shape;172;p19"/>
          <p:cNvSpPr txBox="1"/>
          <p:nvPr/>
        </p:nvSpPr>
        <p:spPr>
          <a:xfrm>
            <a:off x="956400" y="4993075"/>
            <a:ext cx="7231200" cy="1132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The market psychology behind these formations is identical: during a bullish market, investors tend to become euphoric, leading many to buy near the peaks. Those who entered at the highest levels are particularly vulnerable, and at market extremes, even a slight reversal can trigger a wave of panic selling.</a:t>
            </a:r>
            <a:endParaRPr b="0" i="0" sz="1100" u="none" cap="none" strike="noStrike">
              <a:solidFill>
                <a:schemeClr val="dk1"/>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Candle Sticks D</a:t>
            </a:r>
            <a:endParaRPr b="0" i="0" sz="1400" u="none" cap="none" strike="noStrike">
              <a:solidFill>
                <a:srgbClr val="000000"/>
              </a:solidFill>
              <a:latin typeface="Arial"/>
              <a:ea typeface="Arial"/>
              <a:cs typeface="Arial"/>
              <a:sym typeface="Arial"/>
            </a:endParaRPr>
          </a:p>
        </p:txBody>
      </p:sp>
      <p:pic>
        <p:nvPicPr>
          <p:cNvPr id="178" name="Google Shape;178;p20"/>
          <p:cNvPicPr preferRelativeResize="0"/>
          <p:nvPr/>
        </p:nvPicPr>
        <p:blipFill rotWithShape="1">
          <a:blip r:embed="rId3">
            <a:alphaModFix/>
          </a:blip>
          <a:srcRect b="0" l="0" r="0" t="0"/>
          <a:stretch/>
        </p:blipFill>
        <p:spPr>
          <a:xfrm>
            <a:off x="152400" y="1392184"/>
            <a:ext cx="8839200" cy="407363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Candle Sticks D</a:t>
            </a:r>
            <a:endParaRPr b="0" i="0" sz="1400" u="none" cap="none" strike="noStrike">
              <a:solidFill>
                <a:srgbClr val="000000"/>
              </a:solidFill>
              <a:latin typeface="Arial"/>
              <a:ea typeface="Arial"/>
              <a:cs typeface="Arial"/>
              <a:sym typeface="Arial"/>
            </a:endParaRPr>
          </a:p>
        </p:txBody>
      </p:sp>
      <p:pic>
        <p:nvPicPr>
          <p:cNvPr id="184" name="Google Shape;184;p21"/>
          <p:cNvPicPr preferRelativeResize="0"/>
          <p:nvPr/>
        </p:nvPicPr>
        <p:blipFill rotWithShape="1">
          <a:blip r:embed="rId3">
            <a:alphaModFix/>
          </a:blip>
          <a:srcRect b="0" l="0" r="0" t="0"/>
          <a:stretch/>
        </p:blipFill>
        <p:spPr>
          <a:xfrm>
            <a:off x="1711285" y="1350512"/>
            <a:ext cx="5721426" cy="4156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Indicators</a:t>
            </a:r>
            <a:endParaRPr b="0" i="0" sz="1400" u="none" cap="none" strike="noStrike">
              <a:solidFill>
                <a:srgbClr val="000000"/>
              </a:solidFill>
              <a:latin typeface="Arial"/>
              <a:ea typeface="Arial"/>
              <a:cs typeface="Arial"/>
              <a:sym typeface="Arial"/>
            </a:endParaRPr>
          </a:p>
        </p:txBody>
      </p:sp>
      <p:pic>
        <p:nvPicPr>
          <p:cNvPr id="190" name="Google Shape;190;p22"/>
          <p:cNvPicPr preferRelativeResize="0"/>
          <p:nvPr/>
        </p:nvPicPr>
        <p:blipFill rotWithShape="1">
          <a:blip r:embed="rId3">
            <a:alphaModFix/>
          </a:blip>
          <a:srcRect b="0" l="0" r="0" t="0"/>
          <a:stretch/>
        </p:blipFill>
        <p:spPr>
          <a:xfrm>
            <a:off x="590950" y="1227800"/>
            <a:ext cx="7962100" cy="440240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Indicators</a:t>
            </a:r>
            <a:endParaRPr b="0" i="0" sz="1400" u="none" cap="none" strike="noStrike">
              <a:solidFill>
                <a:srgbClr val="000000"/>
              </a:solidFill>
              <a:latin typeface="Arial"/>
              <a:ea typeface="Arial"/>
              <a:cs typeface="Arial"/>
              <a:sym typeface="Arial"/>
            </a:endParaRPr>
          </a:p>
        </p:txBody>
      </p:sp>
      <p:pic>
        <p:nvPicPr>
          <p:cNvPr id="196" name="Google Shape;196;p23"/>
          <p:cNvPicPr preferRelativeResize="0"/>
          <p:nvPr/>
        </p:nvPicPr>
        <p:blipFill rotWithShape="1">
          <a:blip r:embed="rId3">
            <a:alphaModFix/>
          </a:blip>
          <a:srcRect b="0" l="0" r="0" t="0"/>
          <a:stretch/>
        </p:blipFill>
        <p:spPr>
          <a:xfrm>
            <a:off x="584363" y="1227799"/>
            <a:ext cx="7975263" cy="4402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4"/>
          <p:cNvSpPr/>
          <p:nvPr/>
        </p:nvSpPr>
        <p:spPr>
          <a:xfrm>
            <a:off x="0" y="396096"/>
            <a:ext cx="3189600" cy="401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333F44"/>
                </a:solidFill>
                <a:latin typeface="Open Sans Light"/>
                <a:ea typeface="Open Sans Light"/>
                <a:cs typeface="Open Sans Light"/>
                <a:sym typeface="Open Sans Light"/>
              </a:rPr>
              <a:t>Indicators</a:t>
            </a:r>
            <a:endParaRPr b="0" i="0" sz="1400" u="none" cap="none" strike="noStrike">
              <a:solidFill>
                <a:srgbClr val="000000"/>
              </a:solidFill>
              <a:latin typeface="Arial"/>
              <a:ea typeface="Arial"/>
              <a:cs typeface="Arial"/>
              <a:sym typeface="Arial"/>
            </a:endParaRPr>
          </a:p>
        </p:txBody>
      </p:sp>
      <p:pic>
        <p:nvPicPr>
          <p:cNvPr id="202" name="Google Shape;202;p24"/>
          <p:cNvPicPr preferRelativeResize="0"/>
          <p:nvPr/>
        </p:nvPicPr>
        <p:blipFill rotWithShape="1">
          <a:blip r:embed="rId3">
            <a:alphaModFix/>
          </a:blip>
          <a:srcRect b="0" l="0" r="0" t="0"/>
          <a:stretch/>
        </p:blipFill>
        <p:spPr>
          <a:xfrm>
            <a:off x="4286225" y="1241813"/>
            <a:ext cx="4471425" cy="1979725"/>
          </a:xfrm>
          <a:prstGeom prst="rect">
            <a:avLst/>
          </a:prstGeom>
          <a:noFill/>
          <a:ln>
            <a:noFill/>
          </a:ln>
        </p:spPr>
      </p:pic>
      <p:pic>
        <p:nvPicPr>
          <p:cNvPr id="203" name="Google Shape;203;p24"/>
          <p:cNvPicPr preferRelativeResize="0"/>
          <p:nvPr/>
        </p:nvPicPr>
        <p:blipFill rotWithShape="1">
          <a:blip r:embed="rId4">
            <a:alphaModFix/>
          </a:blip>
          <a:srcRect b="0" l="0" r="0" t="0"/>
          <a:stretch/>
        </p:blipFill>
        <p:spPr>
          <a:xfrm>
            <a:off x="358250" y="1170050"/>
            <a:ext cx="3864399" cy="2123250"/>
          </a:xfrm>
          <a:prstGeom prst="rect">
            <a:avLst/>
          </a:prstGeom>
          <a:noFill/>
          <a:ln>
            <a:noFill/>
          </a:ln>
        </p:spPr>
      </p:pic>
      <p:pic>
        <p:nvPicPr>
          <p:cNvPr id="204" name="Google Shape;204;p24"/>
          <p:cNvPicPr preferRelativeResize="0"/>
          <p:nvPr/>
        </p:nvPicPr>
        <p:blipFill rotWithShape="1">
          <a:blip r:embed="rId5">
            <a:alphaModFix/>
          </a:blip>
          <a:srcRect b="0" l="0" r="0" t="0"/>
          <a:stretch/>
        </p:blipFill>
        <p:spPr>
          <a:xfrm>
            <a:off x="358250" y="3489375"/>
            <a:ext cx="3927977" cy="2123250"/>
          </a:xfrm>
          <a:prstGeom prst="rect">
            <a:avLst/>
          </a:prstGeom>
          <a:noFill/>
          <a:ln>
            <a:noFill/>
          </a:ln>
        </p:spPr>
      </p:pic>
      <p:pic>
        <p:nvPicPr>
          <p:cNvPr id="205" name="Google Shape;205;p24"/>
          <p:cNvPicPr preferRelativeResize="0"/>
          <p:nvPr/>
        </p:nvPicPr>
        <p:blipFill rotWithShape="1">
          <a:blip r:embed="rId6">
            <a:alphaModFix/>
          </a:blip>
          <a:srcRect b="0" l="0" r="0" t="0"/>
          <a:stretch/>
        </p:blipFill>
        <p:spPr>
          <a:xfrm>
            <a:off x="4403102" y="3489373"/>
            <a:ext cx="3927975" cy="209091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