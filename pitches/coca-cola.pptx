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Play"/>
      <p:regular r:id="rId36"/>
      <p:bold r:id="rId37"/>
    </p:embeddedFont>
    <p:embeddedFont>
      <p:font typeface="Arimo"/>
      <p:regular r:id="rId38"/>
      <p:bold r:id="rId39"/>
      <p:italic r:id="rId40"/>
      <p:boldItalic r:id="rId41"/>
    </p:embeddedFont>
    <p:embeddedFont>
      <p:font typeface="Open Sans Light"/>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iun+JwhJcCqIpNrAlu+/Zjz8ec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31001D-9986-4F02-BF56-0136913FF124}">
  <a:tblStyle styleId="{9631001D-9986-4F02-BF56-0136913FF12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rimo-italic.fntdata"/><Relationship Id="rId42" Type="http://schemas.openxmlformats.org/officeDocument/2006/relationships/font" Target="fonts/OpenSansLight-regular.fntdata"/><Relationship Id="rId41" Type="http://schemas.openxmlformats.org/officeDocument/2006/relationships/font" Target="fonts/Arimo-boldItalic.fntdata"/><Relationship Id="rId44" Type="http://schemas.openxmlformats.org/officeDocument/2006/relationships/font" Target="fonts/OpenSansLight-italic.fntdata"/><Relationship Id="rId43" Type="http://schemas.openxmlformats.org/officeDocument/2006/relationships/font" Target="fonts/OpenSansLight-bold.fntdata"/><Relationship Id="rId46" Type="http://schemas.openxmlformats.org/officeDocument/2006/relationships/font" Target="fonts/OpenSans-regular.fntdata"/><Relationship Id="rId45" Type="http://schemas.openxmlformats.org/officeDocument/2006/relationships/font" Target="fonts/OpenSansLight-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lay-bold.fntdata"/><Relationship Id="rId36" Type="http://schemas.openxmlformats.org/officeDocument/2006/relationships/font" Target="fonts/Play-regular.fntdata"/><Relationship Id="rId39" Type="http://schemas.openxmlformats.org/officeDocument/2006/relationships/font" Target="fonts/Arimo-bold.fntdata"/><Relationship Id="rId38" Type="http://schemas.openxmlformats.org/officeDocument/2006/relationships/font" Target="fonts/Arim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86" name="Google Shape;86;p1: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04" name="Google Shape;104;p2: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75" name="Google Shape;175;p3: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16" name="Google Shape;216;p4: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54" name="Google Shape;254;p5: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86" name="Google Shape;286;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329" name="Google Shape;329;p7: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398" name="Google Shape;39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399" name="Google Shape;399;p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2</a:t>
            </a:r>
            <a:endParaRPr/>
          </a:p>
        </p:txBody>
      </p:sp>
      <p:sp>
        <p:nvSpPr>
          <p:cNvPr id="401" name="Google Shape;40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402" name="Google Shape;40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424" name="Google Shape;424;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425" name="Google Shape;425;p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2</a:t>
            </a:r>
            <a:endParaRPr/>
          </a:p>
        </p:txBody>
      </p:sp>
      <p:sp>
        <p:nvSpPr>
          <p:cNvPr id="427" name="Google Shape;427;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428" name="Google Shape;428;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449" name="Google Shape;449;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450" name="Google Shape;450;p1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2</a:t>
            </a:r>
            <a:endParaRPr/>
          </a:p>
        </p:txBody>
      </p:sp>
      <p:sp>
        <p:nvSpPr>
          <p:cNvPr id="452" name="Google Shape;452;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453" name="Google Shape;453;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473" name="Google Shape;473;p11: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46" name="Google Shape;546;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547" name="Google Shape;547;p1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2</a:t>
            </a:r>
            <a:endParaRPr/>
          </a:p>
        </p:txBody>
      </p:sp>
      <p:sp>
        <p:nvSpPr>
          <p:cNvPr id="549" name="Google Shape;549;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50" name="Google Shape;550;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66" name="Google Shape;566;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567" name="Google Shape;567;p1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4</a:t>
            </a:r>
            <a:endParaRPr/>
          </a:p>
        </p:txBody>
      </p:sp>
      <p:sp>
        <p:nvSpPr>
          <p:cNvPr id="569" name="Google Shape;569;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70" name="Google Shape;570;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88" name="Google Shape;58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589" name="Google Shape;589;p1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4</a:t>
            </a:r>
            <a:endParaRPr/>
          </a:p>
        </p:txBody>
      </p:sp>
      <p:sp>
        <p:nvSpPr>
          <p:cNvPr id="591" name="Google Shape;59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592" name="Google Shape;59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610" name="Google Shape;610;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611" name="Google Shape;611;p1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4</a:t>
            </a:r>
            <a:endParaRPr/>
          </a:p>
        </p:txBody>
      </p:sp>
      <p:sp>
        <p:nvSpPr>
          <p:cNvPr id="613" name="Google Shape;613;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614" name="Google Shape;614;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637" name="Google Shape;637;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638" name="Google Shape;638;p1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3</a:t>
            </a:r>
            <a:endParaRPr/>
          </a:p>
        </p:txBody>
      </p:sp>
      <p:sp>
        <p:nvSpPr>
          <p:cNvPr id="640" name="Google Shape;640;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641" name="Google Shape;641;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664" name="Google Shape;664;p17: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733" name="Google Shape;733;p18: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786" name="Google Shape;786;p19: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855" name="Google Shape;855;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1.7.2013</a:t>
            </a:r>
            <a:endParaRPr/>
          </a:p>
        </p:txBody>
      </p:sp>
      <p:sp>
        <p:nvSpPr>
          <p:cNvPr id="856" name="Google Shape;856;p2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16</a:t>
            </a:r>
            <a:endParaRPr/>
          </a:p>
        </p:txBody>
      </p:sp>
      <p:sp>
        <p:nvSpPr>
          <p:cNvPr id="858" name="Google Shape;858;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859" name="Google Shape;859;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889" name="Google Shape;889;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890" name="Google Shape;890;p2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17</a:t>
            </a:r>
            <a:endParaRPr/>
          </a:p>
        </p:txBody>
      </p:sp>
      <p:sp>
        <p:nvSpPr>
          <p:cNvPr id="892" name="Google Shape;892;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893" name="Google Shape;893;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934" name="Google Shape;934;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1.7.2013</a:t>
            </a:r>
            <a:endParaRPr/>
          </a:p>
        </p:txBody>
      </p:sp>
      <p:sp>
        <p:nvSpPr>
          <p:cNvPr id="935" name="Google Shape;935;p2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17</a:t>
            </a:r>
            <a:endParaRPr/>
          </a:p>
        </p:txBody>
      </p:sp>
      <p:sp>
        <p:nvSpPr>
          <p:cNvPr id="937" name="Google Shape;937;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938" name="Google Shape;938;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989" name="Google Shape;989;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990" name="Google Shape;990;p2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17</a:t>
            </a:r>
            <a:endParaRPr/>
          </a:p>
        </p:txBody>
      </p:sp>
      <p:sp>
        <p:nvSpPr>
          <p:cNvPr id="992" name="Google Shape;992;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993" name="Google Shape;993;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043" name="Google Shape;1043;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1.7.2013</a:t>
            </a:r>
            <a:endParaRPr/>
          </a:p>
        </p:txBody>
      </p:sp>
      <p:sp>
        <p:nvSpPr>
          <p:cNvPr id="1044" name="Google Shape;1044;p2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16</a:t>
            </a:r>
            <a:endParaRPr/>
          </a:p>
        </p:txBody>
      </p:sp>
      <p:sp>
        <p:nvSpPr>
          <p:cNvPr id="1046" name="Google Shape;1046;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047" name="Google Shape;1047;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1073" name="Google Shape;1073;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1074" name="Google Shape;1074;p2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5" name="Google Shape;1075;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16</a:t>
            </a:r>
            <a:endParaRPr/>
          </a:p>
        </p:txBody>
      </p:sp>
      <p:sp>
        <p:nvSpPr>
          <p:cNvPr id="1076" name="Google Shape;1076;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1077" name="Google Shape;1077;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1101" name="Google Shape;1101;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sz="1200">
                <a:solidFill>
                  <a:schemeClr val="dk1"/>
                </a:solidFill>
                <a:latin typeface="Calibri"/>
                <a:ea typeface="Calibri"/>
                <a:cs typeface="Calibri"/>
                <a:sym typeface="Calibri"/>
              </a:rPr>
              <a:t>1.7.2013</a:t>
            </a:r>
            <a:endParaRPr/>
          </a:p>
        </p:txBody>
      </p:sp>
      <p:sp>
        <p:nvSpPr>
          <p:cNvPr id="1102" name="Google Shape;1102;p2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16</a:t>
            </a:r>
            <a:endParaRPr/>
          </a:p>
        </p:txBody>
      </p:sp>
      <p:sp>
        <p:nvSpPr>
          <p:cNvPr id="1104" name="Google Shape;1104;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p:txBody>
      </p:sp>
      <p:sp>
        <p:nvSpPr>
          <p:cNvPr id="1105" name="Google Shape;1105;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128" name="Google Shape;1128;p27: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1197" name="Google Shape;1197;p28: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267" name="Google Shape;1267;p29:notes"/>
          <p:cNvSpPr/>
          <p:nvPr>
            <p:ph idx="2"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336" name="Google Shape;1336;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1.7.2013</a:t>
            </a:r>
            <a:endParaRPr/>
          </a:p>
        </p:txBody>
      </p:sp>
      <p:sp>
        <p:nvSpPr>
          <p:cNvPr id="1337" name="Google Shape;1337;p3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21</a:t>
            </a:r>
            <a:endParaRPr/>
          </a:p>
        </p:txBody>
      </p:sp>
      <p:sp>
        <p:nvSpPr>
          <p:cNvPr id="1339" name="Google Shape;1339;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340" name="Google Shape;1340;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5" name="Shape 15"/>
        <p:cNvGrpSpPr/>
        <p:nvPr/>
      </p:nvGrpSpPr>
      <p:grpSpPr>
        <a:xfrm>
          <a:off x="0" y="0"/>
          <a:ext cx="0" cy="0"/>
          <a:chOff x="0" y="0"/>
          <a:chExt cx="0" cy="0"/>
        </a:xfrm>
      </p:grpSpPr>
      <p:sp>
        <p:nvSpPr>
          <p:cNvPr id="16" name="Google Shape;16;p3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9" name="Shape 19"/>
        <p:cNvGrpSpPr/>
        <p:nvPr/>
      </p:nvGrpSpPr>
      <p:grpSpPr>
        <a:xfrm>
          <a:off x="0" y="0"/>
          <a:ext cx="0" cy="0"/>
          <a:chOff x="0" y="0"/>
          <a:chExt cx="0" cy="0"/>
        </a:xfrm>
      </p:grpSpPr>
      <p:sp>
        <p:nvSpPr>
          <p:cNvPr id="20" name="Google Shape;20;p33"/>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2" name="Google Shape;22;p3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 name="Google Shape;28;p3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623888" y="1709741"/>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5"/>
          <p:cNvSpPr txBox="1"/>
          <p:nvPr>
            <p:ph idx="1" type="body"/>
          </p:nvPr>
        </p:nvSpPr>
        <p:spPr>
          <a:xfrm>
            <a:off x="623888" y="4589466"/>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34" name="Google Shape;34;p3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3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3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629841"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7" name="Google Shape;47;p3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37"/>
          <p:cNvSpPr txBox="1"/>
          <p:nvPr>
            <p:ph idx="3" type="body"/>
          </p:nvPr>
        </p:nvSpPr>
        <p:spPr>
          <a:xfrm>
            <a:off x="4629151"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37"/>
          <p:cNvSpPr txBox="1"/>
          <p:nvPr>
            <p:ph idx="4" type="body"/>
          </p:nvPr>
        </p:nvSpPr>
        <p:spPr>
          <a:xfrm>
            <a:off x="4629151"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3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3887391" y="987428"/>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3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3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3887391" y="987428"/>
            <a:ext cx="4629150" cy="4873625"/>
          </a:xfrm>
          <a:prstGeom prst="rect">
            <a:avLst/>
          </a:prstGeom>
          <a:noFill/>
          <a:ln>
            <a:noFill/>
          </a:ln>
        </p:spPr>
      </p:sp>
      <p:sp>
        <p:nvSpPr>
          <p:cNvPr id="68" name="Google Shape;68;p4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4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4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623095"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4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4.jpg"/><Relationship Id="rId7"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1"/>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89" name="Google Shape;89;p1"/>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90" name="Google Shape;90;p1"/>
          <p:cNvGrpSpPr/>
          <p:nvPr/>
        </p:nvGrpSpPr>
        <p:grpSpPr>
          <a:xfrm>
            <a:off x="379526" y="4040268"/>
            <a:ext cx="8384919" cy="1313289"/>
            <a:chOff x="404829" y="3471483"/>
            <a:chExt cx="8943914" cy="1400842"/>
          </a:xfrm>
        </p:grpSpPr>
        <p:grpSp>
          <p:nvGrpSpPr>
            <p:cNvPr id="91" name="Google Shape;91;p1"/>
            <p:cNvGrpSpPr/>
            <p:nvPr/>
          </p:nvGrpSpPr>
          <p:grpSpPr>
            <a:xfrm>
              <a:off x="404829" y="3471483"/>
              <a:ext cx="8943880" cy="1400842"/>
              <a:chOff x="-762" y="0"/>
              <a:chExt cx="11925173" cy="1867789"/>
            </a:xfrm>
          </p:grpSpPr>
          <p:sp>
            <p:nvSpPr>
              <p:cNvPr id="92" name="Google Shape;92;p1"/>
              <p:cNvSpPr/>
              <p:nvPr/>
            </p:nvSpPr>
            <p:spPr>
              <a:xfrm>
                <a:off x="18034" y="18034"/>
                <a:ext cx="11887581" cy="1831721"/>
              </a:xfrm>
              <a:custGeom>
                <a:rect b="b" l="l" r="r" t="t"/>
                <a:pathLst>
                  <a:path extrusionOk="0" h="1831721" w="11887581">
                    <a:moveTo>
                      <a:pt x="0" y="1831721"/>
                    </a:moveTo>
                    <a:lnTo>
                      <a:pt x="465582" y="0"/>
                    </a:lnTo>
                    <a:lnTo>
                      <a:pt x="11887581" y="0"/>
                    </a:lnTo>
                    <a:lnTo>
                      <a:pt x="11422126" y="1831721"/>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3" name="Google Shape;93;p1"/>
              <p:cNvSpPr/>
              <p:nvPr/>
            </p:nvSpPr>
            <p:spPr>
              <a:xfrm>
                <a:off x="-762" y="0"/>
                <a:ext cx="11925173" cy="1867789"/>
              </a:xfrm>
              <a:custGeom>
                <a:rect b="b" l="l" r="r" t="t"/>
                <a:pathLst>
                  <a:path extrusionOk="0" h="1867789" w="11925173">
                    <a:moveTo>
                      <a:pt x="1270" y="1845310"/>
                    </a:moveTo>
                    <a:lnTo>
                      <a:pt x="466852" y="13589"/>
                    </a:lnTo>
                    <a:cubicBezTo>
                      <a:pt x="468884" y="5588"/>
                      <a:pt x="476123" y="0"/>
                      <a:pt x="484378" y="0"/>
                    </a:cubicBezTo>
                    <a:lnTo>
                      <a:pt x="11906377" y="0"/>
                    </a:lnTo>
                    <a:cubicBezTo>
                      <a:pt x="11911965" y="0"/>
                      <a:pt x="11917172" y="2540"/>
                      <a:pt x="11920601" y="6985"/>
                    </a:cubicBezTo>
                    <a:cubicBezTo>
                      <a:pt x="11924030" y="11430"/>
                      <a:pt x="11925173" y="17145"/>
                      <a:pt x="11923903" y="22479"/>
                    </a:cubicBezTo>
                    <a:lnTo>
                      <a:pt x="11458448" y="1854200"/>
                    </a:lnTo>
                    <a:cubicBezTo>
                      <a:pt x="11456416" y="1862201"/>
                      <a:pt x="11449177" y="1867789"/>
                      <a:pt x="11440922" y="1867789"/>
                    </a:cubicBezTo>
                    <a:lnTo>
                      <a:pt x="18796" y="1867789"/>
                    </a:lnTo>
                    <a:cubicBezTo>
                      <a:pt x="13208" y="1867789"/>
                      <a:pt x="8001" y="1865249"/>
                      <a:pt x="4572" y="1860804"/>
                    </a:cubicBezTo>
                    <a:cubicBezTo>
                      <a:pt x="1143" y="1856359"/>
                      <a:pt x="0" y="1850644"/>
                      <a:pt x="1270" y="1845310"/>
                    </a:cubicBezTo>
                    <a:moveTo>
                      <a:pt x="36322" y="1854200"/>
                    </a:moveTo>
                    <a:lnTo>
                      <a:pt x="18796" y="1849755"/>
                    </a:lnTo>
                    <a:lnTo>
                      <a:pt x="18796" y="1831721"/>
                    </a:lnTo>
                    <a:lnTo>
                      <a:pt x="11440922" y="1831721"/>
                    </a:lnTo>
                    <a:lnTo>
                      <a:pt x="11440922" y="1849755"/>
                    </a:lnTo>
                    <a:lnTo>
                      <a:pt x="11423396" y="1845310"/>
                    </a:lnTo>
                    <a:lnTo>
                      <a:pt x="11888978" y="13589"/>
                    </a:lnTo>
                    <a:lnTo>
                      <a:pt x="11906504" y="18034"/>
                    </a:lnTo>
                    <a:lnTo>
                      <a:pt x="11906504" y="36068"/>
                    </a:lnTo>
                    <a:lnTo>
                      <a:pt x="484378" y="36068"/>
                    </a:lnTo>
                    <a:lnTo>
                      <a:pt x="484378" y="18034"/>
                    </a:lnTo>
                    <a:lnTo>
                      <a:pt x="501904" y="22479"/>
                    </a:lnTo>
                    <a:lnTo>
                      <a:pt x="36322" y="1854200"/>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grpSp>
          <p:nvGrpSpPr>
            <p:cNvPr id="94" name="Google Shape;94;p1"/>
            <p:cNvGrpSpPr/>
            <p:nvPr/>
          </p:nvGrpSpPr>
          <p:grpSpPr>
            <a:xfrm>
              <a:off x="6768040" y="3471483"/>
              <a:ext cx="2580703" cy="1400842"/>
              <a:chOff x="-762" y="0"/>
              <a:chExt cx="3440938" cy="1867789"/>
            </a:xfrm>
          </p:grpSpPr>
          <p:sp>
            <p:nvSpPr>
              <p:cNvPr id="95" name="Google Shape;95;p1"/>
              <p:cNvSpPr/>
              <p:nvPr/>
            </p:nvSpPr>
            <p:spPr>
              <a:xfrm>
                <a:off x="18034" y="18034"/>
                <a:ext cx="3403346" cy="1831721"/>
              </a:xfrm>
              <a:custGeom>
                <a:rect b="b" l="l" r="r" t="t"/>
                <a:pathLst>
                  <a:path extrusionOk="0" h="1831721" w="3403346">
                    <a:moveTo>
                      <a:pt x="0" y="1831721"/>
                    </a:moveTo>
                    <a:lnTo>
                      <a:pt x="462026" y="0"/>
                    </a:lnTo>
                    <a:lnTo>
                      <a:pt x="3403346" y="0"/>
                    </a:lnTo>
                    <a:lnTo>
                      <a:pt x="2941320" y="1831721"/>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6" name="Google Shape;96;p1"/>
              <p:cNvSpPr/>
              <p:nvPr/>
            </p:nvSpPr>
            <p:spPr>
              <a:xfrm>
                <a:off x="-762" y="0"/>
                <a:ext cx="3440938" cy="1867789"/>
              </a:xfrm>
              <a:custGeom>
                <a:rect b="b" l="l" r="r" t="t"/>
                <a:pathLst>
                  <a:path extrusionOk="0" h="1867789" w="3440938">
                    <a:moveTo>
                      <a:pt x="1270" y="1845310"/>
                    </a:moveTo>
                    <a:lnTo>
                      <a:pt x="463296" y="13589"/>
                    </a:lnTo>
                    <a:cubicBezTo>
                      <a:pt x="465328" y="5588"/>
                      <a:pt x="472567" y="0"/>
                      <a:pt x="480822" y="0"/>
                    </a:cubicBezTo>
                    <a:lnTo>
                      <a:pt x="3422142" y="0"/>
                    </a:lnTo>
                    <a:cubicBezTo>
                      <a:pt x="3427730" y="0"/>
                      <a:pt x="3432937" y="2540"/>
                      <a:pt x="3436366" y="6985"/>
                    </a:cubicBezTo>
                    <a:cubicBezTo>
                      <a:pt x="3439795" y="11430"/>
                      <a:pt x="3440938" y="17145"/>
                      <a:pt x="3439668" y="22479"/>
                    </a:cubicBezTo>
                    <a:lnTo>
                      <a:pt x="2977642" y="1854200"/>
                    </a:lnTo>
                    <a:cubicBezTo>
                      <a:pt x="2975610" y="1862201"/>
                      <a:pt x="2968371" y="1867789"/>
                      <a:pt x="2960116" y="1867789"/>
                    </a:cubicBezTo>
                    <a:lnTo>
                      <a:pt x="18796" y="1867789"/>
                    </a:lnTo>
                    <a:cubicBezTo>
                      <a:pt x="13208" y="1867789"/>
                      <a:pt x="8001" y="1865249"/>
                      <a:pt x="4572" y="1860804"/>
                    </a:cubicBezTo>
                    <a:cubicBezTo>
                      <a:pt x="1143" y="1856359"/>
                      <a:pt x="0" y="1850644"/>
                      <a:pt x="1270" y="1845310"/>
                    </a:cubicBezTo>
                    <a:moveTo>
                      <a:pt x="36322" y="1854200"/>
                    </a:moveTo>
                    <a:lnTo>
                      <a:pt x="18796" y="1849755"/>
                    </a:lnTo>
                    <a:lnTo>
                      <a:pt x="18796" y="1831721"/>
                    </a:lnTo>
                    <a:lnTo>
                      <a:pt x="2960116" y="1831721"/>
                    </a:lnTo>
                    <a:lnTo>
                      <a:pt x="2960116" y="1849755"/>
                    </a:lnTo>
                    <a:lnTo>
                      <a:pt x="2942590" y="1845310"/>
                    </a:lnTo>
                    <a:lnTo>
                      <a:pt x="3404616" y="13589"/>
                    </a:lnTo>
                    <a:lnTo>
                      <a:pt x="3422142" y="18034"/>
                    </a:lnTo>
                    <a:lnTo>
                      <a:pt x="3422142" y="36068"/>
                    </a:lnTo>
                    <a:lnTo>
                      <a:pt x="480822" y="36068"/>
                    </a:lnTo>
                    <a:lnTo>
                      <a:pt x="480822" y="18034"/>
                    </a:lnTo>
                    <a:lnTo>
                      <a:pt x="498348" y="22479"/>
                    </a:lnTo>
                    <a:lnTo>
                      <a:pt x="36322" y="1854200"/>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97" name="Google Shape;97;p1"/>
            <p:cNvSpPr txBox="1"/>
            <p:nvPr/>
          </p:nvSpPr>
          <p:spPr>
            <a:xfrm>
              <a:off x="1057672" y="3809420"/>
              <a:ext cx="5085761" cy="372273"/>
            </a:xfrm>
            <a:prstGeom prst="rect">
              <a:avLst/>
            </a:prstGeom>
            <a:noFill/>
            <a:ln>
              <a:noFill/>
            </a:ln>
          </p:spPr>
          <p:txBody>
            <a:bodyPr anchorCtr="0" anchor="t" bIns="0" lIns="0" spcFirstLastPara="1" rIns="0" wrap="square" tIns="0">
              <a:spAutoFit/>
            </a:bodyPr>
            <a:lstStyle/>
            <a:p>
              <a:pPr indent="0" lvl="0" marL="0" marR="0" rtl="0" algn="l">
                <a:lnSpc>
                  <a:spcPct val="107991"/>
                </a:lnSpc>
                <a:spcBef>
                  <a:spcPts val="0"/>
                </a:spcBef>
                <a:spcAft>
                  <a:spcPts val="0"/>
                </a:spcAft>
                <a:buNone/>
              </a:pPr>
              <a:r>
                <a:rPr lang="en-US" sz="2100">
                  <a:solidFill>
                    <a:srgbClr val="FFFFFF"/>
                  </a:solidFill>
                  <a:latin typeface="Open Sans Light"/>
                  <a:ea typeface="Open Sans Light"/>
                  <a:cs typeface="Open Sans Light"/>
                  <a:sym typeface="Open Sans Light"/>
                </a:rPr>
                <a:t>The Coca-Cola Company - KO</a:t>
              </a:r>
              <a:endParaRPr sz="1688">
                <a:solidFill>
                  <a:schemeClr val="dk1"/>
                </a:solidFill>
                <a:latin typeface="Arial"/>
                <a:ea typeface="Arial"/>
                <a:cs typeface="Arial"/>
                <a:sym typeface="Arial"/>
              </a:endParaRPr>
            </a:p>
          </p:txBody>
        </p:sp>
        <p:sp>
          <p:nvSpPr>
            <p:cNvPr id="98" name="Google Shape;98;p1"/>
            <p:cNvSpPr txBox="1"/>
            <p:nvPr/>
          </p:nvSpPr>
          <p:spPr>
            <a:xfrm>
              <a:off x="1252882" y="4189497"/>
              <a:ext cx="4191953" cy="26591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500">
                  <a:solidFill>
                    <a:srgbClr val="FFFFFF"/>
                  </a:solidFill>
                  <a:latin typeface="Open Sans Light"/>
                  <a:ea typeface="Open Sans Light"/>
                  <a:cs typeface="Open Sans Light"/>
                  <a:sym typeface="Open Sans Light"/>
                </a:rPr>
                <a:t>12/02/2026</a:t>
              </a:r>
              <a:endParaRPr sz="1688">
                <a:solidFill>
                  <a:schemeClr val="dk1"/>
                </a:solidFill>
                <a:latin typeface="Arial"/>
                <a:ea typeface="Arial"/>
                <a:cs typeface="Arial"/>
                <a:sym typeface="Arial"/>
              </a:endParaRPr>
            </a:p>
          </p:txBody>
        </p:sp>
        <p:sp>
          <p:nvSpPr>
            <p:cNvPr id="99" name="Google Shape;99;p1"/>
            <p:cNvSpPr txBox="1"/>
            <p:nvPr/>
          </p:nvSpPr>
          <p:spPr>
            <a:xfrm>
              <a:off x="7229653" y="3801283"/>
              <a:ext cx="1466275" cy="146092"/>
            </a:xfrm>
            <a:prstGeom prst="rect">
              <a:avLst/>
            </a:prstGeom>
            <a:noFill/>
            <a:ln>
              <a:noFill/>
            </a:ln>
          </p:spPr>
          <p:txBody>
            <a:bodyPr anchorCtr="0" anchor="t" bIns="0" lIns="0" spcFirstLastPara="1" rIns="0" wrap="square" tIns="0">
              <a:spAutoFit/>
            </a:bodyPr>
            <a:lstStyle/>
            <a:p>
              <a:pPr indent="0" lvl="0" marL="0" marR="0" rtl="0" algn="r">
                <a:lnSpc>
                  <a:spcPct val="108077"/>
                </a:lnSpc>
                <a:spcBef>
                  <a:spcPts val="0"/>
                </a:spcBef>
                <a:spcAft>
                  <a:spcPts val="0"/>
                </a:spcAft>
                <a:buNone/>
              </a:pPr>
              <a:r>
                <a:rPr b="1" lang="en-US" sz="824">
                  <a:solidFill>
                    <a:srgbClr val="FFFFFF"/>
                  </a:solidFill>
                  <a:latin typeface="Open Sans"/>
                  <a:ea typeface="Open Sans"/>
                  <a:cs typeface="Open Sans"/>
                  <a:sym typeface="Open Sans"/>
                </a:rPr>
                <a:t>Equity Research Report</a:t>
              </a:r>
              <a:endParaRPr sz="1688">
                <a:solidFill>
                  <a:schemeClr val="dk1"/>
                </a:solidFill>
                <a:latin typeface="Arial"/>
                <a:ea typeface="Arial"/>
                <a:cs typeface="Arial"/>
                <a:sym typeface="Arial"/>
              </a:endParaRPr>
            </a:p>
          </p:txBody>
        </p:sp>
      </p:grpSp>
      <p:sp>
        <p:nvSpPr>
          <p:cNvPr id="100" name="Google Shape;100;p1"/>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pic>
        <p:nvPicPr>
          <p:cNvPr descr="Une image contenant Police, Graphique, calligraphie, typographie&#10;&#10;Le contenu généré par l’IA peut être incorrect." id="101" name="Google Shape;101;p1"/>
          <p:cNvPicPr preferRelativeResize="0"/>
          <p:nvPr/>
        </p:nvPicPr>
        <p:blipFill rotWithShape="1">
          <a:blip r:embed="rId4">
            <a:alphaModFix/>
          </a:blip>
          <a:srcRect b="0" l="0" r="0" t="0"/>
          <a:stretch/>
        </p:blipFill>
        <p:spPr>
          <a:xfrm>
            <a:off x="1335851" y="1605372"/>
            <a:ext cx="6472238" cy="2029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pSp>
        <p:nvGrpSpPr>
          <p:cNvPr id="106" name="Google Shape;106;p2"/>
          <p:cNvGrpSpPr/>
          <p:nvPr/>
        </p:nvGrpSpPr>
        <p:grpSpPr>
          <a:xfrm>
            <a:off x="-2192501" y="2633500"/>
            <a:ext cx="1970251" cy="496313"/>
            <a:chOff x="0" y="-28575"/>
            <a:chExt cx="2802135" cy="705866"/>
          </a:xfrm>
        </p:grpSpPr>
        <p:sp>
          <p:nvSpPr>
            <p:cNvPr id="107" name="Google Shape;107;p2"/>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8" name="Google Shape;108;p2"/>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09" name="Google Shape;109;p2"/>
          <p:cNvGrpSpPr/>
          <p:nvPr/>
        </p:nvGrpSpPr>
        <p:grpSpPr>
          <a:xfrm>
            <a:off x="-2186151" y="3363382"/>
            <a:ext cx="1957566" cy="486436"/>
            <a:chOff x="0" y="-28575"/>
            <a:chExt cx="2784094" cy="691820"/>
          </a:xfrm>
        </p:grpSpPr>
        <p:sp>
          <p:nvSpPr>
            <p:cNvPr id="110" name="Google Shape;110;p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1" name="Google Shape;111;p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112" name="Google Shape;112;p2"/>
          <p:cNvGrpSpPr/>
          <p:nvPr/>
        </p:nvGrpSpPr>
        <p:grpSpPr>
          <a:xfrm>
            <a:off x="-2186151" y="4089757"/>
            <a:ext cx="1957566" cy="486436"/>
            <a:chOff x="0" y="-28575"/>
            <a:chExt cx="2784094" cy="691820"/>
          </a:xfrm>
        </p:grpSpPr>
        <p:sp>
          <p:nvSpPr>
            <p:cNvPr id="113" name="Google Shape;113;p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4" name="Google Shape;114;p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115" name="Google Shape;115;p2"/>
          <p:cNvGrpSpPr/>
          <p:nvPr/>
        </p:nvGrpSpPr>
        <p:grpSpPr>
          <a:xfrm>
            <a:off x="-2186151" y="4816132"/>
            <a:ext cx="1957566" cy="486436"/>
            <a:chOff x="0" y="-28575"/>
            <a:chExt cx="2784094" cy="691820"/>
          </a:xfrm>
        </p:grpSpPr>
        <p:sp>
          <p:nvSpPr>
            <p:cNvPr id="116" name="Google Shape;116;p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7" name="Google Shape;117;p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18" name="Google Shape;118;p2"/>
          <p:cNvGrpSpPr/>
          <p:nvPr/>
        </p:nvGrpSpPr>
        <p:grpSpPr>
          <a:xfrm>
            <a:off x="-2186151" y="5542509"/>
            <a:ext cx="1957566" cy="486436"/>
            <a:chOff x="0" y="-28575"/>
            <a:chExt cx="2784094" cy="691820"/>
          </a:xfrm>
        </p:grpSpPr>
        <p:sp>
          <p:nvSpPr>
            <p:cNvPr id="119" name="Google Shape;119;p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0" name="Google Shape;120;p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21" name="Google Shape;121;p2"/>
          <p:cNvGrpSpPr/>
          <p:nvPr/>
        </p:nvGrpSpPr>
        <p:grpSpPr>
          <a:xfrm>
            <a:off x="-2186151" y="1916319"/>
            <a:ext cx="1957566" cy="483632"/>
            <a:chOff x="0" y="-28575"/>
            <a:chExt cx="2784094" cy="687832"/>
          </a:xfrm>
        </p:grpSpPr>
        <p:sp>
          <p:nvSpPr>
            <p:cNvPr id="122" name="Google Shape;122;p2"/>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3" name="Google Shape;123;p2"/>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124" name="Google Shape;124;p2"/>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25" name="Google Shape;125;p2"/>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26" name="Google Shape;126;p2"/>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grpSp>
        <p:nvGrpSpPr>
          <p:cNvPr id="127" name="Google Shape;127;p2"/>
          <p:cNvGrpSpPr/>
          <p:nvPr/>
        </p:nvGrpSpPr>
        <p:grpSpPr>
          <a:xfrm>
            <a:off x="3248144" y="2958428"/>
            <a:ext cx="2647742" cy="2604173"/>
            <a:chOff x="572329" y="2243270"/>
            <a:chExt cx="3765677" cy="3703713"/>
          </a:xfrm>
        </p:grpSpPr>
        <p:grpSp>
          <p:nvGrpSpPr>
            <p:cNvPr id="128" name="Google Shape;128;p2"/>
            <p:cNvGrpSpPr/>
            <p:nvPr/>
          </p:nvGrpSpPr>
          <p:grpSpPr>
            <a:xfrm>
              <a:off x="572329" y="2279846"/>
              <a:ext cx="3765677" cy="452882"/>
              <a:chOff x="-1524" y="-1524"/>
              <a:chExt cx="3765677" cy="452882"/>
            </a:xfrm>
          </p:grpSpPr>
          <p:sp>
            <p:nvSpPr>
              <p:cNvPr id="129" name="Google Shape;129;p2"/>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0" name="Google Shape;130;p2"/>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grpSp>
          <p:nvGrpSpPr>
            <p:cNvPr id="131" name="Google Shape;131;p2"/>
            <p:cNvGrpSpPr/>
            <p:nvPr/>
          </p:nvGrpSpPr>
          <p:grpSpPr>
            <a:xfrm>
              <a:off x="595005" y="2243270"/>
              <a:ext cx="339344" cy="489458"/>
              <a:chOff x="-1524" y="-38100"/>
              <a:chExt cx="339344" cy="489458"/>
            </a:xfrm>
          </p:grpSpPr>
          <p:sp>
            <p:nvSpPr>
              <p:cNvPr id="132" name="Google Shape;132;p2"/>
              <p:cNvSpPr/>
              <p:nvPr/>
            </p:nvSpPr>
            <p:spPr>
              <a:xfrm>
                <a:off x="0" y="0"/>
                <a:ext cx="336296" cy="449834"/>
              </a:xfrm>
              <a:custGeom>
                <a:rect b="b" l="l" r="r" t="t"/>
                <a:pathLst>
                  <a:path extrusionOk="0" h="449834" w="336296">
                    <a:moveTo>
                      <a:pt x="0" y="0"/>
                    </a:moveTo>
                    <a:lnTo>
                      <a:pt x="336296" y="0"/>
                    </a:lnTo>
                    <a:lnTo>
                      <a:pt x="336296"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3" name="Google Shape;133;p2"/>
              <p:cNvSpPr/>
              <p:nvPr/>
            </p:nvSpPr>
            <p:spPr>
              <a:xfrm>
                <a:off x="-1524" y="-1524"/>
                <a:ext cx="339344" cy="452882"/>
              </a:xfrm>
              <a:custGeom>
                <a:rect b="b" l="l" r="r" t="t"/>
                <a:pathLst>
                  <a:path extrusionOk="0" h="452882" w="339344">
                    <a:moveTo>
                      <a:pt x="1524" y="0"/>
                    </a:moveTo>
                    <a:lnTo>
                      <a:pt x="337820" y="0"/>
                    </a:lnTo>
                    <a:cubicBezTo>
                      <a:pt x="338709" y="0"/>
                      <a:pt x="339344" y="762"/>
                      <a:pt x="339344" y="1524"/>
                    </a:cubicBezTo>
                    <a:lnTo>
                      <a:pt x="339344" y="451358"/>
                    </a:lnTo>
                    <a:cubicBezTo>
                      <a:pt x="339344" y="452247"/>
                      <a:pt x="338582" y="452882"/>
                      <a:pt x="337820"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37820" y="449834"/>
                    </a:lnTo>
                    <a:lnTo>
                      <a:pt x="337820" y="451358"/>
                    </a:lnTo>
                    <a:lnTo>
                      <a:pt x="336296" y="451358"/>
                    </a:lnTo>
                    <a:lnTo>
                      <a:pt x="336296" y="1524"/>
                    </a:lnTo>
                    <a:lnTo>
                      <a:pt x="337820" y="1524"/>
                    </a:lnTo>
                    <a:lnTo>
                      <a:pt x="337820"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4" name="Google Shape;134;p2"/>
              <p:cNvSpPr txBox="1"/>
              <p:nvPr/>
            </p:nvSpPr>
            <p:spPr>
              <a:xfrm>
                <a:off x="0" y="-38100"/>
                <a:ext cx="336348"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grpSp>
          <p:nvGrpSpPr>
            <p:cNvPr id="135" name="Google Shape;135;p2"/>
            <p:cNvGrpSpPr/>
            <p:nvPr/>
          </p:nvGrpSpPr>
          <p:grpSpPr>
            <a:xfrm>
              <a:off x="596529" y="3501024"/>
              <a:ext cx="452374" cy="487938"/>
              <a:chOff x="0" y="-38100"/>
              <a:chExt cx="452374" cy="487938"/>
            </a:xfrm>
          </p:grpSpPr>
          <p:sp>
            <p:nvSpPr>
              <p:cNvPr id="136" name="Google Shape;136;p2"/>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7" name="Google Shape;137;p2"/>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138" name="Google Shape;138;p2"/>
            <p:cNvGrpSpPr/>
            <p:nvPr/>
          </p:nvGrpSpPr>
          <p:grpSpPr>
            <a:xfrm>
              <a:off x="596529" y="4153699"/>
              <a:ext cx="452374" cy="487938"/>
              <a:chOff x="0" y="-38100"/>
              <a:chExt cx="452374" cy="487938"/>
            </a:xfrm>
          </p:grpSpPr>
          <p:sp>
            <p:nvSpPr>
              <p:cNvPr id="139" name="Google Shape;139;p2"/>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40" name="Google Shape;140;p2"/>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141" name="Google Shape;141;p2"/>
            <p:cNvGrpSpPr/>
            <p:nvPr/>
          </p:nvGrpSpPr>
          <p:grpSpPr>
            <a:xfrm>
              <a:off x="596527" y="4806372"/>
              <a:ext cx="537083" cy="487938"/>
              <a:chOff x="0" y="-38100"/>
              <a:chExt cx="537083" cy="487938"/>
            </a:xfrm>
          </p:grpSpPr>
          <p:sp>
            <p:nvSpPr>
              <p:cNvPr id="142" name="Google Shape;142;p2"/>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43" name="Google Shape;143;p2"/>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grpSp>
          <p:nvGrpSpPr>
            <p:cNvPr id="144" name="Google Shape;144;p2"/>
            <p:cNvGrpSpPr/>
            <p:nvPr/>
          </p:nvGrpSpPr>
          <p:grpSpPr>
            <a:xfrm>
              <a:off x="1047345" y="2262320"/>
              <a:ext cx="3290570" cy="470408"/>
              <a:chOff x="-1524" y="-19050"/>
              <a:chExt cx="3290570" cy="470408"/>
            </a:xfrm>
          </p:grpSpPr>
          <p:sp>
            <p:nvSpPr>
              <p:cNvPr id="145" name="Google Shape;145;p2"/>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46" name="Google Shape;146;p2"/>
              <p:cNvSpPr/>
              <p:nvPr/>
            </p:nvSpPr>
            <p:spPr>
              <a:xfrm>
                <a:off x="-1524" y="-1524"/>
                <a:ext cx="3290570" cy="452882"/>
              </a:xfrm>
              <a:custGeom>
                <a:rect b="b" l="l" r="r" t="t"/>
                <a:pathLst>
                  <a:path extrusionOk="0" h="452882" w="329057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47" name="Google Shape;147;p2"/>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grpSp>
          <p:nvGrpSpPr>
            <p:cNvPr id="148" name="Google Shape;148;p2"/>
            <p:cNvGrpSpPr/>
            <p:nvPr/>
          </p:nvGrpSpPr>
          <p:grpSpPr>
            <a:xfrm>
              <a:off x="1048869" y="3520074"/>
              <a:ext cx="3287570" cy="468888"/>
              <a:chOff x="0" y="-19050"/>
              <a:chExt cx="3287570" cy="468888"/>
            </a:xfrm>
          </p:grpSpPr>
          <p:sp>
            <p:nvSpPr>
              <p:cNvPr id="149" name="Google Shape;149;p2"/>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50" name="Google Shape;150;p2"/>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151" name="Google Shape;151;p2"/>
            <p:cNvGrpSpPr/>
            <p:nvPr/>
          </p:nvGrpSpPr>
          <p:grpSpPr>
            <a:xfrm>
              <a:off x="1048869" y="4172749"/>
              <a:ext cx="3287570" cy="468888"/>
              <a:chOff x="0" y="-19050"/>
              <a:chExt cx="3287570" cy="468888"/>
            </a:xfrm>
          </p:grpSpPr>
          <p:sp>
            <p:nvSpPr>
              <p:cNvPr id="152" name="Google Shape;152;p2"/>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53" name="Google Shape;153;p2"/>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154" name="Google Shape;154;p2"/>
            <p:cNvGrpSpPr/>
            <p:nvPr/>
          </p:nvGrpSpPr>
          <p:grpSpPr>
            <a:xfrm>
              <a:off x="1048869" y="4825422"/>
              <a:ext cx="3287570" cy="468888"/>
              <a:chOff x="0" y="-19050"/>
              <a:chExt cx="3287570" cy="468888"/>
            </a:xfrm>
          </p:grpSpPr>
          <p:sp>
            <p:nvSpPr>
              <p:cNvPr id="155" name="Google Shape;155;p2"/>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56" name="Google Shape;156;p2"/>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157" name="Google Shape;157;p2"/>
            <p:cNvGrpSpPr/>
            <p:nvPr/>
          </p:nvGrpSpPr>
          <p:grpSpPr>
            <a:xfrm>
              <a:off x="596529" y="5459045"/>
              <a:ext cx="452374" cy="487938"/>
              <a:chOff x="0" y="-38100"/>
              <a:chExt cx="452374" cy="487938"/>
            </a:xfrm>
          </p:grpSpPr>
          <p:sp>
            <p:nvSpPr>
              <p:cNvPr id="158" name="Google Shape;158;p2"/>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59" name="Google Shape;159;p2"/>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160" name="Google Shape;160;p2"/>
            <p:cNvGrpSpPr/>
            <p:nvPr/>
          </p:nvGrpSpPr>
          <p:grpSpPr>
            <a:xfrm>
              <a:off x="1048869" y="5478095"/>
              <a:ext cx="3287570" cy="468888"/>
              <a:chOff x="0" y="-19050"/>
              <a:chExt cx="3287570" cy="468888"/>
            </a:xfrm>
          </p:grpSpPr>
          <p:sp>
            <p:nvSpPr>
              <p:cNvPr id="161" name="Google Shape;161;p2"/>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62" name="Google Shape;162;p2"/>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163" name="Google Shape;163;p2"/>
            <p:cNvGrpSpPr/>
            <p:nvPr/>
          </p:nvGrpSpPr>
          <p:grpSpPr>
            <a:xfrm>
              <a:off x="573851" y="2872147"/>
              <a:ext cx="455461" cy="487938"/>
              <a:chOff x="0" y="-38100"/>
              <a:chExt cx="455461" cy="487938"/>
            </a:xfrm>
          </p:grpSpPr>
          <p:sp>
            <p:nvSpPr>
              <p:cNvPr id="164" name="Google Shape;164;p2"/>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65" name="Google Shape;165;p2"/>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166" name="Google Shape;166;p2"/>
            <p:cNvGrpSpPr/>
            <p:nvPr/>
          </p:nvGrpSpPr>
          <p:grpSpPr>
            <a:xfrm>
              <a:off x="1026192" y="2891197"/>
              <a:ext cx="3310255" cy="468888"/>
              <a:chOff x="0" y="-19050"/>
              <a:chExt cx="3310255" cy="468888"/>
            </a:xfrm>
          </p:grpSpPr>
          <p:sp>
            <p:nvSpPr>
              <p:cNvPr id="167" name="Google Shape;167;p2"/>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68" name="Google Shape;168;p2"/>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Industry</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Overview</a:t>
                </a:r>
                <a:endParaRPr sz="1688">
                  <a:solidFill>
                    <a:schemeClr val="dk1"/>
                  </a:solidFill>
                  <a:latin typeface="Arial"/>
                  <a:ea typeface="Arial"/>
                  <a:cs typeface="Arial"/>
                  <a:sym typeface="Arial"/>
                </a:endParaRPr>
              </a:p>
            </p:txBody>
          </p:sp>
        </p:grpSp>
      </p:grpSp>
      <p:sp>
        <p:nvSpPr>
          <p:cNvPr id="169" name="Google Shape;169;p2"/>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170" name="Google Shape;170;p2"/>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sp>
        <p:nvSpPr>
          <p:cNvPr id="171" name="Google Shape;171;p2"/>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pic>
        <p:nvPicPr>
          <p:cNvPr descr="Une image contenant Police, Graphique, calligraphie, typographie&#10;&#10;Le contenu généré par l’IA peut être incorrect." id="172" name="Google Shape;172;p2"/>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3"/>
          <p:cNvGrpSpPr/>
          <p:nvPr/>
        </p:nvGrpSpPr>
        <p:grpSpPr>
          <a:xfrm>
            <a:off x="-2192501" y="2633500"/>
            <a:ext cx="1970251" cy="496313"/>
            <a:chOff x="0" y="-28575"/>
            <a:chExt cx="2802135" cy="705866"/>
          </a:xfrm>
        </p:grpSpPr>
        <p:sp>
          <p:nvSpPr>
            <p:cNvPr id="178" name="Google Shape;178;p3"/>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79" name="Google Shape;179;p3"/>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80" name="Google Shape;180;p3"/>
          <p:cNvGrpSpPr/>
          <p:nvPr/>
        </p:nvGrpSpPr>
        <p:grpSpPr>
          <a:xfrm>
            <a:off x="-2186151" y="3363382"/>
            <a:ext cx="1957566" cy="486436"/>
            <a:chOff x="0" y="-28575"/>
            <a:chExt cx="2784094" cy="691820"/>
          </a:xfrm>
        </p:grpSpPr>
        <p:sp>
          <p:nvSpPr>
            <p:cNvPr id="181" name="Google Shape;181;p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82" name="Google Shape;182;p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183" name="Google Shape;183;p3"/>
          <p:cNvGrpSpPr/>
          <p:nvPr/>
        </p:nvGrpSpPr>
        <p:grpSpPr>
          <a:xfrm>
            <a:off x="-2186151" y="4089757"/>
            <a:ext cx="1957566" cy="486436"/>
            <a:chOff x="0" y="-28575"/>
            <a:chExt cx="2784094" cy="691820"/>
          </a:xfrm>
        </p:grpSpPr>
        <p:sp>
          <p:nvSpPr>
            <p:cNvPr id="184" name="Google Shape;184;p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85" name="Google Shape;185;p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186" name="Google Shape;186;p3"/>
          <p:cNvGrpSpPr/>
          <p:nvPr/>
        </p:nvGrpSpPr>
        <p:grpSpPr>
          <a:xfrm>
            <a:off x="-2186151" y="4816132"/>
            <a:ext cx="1957566" cy="486436"/>
            <a:chOff x="0" y="-28575"/>
            <a:chExt cx="2784094" cy="691820"/>
          </a:xfrm>
        </p:grpSpPr>
        <p:sp>
          <p:nvSpPr>
            <p:cNvPr id="187" name="Google Shape;187;p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88" name="Google Shape;188;p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89" name="Google Shape;189;p3"/>
          <p:cNvGrpSpPr/>
          <p:nvPr/>
        </p:nvGrpSpPr>
        <p:grpSpPr>
          <a:xfrm>
            <a:off x="-2186151" y="5542509"/>
            <a:ext cx="1957566" cy="486436"/>
            <a:chOff x="0" y="-28575"/>
            <a:chExt cx="2784094" cy="691820"/>
          </a:xfrm>
        </p:grpSpPr>
        <p:sp>
          <p:nvSpPr>
            <p:cNvPr id="190" name="Google Shape;190;p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91" name="Google Shape;191;p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92" name="Google Shape;192;p3"/>
          <p:cNvGrpSpPr/>
          <p:nvPr/>
        </p:nvGrpSpPr>
        <p:grpSpPr>
          <a:xfrm>
            <a:off x="-2186151" y="1916319"/>
            <a:ext cx="1957566" cy="483632"/>
            <a:chOff x="0" y="-28575"/>
            <a:chExt cx="2784094" cy="687832"/>
          </a:xfrm>
        </p:grpSpPr>
        <p:sp>
          <p:nvSpPr>
            <p:cNvPr id="193" name="Google Shape;193;p3"/>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94" name="Google Shape;194;p3"/>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195" name="Google Shape;195;p3"/>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96" name="Google Shape;196;p3"/>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197" name="Google Shape;197;p3"/>
          <p:cNvGrpSpPr/>
          <p:nvPr/>
        </p:nvGrpSpPr>
        <p:grpSpPr>
          <a:xfrm>
            <a:off x="198455" y="935133"/>
            <a:ext cx="5486400" cy="275034"/>
            <a:chOff x="0" y="-19050"/>
            <a:chExt cx="7802880" cy="391160"/>
          </a:xfrm>
        </p:grpSpPr>
        <p:sp>
          <p:nvSpPr>
            <p:cNvPr id="198" name="Google Shape;198;p3"/>
            <p:cNvSpPr/>
            <p:nvPr/>
          </p:nvSpPr>
          <p:spPr>
            <a:xfrm>
              <a:off x="0" y="0"/>
              <a:ext cx="7802880" cy="372110"/>
            </a:xfrm>
            <a:custGeom>
              <a:rect b="b" l="l" r="r" t="t"/>
              <a:pathLst>
                <a:path extrusionOk="0" h="372110" w="7802880">
                  <a:moveTo>
                    <a:pt x="0" y="0"/>
                  </a:moveTo>
                  <a:lnTo>
                    <a:pt x="7802880" y="0"/>
                  </a:lnTo>
                  <a:lnTo>
                    <a:pt x="7802880" y="372110"/>
                  </a:lnTo>
                  <a:lnTo>
                    <a:pt x="0" y="37211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99" name="Google Shape;199;p3"/>
            <p:cNvSpPr txBox="1"/>
            <p:nvPr/>
          </p:nvSpPr>
          <p:spPr>
            <a:xfrm>
              <a:off x="0" y="-19050"/>
              <a:ext cx="7802880" cy="391118"/>
            </a:xfrm>
            <a:prstGeom prst="rect">
              <a:avLst/>
            </a:prstGeom>
            <a:noFill/>
            <a:ln>
              <a:noFill/>
            </a:ln>
          </p:spPr>
          <p:txBody>
            <a:bodyPr anchorCtr="0" anchor="t" bIns="47625" lIns="47625" spcFirstLastPara="1" rIns="47625" wrap="square" tIns="47625">
              <a:noAutofit/>
            </a:bodyPr>
            <a:lstStyle/>
            <a:p>
              <a:pPr indent="0" lvl="0" marL="0" marR="0" rtl="0" algn="l">
                <a:lnSpc>
                  <a:spcPct val="120000"/>
                </a:lnSpc>
                <a:spcBef>
                  <a:spcPts val="0"/>
                </a:spcBef>
                <a:spcAft>
                  <a:spcPts val="0"/>
                </a:spcAft>
                <a:buNone/>
              </a:pPr>
              <a:r>
                <a:rPr b="1" lang="en-US" sz="1050">
                  <a:solidFill>
                    <a:srgbClr val="FFFFFF"/>
                  </a:solidFill>
                  <a:latin typeface="Arial"/>
                  <a:ea typeface="Arial"/>
                  <a:cs typeface="Arial"/>
                  <a:sym typeface="Arial"/>
                </a:rPr>
                <a:t>Company Highlights</a:t>
              </a:r>
              <a:endParaRPr sz="1688">
                <a:solidFill>
                  <a:schemeClr val="dk1"/>
                </a:solidFill>
                <a:latin typeface="Arial"/>
                <a:ea typeface="Arial"/>
                <a:cs typeface="Arial"/>
                <a:sym typeface="Arial"/>
              </a:endParaRPr>
            </a:p>
          </p:txBody>
        </p:sp>
      </p:grpSp>
      <p:graphicFrame>
        <p:nvGraphicFramePr>
          <p:cNvPr id="200" name="Google Shape;200;p3"/>
          <p:cNvGraphicFramePr/>
          <p:nvPr/>
        </p:nvGraphicFramePr>
        <p:xfrm>
          <a:off x="5802568" y="3837300"/>
          <a:ext cx="3000000" cy="3000000"/>
        </p:xfrm>
        <a:graphic>
          <a:graphicData uri="http://schemas.openxmlformats.org/drawingml/2006/table">
            <a:tbl>
              <a:tblPr>
                <a:noFill/>
                <a:tableStyleId>{9631001D-9986-4F02-BF56-0136913FF124}</a:tableStyleId>
              </a:tblPr>
              <a:tblGrid>
                <a:gridCol w="691475"/>
                <a:gridCol w="936300"/>
                <a:gridCol w="1571300"/>
              </a:tblGrid>
              <a:tr h="228450">
                <a:tc>
                  <a:txBody>
                    <a:bodyPr/>
                    <a:lstStyle/>
                    <a:p>
                      <a:pPr indent="0" lvl="0" marL="0" marR="0" rtl="0" algn="l">
                        <a:lnSpc>
                          <a:spcPct val="120000"/>
                        </a:lnSpc>
                        <a:spcBef>
                          <a:spcPts val="0"/>
                        </a:spcBef>
                        <a:spcAft>
                          <a:spcPts val="0"/>
                        </a:spcAft>
                        <a:buClr>
                          <a:srgbClr val="FFFFFF"/>
                        </a:buClr>
                        <a:buSzPts val="900"/>
                        <a:buFont typeface="Arial"/>
                        <a:buNone/>
                      </a:pPr>
                      <a:r>
                        <a:rPr lang="en-US" sz="900" u="none" cap="none" strike="noStrike">
                          <a:solidFill>
                            <a:srgbClr val="FFFFFF"/>
                          </a:solidFill>
                          <a:latin typeface="Arial"/>
                          <a:ea typeface="Arial"/>
                          <a:cs typeface="Arial"/>
                          <a:sym typeface="Arial"/>
                        </a:rPr>
                        <a:t>Share Price</a:t>
                      </a:r>
                      <a:endParaRPr sz="1000" u="none" cap="none" strike="noStrike"/>
                    </a:p>
                  </a:txBody>
                  <a:tcPr marT="25700" marB="25700" marR="25700" marL="25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l">
                        <a:lnSpc>
                          <a:spcPct val="120000"/>
                        </a:lnSpc>
                        <a:spcBef>
                          <a:spcPts val="0"/>
                        </a:spcBef>
                        <a:spcAft>
                          <a:spcPts val="0"/>
                        </a:spcAft>
                        <a:buClr>
                          <a:srgbClr val="FFFFFF"/>
                        </a:buClr>
                        <a:buSzPts val="900"/>
                        <a:buFont typeface="Arial"/>
                        <a:buNone/>
                      </a:pPr>
                      <a:r>
                        <a:rPr lang="en-US" sz="900" u="none" cap="none" strike="noStrike">
                          <a:solidFill>
                            <a:srgbClr val="FFFFFF"/>
                          </a:solidFill>
                          <a:latin typeface="Arial"/>
                          <a:ea typeface="Arial"/>
                          <a:cs typeface="Arial"/>
                          <a:sym typeface="Arial"/>
                        </a:rPr>
                        <a:t>Current: </a:t>
                      </a:r>
                      <a:r>
                        <a:rPr b="1" lang="en-US" sz="900" u="none" cap="none" strike="noStrike">
                          <a:solidFill>
                            <a:srgbClr val="FFFFFF"/>
                          </a:solidFill>
                          <a:latin typeface="Arial"/>
                          <a:ea typeface="Arial"/>
                          <a:cs typeface="Arial"/>
                          <a:sym typeface="Arial"/>
                        </a:rPr>
                        <a:t>$76.81</a:t>
                      </a:r>
                      <a:endParaRPr sz="1000" u="none" cap="none" strike="noStrike"/>
                    </a:p>
                  </a:txBody>
                  <a:tcPr marT="25700" marB="25700" marR="25700" marL="25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l">
                        <a:lnSpc>
                          <a:spcPct val="120000"/>
                        </a:lnSpc>
                        <a:spcBef>
                          <a:spcPts val="0"/>
                        </a:spcBef>
                        <a:spcAft>
                          <a:spcPts val="0"/>
                        </a:spcAft>
                        <a:buClr>
                          <a:srgbClr val="FFFFFF"/>
                        </a:buClr>
                        <a:buSzPts val="900"/>
                        <a:buFont typeface="Arial"/>
                        <a:buNone/>
                      </a:pPr>
                      <a:r>
                        <a:rPr lang="en-US" sz="900" u="none" cap="none" strike="noStrike">
                          <a:solidFill>
                            <a:srgbClr val="FFFFFF"/>
                          </a:solidFill>
                          <a:latin typeface="Arial"/>
                          <a:ea typeface="Arial"/>
                          <a:cs typeface="Arial"/>
                          <a:sym typeface="Arial"/>
                        </a:rPr>
                        <a:t>High/Low: </a:t>
                      </a:r>
                      <a:r>
                        <a:rPr b="1" lang="en-US" sz="900" u="none" cap="none" strike="noStrike">
                          <a:solidFill>
                            <a:srgbClr val="FFFFFF"/>
                          </a:solidFill>
                          <a:latin typeface="Arial"/>
                          <a:ea typeface="Arial"/>
                          <a:cs typeface="Arial"/>
                          <a:sym typeface="Arial"/>
                        </a:rPr>
                        <a:t>$79.20 </a:t>
                      </a:r>
                      <a:r>
                        <a:rPr lang="en-US" sz="900" u="none" cap="none" strike="noStrike">
                          <a:solidFill>
                            <a:srgbClr val="FFFFFF"/>
                          </a:solidFill>
                          <a:latin typeface="Arial"/>
                          <a:ea typeface="Arial"/>
                          <a:cs typeface="Arial"/>
                          <a:sym typeface="Arial"/>
                        </a:rPr>
                        <a:t>/ </a:t>
                      </a:r>
                      <a:r>
                        <a:rPr b="1" lang="en-US" sz="900" u="none" cap="none" strike="noStrike">
                          <a:solidFill>
                            <a:srgbClr val="FFFFFF"/>
                          </a:solidFill>
                          <a:latin typeface="Arial"/>
                          <a:ea typeface="Arial"/>
                          <a:cs typeface="Arial"/>
                          <a:sym typeface="Arial"/>
                        </a:rPr>
                        <a:t>$63.66</a:t>
                      </a:r>
                      <a:endParaRPr sz="1000" u="none" cap="none" strike="noStrike"/>
                    </a:p>
                  </a:txBody>
                  <a:tcPr marT="25700" marB="25700" marR="25700" marL="25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r>
            </a:tbl>
          </a:graphicData>
        </a:graphic>
      </p:graphicFrame>
      <p:graphicFrame>
        <p:nvGraphicFramePr>
          <p:cNvPr id="201" name="Google Shape;201;p3"/>
          <p:cNvGraphicFramePr/>
          <p:nvPr/>
        </p:nvGraphicFramePr>
        <p:xfrm>
          <a:off x="5802568" y="1541364"/>
          <a:ext cx="3000000" cy="3000000"/>
        </p:xfrm>
        <a:graphic>
          <a:graphicData uri="http://schemas.openxmlformats.org/drawingml/2006/table">
            <a:tbl>
              <a:tblPr>
                <a:noFill/>
                <a:tableStyleId>{9631001D-9986-4F02-BF56-0136913FF124}</a:tableStyleId>
              </a:tblPr>
              <a:tblGrid>
                <a:gridCol w="912575"/>
                <a:gridCol w="643825"/>
                <a:gridCol w="1030275"/>
                <a:gridCol w="541225"/>
              </a:tblGrid>
              <a:tr h="547975">
                <a:tc>
                  <a:txBody>
                    <a:bodyPr/>
                    <a:lstStyle/>
                    <a:p>
                      <a:pPr indent="0" lvl="0" marL="0" marR="0" rtl="0" algn="l">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Enterprise Value</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$362.2bn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Revenue (FY25)</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$47.94bn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81125">
                <a:tc>
                  <a:txBody>
                    <a:bodyPr/>
                    <a:lstStyle/>
                    <a:p>
                      <a:pPr indent="0" lvl="0" marL="0" marR="0" rtl="0" algn="l">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Market Cap</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$330.4bn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c>
                  <a:txBody>
                    <a:bodyPr/>
                    <a:lstStyle/>
                    <a:p>
                      <a:pPr indent="0" lvl="0" marL="0" marR="0" rtl="0" algn="l">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EBITDA (FY25)</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b="1" lang="en-US" sz="900" u="none" cap="none" strike="noStrike">
                          <a:solidFill>
                            <a:srgbClr val="000000"/>
                          </a:solidFill>
                          <a:latin typeface="Arial"/>
                          <a:ea typeface="Arial"/>
                          <a:cs typeface="Arial"/>
                          <a:sym typeface="Arial"/>
                        </a:rPr>
                        <a:t>$16.01bn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r>
              <a:tr h="391725">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P/E</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25.21x</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D9D9"/>
                    </a:solidFill>
                  </a:tcPr>
                </a:tc>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EBITDA Margin ‘25</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33.40%</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D9D9"/>
                    </a:solidFill>
                  </a:tcPr>
                </a:tc>
              </a:tr>
              <a:tr h="401700">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EV/EBITDA</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20.07x</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D9D9"/>
                    </a:solidFill>
                  </a:tcPr>
                </a:tc>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Debt / EV</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1.33x</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D9D9"/>
                    </a:solidFill>
                  </a:tcPr>
                </a:tc>
              </a:tr>
              <a:tr h="296800">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Cash</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$10.27bn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Total Debt</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$45.49bn</a:t>
                      </a:r>
                      <a:endParaRPr sz="1000" u="none" cap="none" strike="noStrike"/>
                    </a:p>
                  </a:txBody>
                  <a:tcPr marT="18075" marB="18075" marR="18075" marL="180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EDF4"/>
                    </a:solidFill>
                  </a:tcPr>
                </a:tc>
              </a:tr>
            </a:tbl>
          </a:graphicData>
        </a:graphic>
      </p:graphicFrame>
      <p:graphicFrame>
        <p:nvGraphicFramePr>
          <p:cNvPr id="202" name="Google Shape;202;p3"/>
          <p:cNvGraphicFramePr/>
          <p:nvPr/>
        </p:nvGraphicFramePr>
        <p:xfrm>
          <a:off x="5802569" y="1305511"/>
          <a:ext cx="3000000" cy="3000000"/>
        </p:xfrm>
        <a:graphic>
          <a:graphicData uri="http://schemas.openxmlformats.org/drawingml/2006/table">
            <a:tbl>
              <a:tblPr>
                <a:noFill/>
                <a:tableStyleId>{9631001D-9986-4F02-BF56-0136913FF124}</a:tableStyleId>
              </a:tblPr>
              <a:tblGrid>
                <a:gridCol w="3111500"/>
              </a:tblGrid>
              <a:tr h="228600">
                <a:tc>
                  <a:txBody>
                    <a:bodyPr/>
                    <a:lstStyle/>
                    <a:p>
                      <a:pPr indent="0" lvl="0" marL="0" marR="0" rtl="0" algn="l">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Key Valuation Statistics </a:t>
                      </a:r>
                      <a:endParaRPr sz="1000" u="none" cap="none" strike="noStrike"/>
                    </a:p>
                  </a:txBody>
                  <a:tcPr marT="25700" marB="25700" marR="25700" marL="257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39598F"/>
                    </a:solidFill>
                  </a:tcPr>
                </a:tc>
              </a:tr>
            </a:tbl>
          </a:graphicData>
        </a:graphic>
      </p:graphicFrame>
      <p:grpSp>
        <p:nvGrpSpPr>
          <p:cNvPr id="203" name="Google Shape;203;p3"/>
          <p:cNvGrpSpPr/>
          <p:nvPr/>
        </p:nvGrpSpPr>
        <p:grpSpPr>
          <a:xfrm>
            <a:off x="5801236" y="945794"/>
            <a:ext cx="3112832" cy="267355"/>
            <a:chOff x="0" y="-19050"/>
            <a:chExt cx="4427139" cy="380238"/>
          </a:xfrm>
        </p:grpSpPr>
        <p:sp>
          <p:nvSpPr>
            <p:cNvPr id="204" name="Google Shape;204;p3"/>
            <p:cNvSpPr/>
            <p:nvPr/>
          </p:nvSpPr>
          <p:spPr>
            <a:xfrm>
              <a:off x="0" y="0"/>
              <a:ext cx="4427093" cy="361188"/>
            </a:xfrm>
            <a:custGeom>
              <a:rect b="b" l="l" r="r" t="t"/>
              <a:pathLst>
                <a:path extrusionOk="0" h="361188" w="4427093">
                  <a:moveTo>
                    <a:pt x="0" y="0"/>
                  </a:moveTo>
                  <a:lnTo>
                    <a:pt x="4427093" y="0"/>
                  </a:lnTo>
                  <a:lnTo>
                    <a:pt x="4427093" y="361188"/>
                  </a:lnTo>
                  <a:lnTo>
                    <a:pt x="0" y="361188"/>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05" name="Google Shape;205;p3"/>
            <p:cNvSpPr txBox="1"/>
            <p:nvPr/>
          </p:nvSpPr>
          <p:spPr>
            <a:xfrm>
              <a:off x="0" y="-19050"/>
              <a:ext cx="4427139" cy="380175"/>
            </a:xfrm>
            <a:prstGeom prst="rect">
              <a:avLst/>
            </a:prstGeom>
            <a:noFill/>
            <a:ln>
              <a:noFill/>
            </a:ln>
          </p:spPr>
          <p:txBody>
            <a:bodyPr anchorCtr="0" anchor="t" bIns="47625" lIns="47625" spcFirstLastPara="1" rIns="47625" wrap="square" tIns="47625">
              <a:noAutofit/>
            </a:bodyPr>
            <a:lstStyle/>
            <a:p>
              <a:pPr indent="0" lvl="0" marL="0" marR="0" rtl="0" algn="l">
                <a:lnSpc>
                  <a:spcPct val="120000"/>
                </a:lnSpc>
                <a:spcBef>
                  <a:spcPts val="0"/>
                </a:spcBef>
                <a:spcAft>
                  <a:spcPts val="0"/>
                </a:spcAft>
                <a:buNone/>
              </a:pPr>
              <a:r>
                <a:rPr b="1" lang="en-US" sz="1050">
                  <a:solidFill>
                    <a:srgbClr val="FFFFFF"/>
                  </a:solidFill>
                  <a:latin typeface="Arial"/>
                  <a:ea typeface="Arial"/>
                  <a:cs typeface="Arial"/>
                  <a:sym typeface="Arial"/>
                </a:rPr>
                <a:t>Valuation &amp; Share Performance</a:t>
              </a:r>
              <a:endParaRPr sz="1688">
                <a:solidFill>
                  <a:schemeClr val="dk1"/>
                </a:solidFill>
                <a:latin typeface="Arial"/>
                <a:ea typeface="Arial"/>
                <a:cs typeface="Arial"/>
                <a:sym typeface="Arial"/>
              </a:endParaRPr>
            </a:p>
          </p:txBody>
        </p:sp>
      </p:grpSp>
      <p:graphicFrame>
        <p:nvGraphicFramePr>
          <p:cNvPr id="206" name="Google Shape;206;p3"/>
          <p:cNvGraphicFramePr/>
          <p:nvPr/>
        </p:nvGraphicFramePr>
        <p:xfrm>
          <a:off x="357678" y="3837949"/>
          <a:ext cx="3000000" cy="3000000"/>
        </p:xfrm>
        <a:graphic>
          <a:graphicData uri="http://schemas.openxmlformats.org/drawingml/2006/table">
            <a:tbl>
              <a:tblPr>
                <a:noFill/>
                <a:tableStyleId>{9631001D-9986-4F02-BF56-0136913FF124}</a:tableStyleId>
              </a:tblPr>
              <a:tblGrid>
                <a:gridCol w="1289050"/>
                <a:gridCol w="1289050"/>
              </a:tblGrid>
              <a:tr h="184600">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Industry Data</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Average</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r>
              <a:tr h="189475">
                <a:tc gridSpan="2">
                  <a:txBody>
                    <a:bodyPr/>
                    <a:lstStyle/>
                    <a:p>
                      <a:pPr indent="0" lvl="0" marL="0" marR="0" rtl="0" algn="ctr">
                        <a:lnSpc>
                          <a:spcPct val="120000"/>
                        </a:lnSpc>
                        <a:spcBef>
                          <a:spcPts val="0"/>
                        </a:spcBef>
                        <a:spcAft>
                          <a:spcPts val="0"/>
                        </a:spcAft>
                        <a:buClr>
                          <a:srgbClr val="FFFFFF"/>
                        </a:buClr>
                        <a:buSzPts val="900"/>
                        <a:buFont typeface="Arial"/>
                        <a:buNone/>
                      </a:pPr>
                      <a:r>
                        <a:rPr b="1" i="1" lang="en-US" sz="900" u="none" cap="none" strike="noStrike">
                          <a:solidFill>
                            <a:srgbClr val="FFFFFF"/>
                          </a:solidFill>
                          <a:latin typeface="Arial"/>
                          <a:ea typeface="Arial"/>
                          <a:cs typeface="Arial"/>
                          <a:sym typeface="Arial"/>
                        </a:rPr>
                        <a:t>Staples Consumer sector</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39598F"/>
                    </a:solidFill>
                  </a:tcPr>
                </a:tc>
                <a:tc hMerge="1"/>
              </a:tr>
              <a:tr h="205275">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EV/EBITDA – 20.07</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chemeClr val="dk1"/>
                        </a:buClr>
                        <a:buSzPts val="1000"/>
                        <a:buFont typeface="Arial"/>
                        <a:buNone/>
                      </a:pPr>
                      <a:r>
                        <a:rPr lang="en-US" sz="1000" u="none" cap="none" strike="noStrike"/>
                        <a:t>2.7</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9425">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EV/Revenue – 7.56</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chemeClr val="dk1"/>
                        </a:buClr>
                        <a:buSzPts val="1000"/>
                        <a:buFont typeface="Arial"/>
                        <a:buNone/>
                      </a:pPr>
                      <a:r>
                        <a:rPr lang="en-US" sz="1000" u="none" cap="none" strike="noStrike"/>
                        <a:t>12.1</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9425">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P/E – 25.21</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chemeClr val="dk1"/>
                        </a:buClr>
                        <a:buSzPts val="1000"/>
                        <a:buFont typeface="Arial"/>
                        <a:buNone/>
                      </a:pPr>
                      <a:r>
                        <a:rPr lang="en-US" sz="1000" u="none" cap="none" strike="noStrike"/>
                        <a:t>32.59</a:t>
                      </a:r>
                      <a:endParaRPr sz="1000" u="none" cap="none" strike="noStrike"/>
                    </a:p>
                  </a:txBody>
                  <a:tcPr marT="7875" marB="7875" marR="7875" marL="78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07" name="Google Shape;207;p3"/>
          <p:cNvGraphicFramePr/>
          <p:nvPr/>
        </p:nvGraphicFramePr>
        <p:xfrm>
          <a:off x="3080110" y="3837297"/>
          <a:ext cx="3000000" cy="3000000"/>
        </p:xfrm>
        <a:graphic>
          <a:graphicData uri="http://schemas.openxmlformats.org/drawingml/2006/table">
            <a:tbl>
              <a:tblPr>
                <a:noFill/>
                <a:tableStyleId>{9631001D-9986-4F02-BF56-0136913FF124}</a:tableStyleId>
              </a:tblPr>
              <a:tblGrid>
                <a:gridCol w="1296575"/>
                <a:gridCol w="1281550"/>
              </a:tblGrid>
              <a:tr h="333000">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Key Metrics</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Unit</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r>
              <a:tr h="333000">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Gross Margin</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4727"/>
                        </a:lnSpc>
                        <a:spcBef>
                          <a:spcPts val="0"/>
                        </a:spcBef>
                        <a:spcAft>
                          <a:spcPts val="0"/>
                        </a:spcAft>
                        <a:buClr>
                          <a:schemeClr val="dk1"/>
                        </a:buClr>
                        <a:buSzPts val="1000"/>
                        <a:buFont typeface="Arial"/>
                        <a:buNone/>
                      </a:pPr>
                      <a:r>
                        <a:rPr lang="en-US" sz="1000" u="none" cap="none" strike="noStrike"/>
                        <a:t>61.63%</a:t>
                      </a:r>
                      <a:endParaRPr sz="13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3000">
                <a:tc>
                  <a:txBody>
                    <a:bodyPr/>
                    <a:lstStyle/>
                    <a:p>
                      <a:pPr indent="0" lvl="0" marL="0" marR="0" rtl="0" algn="l">
                        <a:lnSpc>
                          <a:spcPct val="120000"/>
                        </a:lnSpc>
                        <a:spcBef>
                          <a:spcPts val="0"/>
                        </a:spcBef>
                        <a:spcAft>
                          <a:spcPts val="0"/>
                        </a:spcAft>
                        <a:buClr>
                          <a:srgbClr val="333333"/>
                        </a:buClr>
                        <a:buSzPts val="900"/>
                        <a:buFont typeface="Arial"/>
                        <a:buNone/>
                      </a:pPr>
                      <a:r>
                        <a:rPr lang="en-US" sz="900" u="none" cap="none" strike="noStrike">
                          <a:solidFill>
                            <a:srgbClr val="333333"/>
                          </a:solidFill>
                          <a:latin typeface="Arial"/>
                          <a:ea typeface="Arial"/>
                          <a:cs typeface="Arial"/>
                          <a:sym typeface="Arial"/>
                        </a:rPr>
                        <a:t>ROE</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43.32%</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3000">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ROA</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9.11%</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3000">
                <a:tc>
                  <a:txBody>
                    <a:bodyPr/>
                    <a:lstStyle/>
                    <a:p>
                      <a:pPr indent="0" lvl="0" marL="0" marR="0" rtl="0" algn="l">
                        <a:lnSpc>
                          <a:spcPct val="120000"/>
                        </a:lnSpc>
                        <a:spcBef>
                          <a:spcPts val="0"/>
                        </a:spcBef>
                        <a:spcAft>
                          <a:spcPts val="0"/>
                        </a:spcAft>
                        <a:buClr>
                          <a:srgbClr val="333333"/>
                        </a:buClr>
                        <a:buSzPts val="900"/>
                        <a:buFont typeface="Arial"/>
                        <a:buNone/>
                      </a:pPr>
                      <a:r>
                        <a:rPr lang="en-US" sz="900" u="none" cap="none" strike="noStrike">
                          <a:solidFill>
                            <a:srgbClr val="333333"/>
                          </a:solidFill>
                          <a:latin typeface="Arial"/>
                          <a:ea typeface="Arial"/>
                          <a:cs typeface="Arial"/>
                          <a:sym typeface="Arial"/>
                        </a:rPr>
                        <a:t>Cash ratio</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0.21</a:t>
                      </a:r>
                      <a:endParaRPr sz="13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3000">
                <a:tc>
                  <a:txBody>
                    <a:bodyPr/>
                    <a:lstStyle/>
                    <a:p>
                      <a:pPr indent="0" lvl="0" marL="0" marR="0" rtl="0" algn="l">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Debt to Equity</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1.33</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1150">
                <a:tc>
                  <a:txBody>
                    <a:bodyPr/>
                    <a:lstStyle/>
                    <a:p>
                      <a:pPr indent="0" lvl="0" marL="0" marR="0" rtl="0" algn="l">
                        <a:lnSpc>
                          <a:spcPct val="120000"/>
                        </a:lnSpc>
                        <a:spcBef>
                          <a:spcPts val="0"/>
                        </a:spcBef>
                        <a:spcAft>
                          <a:spcPts val="0"/>
                        </a:spcAft>
                        <a:buClr>
                          <a:srgbClr val="333333"/>
                        </a:buClr>
                        <a:buSzPts val="900"/>
                        <a:buFont typeface="Arial"/>
                        <a:buNone/>
                      </a:pPr>
                      <a:r>
                        <a:rPr lang="en-US" sz="900" u="none" cap="none" strike="noStrike">
                          <a:solidFill>
                            <a:srgbClr val="333333"/>
                          </a:solidFill>
                          <a:latin typeface="Arial"/>
                          <a:ea typeface="Arial"/>
                          <a:cs typeface="Arial"/>
                          <a:sym typeface="Arial"/>
                        </a:rPr>
                        <a:t>Pretax Margin</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27.34%</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08" name="Google Shape;208;p3"/>
          <p:cNvGraphicFramePr/>
          <p:nvPr/>
        </p:nvGraphicFramePr>
        <p:xfrm>
          <a:off x="349639" y="4918472"/>
          <a:ext cx="3000000" cy="3000000"/>
        </p:xfrm>
        <a:graphic>
          <a:graphicData uri="http://schemas.openxmlformats.org/drawingml/2006/table">
            <a:tbl>
              <a:tblPr>
                <a:noFill/>
                <a:tableStyleId>{9631001D-9986-4F02-BF56-0136913FF124}</a:tableStyleId>
              </a:tblPr>
              <a:tblGrid>
                <a:gridCol w="1294275"/>
                <a:gridCol w="472900"/>
                <a:gridCol w="810900"/>
              </a:tblGrid>
              <a:tr h="305050">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Revenue Mix</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c>
                  <a:txBody>
                    <a:bodyPr/>
                    <a:lstStyle/>
                    <a:p>
                      <a:pPr indent="0" lvl="0" marL="0" marR="0" rtl="0" algn="ctr">
                        <a:lnSpc>
                          <a:spcPct val="12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Gross (bn)</a:t>
                      </a:r>
                      <a:endParaRPr b="1"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13D63"/>
                    </a:solidFill>
                  </a:tcPr>
                </a:tc>
              </a:tr>
              <a:tr h="545775">
                <a:tc>
                  <a:txBody>
                    <a:bodyPr/>
                    <a:lstStyle/>
                    <a:p>
                      <a:pPr indent="0" lvl="0" marL="0" marR="0" rtl="0" algn="l">
                        <a:lnSpc>
                          <a:spcPct val="104727"/>
                        </a:lnSpc>
                        <a:spcBef>
                          <a:spcPts val="0"/>
                        </a:spcBef>
                        <a:spcAft>
                          <a:spcPts val="0"/>
                        </a:spcAft>
                        <a:buClr>
                          <a:schemeClr val="dk1"/>
                        </a:buClr>
                        <a:buSzPts val="1000"/>
                        <a:buFont typeface="Arial"/>
                        <a:buNone/>
                      </a:pPr>
                      <a:r>
                        <a:rPr lang="en-US" sz="1000" u="none" cap="none" strike="noStrike"/>
                        <a:t>Concentrate Operations</a:t>
                      </a:r>
                      <a:endParaRPr sz="13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59%</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$27.73</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200">
                <a:tc>
                  <a:txBody>
                    <a:bodyPr/>
                    <a:lstStyle/>
                    <a:p>
                      <a:pPr indent="0" lvl="0" marL="0" marR="0" rtl="0" algn="l">
                        <a:lnSpc>
                          <a:spcPct val="120000"/>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Finished Product Operations</a:t>
                      </a:r>
                      <a:endParaRPr sz="15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41%</a:t>
                      </a:r>
                      <a:endParaRPr sz="1000" u="none" cap="none" strike="noStrike"/>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900"/>
                        <a:buFont typeface="Arial"/>
                        <a:buNone/>
                      </a:pPr>
                      <a:r>
                        <a:rPr lang="en-US" sz="900" u="none" cap="none" strike="noStrike">
                          <a:solidFill>
                            <a:srgbClr val="000000"/>
                          </a:solidFill>
                          <a:latin typeface="Arial"/>
                          <a:ea typeface="Arial"/>
                          <a:cs typeface="Arial"/>
                          <a:sym typeface="Arial"/>
                        </a:rPr>
                        <a:t>$19.34</a:t>
                      </a:r>
                      <a:endParaRPr/>
                    </a:p>
                  </a:txBody>
                  <a:tcPr marT="32150" marB="32150" marR="32150" marL="32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9" name="Google Shape;209;p3"/>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210" name="Google Shape;210;p3"/>
          <p:cNvSpPr txBox="1"/>
          <p:nvPr/>
        </p:nvSpPr>
        <p:spPr>
          <a:xfrm>
            <a:off x="64294" y="455032"/>
            <a:ext cx="3061006"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Company Overview</a:t>
            </a:r>
            <a:endParaRPr sz="1688">
              <a:solidFill>
                <a:schemeClr val="dk1"/>
              </a:solidFill>
              <a:latin typeface="Arial"/>
              <a:ea typeface="Arial"/>
              <a:cs typeface="Arial"/>
              <a:sym typeface="Arial"/>
            </a:endParaRPr>
          </a:p>
        </p:txBody>
      </p:sp>
      <p:sp>
        <p:nvSpPr>
          <p:cNvPr id="211" name="Google Shape;211;p3"/>
          <p:cNvSpPr txBox="1"/>
          <p:nvPr/>
        </p:nvSpPr>
        <p:spPr>
          <a:xfrm>
            <a:off x="184516" y="1290290"/>
            <a:ext cx="5486400" cy="2073000"/>
          </a:xfrm>
          <a:prstGeom prst="rect">
            <a:avLst/>
          </a:prstGeom>
          <a:noFill/>
          <a:ln>
            <a:noFill/>
          </a:ln>
        </p:spPr>
        <p:txBody>
          <a:bodyPr anchorCtr="0" anchor="t" bIns="0" lIns="0" spcFirstLastPara="1" rIns="0" wrap="square" tIns="0">
            <a:spAutoFit/>
          </a:bodyPr>
          <a:lstStyle/>
          <a:p>
            <a:pPr indent="-63500" lvl="1" marL="124501" marR="0" rtl="0" algn="just">
              <a:lnSpc>
                <a:spcPct val="126937"/>
              </a:lnSpc>
              <a:spcBef>
                <a:spcPts val="0"/>
              </a:spcBef>
              <a:spcAft>
                <a:spcPts val="0"/>
              </a:spcAft>
              <a:buClr>
                <a:srgbClr val="000000"/>
              </a:buClr>
              <a:buSzPts val="1000"/>
              <a:buFont typeface="Arial"/>
              <a:buChar char="•"/>
            </a:pPr>
            <a:r>
              <a:rPr b="1" i="0" lang="en-US" sz="816" u="none" cap="none" strike="noStrike">
                <a:solidFill>
                  <a:srgbClr val="000000"/>
                </a:solidFill>
                <a:latin typeface="Arial"/>
                <a:ea typeface="Arial"/>
                <a:cs typeface="Arial"/>
                <a:sym typeface="Arial"/>
              </a:rPr>
              <a:t>History: </a:t>
            </a:r>
            <a:r>
              <a:rPr b="0" i="0" lang="en-US" sz="816" u="none" cap="none" strike="noStrike">
                <a:solidFill>
                  <a:srgbClr val="000000"/>
                </a:solidFill>
                <a:latin typeface="Arial"/>
                <a:ea typeface="Arial"/>
                <a:cs typeface="Arial"/>
                <a:sym typeface="Arial"/>
              </a:rPr>
              <a:t>Founded in 1886 in Atlanta, the company has become the world leader in beverages, operating in more than 200 countries through a unique franchise model. The year 2026 marks a turning point in management with Henrique Braun taking over as CEO to lead a phase of digital acceleration.</a:t>
            </a:r>
            <a:endParaRPr/>
          </a:p>
          <a:p>
            <a:pPr indent="-63500" lvl="1" marL="124501" marR="0" rtl="0" algn="just">
              <a:lnSpc>
                <a:spcPct val="126937"/>
              </a:lnSpc>
              <a:spcBef>
                <a:spcPts val="0"/>
              </a:spcBef>
              <a:spcAft>
                <a:spcPts val="0"/>
              </a:spcAft>
              <a:buClr>
                <a:srgbClr val="000000"/>
              </a:buClr>
              <a:buSzPts val="1000"/>
              <a:buFont typeface="Arial"/>
              <a:buChar char="•"/>
            </a:pPr>
            <a:r>
              <a:rPr b="1" i="0" lang="en-US" sz="816" u="none" cap="none" strike="noStrike">
                <a:solidFill>
                  <a:srgbClr val="000000"/>
                </a:solidFill>
                <a:latin typeface="Arial"/>
                <a:ea typeface="Arial"/>
                <a:cs typeface="Arial"/>
                <a:sym typeface="Arial"/>
              </a:rPr>
              <a:t>Values: </a:t>
            </a:r>
            <a:r>
              <a:rPr b="0" i="0" lang="en-US" sz="816" u="none" cap="none" strike="noStrike">
                <a:solidFill>
                  <a:srgbClr val="000000"/>
                </a:solidFill>
                <a:latin typeface="Arial"/>
                <a:ea typeface="Arial"/>
                <a:cs typeface="Arial"/>
                <a:sym typeface="Arial"/>
              </a:rPr>
              <a:t>“Refresh the world and make a difference” through operational excellence, responsible water management, and circular packaging.</a:t>
            </a:r>
            <a:endParaRPr/>
          </a:p>
          <a:p>
            <a:pPr indent="-63500" lvl="1" marL="124501" marR="0" rtl="0" algn="just">
              <a:lnSpc>
                <a:spcPct val="126937"/>
              </a:lnSpc>
              <a:spcBef>
                <a:spcPts val="0"/>
              </a:spcBef>
              <a:spcAft>
                <a:spcPts val="0"/>
              </a:spcAft>
              <a:buClr>
                <a:srgbClr val="000000"/>
              </a:buClr>
              <a:buSzPts val="1000"/>
              <a:buFont typeface="Arial"/>
              <a:buChar char="•"/>
            </a:pPr>
            <a:r>
              <a:rPr b="1" i="0" lang="en-US" sz="816" u="none" cap="none" strike="noStrike">
                <a:solidFill>
                  <a:srgbClr val="000000"/>
                </a:solidFill>
                <a:latin typeface="Arial"/>
                <a:ea typeface="Arial"/>
                <a:cs typeface="Arial"/>
                <a:sym typeface="Arial"/>
              </a:rPr>
              <a:t>Strategy: </a:t>
            </a:r>
            <a:r>
              <a:rPr b="0" i="0" lang="en-US" sz="816" u="none" cap="none" strike="noStrike">
                <a:solidFill>
                  <a:srgbClr val="000000"/>
                </a:solidFill>
                <a:latin typeface="Arial"/>
                <a:ea typeface="Arial"/>
                <a:cs typeface="Arial"/>
                <a:sym typeface="Arial"/>
              </a:rPr>
              <a:t>Coca-Cola follows an asset-light model focused on concentrates and marketing, delegating bottling to partners. Its Total Beverage vision now incorporates generative AI and digital twins to optimize the supply chain and customer personalization.</a:t>
            </a:r>
            <a:endParaRPr/>
          </a:p>
          <a:p>
            <a:pPr indent="-63500" lvl="1" marL="124501" marR="0" rtl="0" algn="just">
              <a:lnSpc>
                <a:spcPct val="126937"/>
              </a:lnSpc>
              <a:spcBef>
                <a:spcPts val="0"/>
              </a:spcBef>
              <a:spcAft>
                <a:spcPts val="0"/>
              </a:spcAft>
              <a:buClr>
                <a:srgbClr val="000000"/>
              </a:buClr>
              <a:buSzPts val="1000"/>
              <a:buFont typeface="Arial"/>
              <a:buChar char="•"/>
            </a:pPr>
            <a:r>
              <a:rPr b="1" i="0" lang="en-US" sz="816" u="none" cap="none" strike="noStrike">
                <a:solidFill>
                  <a:srgbClr val="000000"/>
                </a:solidFill>
                <a:latin typeface="Arial"/>
                <a:ea typeface="Arial"/>
                <a:cs typeface="Arial"/>
                <a:sym typeface="Arial"/>
              </a:rPr>
              <a:t>Corporate Finance: </a:t>
            </a:r>
            <a:r>
              <a:rPr b="0" i="0" lang="en-US" sz="816" u="none" cap="none" strike="noStrike">
                <a:solidFill>
                  <a:srgbClr val="000000"/>
                </a:solidFill>
                <a:latin typeface="Arial"/>
                <a:ea typeface="Arial"/>
                <a:cs typeface="Arial"/>
                <a:sym typeface="Arial"/>
              </a:rPr>
              <a:t>The group is exceptionally profitable, with an operating margin of 31% in 2025. Its status as a “Dividend King” (63 consecutive years of increases) is supported by robust free cash flow estimated at $12.3 billion for 2026.</a:t>
            </a:r>
            <a:endParaRPr/>
          </a:p>
          <a:p>
            <a:pPr indent="-63500" lvl="1" marL="124501" marR="0" rtl="0" algn="just">
              <a:lnSpc>
                <a:spcPct val="126937"/>
              </a:lnSpc>
              <a:spcBef>
                <a:spcPts val="0"/>
              </a:spcBef>
              <a:spcAft>
                <a:spcPts val="0"/>
              </a:spcAft>
              <a:buClr>
                <a:srgbClr val="000000"/>
              </a:buClr>
              <a:buSzPts val="1000"/>
              <a:buFont typeface="Arial"/>
              <a:buChar char="•"/>
            </a:pPr>
            <a:r>
              <a:rPr b="1" i="0" lang="en-US" sz="816" u="none" cap="none" strike="noStrike">
                <a:solidFill>
                  <a:srgbClr val="000000"/>
                </a:solidFill>
                <a:latin typeface="Arial"/>
                <a:ea typeface="Arial"/>
                <a:cs typeface="Arial"/>
                <a:sym typeface="Arial"/>
              </a:rPr>
              <a:t>Overall: </a:t>
            </a:r>
            <a:r>
              <a:rPr b="0" i="0" lang="en-US" sz="816" u="none" cap="none" strike="noStrike">
                <a:solidFill>
                  <a:srgbClr val="000000"/>
                </a:solidFill>
                <a:latin typeface="Arial"/>
                <a:ea typeface="Arial"/>
                <a:cs typeface="Arial"/>
                <a:sym typeface="Arial"/>
              </a:rPr>
              <a:t>KO is a resilient blue-chip asset and proxy for global consumption. It is a defensive stock that combines historical market dominance with technological flexibility to protect its margins in an inflationary environment.</a:t>
            </a:r>
            <a:endParaRPr b="0" i="0" sz="816" u="none" cap="none" strike="noStrike">
              <a:solidFill>
                <a:schemeClr val="dk1"/>
              </a:solidFill>
              <a:latin typeface="Arial"/>
              <a:ea typeface="Arial"/>
              <a:cs typeface="Arial"/>
              <a:sym typeface="Arial"/>
            </a:endParaRPr>
          </a:p>
        </p:txBody>
      </p:sp>
      <p:sp>
        <p:nvSpPr>
          <p:cNvPr id="212" name="Google Shape;212;p3"/>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pic>
        <p:nvPicPr>
          <p:cNvPr descr="Une image contenant ligne, Tracé, diagramme&#10;&#10;Le contenu généré par l’IA peut être incorrect." id="213" name="Google Shape;213;p3"/>
          <p:cNvPicPr preferRelativeResize="0"/>
          <p:nvPr/>
        </p:nvPicPr>
        <p:blipFill rotWithShape="1">
          <a:blip r:embed="rId4">
            <a:alphaModFix/>
          </a:blip>
          <a:srcRect b="0" l="0" r="0" t="0"/>
          <a:stretch/>
        </p:blipFill>
        <p:spPr>
          <a:xfrm>
            <a:off x="5801236" y="4150740"/>
            <a:ext cx="3199078" cy="19187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grpSp>
        <p:nvGrpSpPr>
          <p:cNvPr id="218" name="Google Shape;218;p4"/>
          <p:cNvGrpSpPr/>
          <p:nvPr/>
        </p:nvGrpSpPr>
        <p:grpSpPr>
          <a:xfrm>
            <a:off x="-2192501" y="2633500"/>
            <a:ext cx="1970251" cy="496313"/>
            <a:chOff x="0" y="-28575"/>
            <a:chExt cx="2802135" cy="705866"/>
          </a:xfrm>
        </p:grpSpPr>
        <p:sp>
          <p:nvSpPr>
            <p:cNvPr id="219" name="Google Shape;219;p4"/>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20" name="Google Shape;220;p4"/>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221" name="Google Shape;221;p4"/>
          <p:cNvGrpSpPr/>
          <p:nvPr/>
        </p:nvGrpSpPr>
        <p:grpSpPr>
          <a:xfrm>
            <a:off x="-2186151" y="3363382"/>
            <a:ext cx="1957566" cy="486436"/>
            <a:chOff x="0" y="-28575"/>
            <a:chExt cx="2784094" cy="691820"/>
          </a:xfrm>
        </p:grpSpPr>
        <p:sp>
          <p:nvSpPr>
            <p:cNvPr id="222" name="Google Shape;222;p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23" name="Google Shape;223;p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224" name="Google Shape;224;p4"/>
          <p:cNvGrpSpPr/>
          <p:nvPr/>
        </p:nvGrpSpPr>
        <p:grpSpPr>
          <a:xfrm>
            <a:off x="-2186151" y="4089757"/>
            <a:ext cx="1957566" cy="486436"/>
            <a:chOff x="0" y="-28575"/>
            <a:chExt cx="2784094" cy="691820"/>
          </a:xfrm>
        </p:grpSpPr>
        <p:sp>
          <p:nvSpPr>
            <p:cNvPr id="225" name="Google Shape;225;p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26" name="Google Shape;226;p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227" name="Google Shape;227;p4"/>
          <p:cNvGrpSpPr/>
          <p:nvPr/>
        </p:nvGrpSpPr>
        <p:grpSpPr>
          <a:xfrm>
            <a:off x="-2186151" y="4816132"/>
            <a:ext cx="1957566" cy="486436"/>
            <a:chOff x="0" y="-28575"/>
            <a:chExt cx="2784094" cy="691820"/>
          </a:xfrm>
        </p:grpSpPr>
        <p:sp>
          <p:nvSpPr>
            <p:cNvPr id="228" name="Google Shape;228;p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29" name="Google Shape;229;p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230" name="Google Shape;230;p4"/>
          <p:cNvGrpSpPr/>
          <p:nvPr/>
        </p:nvGrpSpPr>
        <p:grpSpPr>
          <a:xfrm>
            <a:off x="-2186151" y="5542509"/>
            <a:ext cx="1957566" cy="486436"/>
            <a:chOff x="0" y="-28575"/>
            <a:chExt cx="2784094" cy="691820"/>
          </a:xfrm>
        </p:grpSpPr>
        <p:sp>
          <p:nvSpPr>
            <p:cNvPr id="231" name="Google Shape;231;p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32" name="Google Shape;232;p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233" name="Google Shape;233;p4"/>
          <p:cNvGrpSpPr/>
          <p:nvPr/>
        </p:nvGrpSpPr>
        <p:grpSpPr>
          <a:xfrm>
            <a:off x="-2186151" y="1916319"/>
            <a:ext cx="1957566" cy="483632"/>
            <a:chOff x="0" y="-28575"/>
            <a:chExt cx="2784094" cy="687832"/>
          </a:xfrm>
        </p:grpSpPr>
        <p:sp>
          <p:nvSpPr>
            <p:cNvPr id="234" name="Google Shape;234;p4"/>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35" name="Google Shape;235;p4"/>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236" name="Google Shape;236;p4"/>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237" name="Google Shape;237;p4"/>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238" name="Google Shape;238;p4"/>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239" name="Google Shape;239;p4"/>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40" name="Google Shape;240;p4"/>
          <p:cNvSpPr txBox="1"/>
          <p:nvPr/>
        </p:nvSpPr>
        <p:spPr>
          <a:xfrm>
            <a:off x="155465" y="1718251"/>
            <a:ext cx="4539861" cy="3331681"/>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lang="en-US" sz="1031">
                <a:solidFill>
                  <a:srgbClr val="000000"/>
                </a:solidFill>
                <a:latin typeface="Arial"/>
                <a:ea typeface="Arial"/>
                <a:cs typeface="Arial"/>
                <a:sym typeface="Arial"/>
              </a:rPr>
              <a:t>Coca-Cola generates its revenue primarily through the sale of concentrates to its bottling partners, its global franchise model, and its Total Beverage portfolio.</a:t>
            </a:r>
            <a:endParaRPr/>
          </a:p>
          <a:p>
            <a:pPr indent="0" lvl="0" marL="0" marR="0" rtl="0" algn="just">
              <a:lnSpc>
                <a:spcPct val="139986"/>
              </a:lnSpc>
              <a:spcBef>
                <a:spcPts val="0"/>
              </a:spcBef>
              <a:spcAft>
                <a:spcPts val="0"/>
              </a:spcAft>
              <a:buNone/>
            </a:pPr>
            <a:r>
              <a:t/>
            </a:r>
            <a:endParaRPr sz="1031">
              <a:solidFill>
                <a:srgbClr val="000000"/>
              </a:solidFill>
              <a:latin typeface="Arial"/>
              <a:ea typeface="Arial"/>
              <a:cs typeface="Arial"/>
              <a:sym typeface="Arial"/>
            </a:endParaRPr>
          </a:p>
          <a:p>
            <a:pPr indent="0" lvl="0" marL="0" marR="0" rtl="0" algn="just">
              <a:lnSpc>
                <a:spcPct val="139986"/>
              </a:lnSpc>
              <a:spcBef>
                <a:spcPts val="0"/>
              </a:spcBef>
              <a:spcAft>
                <a:spcPts val="0"/>
              </a:spcAft>
              <a:buNone/>
            </a:pPr>
            <a:r>
              <a:rPr lang="en-US" sz="1031">
                <a:solidFill>
                  <a:srgbClr val="000000"/>
                </a:solidFill>
                <a:latin typeface="Arial"/>
                <a:ea typeface="Arial"/>
                <a:cs typeface="Arial"/>
                <a:sym typeface="Arial"/>
              </a:rPr>
              <a:t>The group relies on three major operational pillars:</a:t>
            </a:r>
            <a:endParaRPr/>
          </a:p>
          <a:p>
            <a:pPr indent="-160734" lvl="0" marL="160734" marR="0" rtl="0" algn="just">
              <a:lnSpc>
                <a:spcPct val="139986"/>
              </a:lnSpc>
              <a:spcBef>
                <a:spcPts val="0"/>
              </a:spcBef>
              <a:spcAft>
                <a:spcPts val="0"/>
              </a:spcAft>
              <a:buClr>
                <a:srgbClr val="000000"/>
              </a:buClr>
              <a:buSzPts val="1031"/>
              <a:buFont typeface="Arial"/>
              <a:buChar char="•"/>
            </a:pPr>
            <a:r>
              <a:rPr b="1" lang="en-US" sz="1031">
                <a:solidFill>
                  <a:srgbClr val="000000"/>
                </a:solidFill>
                <a:latin typeface="Arial"/>
                <a:ea typeface="Arial"/>
                <a:cs typeface="Arial"/>
                <a:sym typeface="Arial"/>
              </a:rPr>
              <a:t>Asset-Light Franchise Model: </a:t>
            </a:r>
            <a:r>
              <a:rPr lang="en-US" sz="1031">
                <a:solidFill>
                  <a:srgbClr val="000000"/>
                </a:solidFill>
                <a:latin typeface="Arial"/>
                <a:ea typeface="Arial"/>
                <a:cs typeface="Arial"/>
                <a:sym typeface="Arial"/>
              </a:rPr>
              <a:t>Coca-Cola focuses on high-margin concentrate production and brand marketing, while delegating capital-intensive bottling and distribution to a global network of independent partners.</a:t>
            </a:r>
            <a:endParaRPr/>
          </a:p>
          <a:p>
            <a:pPr indent="-160734" lvl="0" marL="160734" marR="0" rtl="0" algn="just">
              <a:lnSpc>
                <a:spcPct val="139986"/>
              </a:lnSpc>
              <a:spcBef>
                <a:spcPts val="0"/>
              </a:spcBef>
              <a:spcAft>
                <a:spcPts val="0"/>
              </a:spcAft>
              <a:buClr>
                <a:srgbClr val="000000"/>
              </a:buClr>
              <a:buSzPts val="1031"/>
              <a:buFont typeface="Arial"/>
              <a:buChar char="•"/>
            </a:pPr>
            <a:r>
              <a:rPr b="1" lang="en-US" sz="1031">
                <a:solidFill>
                  <a:srgbClr val="000000"/>
                </a:solidFill>
                <a:latin typeface="Arial"/>
                <a:ea typeface="Arial"/>
                <a:cs typeface="Arial"/>
                <a:sym typeface="Arial"/>
              </a:rPr>
              <a:t>Global scale and local agility: </a:t>
            </a:r>
            <a:r>
              <a:rPr lang="en-US" sz="1031">
                <a:solidFill>
                  <a:srgbClr val="000000"/>
                </a:solidFill>
                <a:latin typeface="Arial"/>
                <a:ea typeface="Arial"/>
                <a:cs typeface="Arial"/>
                <a:sym typeface="Arial"/>
              </a:rPr>
              <a:t>Operations are structured by geographic region (North America, EMEA, Latin America, Asia-Pacific) to balance the power of a global brand with precise local execution on pricing and flavors.</a:t>
            </a:r>
            <a:endParaRPr/>
          </a:p>
          <a:p>
            <a:pPr indent="-160734" lvl="0" marL="160734" marR="0" rtl="0" algn="just">
              <a:lnSpc>
                <a:spcPct val="139986"/>
              </a:lnSpc>
              <a:spcBef>
                <a:spcPts val="0"/>
              </a:spcBef>
              <a:spcAft>
                <a:spcPts val="0"/>
              </a:spcAft>
              <a:buClr>
                <a:srgbClr val="000000"/>
              </a:buClr>
              <a:buSzPts val="1031"/>
              <a:buFont typeface="Arial"/>
              <a:buChar char="•"/>
            </a:pPr>
            <a:r>
              <a:rPr b="1" lang="en-US" sz="1031">
                <a:solidFill>
                  <a:srgbClr val="000000"/>
                </a:solidFill>
                <a:latin typeface="Arial"/>
                <a:ea typeface="Arial"/>
                <a:cs typeface="Arial"/>
                <a:sym typeface="Arial"/>
              </a:rPr>
              <a:t>Diversified portfolio strategy: </a:t>
            </a:r>
            <a:r>
              <a:rPr lang="en-US" sz="1031">
                <a:solidFill>
                  <a:srgbClr val="000000"/>
                </a:solidFill>
                <a:latin typeface="Arial"/>
                <a:ea typeface="Arial"/>
                <a:cs typeface="Arial"/>
                <a:sym typeface="Arial"/>
              </a:rPr>
              <a:t>Beyond sodas, the group is developing multi-billion-dollar brands in sports, coffee, and dairy (fairlife), integrating AI to accelerate innovation and supply chain efficiency.</a:t>
            </a:r>
            <a:endParaRPr sz="1031">
              <a:solidFill>
                <a:srgbClr val="000000"/>
              </a:solidFill>
              <a:latin typeface="Arial"/>
              <a:ea typeface="Arial"/>
              <a:cs typeface="Arial"/>
              <a:sym typeface="Arial"/>
            </a:endParaRPr>
          </a:p>
        </p:txBody>
      </p:sp>
      <p:grpSp>
        <p:nvGrpSpPr>
          <p:cNvPr id="241" name="Google Shape;241;p4"/>
          <p:cNvGrpSpPr/>
          <p:nvPr/>
        </p:nvGrpSpPr>
        <p:grpSpPr>
          <a:xfrm>
            <a:off x="5369859" y="1000907"/>
            <a:ext cx="2911022" cy="462379"/>
            <a:chOff x="0" y="-28575"/>
            <a:chExt cx="4140120" cy="657606"/>
          </a:xfrm>
        </p:grpSpPr>
        <p:sp>
          <p:nvSpPr>
            <p:cNvPr id="242" name="Google Shape;242;p4"/>
            <p:cNvSpPr/>
            <p:nvPr/>
          </p:nvSpPr>
          <p:spPr>
            <a:xfrm>
              <a:off x="0" y="0"/>
              <a:ext cx="4140073" cy="629031"/>
            </a:xfrm>
            <a:custGeom>
              <a:rect b="b" l="l" r="r" t="t"/>
              <a:pathLst>
                <a:path extrusionOk="0" h="629031" w="4140073">
                  <a:moveTo>
                    <a:pt x="0" y="0"/>
                  </a:moveTo>
                  <a:lnTo>
                    <a:pt x="4140073" y="0"/>
                  </a:lnTo>
                  <a:lnTo>
                    <a:pt x="4140073" y="629031"/>
                  </a:lnTo>
                  <a:lnTo>
                    <a:pt x="0" y="629031"/>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43" name="Google Shape;243;p4"/>
            <p:cNvSpPr txBox="1"/>
            <p:nvPr/>
          </p:nvSpPr>
          <p:spPr>
            <a:xfrm>
              <a:off x="0" y="-28575"/>
              <a:ext cx="4140120" cy="657576"/>
            </a:xfrm>
            <a:prstGeom prst="rect">
              <a:avLst/>
            </a:prstGeom>
            <a:noFill/>
            <a:ln>
              <a:noFill/>
            </a:ln>
          </p:spPr>
          <p:txBody>
            <a:bodyPr anchorCtr="0" anchor="ctr" bIns="47625" lIns="47625" spcFirstLastPara="1" rIns="47625" wrap="square" tIns="47625">
              <a:noAutofit/>
            </a:bodyPr>
            <a:lstStyle/>
            <a:p>
              <a:pPr indent="0" lvl="0" marL="0" marR="0" rtl="0" algn="ctr">
                <a:lnSpc>
                  <a:spcPct val="119959"/>
                </a:lnSpc>
                <a:spcBef>
                  <a:spcPts val="0"/>
                </a:spcBef>
                <a:spcAft>
                  <a:spcPts val="0"/>
                </a:spcAft>
                <a:buNone/>
              </a:pPr>
              <a:r>
                <a:rPr b="1" lang="en-US" sz="1400">
                  <a:solidFill>
                    <a:srgbClr val="FFFFFF"/>
                  </a:solidFill>
                  <a:latin typeface="Arial"/>
                  <a:ea typeface="Arial"/>
                  <a:cs typeface="Arial"/>
                  <a:sym typeface="Arial"/>
                </a:rPr>
                <a:t>Shareholders Analysis</a:t>
              </a:r>
              <a:endParaRPr sz="1688">
                <a:solidFill>
                  <a:schemeClr val="dk1"/>
                </a:solidFill>
                <a:latin typeface="Arial"/>
                <a:ea typeface="Arial"/>
                <a:cs typeface="Arial"/>
                <a:sym typeface="Arial"/>
              </a:endParaRPr>
            </a:p>
          </p:txBody>
        </p:sp>
      </p:grpSp>
      <p:grpSp>
        <p:nvGrpSpPr>
          <p:cNvPr id="244" name="Google Shape;244;p4"/>
          <p:cNvGrpSpPr/>
          <p:nvPr/>
        </p:nvGrpSpPr>
        <p:grpSpPr>
          <a:xfrm>
            <a:off x="660581" y="1080649"/>
            <a:ext cx="2911022" cy="462379"/>
            <a:chOff x="0" y="-28575"/>
            <a:chExt cx="4140120" cy="657606"/>
          </a:xfrm>
        </p:grpSpPr>
        <p:sp>
          <p:nvSpPr>
            <p:cNvPr id="245" name="Google Shape;245;p4"/>
            <p:cNvSpPr/>
            <p:nvPr/>
          </p:nvSpPr>
          <p:spPr>
            <a:xfrm>
              <a:off x="0" y="0"/>
              <a:ext cx="4140073" cy="629031"/>
            </a:xfrm>
            <a:custGeom>
              <a:rect b="b" l="l" r="r" t="t"/>
              <a:pathLst>
                <a:path extrusionOk="0" h="629031" w="4140073">
                  <a:moveTo>
                    <a:pt x="0" y="0"/>
                  </a:moveTo>
                  <a:lnTo>
                    <a:pt x="4140073" y="0"/>
                  </a:lnTo>
                  <a:lnTo>
                    <a:pt x="4140073" y="629031"/>
                  </a:lnTo>
                  <a:lnTo>
                    <a:pt x="0" y="629031"/>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46" name="Google Shape;246;p4"/>
            <p:cNvSpPr txBox="1"/>
            <p:nvPr/>
          </p:nvSpPr>
          <p:spPr>
            <a:xfrm>
              <a:off x="0" y="-28575"/>
              <a:ext cx="4140120" cy="657576"/>
            </a:xfrm>
            <a:prstGeom prst="rect">
              <a:avLst/>
            </a:prstGeom>
            <a:noFill/>
            <a:ln>
              <a:noFill/>
            </a:ln>
          </p:spPr>
          <p:txBody>
            <a:bodyPr anchorCtr="0" anchor="ctr" bIns="47625" lIns="47625" spcFirstLastPara="1" rIns="47625" wrap="square" tIns="47625">
              <a:noAutofit/>
            </a:bodyPr>
            <a:lstStyle/>
            <a:p>
              <a:pPr indent="0" lvl="0" marL="0" marR="0" rtl="0" algn="ctr">
                <a:lnSpc>
                  <a:spcPct val="119959"/>
                </a:lnSpc>
                <a:spcBef>
                  <a:spcPts val="0"/>
                </a:spcBef>
                <a:spcAft>
                  <a:spcPts val="0"/>
                </a:spcAft>
                <a:buNone/>
              </a:pPr>
              <a:r>
                <a:rPr b="1" lang="en-US" sz="1400">
                  <a:solidFill>
                    <a:srgbClr val="FFFFFF"/>
                  </a:solidFill>
                  <a:latin typeface="Arial"/>
                  <a:ea typeface="Arial"/>
                  <a:cs typeface="Arial"/>
                  <a:sym typeface="Arial"/>
                </a:rPr>
                <a:t>Operational Segments</a:t>
              </a:r>
              <a:endParaRPr sz="1688">
                <a:solidFill>
                  <a:schemeClr val="dk1"/>
                </a:solidFill>
                <a:latin typeface="Arial"/>
                <a:ea typeface="Arial"/>
                <a:cs typeface="Arial"/>
                <a:sym typeface="Arial"/>
              </a:endParaRPr>
            </a:p>
          </p:txBody>
        </p:sp>
      </p:grpSp>
      <p:sp>
        <p:nvSpPr>
          <p:cNvPr id="247" name="Google Shape;247;p4"/>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248" name="Google Shape;248;p4"/>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sp>
        <p:nvSpPr>
          <p:cNvPr id="249" name="Google Shape;249;p4"/>
          <p:cNvSpPr txBox="1"/>
          <p:nvPr/>
        </p:nvSpPr>
        <p:spPr>
          <a:xfrm>
            <a:off x="64294" y="444686"/>
            <a:ext cx="4293394"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Coca-Cola Business Model</a:t>
            </a:r>
            <a:endParaRPr sz="1688">
              <a:solidFill>
                <a:schemeClr val="dk1"/>
              </a:solidFill>
              <a:latin typeface="Arial"/>
              <a:ea typeface="Arial"/>
              <a:cs typeface="Arial"/>
              <a:sym typeface="Arial"/>
            </a:endParaRPr>
          </a:p>
        </p:txBody>
      </p:sp>
      <p:pic>
        <p:nvPicPr>
          <p:cNvPr descr="Une image contenant texte, capture d’écran, diagramme, Tracé&#10;&#10;Le contenu généré par l’IA peut être incorrect." id="250" name="Google Shape;250;p4"/>
          <p:cNvPicPr preferRelativeResize="0"/>
          <p:nvPr/>
        </p:nvPicPr>
        <p:blipFill rotWithShape="1">
          <a:blip r:embed="rId4">
            <a:alphaModFix/>
          </a:blip>
          <a:srcRect b="0" l="0" r="0" t="0"/>
          <a:stretch/>
        </p:blipFill>
        <p:spPr>
          <a:xfrm>
            <a:off x="5298829" y="3697228"/>
            <a:ext cx="3351755" cy="2383129"/>
          </a:xfrm>
          <a:prstGeom prst="rect">
            <a:avLst/>
          </a:prstGeom>
          <a:noFill/>
          <a:ln>
            <a:noFill/>
          </a:ln>
        </p:spPr>
      </p:pic>
      <p:pic>
        <p:nvPicPr>
          <p:cNvPr id="251" name="Google Shape;251;p4"/>
          <p:cNvPicPr preferRelativeResize="0"/>
          <p:nvPr/>
        </p:nvPicPr>
        <p:blipFill rotWithShape="1">
          <a:blip r:embed="rId5">
            <a:alphaModFix/>
          </a:blip>
          <a:srcRect b="0" l="0" r="0" t="0"/>
          <a:stretch/>
        </p:blipFill>
        <p:spPr>
          <a:xfrm>
            <a:off x="5073043" y="1718251"/>
            <a:ext cx="3898163" cy="17411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5"/>
          <p:cNvGrpSpPr/>
          <p:nvPr/>
        </p:nvGrpSpPr>
        <p:grpSpPr>
          <a:xfrm>
            <a:off x="-2192501" y="2633500"/>
            <a:ext cx="1970251" cy="496313"/>
            <a:chOff x="0" y="-28575"/>
            <a:chExt cx="2802135" cy="705866"/>
          </a:xfrm>
        </p:grpSpPr>
        <p:sp>
          <p:nvSpPr>
            <p:cNvPr id="257" name="Google Shape;257;p5"/>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58" name="Google Shape;258;p5"/>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259" name="Google Shape;259;p5"/>
          <p:cNvGrpSpPr/>
          <p:nvPr/>
        </p:nvGrpSpPr>
        <p:grpSpPr>
          <a:xfrm>
            <a:off x="-2186151" y="3363382"/>
            <a:ext cx="1957566" cy="486436"/>
            <a:chOff x="0" y="-28575"/>
            <a:chExt cx="2784094" cy="691820"/>
          </a:xfrm>
        </p:grpSpPr>
        <p:sp>
          <p:nvSpPr>
            <p:cNvPr id="260" name="Google Shape;260;p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61" name="Google Shape;261;p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262" name="Google Shape;262;p5"/>
          <p:cNvGrpSpPr/>
          <p:nvPr/>
        </p:nvGrpSpPr>
        <p:grpSpPr>
          <a:xfrm>
            <a:off x="-2186151" y="4089757"/>
            <a:ext cx="1957566" cy="486436"/>
            <a:chOff x="0" y="-28575"/>
            <a:chExt cx="2784094" cy="691820"/>
          </a:xfrm>
        </p:grpSpPr>
        <p:sp>
          <p:nvSpPr>
            <p:cNvPr id="263" name="Google Shape;263;p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64" name="Google Shape;264;p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265" name="Google Shape;265;p5"/>
          <p:cNvGrpSpPr/>
          <p:nvPr/>
        </p:nvGrpSpPr>
        <p:grpSpPr>
          <a:xfrm>
            <a:off x="-2186151" y="4816132"/>
            <a:ext cx="1957566" cy="486436"/>
            <a:chOff x="0" y="-28575"/>
            <a:chExt cx="2784094" cy="691820"/>
          </a:xfrm>
        </p:grpSpPr>
        <p:sp>
          <p:nvSpPr>
            <p:cNvPr id="266" name="Google Shape;266;p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67" name="Google Shape;267;p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268" name="Google Shape;268;p5"/>
          <p:cNvGrpSpPr/>
          <p:nvPr/>
        </p:nvGrpSpPr>
        <p:grpSpPr>
          <a:xfrm>
            <a:off x="-2186151" y="5542509"/>
            <a:ext cx="1957566" cy="486436"/>
            <a:chOff x="0" y="-28575"/>
            <a:chExt cx="2784094" cy="691820"/>
          </a:xfrm>
        </p:grpSpPr>
        <p:sp>
          <p:nvSpPr>
            <p:cNvPr id="269" name="Google Shape;269;p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70" name="Google Shape;270;p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271" name="Google Shape;271;p5"/>
          <p:cNvGrpSpPr/>
          <p:nvPr/>
        </p:nvGrpSpPr>
        <p:grpSpPr>
          <a:xfrm>
            <a:off x="-2186151" y="1916319"/>
            <a:ext cx="1957566" cy="483632"/>
            <a:chOff x="0" y="-28575"/>
            <a:chExt cx="2784094" cy="687832"/>
          </a:xfrm>
        </p:grpSpPr>
        <p:sp>
          <p:nvSpPr>
            <p:cNvPr id="272" name="Google Shape;272;p5"/>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73" name="Google Shape;273;p5"/>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274" name="Google Shape;274;p5"/>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275" name="Google Shape;275;p5"/>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276" name="Google Shape;276;p5"/>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277" name="Google Shape;277;p5"/>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78" name="Google Shape;278;p5"/>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279" name="Google Shape;279;p5"/>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sp>
        <p:nvSpPr>
          <p:cNvPr id="280" name="Google Shape;280;p5"/>
          <p:cNvSpPr txBox="1"/>
          <p:nvPr/>
        </p:nvSpPr>
        <p:spPr>
          <a:xfrm>
            <a:off x="64294" y="455032"/>
            <a:ext cx="3061006"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Operating Forecast</a:t>
            </a:r>
            <a:endParaRPr sz="1688">
              <a:solidFill>
                <a:schemeClr val="dk1"/>
              </a:solidFill>
              <a:latin typeface="Arial"/>
              <a:ea typeface="Arial"/>
              <a:cs typeface="Arial"/>
              <a:sym typeface="Arial"/>
            </a:endParaRPr>
          </a:p>
        </p:txBody>
      </p:sp>
      <p:pic>
        <p:nvPicPr>
          <p:cNvPr descr="Une image contenant texte, capture d’écran, Police, nombre&#10;&#10;Le contenu généré par l’IA peut être incorrect." id="281" name="Google Shape;281;p5"/>
          <p:cNvPicPr preferRelativeResize="0"/>
          <p:nvPr/>
        </p:nvPicPr>
        <p:blipFill rotWithShape="1">
          <a:blip r:embed="rId4">
            <a:alphaModFix/>
          </a:blip>
          <a:srcRect b="0" l="0" r="0" t="0"/>
          <a:stretch/>
        </p:blipFill>
        <p:spPr>
          <a:xfrm>
            <a:off x="155447" y="1483445"/>
            <a:ext cx="8824247" cy="1535823"/>
          </a:xfrm>
          <a:prstGeom prst="rect">
            <a:avLst/>
          </a:prstGeom>
          <a:noFill/>
          <a:ln>
            <a:noFill/>
          </a:ln>
        </p:spPr>
      </p:pic>
      <p:sp>
        <p:nvSpPr>
          <p:cNvPr id="282" name="Google Shape;282;p5"/>
          <p:cNvSpPr txBox="1"/>
          <p:nvPr/>
        </p:nvSpPr>
        <p:spPr>
          <a:xfrm>
            <a:off x="155448" y="3258920"/>
            <a:ext cx="8824247" cy="2771015"/>
          </a:xfrm>
          <a:prstGeom prst="rect">
            <a:avLst/>
          </a:prstGeom>
          <a:noFill/>
          <a:ln>
            <a:noFill/>
          </a:ln>
        </p:spPr>
        <p:txBody>
          <a:bodyPr anchorCtr="0" anchor="t" bIns="0" lIns="0" spcFirstLastPara="1" rIns="0" wrap="square" tIns="0">
            <a:spAutoFit/>
          </a:bodyPr>
          <a:lstStyle/>
          <a:p>
            <a:pPr indent="0" lvl="0" marL="0" marR="0" rtl="0" algn="just">
              <a:lnSpc>
                <a:spcPct val="119981"/>
              </a:lnSpc>
              <a:spcBef>
                <a:spcPts val="0"/>
              </a:spcBef>
              <a:spcAft>
                <a:spcPts val="0"/>
              </a:spcAft>
              <a:buNone/>
            </a:pPr>
            <a:r>
              <a:rPr b="1" lang="en-US" sz="938">
                <a:solidFill>
                  <a:srgbClr val="000000"/>
                </a:solidFill>
                <a:latin typeface="Arial"/>
                <a:ea typeface="Arial"/>
                <a:cs typeface="Arial"/>
                <a:sym typeface="Arial"/>
              </a:rPr>
              <a:t>Revenue drivers: </a:t>
            </a:r>
            <a:endParaRPr/>
          </a:p>
          <a:p>
            <a:pPr indent="0" lvl="0" marL="0" marR="0" rtl="0" algn="just">
              <a:lnSpc>
                <a:spcPct val="119981"/>
              </a:lnSpc>
              <a:spcBef>
                <a:spcPts val="0"/>
              </a:spcBef>
              <a:spcAft>
                <a:spcPts val="0"/>
              </a:spcAft>
              <a:buNone/>
            </a:pPr>
            <a:r>
              <a:t/>
            </a:r>
            <a:endParaRPr b="1" sz="938">
              <a:solidFill>
                <a:srgbClr val="000000"/>
              </a:solidFill>
              <a:latin typeface="Arial"/>
              <a:ea typeface="Arial"/>
              <a:cs typeface="Arial"/>
              <a:sym typeface="Arial"/>
            </a:endParaRPr>
          </a:p>
          <a:p>
            <a:pPr indent="-160734" lvl="0" marL="160734" marR="0" rtl="0" algn="just">
              <a:lnSpc>
                <a:spcPct val="119981"/>
              </a:lnSpc>
              <a:spcBef>
                <a:spcPts val="0"/>
              </a:spcBef>
              <a:spcAft>
                <a:spcPts val="0"/>
              </a:spcAft>
              <a:buClr>
                <a:srgbClr val="000000"/>
              </a:buClr>
              <a:buSzPts val="938"/>
              <a:buFont typeface="Arial"/>
              <a:buChar char="•"/>
            </a:pPr>
            <a:r>
              <a:rPr b="1" lang="en-US" sz="938">
                <a:solidFill>
                  <a:srgbClr val="000000"/>
                </a:solidFill>
                <a:latin typeface="Arial"/>
                <a:ea typeface="Arial"/>
                <a:cs typeface="Arial"/>
                <a:sym typeface="Arial"/>
              </a:rPr>
              <a:t>Organic growth and price/volume mix: </a:t>
            </a:r>
            <a:r>
              <a:rPr lang="en-US" sz="938">
                <a:solidFill>
                  <a:srgbClr val="000000"/>
                </a:solidFill>
                <a:latin typeface="Arial"/>
                <a:ea typeface="Arial"/>
                <a:cs typeface="Arial"/>
                <a:sym typeface="Arial"/>
              </a:rPr>
              <a:t>Management is targeting organic revenue growth of 4% to 5% for 2026, based on robust pricing power that has already generated a 4% increase in the “Price/Mix” segment in 2025. The group expects unit volumes to normalize after a stable 2025, promoting a sustainable balance between price increases and consumption.</a:t>
            </a:r>
            <a:endParaRPr/>
          </a:p>
          <a:p>
            <a:pPr indent="-160734" lvl="0" marL="160734" marR="0" rtl="0" algn="just">
              <a:lnSpc>
                <a:spcPct val="119981"/>
              </a:lnSpc>
              <a:spcBef>
                <a:spcPts val="0"/>
              </a:spcBef>
              <a:spcAft>
                <a:spcPts val="0"/>
              </a:spcAft>
              <a:buClr>
                <a:srgbClr val="000000"/>
              </a:buClr>
              <a:buSzPts val="938"/>
              <a:buFont typeface="Arial"/>
              <a:buChar char="•"/>
            </a:pPr>
            <a:r>
              <a:rPr b="1" lang="en-US" sz="938">
                <a:solidFill>
                  <a:srgbClr val="000000"/>
                </a:solidFill>
                <a:latin typeface="Arial"/>
                <a:ea typeface="Arial"/>
                <a:cs typeface="Arial"/>
                <a:sym typeface="Arial"/>
              </a:rPr>
              <a:t>Technological acceleration through AI: </a:t>
            </a:r>
            <a:r>
              <a:rPr lang="en-US" sz="938">
                <a:solidFill>
                  <a:srgbClr val="000000"/>
                </a:solidFill>
                <a:latin typeface="Arial"/>
                <a:ea typeface="Arial"/>
                <a:cs typeface="Arial"/>
                <a:sym typeface="Arial"/>
              </a:rPr>
              <a:t>The $1.1 billion partnership with Microsoft enables the deployment of generative AI to personalize marketing and optimize production through “digital twins.” These innovations have already increased supply chain efficiency by 15% and aim to reduce time to market for new products by 30%.</a:t>
            </a:r>
            <a:endParaRPr/>
          </a:p>
          <a:p>
            <a:pPr indent="-160734" lvl="0" marL="160734" marR="0" rtl="0" algn="just">
              <a:lnSpc>
                <a:spcPct val="119981"/>
              </a:lnSpc>
              <a:spcBef>
                <a:spcPts val="0"/>
              </a:spcBef>
              <a:spcAft>
                <a:spcPts val="0"/>
              </a:spcAft>
              <a:buClr>
                <a:srgbClr val="000000"/>
              </a:buClr>
              <a:buSzPts val="938"/>
              <a:buFont typeface="Arial"/>
              <a:buChar char="•"/>
            </a:pPr>
            <a:r>
              <a:rPr b="1" lang="en-US" sz="938">
                <a:solidFill>
                  <a:srgbClr val="000000"/>
                </a:solidFill>
                <a:latin typeface="Arial"/>
                <a:ea typeface="Arial"/>
                <a:cs typeface="Arial"/>
                <a:sym typeface="Arial"/>
              </a:rPr>
              <a:t>Expansion of the Total Beverage portfolio: </a:t>
            </a:r>
            <a:r>
              <a:rPr lang="en-US" sz="938">
                <a:solidFill>
                  <a:srgbClr val="000000"/>
                </a:solidFill>
                <a:latin typeface="Arial"/>
                <a:ea typeface="Arial"/>
                <a:cs typeface="Arial"/>
                <a:sym typeface="Arial"/>
              </a:rPr>
              <a:t>The Coca-Cola Zero Sugar segment, growing 14% in 2025, remains a key driver in capturing the 72% of global consumers seeking to reduce their sugar intake. Diversification continues with double-digit success for fairlife (premium dairy products) and the international expansion of BODYARMOR in Europe.</a:t>
            </a:r>
            <a:endParaRPr/>
          </a:p>
          <a:p>
            <a:pPr indent="-160734" lvl="0" marL="160734" marR="0" rtl="0" algn="just">
              <a:lnSpc>
                <a:spcPct val="119981"/>
              </a:lnSpc>
              <a:spcBef>
                <a:spcPts val="0"/>
              </a:spcBef>
              <a:spcAft>
                <a:spcPts val="0"/>
              </a:spcAft>
              <a:buClr>
                <a:srgbClr val="000000"/>
              </a:buClr>
              <a:buSzPts val="938"/>
              <a:buFont typeface="Arial"/>
              <a:buChar char="•"/>
            </a:pPr>
            <a:r>
              <a:rPr b="1" lang="en-US" sz="938">
                <a:solidFill>
                  <a:srgbClr val="000000"/>
                </a:solidFill>
                <a:latin typeface="Arial"/>
                <a:ea typeface="Arial"/>
                <a:cs typeface="Arial"/>
                <a:sym typeface="Arial"/>
              </a:rPr>
              <a:t>Dynamic emerging markets and asset-light model: </a:t>
            </a:r>
            <a:r>
              <a:rPr lang="en-US" sz="938">
                <a:solidFill>
                  <a:srgbClr val="000000"/>
                </a:solidFill>
                <a:latin typeface="Arial"/>
                <a:ea typeface="Arial"/>
                <a:cs typeface="Arial"/>
                <a:sym typeface="Arial"/>
              </a:rPr>
              <a:t>Latin America outperformed at the end of 2025 with 8% organic growth (-5% growth for the group in Q4), while the refranchising of bottling operations in India generated a gain of $102 million. This franchise strategy maintains a high EBITDA margin of 33% while minimizing capital requirements.</a:t>
            </a:r>
            <a:endParaRPr/>
          </a:p>
          <a:p>
            <a:pPr indent="-160734" lvl="0" marL="160734" marR="0" rtl="0" algn="just">
              <a:lnSpc>
                <a:spcPct val="119981"/>
              </a:lnSpc>
              <a:spcBef>
                <a:spcPts val="0"/>
              </a:spcBef>
              <a:spcAft>
                <a:spcPts val="0"/>
              </a:spcAft>
              <a:buClr>
                <a:srgbClr val="000000"/>
              </a:buClr>
              <a:buSzPts val="938"/>
              <a:buFont typeface="Arial"/>
              <a:buChar char="•"/>
            </a:pPr>
            <a:r>
              <a:rPr b="1" lang="en-US" sz="938">
                <a:solidFill>
                  <a:srgbClr val="000000"/>
                </a:solidFill>
                <a:latin typeface="Arial"/>
                <a:ea typeface="Arial"/>
                <a:cs typeface="Arial"/>
                <a:sym typeface="Arial"/>
              </a:rPr>
              <a:t>Financial acceleration (2027-2028): </a:t>
            </a:r>
            <a:r>
              <a:rPr lang="en-US" sz="938">
                <a:solidFill>
                  <a:srgbClr val="000000"/>
                </a:solidFill>
                <a:latin typeface="Arial"/>
                <a:ea typeface="Arial"/>
                <a:cs typeface="Arial"/>
                <a:sym typeface="Arial"/>
              </a:rPr>
              <a:t>After a transition phase in 2026, projections indicate a massive 15% rebound in operating income growth in 2027 to reach $16.99 billion. In 2028, operating income is expected to exceed $18.05 billion, supported by stabilizing margins and increased operational efficiency.</a:t>
            </a:r>
            <a:endParaRPr sz="938">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descr="Une image contenant ligne, Tracé, diagramme, pente&#10;&#10;Le contenu généré par l’IA peut être incorrect." id="288" name="Google Shape;288;p6"/>
          <p:cNvPicPr preferRelativeResize="0"/>
          <p:nvPr/>
        </p:nvPicPr>
        <p:blipFill rotWithShape="1">
          <a:blip r:embed="rId3">
            <a:alphaModFix/>
          </a:blip>
          <a:srcRect b="0" l="0" r="0" t="0"/>
          <a:stretch/>
        </p:blipFill>
        <p:spPr>
          <a:xfrm>
            <a:off x="618101" y="919809"/>
            <a:ext cx="8193045" cy="3761092"/>
          </a:xfrm>
          <a:prstGeom prst="rect">
            <a:avLst/>
          </a:prstGeom>
          <a:noFill/>
          <a:ln>
            <a:noFill/>
          </a:ln>
        </p:spPr>
      </p:pic>
      <p:grpSp>
        <p:nvGrpSpPr>
          <p:cNvPr id="289" name="Google Shape;289;p6"/>
          <p:cNvGrpSpPr/>
          <p:nvPr/>
        </p:nvGrpSpPr>
        <p:grpSpPr>
          <a:xfrm>
            <a:off x="-2192501" y="2633500"/>
            <a:ext cx="1970251" cy="496313"/>
            <a:chOff x="0" y="-28575"/>
            <a:chExt cx="2802135" cy="705866"/>
          </a:xfrm>
        </p:grpSpPr>
        <p:sp>
          <p:nvSpPr>
            <p:cNvPr id="290" name="Google Shape;290;p6"/>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91" name="Google Shape;291;p6"/>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292" name="Google Shape;292;p6"/>
          <p:cNvGrpSpPr/>
          <p:nvPr/>
        </p:nvGrpSpPr>
        <p:grpSpPr>
          <a:xfrm>
            <a:off x="-2186151" y="3363382"/>
            <a:ext cx="1957566" cy="486436"/>
            <a:chOff x="0" y="-28575"/>
            <a:chExt cx="2784094" cy="691820"/>
          </a:xfrm>
        </p:grpSpPr>
        <p:sp>
          <p:nvSpPr>
            <p:cNvPr id="293" name="Google Shape;293;p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94" name="Google Shape;294;p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295" name="Google Shape;295;p6"/>
          <p:cNvGrpSpPr/>
          <p:nvPr/>
        </p:nvGrpSpPr>
        <p:grpSpPr>
          <a:xfrm>
            <a:off x="-2186151" y="4089757"/>
            <a:ext cx="1957566" cy="486436"/>
            <a:chOff x="0" y="-28575"/>
            <a:chExt cx="2784094" cy="691820"/>
          </a:xfrm>
        </p:grpSpPr>
        <p:sp>
          <p:nvSpPr>
            <p:cNvPr id="296" name="Google Shape;296;p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297" name="Google Shape;297;p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298" name="Google Shape;298;p6"/>
          <p:cNvGrpSpPr/>
          <p:nvPr/>
        </p:nvGrpSpPr>
        <p:grpSpPr>
          <a:xfrm>
            <a:off x="-2186151" y="4816132"/>
            <a:ext cx="1957566" cy="486436"/>
            <a:chOff x="0" y="-28575"/>
            <a:chExt cx="2784094" cy="691820"/>
          </a:xfrm>
        </p:grpSpPr>
        <p:sp>
          <p:nvSpPr>
            <p:cNvPr id="299" name="Google Shape;299;p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00" name="Google Shape;300;p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301" name="Google Shape;301;p6"/>
          <p:cNvGrpSpPr/>
          <p:nvPr/>
        </p:nvGrpSpPr>
        <p:grpSpPr>
          <a:xfrm>
            <a:off x="-2186151" y="5542509"/>
            <a:ext cx="1957566" cy="486436"/>
            <a:chOff x="0" y="-28575"/>
            <a:chExt cx="2784094" cy="691820"/>
          </a:xfrm>
        </p:grpSpPr>
        <p:sp>
          <p:nvSpPr>
            <p:cNvPr id="302" name="Google Shape;302;p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03" name="Google Shape;303;p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304" name="Google Shape;304;p6"/>
          <p:cNvGrpSpPr/>
          <p:nvPr/>
        </p:nvGrpSpPr>
        <p:grpSpPr>
          <a:xfrm>
            <a:off x="-2186151" y="1916319"/>
            <a:ext cx="1957566" cy="483632"/>
            <a:chOff x="0" y="-28575"/>
            <a:chExt cx="2784094" cy="687832"/>
          </a:xfrm>
        </p:grpSpPr>
        <p:sp>
          <p:nvSpPr>
            <p:cNvPr id="305" name="Google Shape;305;p6"/>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06" name="Google Shape;306;p6"/>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307" name="Google Shape;307;p6"/>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308" name="Google Shape;308;p6"/>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309" name="Google Shape;309;p6"/>
          <p:cNvCxnSpPr/>
          <p:nvPr/>
        </p:nvCxnSpPr>
        <p:spPr>
          <a:xfrm>
            <a:off x="24" y="6535937"/>
            <a:ext cx="9166225" cy="23813"/>
          </a:xfrm>
          <a:prstGeom prst="straightConnector1">
            <a:avLst/>
          </a:prstGeom>
          <a:noFill/>
          <a:ln cap="rnd" cmpd="sng" w="19050">
            <a:solidFill>
              <a:srgbClr val="39598F"/>
            </a:solidFill>
            <a:prstDash val="solid"/>
            <a:round/>
            <a:headEnd len="sm" w="sm" type="none"/>
            <a:tailEnd len="sm" w="sm" type="none"/>
          </a:ln>
        </p:spPr>
      </p:cxnSp>
      <p:sp>
        <p:nvSpPr>
          <p:cNvPr id="310" name="Google Shape;310;p6"/>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4">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11" name="Google Shape;311;p6"/>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312" name="Google Shape;312;p6"/>
          <p:cNvSpPr txBox="1"/>
          <p:nvPr/>
        </p:nvSpPr>
        <p:spPr>
          <a:xfrm>
            <a:off x="77724" y="6563142"/>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sp>
        <p:nvSpPr>
          <p:cNvPr id="313" name="Google Shape;313;p6"/>
          <p:cNvSpPr txBox="1"/>
          <p:nvPr/>
        </p:nvSpPr>
        <p:spPr>
          <a:xfrm>
            <a:off x="64294" y="455032"/>
            <a:ext cx="4361117"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Historical Share Price Analysis</a:t>
            </a:r>
            <a:endParaRPr sz="1688">
              <a:solidFill>
                <a:schemeClr val="dk1"/>
              </a:solidFill>
              <a:latin typeface="Arial"/>
              <a:ea typeface="Arial"/>
              <a:cs typeface="Arial"/>
              <a:sym typeface="Arial"/>
            </a:endParaRPr>
          </a:p>
        </p:txBody>
      </p:sp>
      <p:sp>
        <p:nvSpPr>
          <p:cNvPr id="314" name="Google Shape;314;p6"/>
          <p:cNvSpPr txBox="1"/>
          <p:nvPr/>
        </p:nvSpPr>
        <p:spPr>
          <a:xfrm>
            <a:off x="377439" y="4783540"/>
            <a:ext cx="4048858" cy="1558696"/>
          </a:xfrm>
          <a:prstGeom prst="rect">
            <a:avLst/>
          </a:prstGeom>
          <a:noFill/>
          <a:ln>
            <a:noFill/>
          </a:ln>
        </p:spPr>
        <p:txBody>
          <a:bodyPr anchorCtr="0" anchor="t" bIns="0" lIns="0" spcFirstLastPara="1" rIns="0" wrap="square" tIns="0">
            <a:spAutoFit/>
          </a:bodyPr>
          <a:lstStyle/>
          <a:p>
            <a:pPr indent="-102660" lvl="1" marL="205320" marR="0" rtl="0" algn="just">
              <a:lnSpc>
                <a:spcPct val="120019"/>
              </a:lnSpc>
              <a:spcBef>
                <a:spcPts val="0"/>
              </a:spcBef>
              <a:spcAft>
                <a:spcPts val="0"/>
              </a:spcAft>
              <a:buClr>
                <a:srgbClr val="132E57"/>
              </a:buClr>
              <a:buSzPts val="1014"/>
              <a:buFont typeface="Arial"/>
              <a:buAutoNum type="arabicPeriod"/>
            </a:pPr>
            <a:r>
              <a:rPr b="1" i="0" lang="en-US" sz="938" u="none" cap="none" strike="noStrike">
                <a:solidFill>
                  <a:srgbClr val="132E57"/>
                </a:solidFill>
                <a:latin typeface="Arial"/>
                <a:ea typeface="Arial"/>
                <a:cs typeface="Arial"/>
                <a:sym typeface="Arial"/>
              </a:rPr>
              <a:t>1977 </a:t>
            </a:r>
            <a:r>
              <a:rPr b="0" i="0" lang="en-US" sz="938" u="none" cap="none" strike="noStrike">
                <a:solidFill>
                  <a:srgbClr val="132E57"/>
                </a:solidFill>
                <a:latin typeface="Arial"/>
                <a:ea typeface="Arial"/>
                <a:cs typeface="Arial"/>
                <a:sym typeface="Arial"/>
              </a:rPr>
              <a:t>–</a:t>
            </a:r>
            <a:r>
              <a:rPr b="1" i="0" lang="en-US" sz="938" u="none" cap="none" strike="noStrike">
                <a:solidFill>
                  <a:srgbClr val="132E57"/>
                </a:solidFill>
                <a:latin typeface="Arial"/>
                <a:ea typeface="Arial"/>
                <a:cs typeface="Arial"/>
                <a:sym typeface="Arial"/>
              </a:rPr>
              <a:t> </a:t>
            </a:r>
            <a:r>
              <a:rPr b="0" i="0" lang="en-US" sz="938" u="none" cap="none" strike="noStrike">
                <a:solidFill>
                  <a:srgbClr val="132E57"/>
                </a:solidFill>
                <a:latin typeface="Arial"/>
                <a:ea typeface="Arial"/>
                <a:cs typeface="Arial"/>
                <a:sym typeface="Arial"/>
              </a:rPr>
              <a:t>stock splits: shares were divided by 2 (2:1) to make the stock more accessible</a:t>
            </a:r>
            <a:endParaRPr/>
          </a:p>
          <a:p>
            <a:pPr indent="-102660" lvl="1" marL="205320" marR="0" rtl="0" algn="just">
              <a:lnSpc>
                <a:spcPct val="120019"/>
              </a:lnSpc>
              <a:spcBef>
                <a:spcPts val="0"/>
              </a:spcBef>
              <a:spcAft>
                <a:spcPts val="0"/>
              </a:spcAft>
              <a:buClr>
                <a:srgbClr val="132E57"/>
              </a:buClr>
              <a:buSzPts val="1014"/>
              <a:buFont typeface="Arial"/>
              <a:buAutoNum type="arabicPeriod"/>
            </a:pPr>
            <a:r>
              <a:rPr b="1" i="0" lang="en-US" sz="938" u="none" cap="none" strike="noStrike">
                <a:solidFill>
                  <a:srgbClr val="132E57"/>
                </a:solidFill>
                <a:latin typeface="Arial"/>
                <a:ea typeface="Arial"/>
                <a:cs typeface="Arial"/>
                <a:sym typeface="Arial"/>
              </a:rPr>
              <a:t> 1982</a:t>
            </a:r>
            <a:r>
              <a:rPr b="0" i="0" lang="en-US" sz="938" u="none" cap="none" strike="noStrike">
                <a:solidFill>
                  <a:srgbClr val="132E57"/>
                </a:solidFill>
                <a:latin typeface="Arial"/>
                <a:ea typeface="Arial"/>
                <a:cs typeface="Arial"/>
                <a:sym typeface="Arial"/>
              </a:rPr>
              <a:t> – Launch of Diet Coke: first new product to use the Coca-Cola brand since 1886</a:t>
            </a:r>
            <a:endParaRPr/>
          </a:p>
          <a:p>
            <a:pPr indent="-102660" lvl="1" marL="205320" marR="0" rtl="0" algn="just">
              <a:lnSpc>
                <a:spcPct val="120019"/>
              </a:lnSpc>
              <a:spcBef>
                <a:spcPts val="0"/>
              </a:spcBef>
              <a:spcAft>
                <a:spcPts val="0"/>
              </a:spcAft>
              <a:buClr>
                <a:srgbClr val="132E57"/>
              </a:buClr>
              <a:buSzPts val="1014"/>
              <a:buFont typeface="Arial"/>
              <a:buAutoNum type="arabicPeriod"/>
            </a:pPr>
            <a:r>
              <a:rPr b="1" i="0" lang="en-US" sz="938" u="none" cap="none" strike="noStrike">
                <a:solidFill>
                  <a:srgbClr val="132E57"/>
                </a:solidFill>
                <a:latin typeface="Arial"/>
                <a:ea typeface="Arial"/>
                <a:cs typeface="Arial"/>
                <a:sym typeface="Arial"/>
              </a:rPr>
              <a:t> 1985</a:t>
            </a:r>
            <a:r>
              <a:rPr b="0" i="0" lang="en-US" sz="938" u="none" cap="none" strike="noStrike">
                <a:solidFill>
                  <a:srgbClr val="132E57"/>
                </a:solidFill>
                <a:latin typeface="Arial"/>
                <a:ea typeface="Arial"/>
                <a:cs typeface="Arial"/>
                <a:sym typeface="Arial"/>
              </a:rPr>
              <a:t> – The “New Coke” disaster : changing the original formula after 99 years caused a public outcry and marked one of the worst marketing mistakes in history.</a:t>
            </a:r>
            <a:endParaRPr/>
          </a:p>
          <a:p>
            <a:pPr indent="-102660" lvl="1" marL="205320" marR="0" rtl="0" algn="just">
              <a:lnSpc>
                <a:spcPct val="120019"/>
              </a:lnSpc>
              <a:spcBef>
                <a:spcPts val="0"/>
              </a:spcBef>
              <a:spcAft>
                <a:spcPts val="0"/>
              </a:spcAft>
              <a:buClr>
                <a:srgbClr val="132E57"/>
              </a:buClr>
              <a:buSzPts val="1014"/>
              <a:buFont typeface="Arial"/>
              <a:buAutoNum type="arabicPeriod"/>
            </a:pPr>
            <a:r>
              <a:rPr b="1" i="0" lang="en-US" sz="938" u="none" cap="none" strike="noStrike">
                <a:solidFill>
                  <a:srgbClr val="132E57"/>
                </a:solidFill>
                <a:latin typeface="Arial"/>
                <a:ea typeface="Arial"/>
                <a:cs typeface="Arial"/>
                <a:sym typeface="Arial"/>
              </a:rPr>
              <a:t> 1986</a:t>
            </a:r>
            <a:r>
              <a:rPr b="0" i="0" lang="en-US" sz="938" u="none" cap="none" strike="noStrike">
                <a:solidFill>
                  <a:srgbClr val="132E57"/>
                </a:solidFill>
                <a:latin typeface="Arial"/>
                <a:ea typeface="Arial"/>
                <a:cs typeface="Arial"/>
                <a:sym typeface="Arial"/>
              </a:rPr>
              <a:t> – The return of the “Classic” formula and the split: followed by a 3-for-1 stock split</a:t>
            </a:r>
            <a:endParaRPr/>
          </a:p>
        </p:txBody>
      </p:sp>
      <p:sp>
        <p:nvSpPr>
          <p:cNvPr id="315" name="Google Shape;315;p6"/>
          <p:cNvSpPr txBox="1"/>
          <p:nvPr/>
        </p:nvSpPr>
        <p:spPr>
          <a:xfrm>
            <a:off x="4633608" y="4783541"/>
            <a:ext cx="4048858" cy="2078261"/>
          </a:xfrm>
          <a:prstGeom prst="rect">
            <a:avLst/>
          </a:prstGeom>
          <a:noFill/>
          <a:ln>
            <a:noFill/>
          </a:ln>
        </p:spPr>
        <p:txBody>
          <a:bodyPr anchorCtr="0" anchor="t" bIns="0" lIns="0" spcFirstLastPara="1" rIns="0" wrap="square" tIns="0">
            <a:spAutoFit/>
          </a:bodyPr>
          <a:lstStyle/>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5. 1988 </a:t>
            </a:r>
            <a:r>
              <a:rPr lang="en-US" sz="938">
                <a:solidFill>
                  <a:srgbClr val="132E57"/>
                </a:solidFill>
                <a:latin typeface="Arial"/>
                <a:ea typeface="Arial"/>
                <a:cs typeface="Arial"/>
                <a:sym typeface="Arial"/>
              </a:rPr>
              <a:t>– Warren Buffett's entry ($1.3bn) - validation of “safe haven” status</a:t>
            </a:r>
            <a:endParaRPr b="1" sz="938">
              <a:solidFill>
                <a:srgbClr val="132E57"/>
              </a:solidFill>
              <a:latin typeface="Arial"/>
              <a:ea typeface="Arial"/>
              <a:cs typeface="Arial"/>
              <a:sym typeface="Arial"/>
            </a:endParaRPr>
          </a:p>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6. 1999</a:t>
            </a:r>
            <a:r>
              <a:rPr lang="en-US" sz="938">
                <a:solidFill>
                  <a:srgbClr val="132E57"/>
                </a:solidFill>
                <a:latin typeface="Arial"/>
                <a:ea typeface="Arial"/>
                <a:cs typeface="Arial"/>
                <a:sym typeface="Arial"/>
              </a:rPr>
              <a:t> – The contamination crisis in Belgium</a:t>
            </a:r>
            <a:endParaRPr/>
          </a:p>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7. 2012</a:t>
            </a:r>
            <a:r>
              <a:rPr lang="en-US" sz="938">
                <a:solidFill>
                  <a:srgbClr val="132E57"/>
                </a:solidFill>
                <a:latin typeface="Arial"/>
                <a:ea typeface="Arial"/>
                <a:cs typeface="Arial"/>
                <a:sym typeface="Arial"/>
              </a:rPr>
              <a:t> – The 2012 split: new 2:1 split to maintain the stock's liquidity</a:t>
            </a:r>
            <a:endParaRPr/>
          </a:p>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8. 2018</a:t>
            </a:r>
            <a:r>
              <a:rPr lang="en-US" sz="938">
                <a:solidFill>
                  <a:srgbClr val="132E57"/>
                </a:solidFill>
                <a:latin typeface="Arial"/>
                <a:ea typeface="Arial"/>
                <a:cs typeface="Arial"/>
                <a:sym typeface="Arial"/>
              </a:rPr>
              <a:t> – The acquisition of Costa Coffee : $5.1 billion buyout marked the strategic pivot towards a “Total Beverage Company”</a:t>
            </a:r>
            <a:endParaRPr/>
          </a:p>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9. 2020</a:t>
            </a:r>
            <a:r>
              <a:rPr lang="en-US" sz="938">
                <a:solidFill>
                  <a:srgbClr val="132E57"/>
                </a:solidFill>
                <a:latin typeface="Arial"/>
                <a:ea typeface="Arial"/>
                <a:cs typeface="Arial"/>
                <a:sym typeface="Arial"/>
              </a:rPr>
              <a:t> – temporary decline due to the closure of “out-of-home” consumption channels</a:t>
            </a:r>
            <a:endParaRPr/>
          </a:p>
          <a:p>
            <a:pPr indent="0" lvl="0" marL="0" marR="0" rtl="0" algn="just">
              <a:lnSpc>
                <a:spcPct val="120019"/>
              </a:lnSpc>
              <a:spcBef>
                <a:spcPts val="0"/>
              </a:spcBef>
              <a:spcAft>
                <a:spcPts val="0"/>
              </a:spcAft>
              <a:buNone/>
            </a:pPr>
            <a:r>
              <a:rPr b="1" lang="en-US" sz="938">
                <a:solidFill>
                  <a:srgbClr val="132E57"/>
                </a:solidFill>
                <a:latin typeface="Arial"/>
                <a:ea typeface="Arial"/>
                <a:cs typeface="Arial"/>
                <a:sym typeface="Arial"/>
              </a:rPr>
              <a:t>10. 2026 </a:t>
            </a:r>
            <a:r>
              <a:rPr lang="en-US" sz="938">
                <a:solidFill>
                  <a:srgbClr val="132E57"/>
                </a:solidFill>
                <a:latin typeface="Arial"/>
                <a:ea typeface="Arial"/>
                <a:cs typeface="Arial"/>
                <a:sym typeface="Arial"/>
              </a:rPr>
              <a:t>– new dividend increase for the 65th consecutive year</a:t>
            </a:r>
            <a:endParaRPr sz="938">
              <a:solidFill>
                <a:schemeClr val="dk1"/>
              </a:solidFill>
              <a:latin typeface="Arial"/>
              <a:ea typeface="Arial"/>
              <a:cs typeface="Arial"/>
              <a:sym typeface="Arial"/>
            </a:endParaRPr>
          </a:p>
          <a:p>
            <a:pPr indent="0" lvl="0" marL="0" marR="0" rtl="0" algn="just">
              <a:lnSpc>
                <a:spcPct val="120019"/>
              </a:lnSpc>
              <a:spcBef>
                <a:spcPts val="0"/>
              </a:spcBef>
              <a:spcAft>
                <a:spcPts val="0"/>
              </a:spcAft>
              <a:buNone/>
            </a:pPr>
            <a:r>
              <a:t/>
            </a:r>
            <a:endParaRPr sz="938">
              <a:solidFill>
                <a:srgbClr val="132E57"/>
              </a:solidFill>
              <a:latin typeface="Arial"/>
              <a:ea typeface="Arial"/>
              <a:cs typeface="Arial"/>
              <a:sym typeface="Arial"/>
            </a:endParaRPr>
          </a:p>
          <a:p>
            <a:pPr indent="0" lvl="0" marL="0" marR="0" rtl="0" algn="just">
              <a:lnSpc>
                <a:spcPct val="120019"/>
              </a:lnSpc>
              <a:spcBef>
                <a:spcPts val="0"/>
              </a:spcBef>
              <a:spcAft>
                <a:spcPts val="0"/>
              </a:spcAft>
              <a:buNone/>
            </a:pPr>
            <a:r>
              <a:t/>
            </a:r>
            <a:endParaRPr sz="938">
              <a:solidFill>
                <a:srgbClr val="132E57"/>
              </a:solidFill>
              <a:latin typeface="Arial"/>
              <a:ea typeface="Arial"/>
              <a:cs typeface="Arial"/>
              <a:sym typeface="Arial"/>
            </a:endParaRPr>
          </a:p>
          <a:p>
            <a:pPr indent="0" lvl="0" marL="0" marR="0" rtl="0" algn="just">
              <a:lnSpc>
                <a:spcPct val="120019"/>
              </a:lnSpc>
              <a:spcBef>
                <a:spcPts val="0"/>
              </a:spcBef>
              <a:spcAft>
                <a:spcPts val="0"/>
              </a:spcAft>
              <a:buNone/>
            </a:pPr>
            <a:r>
              <a:t/>
            </a:r>
            <a:endParaRPr sz="938">
              <a:solidFill>
                <a:srgbClr val="132E57"/>
              </a:solidFill>
              <a:latin typeface="Arial"/>
              <a:ea typeface="Arial"/>
              <a:cs typeface="Arial"/>
              <a:sym typeface="Arial"/>
            </a:endParaRPr>
          </a:p>
          <a:p>
            <a:pPr indent="0" lvl="0" marL="0" marR="0" rtl="0" algn="just">
              <a:lnSpc>
                <a:spcPct val="120019"/>
              </a:lnSpc>
              <a:spcBef>
                <a:spcPts val="0"/>
              </a:spcBef>
              <a:spcAft>
                <a:spcPts val="0"/>
              </a:spcAft>
              <a:buNone/>
            </a:pPr>
            <a:r>
              <a:t/>
            </a:r>
            <a:endParaRPr sz="938">
              <a:solidFill>
                <a:srgbClr val="132E57"/>
              </a:solidFill>
              <a:latin typeface="Arial"/>
              <a:ea typeface="Arial"/>
              <a:cs typeface="Arial"/>
              <a:sym typeface="Arial"/>
            </a:endParaRPr>
          </a:p>
        </p:txBody>
      </p:sp>
      <p:sp>
        <p:nvSpPr>
          <p:cNvPr id="316" name="Google Shape;316;p6"/>
          <p:cNvSpPr/>
          <p:nvPr/>
        </p:nvSpPr>
        <p:spPr>
          <a:xfrm>
            <a:off x="1" y="-173138"/>
            <a:ext cx="173185" cy="346276"/>
          </a:xfrm>
          <a:prstGeom prst="rect">
            <a:avLst/>
          </a:prstGeom>
          <a:noFill/>
          <a:ln>
            <a:noFill/>
          </a:ln>
        </p:spPr>
        <p:txBody>
          <a:bodyPr anchorCtr="0" anchor="ctr" bIns="42825" lIns="85700" spcFirstLastPara="1" rIns="85700" wrap="square" tIns="42825">
            <a:sp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317" name="Google Shape;317;p6"/>
          <p:cNvSpPr txBox="1"/>
          <p:nvPr/>
        </p:nvSpPr>
        <p:spPr>
          <a:xfrm>
            <a:off x="1567339" y="3948529"/>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1</a:t>
            </a:r>
            <a:endParaRPr sz="1688">
              <a:solidFill>
                <a:schemeClr val="dk1"/>
              </a:solidFill>
              <a:latin typeface="Arial"/>
              <a:ea typeface="Arial"/>
              <a:cs typeface="Arial"/>
              <a:sym typeface="Arial"/>
            </a:endParaRPr>
          </a:p>
        </p:txBody>
      </p:sp>
      <p:sp>
        <p:nvSpPr>
          <p:cNvPr id="318" name="Google Shape;318;p6"/>
          <p:cNvSpPr txBox="1"/>
          <p:nvPr/>
        </p:nvSpPr>
        <p:spPr>
          <a:xfrm>
            <a:off x="2244852" y="3974340"/>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2</a:t>
            </a:r>
            <a:endParaRPr sz="1688">
              <a:solidFill>
                <a:schemeClr val="dk1"/>
              </a:solidFill>
              <a:latin typeface="Arial"/>
              <a:ea typeface="Arial"/>
              <a:cs typeface="Arial"/>
              <a:sym typeface="Arial"/>
            </a:endParaRPr>
          </a:p>
        </p:txBody>
      </p:sp>
      <p:sp>
        <p:nvSpPr>
          <p:cNvPr id="319" name="Google Shape;319;p6"/>
          <p:cNvSpPr txBox="1"/>
          <p:nvPr/>
        </p:nvSpPr>
        <p:spPr>
          <a:xfrm>
            <a:off x="2777738" y="3521468"/>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3</a:t>
            </a:r>
            <a:endParaRPr sz="1688">
              <a:solidFill>
                <a:schemeClr val="dk1"/>
              </a:solidFill>
              <a:latin typeface="Arial"/>
              <a:ea typeface="Arial"/>
              <a:cs typeface="Arial"/>
              <a:sym typeface="Arial"/>
            </a:endParaRPr>
          </a:p>
        </p:txBody>
      </p:sp>
      <p:sp>
        <p:nvSpPr>
          <p:cNvPr id="320" name="Google Shape;320;p6"/>
          <p:cNvSpPr txBox="1"/>
          <p:nvPr/>
        </p:nvSpPr>
        <p:spPr>
          <a:xfrm>
            <a:off x="2901248" y="3392689"/>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4</a:t>
            </a:r>
            <a:endParaRPr sz="1688">
              <a:solidFill>
                <a:schemeClr val="dk1"/>
              </a:solidFill>
              <a:latin typeface="Arial"/>
              <a:ea typeface="Arial"/>
              <a:cs typeface="Arial"/>
              <a:sym typeface="Arial"/>
            </a:endParaRPr>
          </a:p>
        </p:txBody>
      </p:sp>
      <p:sp>
        <p:nvSpPr>
          <p:cNvPr id="321" name="Google Shape;321;p6"/>
          <p:cNvSpPr txBox="1"/>
          <p:nvPr/>
        </p:nvSpPr>
        <p:spPr>
          <a:xfrm>
            <a:off x="3086513" y="3342704"/>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5</a:t>
            </a:r>
            <a:endParaRPr sz="1688">
              <a:solidFill>
                <a:schemeClr val="dk1"/>
              </a:solidFill>
              <a:latin typeface="Arial"/>
              <a:ea typeface="Arial"/>
              <a:cs typeface="Arial"/>
              <a:sym typeface="Arial"/>
            </a:endParaRPr>
          </a:p>
        </p:txBody>
      </p:sp>
      <p:sp>
        <p:nvSpPr>
          <p:cNvPr id="322" name="Google Shape;322;p6"/>
          <p:cNvSpPr txBox="1"/>
          <p:nvPr/>
        </p:nvSpPr>
        <p:spPr>
          <a:xfrm>
            <a:off x="4648326" y="2067647"/>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6</a:t>
            </a:r>
            <a:endParaRPr sz="1688">
              <a:solidFill>
                <a:schemeClr val="dk1"/>
              </a:solidFill>
              <a:latin typeface="Arial"/>
              <a:ea typeface="Arial"/>
              <a:cs typeface="Arial"/>
              <a:sym typeface="Arial"/>
            </a:endParaRPr>
          </a:p>
        </p:txBody>
      </p:sp>
      <p:sp>
        <p:nvSpPr>
          <p:cNvPr id="323" name="Google Shape;323;p6"/>
          <p:cNvSpPr txBox="1"/>
          <p:nvPr/>
        </p:nvSpPr>
        <p:spPr>
          <a:xfrm>
            <a:off x="6307340" y="1812267"/>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7</a:t>
            </a:r>
            <a:endParaRPr sz="1688">
              <a:solidFill>
                <a:schemeClr val="dk1"/>
              </a:solidFill>
              <a:latin typeface="Arial"/>
              <a:ea typeface="Arial"/>
              <a:cs typeface="Arial"/>
              <a:sym typeface="Arial"/>
            </a:endParaRPr>
          </a:p>
        </p:txBody>
      </p:sp>
      <p:sp>
        <p:nvSpPr>
          <p:cNvPr id="324" name="Google Shape;324;p6"/>
          <p:cNvSpPr txBox="1"/>
          <p:nvPr/>
        </p:nvSpPr>
        <p:spPr>
          <a:xfrm>
            <a:off x="7059327" y="1622995"/>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8</a:t>
            </a:r>
            <a:endParaRPr sz="1688">
              <a:solidFill>
                <a:schemeClr val="dk1"/>
              </a:solidFill>
              <a:latin typeface="Arial"/>
              <a:ea typeface="Arial"/>
              <a:cs typeface="Arial"/>
              <a:sym typeface="Arial"/>
            </a:endParaRPr>
          </a:p>
        </p:txBody>
      </p:sp>
      <p:sp>
        <p:nvSpPr>
          <p:cNvPr id="325" name="Google Shape;325;p6"/>
          <p:cNvSpPr txBox="1"/>
          <p:nvPr/>
        </p:nvSpPr>
        <p:spPr>
          <a:xfrm>
            <a:off x="7357017" y="1622995"/>
            <a:ext cx="123510"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9</a:t>
            </a:r>
            <a:endParaRPr sz="1688">
              <a:solidFill>
                <a:schemeClr val="dk1"/>
              </a:solidFill>
              <a:latin typeface="Arial"/>
              <a:ea typeface="Arial"/>
              <a:cs typeface="Arial"/>
              <a:sym typeface="Arial"/>
            </a:endParaRPr>
          </a:p>
        </p:txBody>
      </p:sp>
      <p:sp>
        <p:nvSpPr>
          <p:cNvPr id="326" name="Google Shape;326;p6"/>
          <p:cNvSpPr txBox="1"/>
          <p:nvPr/>
        </p:nvSpPr>
        <p:spPr>
          <a:xfrm>
            <a:off x="8045351" y="1371588"/>
            <a:ext cx="369665" cy="230860"/>
          </a:xfrm>
          <a:prstGeom prst="rect">
            <a:avLst/>
          </a:prstGeom>
          <a:noFill/>
          <a:ln>
            <a:noFill/>
          </a:ln>
        </p:spPr>
        <p:txBody>
          <a:bodyPr anchorCtr="0" anchor="t" bIns="42825" lIns="85700" spcFirstLastPara="1" rIns="85700" wrap="square" tIns="42825">
            <a:spAutoFit/>
          </a:bodyPr>
          <a:lstStyle/>
          <a:p>
            <a:pPr indent="0" lvl="0" marL="0" marR="0" rtl="0" algn="l">
              <a:spcBef>
                <a:spcPts val="0"/>
              </a:spcBef>
              <a:spcAft>
                <a:spcPts val="0"/>
              </a:spcAft>
              <a:buNone/>
            </a:pPr>
            <a:r>
              <a:rPr b="1" lang="en-US" sz="938">
                <a:solidFill>
                  <a:srgbClr val="FF0000"/>
                </a:solidFill>
                <a:latin typeface="Calibri"/>
                <a:ea typeface="Calibri"/>
                <a:cs typeface="Calibri"/>
                <a:sym typeface="Calibri"/>
              </a:rPr>
              <a:t>10</a:t>
            </a:r>
            <a:endParaRPr sz="1688">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7"/>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332" name="Google Shape;332;p7"/>
          <p:cNvGrpSpPr/>
          <p:nvPr/>
        </p:nvGrpSpPr>
        <p:grpSpPr>
          <a:xfrm>
            <a:off x="-2192501" y="2633500"/>
            <a:ext cx="1970251" cy="496313"/>
            <a:chOff x="0" y="-28575"/>
            <a:chExt cx="2802135" cy="705866"/>
          </a:xfrm>
        </p:grpSpPr>
        <p:sp>
          <p:nvSpPr>
            <p:cNvPr id="333" name="Google Shape;333;p7"/>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34" name="Google Shape;334;p7"/>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335" name="Google Shape;335;p7"/>
          <p:cNvGrpSpPr/>
          <p:nvPr/>
        </p:nvGrpSpPr>
        <p:grpSpPr>
          <a:xfrm>
            <a:off x="-2186151" y="3363382"/>
            <a:ext cx="1957566" cy="486436"/>
            <a:chOff x="0" y="-28575"/>
            <a:chExt cx="2784094" cy="691820"/>
          </a:xfrm>
        </p:grpSpPr>
        <p:sp>
          <p:nvSpPr>
            <p:cNvPr id="336" name="Google Shape;336;p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37" name="Google Shape;337;p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338" name="Google Shape;338;p7"/>
          <p:cNvGrpSpPr/>
          <p:nvPr/>
        </p:nvGrpSpPr>
        <p:grpSpPr>
          <a:xfrm>
            <a:off x="-2186151" y="4089757"/>
            <a:ext cx="1957566" cy="486436"/>
            <a:chOff x="0" y="-28575"/>
            <a:chExt cx="2784094" cy="691820"/>
          </a:xfrm>
        </p:grpSpPr>
        <p:sp>
          <p:nvSpPr>
            <p:cNvPr id="339" name="Google Shape;339;p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40" name="Google Shape;340;p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341" name="Google Shape;341;p7"/>
          <p:cNvGrpSpPr/>
          <p:nvPr/>
        </p:nvGrpSpPr>
        <p:grpSpPr>
          <a:xfrm>
            <a:off x="-2186151" y="4816132"/>
            <a:ext cx="1957566" cy="486436"/>
            <a:chOff x="0" y="-28575"/>
            <a:chExt cx="2784094" cy="691820"/>
          </a:xfrm>
        </p:grpSpPr>
        <p:sp>
          <p:nvSpPr>
            <p:cNvPr id="342" name="Google Shape;342;p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43" name="Google Shape;343;p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344" name="Google Shape;344;p7"/>
          <p:cNvGrpSpPr/>
          <p:nvPr/>
        </p:nvGrpSpPr>
        <p:grpSpPr>
          <a:xfrm>
            <a:off x="-2186151" y="5542509"/>
            <a:ext cx="1957566" cy="486436"/>
            <a:chOff x="0" y="-28575"/>
            <a:chExt cx="2784094" cy="691820"/>
          </a:xfrm>
        </p:grpSpPr>
        <p:sp>
          <p:nvSpPr>
            <p:cNvPr id="345" name="Google Shape;345;p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46" name="Google Shape;346;p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347" name="Google Shape;347;p7"/>
          <p:cNvGrpSpPr/>
          <p:nvPr/>
        </p:nvGrpSpPr>
        <p:grpSpPr>
          <a:xfrm>
            <a:off x="-2186151" y="1916319"/>
            <a:ext cx="1957566" cy="483632"/>
            <a:chOff x="0" y="-28575"/>
            <a:chExt cx="2784094" cy="687832"/>
          </a:xfrm>
        </p:grpSpPr>
        <p:sp>
          <p:nvSpPr>
            <p:cNvPr id="348" name="Google Shape;348;p7"/>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49" name="Google Shape;349;p7"/>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350" name="Google Shape;350;p7"/>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351" name="Google Shape;351;p7"/>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352" name="Google Shape;352;p7"/>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353" name="Google Shape;353;p7"/>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354" name="Google Shape;354;p7"/>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355" name="Google Shape;355;p7"/>
          <p:cNvGrpSpPr/>
          <p:nvPr/>
        </p:nvGrpSpPr>
        <p:grpSpPr>
          <a:xfrm>
            <a:off x="3252268" y="2818212"/>
            <a:ext cx="2647742" cy="2580970"/>
            <a:chOff x="3464686" y="2446304"/>
            <a:chExt cx="2824258" cy="2753035"/>
          </a:xfrm>
        </p:grpSpPr>
        <p:grpSp>
          <p:nvGrpSpPr>
            <p:cNvPr id="356" name="Google Shape;356;p7"/>
            <p:cNvGrpSpPr/>
            <p:nvPr/>
          </p:nvGrpSpPr>
          <p:grpSpPr>
            <a:xfrm>
              <a:off x="3464687" y="2448986"/>
              <a:ext cx="2824257" cy="339661"/>
              <a:chOff x="-1524" y="-1524"/>
              <a:chExt cx="3765677" cy="452882"/>
            </a:xfrm>
          </p:grpSpPr>
          <p:sp>
            <p:nvSpPr>
              <p:cNvPr id="357" name="Google Shape;357;p7"/>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58" name="Google Shape;358;p7"/>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359" name="Google Shape;359;p7"/>
            <p:cNvSpPr txBox="1"/>
            <p:nvPr/>
          </p:nvSpPr>
          <p:spPr>
            <a:xfrm>
              <a:off x="3551406" y="2446304"/>
              <a:ext cx="115123"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nvGrpSpPr>
            <p:cNvPr id="360" name="Google Shape;360;p7"/>
            <p:cNvGrpSpPr/>
            <p:nvPr/>
          </p:nvGrpSpPr>
          <p:grpSpPr>
            <a:xfrm>
              <a:off x="3482837" y="3364869"/>
              <a:ext cx="339280" cy="365953"/>
              <a:chOff x="0" y="-38100"/>
              <a:chExt cx="452374" cy="487938"/>
            </a:xfrm>
          </p:grpSpPr>
          <p:sp>
            <p:nvSpPr>
              <p:cNvPr id="361" name="Google Shape;361;p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62" name="Google Shape;362;p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363" name="Google Shape;363;p7"/>
            <p:cNvGrpSpPr/>
            <p:nvPr/>
          </p:nvGrpSpPr>
          <p:grpSpPr>
            <a:xfrm>
              <a:off x="3482837" y="3854375"/>
              <a:ext cx="339280" cy="365953"/>
              <a:chOff x="0" y="-38100"/>
              <a:chExt cx="452374" cy="487938"/>
            </a:xfrm>
          </p:grpSpPr>
          <p:sp>
            <p:nvSpPr>
              <p:cNvPr id="364" name="Google Shape;364;p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65" name="Google Shape;365;p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366" name="Google Shape;366;p7"/>
            <p:cNvGrpSpPr/>
            <p:nvPr/>
          </p:nvGrpSpPr>
          <p:grpSpPr>
            <a:xfrm>
              <a:off x="3482836" y="4343880"/>
              <a:ext cx="402812" cy="365953"/>
              <a:chOff x="0" y="-38100"/>
              <a:chExt cx="537083" cy="487938"/>
            </a:xfrm>
          </p:grpSpPr>
          <p:sp>
            <p:nvSpPr>
              <p:cNvPr id="367" name="Google Shape;367;p7"/>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68" name="Google Shape;368;p7"/>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sp>
          <p:nvSpPr>
            <p:cNvPr id="369" name="Google Shape;369;p7"/>
            <p:cNvSpPr txBox="1"/>
            <p:nvPr/>
          </p:nvSpPr>
          <p:spPr>
            <a:xfrm>
              <a:off x="3890663" y="2465354"/>
              <a:ext cx="2328540" cy="20682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nvGrpSpPr>
            <p:cNvPr id="370" name="Google Shape;370;p7"/>
            <p:cNvGrpSpPr/>
            <p:nvPr/>
          </p:nvGrpSpPr>
          <p:grpSpPr>
            <a:xfrm>
              <a:off x="3822093" y="3379157"/>
              <a:ext cx="2465678" cy="351665"/>
              <a:chOff x="0" y="-19050"/>
              <a:chExt cx="3287570" cy="468888"/>
            </a:xfrm>
          </p:grpSpPr>
          <p:sp>
            <p:nvSpPr>
              <p:cNvPr id="371" name="Google Shape;371;p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72" name="Google Shape;372;p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373" name="Google Shape;373;p7"/>
            <p:cNvGrpSpPr/>
            <p:nvPr/>
          </p:nvGrpSpPr>
          <p:grpSpPr>
            <a:xfrm>
              <a:off x="3822093" y="3868663"/>
              <a:ext cx="2465678" cy="351665"/>
              <a:chOff x="0" y="-19050"/>
              <a:chExt cx="3287570" cy="468888"/>
            </a:xfrm>
          </p:grpSpPr>
          <p:sp>
            <p:nvSpPr>
              <p:cNvPr id="374" name="Google Shape;374;p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75" name="Google Shape;375;p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376" name="Google Shape;376;p7"/>
            <p:cNvGrpSpPr/>
            <p:nvPr/>
          </p:nvGrpSpPr>
          <p:grpSpPr>
            <a:xfrm>
              <a:off x="3822093" y="4358168"/>
              <a:ext cx="2465678" cy="351665"/>
              <a:chOff x="0" y="-19050"/>
              <a:chExt cx="3287570" cy="468888"/>
            </a:xfrm>
          </p:grpSpPr>
          <p:sp>
            <p:nvSpPr>
              <p:cNvPr id="377" name="Google Shape;377;p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78" name="Google Shape;378;p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379" name="Google Shape;379;p7"/>
            <p:cNvGrpSpPr/>
            <p:nvPr/>
          </p:nvGrpSpPr>
          <p:grpSpPr>
            <a:xfrm>
              <a:off x="3482837" y="4833386"/>
              <a:ext cx="339280" cy="365953"/>
              <a:chOff x="0" y="-38100"/>
              <a:chExt cx="452374" cy="487938"/>
            </a:xfrm>
          </p:grpSpPr>
          <p:sp>
            <p:nvSpPr>
              <p:cNvPr id="380" name="Google Shape;380;p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81" name="Google Shape;381;p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382" name="Google Shape;382;p7"/>
            <p:cNvGrpSpPr/>
            <p:nvPr/>
          </p:nvGrpSpPr>
          <p:grpSpPr>
            <a:xfrm>
              <a:off x="3822093" y="4847674"/>
              <a:ext cx="2465678" cy="351665"/>
              <a:chOff x="0" y="-19050"/>
              <a:chExt cx="3287570" cy="468888"/>
            </a:xfrm>
          </p:grpSpPr>
          <p:sp>
            <p:nvSpPr>
              <p:cNvPr id="383" name="Google Shape;383;p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84" name="Google Shape;384;p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385" name="Google Shape;385;p7"/>
            <p:cNvGrpSpPr/>
            <p:nvPr/>
          </p:nvGrpSpPr>
          <p:grpSpPr>
            <a:xfrm>
              <a:off x="3464686" y="2893212"/>
              <a:ext cx="343853" cy="367093"/>
              <a:chOff x="-1524" y="-38100"/>
              <a:chExt cx="458470" cy="489458"/>
            </a:xfrm>
          </p:grpSpPr>
          <p:sp>
            <p:nvSpPr>
              <p:cNvPr id="386" name="Google Shape;386;p7"/>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87" name="Google Shape;387;p7"/>
              <p:cNvSpPr/>
              <p:nvPr/>
            </p:nvSpPr>
            <p:spPr>
              <a:xfrm>
                <a:off x="-1524" y="-1524"/>
                <a:ext cx="458470" cy="452882"/>
              </a:xfrm>
              <a:custGeom>
                <a:rect b="b" l="l" r="r" t="t"/>
                <a:pathLst>
                  <a:path extrusionOk="0" h="452882" w="458470">
                    <a:moveTo>
                      <a:pt x="1524" y="0"/>
                    </a:moveTo>
                    <a:lnTo>
                      <a:pt x="456946" y="0"/>
                    </a:lnTo>
                    <a:cubicBezTo>
                      <a:pt x="457835" y="0"/>
                      <a:pt x="458470" y="762"/>
                      <a:pt x="458470" y="1524"/>
                    </a:cubicBezTo>
                    <a:lnTo>
                      <a:pt x="458470" y="451358"/>
                    </a:lnTo>
                    <a:cubicBezTo>
                      <a:pt x="458470" y="452247"/>
                      <a:pt x="457708" y="452882"/>
                      <a:pt x="4569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6946" y="449834"/>
                    </a:lnTo>
                    <a:lnTo>
                      <a:pt x="456946" y="451358"/>
                    </a:lnTo>
                    <a:lnTo>
                      <a:pt x="455422" y="451358"/>
                    </a:lnTo>
                    <a:lnTo>
                      <a:pt x="455422" y="1524"/>
                    </a:lnTo>
                    <a:lnTo>
                      <a:pt x="456946" y="1524"/>
                    </a:lnTo>
                    <a:lnTo>
                      <a:pt x="4569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88" name="Google Shape;388;p7"/>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389" name="Google Shape;389;p7"/>
            <p:cNvGrpSpPr/>
            <p:nvPr/>
          </p:nvGrpSpPr>
          <p:grpSpPr>
            <a:xfrm>
              <a:off x="3803942" y="2907500"/>
              <a:ext cx="2484978" cy="352805"/>
              <a:chOff x="-1524" y="-19050"/>
              <a:chExt cx="3313303" cy="470408"/>
            </a:xfrm>
          </p:grpSpPr>
          <p:sp>
            <p:nvSpPr>
              <p:cNvPr id="390" name="Google Shape;390;p7"/>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91" name="Google Shape;391;p7"/>
              <p:cNvSpPr/>
              <p:nvPr/>
            </p:nvSpPr>
            <p:spPr>
              <a:xfrm>
                <a:off x="-1524" y="-1524"/>
                <a:ext cx="3313303" cy="452882"/>
              </a:xfrm>
              <a:custGeom>
                <a:rect b="b" l="l" r="r" t="t"/>
                <a:pathLst>
                  <a:path extrusionOk="0" h="452882" w="3313303">
                    <a:moveTo>
                      <a:pt x="1524" y="0"/>
                    </a:moveTo>
                    <a:lnTo>
                      <a:pt x="3311779" y="0"/>
                    </a:lnTo>
                    <a:cubicBezTo>
                      <a:pt x="3312668" y="0"/>
                      <a:pt x="3313303" y="762"/>
                      <a:pt x="3313303" y="1524"/>
                    </a:cubicBezTo>
                    <a:lnTo>
                      <a:pt x="3313303" y="451358"/>
                    </a:lnTo>
                    <a:cubicBezTo>
                      <a:pt x="3313303" y="452247"/>
                      <a:pt x="3312541" y="452882"/>
                      <a:pt x="3311779"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311779" y="449834"/>
                    </a:lnTo>
                    <a:lnTo>
                      <a:pt x="3311779" y="451358"/>
                    </a:lnTo>
                    <a:lnTo>
                      <a:pt x="3310255" y="451358"/>
                    </a:lnTo>
                    <a:lnTo>
                      <a:pt x="3310255" y="1524"/>
                    </a:lnTo>
                    <a:lnTo>
                      <a:pt x="3311779" y="1524"/>
                    </a:lnTo>
                    <a:lnTo>
                      <a:pt x="3311779"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392" name="Google Shape;392;p7"/>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Industry Overview</a:t>
                </a:r>
                <a:endParaRPr sz="1688">
                  <a:solidFill>
                    <a:schemeClr val="dk1"/>
                  </a:solidFill>
                  <a:latin typeface="Arial"/>
                  <a:ea typeface="Arial"/>
                  <a:cs typeface="Arial"/>
                  <a:sym typeface="Arial"/>
                </a:endParaRPr>
              </a:p>
            </p:txBody>
          </p:sp>
        </p:grpSp>
      </p:grpSp>
      <p:cxnSp>
        <p:nvCxnSpPr>
          <p:cNvPr id="393" name="Google Shape;393;p7"/>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sp>
        <p:nvSpPr>
          <p:cNvPr id="394" name="Google Shape;394;p7"/>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pic>
        <p:nvPicPr>
          <p:cNvPr descr="Une image contenant Police, Graphique, calligraphie, typographie&#10;&#10;Le contenu généré par l’IA peut être incorrect." id="395" name="Google Shape;395;p7"/>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
          <p:cNvSpPr txBox="1"/>
          <p:nvPr/>
        </p:nvSpPr>
        <p:spPr>
          <a:xfrm>
            <a:off x="4186585" y="6352232"/>
            <a:ext cx="616942" cy="15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25">
                <a:solidFill>
                  <a:srgbClr val="000000"/>
                </a:solidFill>
                <a:latin typeface="Avenir"/>
                <a:ea typeface="Avenir"/>
                <a:cs typeface="Avenir"/>
                <a:sym typeface="Avenir"/>
              </a:rPr>
              <a:t>02/12/2024</a:t>
            </a:r>
            <a:endParaRPr sz="1313">
              <a:solidFill>
                <a:srgbClr val="000000"/>
              </a:solidFill>
              <a:latin typeface="Arial"/>
              <a:ea typeface="Arial"/>
              <a:cs typeface="Arial"/>
              <a:sym typeface="Arial"/>
            </a:endParaRPr>
          </a:p>
        </p:txBody>
      </p:sp>
      <p:sp>
        <p:nvSpPr>
          <p:cNvPr id="405" name="Google Shape;405;p8"/>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406" name="Google Shape;406;p8"/>
          <p:cNvCxnSpPr/>
          <p:nvPr/>
        </p:nvCxnSpPr>
        <p:spPr>
          <a:xfrm>
            <a:off x="482268" y="1404914"/>
            <a:ext cx="3378260" cy="9677"/>
          </a:xfrm>
          <a:prstGeom prst="straightConnector1">
            <a:avLst/>
          </a:prstGeom>
          <a:noFill/>
          <a:ln cap="rnd" cmpd="sng" w="9525">
            <a:solidFill>
              <a:srgbClr val="000000"/>
            </a:solidFill>
            <a:prstDash val="solid"/>
            <a:round/>
            <a:headEnd len="sm" w="sm" type="none"/>
            <a:tailEnd len="sm" w="sm" type="none"/>
          </a:ln>
        </p:spPr>
      </p:cxnSp>
      <p:sp>
        <p:nvSpPr>
          <p:cNvPr id="407" name="Google Shape;407;p8"/>
          <p:cNvSpPr txBox="1"/>
          <p:nvPr/>
        </p:nvSpPr>
        <p:spPr>
          <a:xfrm>
            <a:off x="482268" y="1070198"/>
            <a:ext cx="8473612" cy="346249"/>
          </a:xfrm>
          <a:prstGeom prst="rect">
            <a:avLst/>
          </a:prstGeom>
          <a:noFill/>
          <a:ln>
            <a:noFill/>
          </a:ln>
        </p:spPr>
        <p:txBody>
          <a:bodyPr anchorCtr="0" anchor="t" bIns="0" lIns="0" spcFirstLastPara="1" rIns="0" wrap="square" tIns="0">
            <a:spAutoFit/>
          </a:bodyPr>
          <a:lstStyle/>
          <a:p>
            <a:pPr indent="0" lvl="0" marL="0" marR="0" rtl="0" algn="l">
              <a:lnSpc>
                <a:spcPct val="120029"/>
              </a:lnSpc>
              <a:spcBef>
                <a:spcPts val="0"/>
              </a:spcBef>
              <a:spcAft>
                <a:spcPts val="0"/>
              </a:spcAft>
              <a:buNone/>
            </a:pPr>
            <a:r>
              <a:rPr b="1" lang="en-US" sz="1875">
                <a:solidFill>
                  <a:srgbClr val="00023D"/>
                </a:solidFill>
                <a:latin typeface="Avenir"/>
                <a:ea typeface="Avenir"/>
                <a:cs typeface="Avenir"/>
                <a:sym typeface="Avenir"/>
              </a:rPr>
              <a:t>A demand in infrastructure</a:t>
            </a:r>
            <a:endParaRPr sz="1125">
              <a:solidFill>
                <a:srgbClr val="000000"/>
              </a:solidFill>
              <a:latin typeface="Arial"/>
              <a:ea typeface="Arial"/>
              <a:cs typeface="Arial"/>
              <a:sym typeface="Arial"/>
            </a:endParaRPr>
          </a:p>
        </p:txBody>
      </p:sp>
      <p:sp>
        <p:nvSpPr>
          <p:cNvPr descr="Icône spinner, cercle" id="408" name="Google Shape;408;p8"/>
          <p:cNvSpPr/>
          <p:nvPr/>
        </p:nvSpPr>
        <p:spPr>
          <a:xfrm>
            <a:off x="237331" y="1121835"/>
            <a:ext cx="198497" cy="198497"/>
          </a:xfrm>
          <a:custGeom>
            <a:rect b="b" l="l" r="r" t="t"/>
            <a:pathLst>
              <a:path extrusionOk="0" h="211730" w="211730">
                <a:moveTo>
                  <a:pt x="0" y="0"/>
                </a:moveTo>
                <a:lnTo>
                  <a:pt x="211730" y="0"/>
                </a:lnTo>
                <a:lnTo>
                  <a:pt x="211730" y="211731"/>
                </a:lnTo>
                <a:lnTo>
                  <a:pt x="0" y="211731"/>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09" name="Google Shape;409;p8"/>
          <p:cNvSpPr txBox="1"/>
          <p:nvPr/>
        </p:nvSpPr>
        <p:spPr>
          <a:xfrm>
            <a:off x="528506" y="589932"/>
            <a:ext cx="5844075"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00">
                <a:solidFill>
                  <a:srgbClr val="FFFFFF"/>
                </a:solidFill>
                <a:latin typeface="Avenir"/>
                <a:ea typeface="Avenir"/>
                <a:cs typeface="Avenir"/>
                <a:sym typeface="Avenir"/>
              </a:rPr>
              <a:t> I. Industry Overview </a:t>
            </a:r>
            <a:endParaRPr sz="1313">
              <a:solidFill>
                <a:srgbClr val="000000"/>
              </a:solidFill>
              <a:latin typeface="Arial"/>
              <a:ea typeface="Arial"/>
              <a:cs typeface="Arial"/>
              <a:sym typeface="Arial"/>
            </a:endParaRPr>
          </a:p>
        </p:txBody>
      </p:sp>
      <p:grpSp>
        <p:nvGrpSpPr>
          <p:cNvPr id="410" name="Google Shape;410;p8"/>
          <p:cNvGrpSpPr/>
          <p:nvPr/>
        </p:nvGrpSpPr>
        <p:grpSpPr>
          <a:xfrm>
            <a:off x="4060555" y="6357909"/>
            <a:ext cx="770763" cy="162211"/>
            <a:chOff x="0" y="0"/>
            <a:chExt cx="2055368" cy="432562"/>
          </a:xfrm>
        </p:grpSpPr>
        <p:sp>
          <p:nvSpPr>
            <p:cNvPr id="411" name="Google Shape;411;p8"/>
            <p:cNvSpPr/>
            <p:nvPr/>
          </p:nvSpPr>
          <p:spPr>
            <a:xfrm>
              <a:off x="25400" y="25400"/>
              <a:ext cx="2004568" cy="381762"/>
            </a:xfrm>
            <a:custGeom>
              <a:rect b="b" l="l" r="r" t="t"/>
              <a:pathLst>
                <a:path extrusionOk="0" h="381762" w="2004568">
                  <a:moveTo>
                    <a:pt x="0" y="0"/>
                  </a:moveTo>
                  <a:lnTo>
                    <a:pt x="2004568" y="0"/>
                  </a:lnTo>
                  <a:lnTo>
                    <a:pt x="2004568" y="381762"/>
                  </a:lnTo>
                  <a:lnTo>
                    <a:pt x="0" y="381762"/>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12" name="Google Shape;412;p8"/>
            <p:cNvSpPr/>
            <p:nvPr/>
          </p:nvSpPr>
          <p:spPr>
            <a:xfrm>
              <a:off x="0" y="0"/>
              <a:ext cx="2055368" cy="432562"/>
            </a:xfrm>
            <a:custGeom>
              <a:rect b="b" l="l" r="r" t="t"/>
              <a:pathLst>
                <a:path extrusionOk="0" h="432562" w="2055368">
                  <a:moveTo>
                    <a:pt x="25400" y="0"/>
                  </a:moveTo>
                  <a:lnTo>
                    <a:pt x="2029968" y="0"/>
                  </a:lnTo>
                  <a:cubicBezTo>
                    <a:pt x="2043938" y="0"/>
                    <a:pt x="2055368" y="11430"/>
                    <a:pt x="2055368" y="25400"/>
                  </a:cubicBezTo>
                  <a:lnTo>
                    <a:pt x="2055368" y="407162"/>
                  </a:lnTo>
                  <a:cubicBezTo>
                    <a:pt x="2055368" y="421132"/>
                    <a:pt x="2043938" y="432562"/>
                    <a:pt x="2029968" y="432562"/>
                  </a:cubicBezTo>
                  <a:lnTo>
                    <a:pt x="25400" y="432562"/>
                  </a:lnTo>
                  <a:cubicBezTo>
                    <a:pt x="11430" y="432562"/>
                    <a:pt x="0" y="421132"/>
                    <a:pt x="0" y="407162"/>
                  </a:cubicBezTo>
                  <a:lnTo>
                    <a:pt x="0" y="25400"/>
                  </a:lnTo>
                  <a:cubicBezTo>
                    <a:pt x="0" y="11430"/>
                    <a:pt x="11430" y="0"/>
                    <a:pt x="25400" y="0"/>
                  </a:cubicBezTo>
                  <a:moveTo>
                    <a:pt x="25400" y="50800"/>
                  </a:moveTo>
                  <a:lnTo>
                    <a:pt x="25400" y="25400"/>
                  </a:lnTo>
                  <a:lnTo>
                    <a:pt x="50800" y="25400"/>
                  </a:lnTo>
                  <a:lnTo>
                    <a:pt x="50800" y="407162"/>
                  </a:lnTo>
                  <a:lnTo>
                    <a:pt x="25400" y="407162"/>
                  </a:lnTo>
                  <a:lnTo>
                    <a:pt x="25400" y="381762"/>
                  </a:lnTo>
                  <a:lnTo>
                    <a:pt x="2029968" y="381762"/>
                  </a:lnTo>
                  <a:lnTo>
                    <a:pt x="2029968" y="407162"/>
                  </a:lnTo>
                  <a:lnTo>
                    <a:pt x="2004568" y="407162"/>
                  </a:lnTo>
                  <a:lnTo>
                    <a:pt x="2004568" y="25400"/>
                  </a:lnTo>
                  <a:lnTo>
                    <a:pt x="2029968" y="25400"/>
                  </a:lnTo>
                  <a:lnTo>
                    <a:pt x="2029968" y="50800"/>
                  </a:lnTo>
                  <a:lnTo>
                    <a:pt x="25400" y="50800"/>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cxnSp>
        <p:nvCxnSpPr>
          <p:cNvPr id="413" name="Google Shape;413;p8"/>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414" name="Google Shape;414;p8"/>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15" name="Google Shape;415;p8"/>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16" name="Google Shape;416;p8"/>
          <p:cNvSpPr txBox="1"/>
          <p:nvPr/>
        </p:nvSpPr>
        <p:spPr>
          <a:xfrm>
            <a:off x="64294" y="444686"/>
            <a:ext cx="444341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Industry Overview</a:t>
            </a:r>
            <a:endParaRPr sz="1313">
              <a:solidFill>
                <a:srgbClr val="000000"/>
              </a:solidFill>
              <a:latin typeface="Arial"/>
              <a:ea typeface="Arial"/>
              <a:cs typeface="Arial"/>
              <a:sym typeface="Arial"/>
            </a:endParaRPr>
          </a:p>
        </p:txBody>
      </p:sp>
      <p:sp>
        <p:nvSpPr>
          <p:cNvPr id="417" name="Google Shape;417;p8"/>
          <p:cNvSpPr txBox="1"/>
          <p:nvPr/>
        </p:nvSpPr>
        <p:spPr>
          <a:xfrm>
            <a:off x="237332" y="4913825"/>
            <a:ext cx="4023728" cy="1650452"/>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Expansion of the cold chain: </a:t>
            </a:r>
            <a:r>
              <a:rPr lang="en-US" sz="1125">
                <a:solidFill>
                  <a:schemeClr val="dk1"/>
                </a:solidFill>
                <a:latin typeface="Arial"/>
                <a:ea typeface="Arial"/>
                <a:cs typeface="Arial"/>
                <a:sym typeface="Arial"/>
              </a:rPr>
              <a:t>The global cold chain logistics market is expected to grow from $382.3 billion in 2025 to $1.37 trillion by 2035, driven by growing demand for fresh and perishable food products.</a:t>
            </a:r>
            <a:endParaRPr/>
          </a:p>
          <a:p>
            <a:pPr indent="-89296" lvl="0" marL="160734" marR="0" rtl="0" algn="just">
              <a:spcBef>
                <a:spcPts val="0"/>
              </a:spcBef>
              <a:spcAft>
                <a:spcPts val="0"/>
              </a:spcAft>
              <a:buClr>
                <a:schemeClr val="dk1"/>
              </a:buClr>
              <a:buSzPts val="1125"/>
              <a:buFont typeface="Arial"/>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Domestic energy modernization: </a:t>
            </a:r>
            <a:r>
              <a:rPr lang="en-US" sz="1125">
                <a:solidFill>
                  <a:schemeClr val="dk1"/>
                </a:solidFill>
                <a:latin typeface="Arial"/>
                <a:ea typeface="Arial"/>
                <a:cs typeface="Arial"/>
                <a:sym typeface="Arial"/>
              </a:rPr>
              <a:t>The European Union plans to install 266 million smart meters by 2030, creating a basic infrastructure for smart home services and household energy efficiency.</a:t>
            </a:r>
            <a:endParaRPr/>
          </a:p>
        </p:txBody>
      </p:sp>
      <p:sp>
        <p:nvSpPr>
          <p:cNvPr id="418" name="Google Shape;418;p8"/>
          <p:cNvSpPr txBox="1"/>
          <p:nvPr/>
        </p:nvSpPr>
        <p:spPr>
          <a:xfrm>
            <a:off x="4871942" y="4913825"/>
            <a:ext cx="3853607" cy="1477328"/>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Decentralized hubs: </a:t>
            </a:r>
            <a:r>
              <a:rPr lang="en-US" sz="1125">
                <a:solidFill>
                  <a:schemeClr val="dk1"/>
                </a:solidFill>
                <a:latin typeface="Arial"/>
                <a:ea typeface="Arial"/>
                <a:cs typeface="Arial"/>
                <a:sym typeface="Arial"/>
              </a:rPr>
              <a:t>The rise of food e-commerce is driving the creation of decentralized cold storage hubs on the urban periphery to reduce delivery windows.</a:t>
            </a:r>
            <a:endParaRPr/>
          </a:p>
          <a:p>
            <a:pPr indent="0" lvl="0" marL="0" marR="0" rtl="0" algn="just">
              <a:spcBef>
                <a:spcPts val="0"/>
              </a:spcBef>
              <a:spcAft>
                <a:spcPts val="0"/>
              </a:spcAft>
              <a:buNone/>
            </a:pPr>
            <a:r>
              <a:t/>
            </a:r>
            <a:endParaRPr b="1"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Regional logistics infrastructure: </a:t>
            </a:r>
            <a:r>
              <a:rPr lang="en-US" sz="1125">
                <a:solidFill>
                  <a:schemeClr val="dk1"/>
                </a:solidFill>
                <a:latin typeface="Arial"/>
                <a:ea typeface="Arial"/>
                <a:cs typeface="Arial"/>
                <a:sym typeface="Arial"/>
              </a:rPr>
              <a:t>Massive investments in ports (e.g., Port of Caucedo, Colombia) and road networks in Latin America are optimizing trade corridors to the US, facilitating nearshoring.</a:t>
            </a:r>
            <a:endParaRPr/>
          </a:p>
        </p:txBody>
      </p:sp>
      <p:cxnSp>
        <p:nvCxnSpPr>
          <p:cNvPr id="419" name="Google Shape;419;p8"/>
          <p:cNvCxnSpPr/>
          <p:nvPr/>
        </p:nvCxnSpPr>
        <p:spPr>
          <a:xfrm rot="10800000">
            <a:off x="4571030" y="4988581"/>
            <a:ext cx="0" cy="1281384"/>
          </a:xfrm>
          <a:prstGeom prst="straightConnector1">
            <a:avLst/>
          </a:prstGeom>
          <a:noFill/>
          <a:ln cap="rnd" cmpd="sng" w="9525">
            <a:solidFill>
              <a:srgbClr val="000000"/>
            </a:solidFill>
            <a:prstDash val="solid"/>
            <a:round/>
            <a:headEnd len="sm" w="sm" type="none"/>
            <a:tailEnd len="sm" w="sm" type="none"/>
          </a:ln>
        </p:spPr>
      </p:cxnSp>
      <p:pic>
        <p:nvPicPr>
          <p:cNvPr descr="Une image contenant texte, capture d’écran, Police, violet&#10;&#10;Le contenu généré par l’IA peut être incorrect." id="420" name="Google Shape;420;p8"/>
          <p:cNvPicPr preferRelativeResize="0"/>
          <p:nvPr/>
        </p:nvPicPr>
        <p:blipFill rotWithShape="1">
          <a:blip r:embed="rId6">
            <a:alphaModFix/>
          </a:blip>
          <a:srcRect b="0" l="0" r="0" t="0"/>
          <a:stretch/>
        </p:blipFill>
        <p:spPr>
          <a:xfrm>
            <a:off x="4704197" y="1762238"/>
            <a:ext cx="4202472" cy="2431922"/>
          </a:xfrm>
          <a:prstGeom prst="rect">
            <a:avLst/>
          </a:prstGeom>
          <a:noFill/>
          <a:ln>
            <a:noFill/>
          </a:ln>
        </p:spPr>
      </p:pic>
      <p:pic>
        <p:nvPicPr>
          <p:cNvPr descr="Une image contenant texte, capture d’écran, Police&#10;&#10;Le contenu généré par l’IA peut être incorrect." id="421" name="Google Shape;421;p8"/>
          <p:cNvPicPr preferRelativeResize="0"/>
          <p:nvPr/>
        </p:nvPicPr>
        <p:blipFill rotWithShape="1">
          <a:blip r:embed="rId7">
            <a:alphaModFix/>
          </a:blip>
          <a:srcRect b="0" l="0" r="0" t="0"/>
          <a:stretch/>
        </p:blipFill>
        <p:spPr>
          <a:xfrm>
            <a:off x="237332" y="1762239"/>
            <a:ext cx="4184995" cy="24295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9"/>
          <p:cNvSpPr txBox="1"/>
          <p:nvPr/>
        </p:nvSpPr>
        <p:spPr>
          <a:xfrm>
            <a:off x="4186585" y="6352232"/>
            <a:ext cx="616942" cy="15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25">
                <a:solidFill>
                  <a:srgbClr val="000000"/>
                </a:solidFill>
                <a:latin typeface="Avenir"/>
                <a:ea typeface="Avenir"/>
                <a:cs typeface="Avenir"/>
                <a:sym typeface="Avenir"/>
              </a:rPr>
              <a:t>02/12/2024</a:t>
            </a:r>
            <a:endParaRPr sz="1313">
              <a:solidFill>
                <a:srgbClr val="000000"/>
              </a:solidFill>
              <a:latin typeface="Arial"/>
              <a:ea typeface="Arial"/>
              <a:cs typeface="Arial"/>
              <a:sym typeface="Arial"/>
            </a:endParaRPr>
          </a:p>
        </p:txBody>
      </p:sp>
      <p:sp>
        <p:nvSpPr>
          <p:cNvPr id="431" name="Google Shape;431;p9"/>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432" name="Google Shape;432;p9"/>
          <p:cNvCxnSpPr/>
          <p:nvPr/>
        </p:nvCxnSpPr>
        <p:spPr>
          <a:xfrm>
            <a:off x="482268" y="1404914"/>
            <a:ext cx="3378260" cy="9677"/>
          </a:xfrm>
          <a:prstGeom prst="straightConnector1">
            <a:avLst/>
          </a:prstGeom>
          <a:noFill/>
          <a:ln cap="rnd" cmpd="sng" w="9525">
            <a:solidFill>
              <a:srgbClr val="000000"/>
            </a:solidFill>
            <a:prstDash val="solid"/>
            <a:round/>
            <a:headEnd len="sm" w="sm" type="none"/>
            <a:tailEnd len="sm" w="sm" type="none"/>
          </a:ln>
        </p:spPr>
      </p:cxnSp>
      <p:sp>
        <p:nvSpPr>
          <p:cNvPr id="433" name="Google Shape;433;p9"/>
          <p:cNvSpPr txBox="1"/>
          <p:nvPr/>
        </p:nvSpPr>
        <p:spPr>
          <a:xfrm>
            <a:off x="482268" y="1070198"/>
            <a:ext cx="8473612" cy="346249"/>
          </a:xfrm>
          <a:prstGeom prst="rect">
            <a:avLst/>
          </a:prstGeom>
          <a:noFill/>
          <a:ln>
            <a:noFill/>
          </a:ln>
        </p:spPr>
        <p:txBody>
          <a:bodyPr anchorCtr="0" anchor="t" bIns="0" lIns="0" spcFirstLastPara="1" rIns="0" wrap="square" tIns="0">
            <a:spAutoFit/>
          </a:bodyPr>
          <a:lstStyle/>
          <a:p>
            <a:pPr indent="0" lvl="0" marL="0" marR="0" rtl="0" algn="l">
              <a:lnSpc>
                <a:spcPct val="120029"/>
              </a:lnSpc>
              <a:spcBef>
                <a:spcPts val="0"/>
              </a:spcBef>
              <a:spcAft>
                <a:spcPts val="0"/>
              </a:spcAft>
              <a:buNone/>
            </a:pPr>
            <a:r>
              <a:rPr b="1" lang="en-US" sz="1875">
                <a:solidFill>
                  <a:srgbClr val="00023D"/>
                </a:solidFill>
                <a:latin typeface="Avenir"/>
                <a:ea typeface="Avenir"/>
                <a:cs typeface="Avenir"/>
                <a:sym typeface="Avenir"/>
              </a:rPr>
              <a:t>AI or the magical growth catalyst</a:t>
            </a:r>
            <a:endParaRPr sz="1125">
              <a:solidFill>
                <a:srgbClr val="000000"/>
              </a:solidFill>
              <a:latin typeface="Arial"/>
              <a:ea typeface="Arial"/>
              <a:cs typeface="Arial"/>
              <a:sym typeface="Arial"/>
            </a:endParaRPr>
          </a:p>
        </p:txBody>
      </p:sp>
      <p:sp>
        <p:nvSpPr>
          <p:cNvPr descr="Icône spinner, cercle" id="434" name="Google Shape;434;p9"/>
          <p:cNvSpPr/>
          <p:nvPr/>
        </p:nvSpPr>
        <p:spPr>
          <a:xfrm>
            <a:off x="237331" y="1121835"/>
            <a:ext cx="198497" cy="198497"/>
          </a:xfrm>
          <a:custGeom>
            <a:rect b="b" l="l" r="r" t="t"/>
            <a:pathLst>
              <a:path extrusionOk="0" h="211730" w="211730">
                <a:moveTo>
                  <a:pt x="0" y="0"/>
                </a:moveTo>
                <a:lnTo>
                  <a:pt x="211730" y="0"/>
                </a:lnTo>
                <a:lnTo>
                  <a:pt x="211730" y="211731"/>
                </a:lnTo>
                <a:lnTo>
                  <a:pt x="0" y="211731"/>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35" name="Google Shape;435;p9"/>
          <p:cNvSpPr txBox="1"/>
          <p:nvPr/>
        </p:nvSpPr>
        <p:spPr>
          <a:xfrm>
            <a:off x="528506" y="589932"/>
            <a:ext cx="5844075"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00">
                <a:solidFill>
                  <a:srgbClr val="FFFFFF"/>
                </a:solidFill>
                <a:latin typeface="Avenir"/>
                <a:ea typeface="Avenir"/>
                <a:cs typeface="Avenir"/>
                <a:sym typeface="Avenir"/>
              </a:rPr>
              <a:t> I. Industry Overview </a:t>
            </a:r>
            <a:endParaRPr sz="1313">
              <a:solidFill>
                <a:srgbClr val="000000"/>
              </a:solidFill>
              <a:latin typeface="Arial"/>
              <a:ea typeface="Arial"/>
              <a:cs typeface="Arial"/>
              <a:sym typeface="Arial"/>
            </a:endParaRPr>
          </a:p>
        </p:txBody>
      </p:sp>
      <p:grpSp>
        <p:nvGrpSpPr>
          <p:cNvPr id="436" name="Google Shape;436;p9"/>
          <p:cNvGrpSpPr/>
          <p:nvPr/>
        </p:nvGrpSpPr>
        <p:grpSpPr>
          <a:xfrm>
            <a:off x="4060555" y="6357909"/>
            <a:ext cx="770763" cy="162211"/>
            <a:chOff x="0" y="0"/>
            <a:chExt cx="2055368" cy="432562"/>
          </a:xfrm>
        </p:grpSpPr>
        <p:sp>
          <p:nvSpPr>
            <p:cNvPr id="437" name="Google Shape;437;p9"/>
            <p:cNvSpPr/>
            <p:nvPr/>
          </p:nvSpPr>
          <p:spPr>
            <a:xfrm>
              <a:off x="25400" y="25400"/>
              <a:ext cx="2004568" cy="381762"/>
            </a:xfrm>
            <a:custGeom>
              <a:rect b="b" l="l" r="r" t="t"/>
              <a:pathLst>
                <a:path extrusionOk="0" h="381762" w="2004568">
                  <a:moveTo>
                    <a:pt x="0" y="0"/>
                  </a:moveTo>
                  <a:lnTo>
                    <a:pt x="2004568" y="0"/>
                  </a:lnTo>
                  <a:lnTo>
                    <a:pt x="2004568" y="381762"/>
                  </a:lnTo>
                  <a:lnTo>
                    <a:pt x="0" y="381762"/>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38" name="Google Shape;438;p9"/>
            <p:cNvSpPr/>
            <p:nvPr/>
          </p:nvSpPr>
          <p:spPr>
            <a:xfrm>
              <a:off x="0" y="0"/>
              <a:ext cx="2055368" cy="432562"/>
            </a:xfrm>
            <a:custGeom>
              <a:rect b="b" l="l" r="r" t="t"/>
              <a:pathLst>
                <a:path extrusionOk="0" h="432562" w="2055368">
                  <a:moveTo>
                    <a:pt x="25400" y="0"/>
                  </a:moveTo>
                  <a:lnTo>
                    <a:pt x="2029968" y="0"/>
                  </a:lnTo>
                  <a:cubicBezTo>
                    <a:pt x="2043938" y="0"/>
                    <a:pt x="2055368" y="11430"/>
                    <a:pt x="2055368" y="25400"/>
                  </a:cubicBezTo>
                  <a:lnTo>
                    <a:pt x="2055368" y="407162"/>
                  </a:lnTo>
                  <a:cubicBezTo>
                    <a:pt x="2055368" y="421132"/>
                    <a:pt x="2043938" y="432562"/>
                    <a:pt x="2029968" y="432562"/>
                  </a:cubicBezTo>
                  <a:lnTo>
                    <a:pt x="25400" y="432562"/>
                  </a:lnTo>
                  <a:cubicBezTo>
                    <a:pt x="11430" y="432562"/>
                    <a:pt x="0" y="421132"/>
                    <a:pt x="0" y="407162"/>
                  </a:cubicBezTo>
                  <a:lnTo>
                    <a:pt x="0" y="25400"/>
                  </a:lnTo>
                  <a:cubicBezTo>
                    <a:pt x="0" y="11430"/>
                    <a:pt x="11430" y="0"/>
                    <a:pt x="25400" y="0"/>
                  </a:cubicBezTo>
                  <a:moveTo>
                    <a:pt x="25400" y="50800"/>
                  </a:moveTo>
                  <a:lnTo>
                    <a:pt x="25400" y="25400"/>
                  </a:lnTo>
                  <a:lnTo>
                    <a:pt x="50800" y="25400"/>
                  </a:lnTo>
                  <a:lnTo>
                    <a:pt x="50800" y="407162"/>
                  </a:lnTo>
                  <a:lnTo>
                    <a:pt x="25400" y="407162"/>
                  </a:lnTo>
                  <a:lnTo>
                    <a:pt x="25400" y="381762"/>
                  </a:lnTo>
                  <a:lnTo>
                    <a:pt x="2029968" y="381762"/>
                  </a:lnTo>
                  <a:lnTo>
                    <a:pt x="2029968" y="407162"/>
                  </a:lnTo>
                  <a:lnTo>
                    <a:pt x="2004568" y="407162"/>
                  </a:lnTo>
                  <a:lnTo>
                    <a:pt x="2004568" y="25400"/>
                  </a:lnTo>
                  <a:lnTo>
                    <a:pt x="2029968" y="25400"/>
                  </a:lnTo>
                  <a:lnTo>
                    <a:pt x="2029968" y="50800"/>
                  </a:lnTo>
                  <a:lnTo>
                    <a:pt x="25400" y="50800"/>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cxnSp>
        <p:nvCxnSpPr>
          <p:cNvPr id="439" name="Google Shape;439;p9"/>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440" name="Google Shape;440;p9"/>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41" name="Google Shape;441;p9"/>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42" name="Google Shape;442;p9"/>
          <p:cNvSpPr txBox="1"/>
          <p:nvPr/>
        </p:nvSpPr>
        <p:spPr>
          <a:xfrm>
            <a:off x="64294" y="444686"/>
            <a:ext cx="444341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Industry Overview</a:t>
            </a:r>
            <a:endParaRPr sz="1313">
              <a:solidFill>
                <a:srgbClr val="000000"/>
              </a:solidFill>
              <a:latin typeface="Arial"/>
              <a:ea typeface="Arial"/>
              <a:cs typeface="Arial"/>
              <a:sym typeface="Arial"/>
            </a:endParaRPr>
          </a:p>
        </p:txBody>
      </p:sp>
      <p:sp>
        <p:nvSpPr>
          <p:cNvPr id="443" name="Google Shape;443;p9"/>
          <p:cNvSpPr txBox="1"/>
          <p:nvPr/>
        </p:nvSpPr>
        <p:spPr>
          <a:xfrm>
            <a:off x="336580" y="5080274"/>
            <a:ext cx="4023728" cy="1650452"/>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Operational AI: </a:t>
            </a:r>
            <a:r>
              <a:rPr lang="en-US" sz="1125">
                <a:solidFill>
                  <a:schemeClr val="dk1"/>
                </a:solidFill>
                <a:latin typeface="Arial"/>
                <a:ea typeface="Arial"/>
                <a:cs typeface="Arial"/>
                <a:sym typeface="Arial"/>
              </a:rPr>
              <a:t>By 2026, AI will move from pilot projects to integrated operational layers, automating inventory management, freight purchasing, and warehouse coordination.</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Optimization through digital twins: </a:t>
            </a:r>
            <a:r>
              <a:rPr lang="en-US" sz="1125">
                <a:solidFill>
                  <a:schemeClr val="dk1"/>
                </a:solidFill>
                <a:latin typeface="Arial"/>
                <a:ea typeface="Arial"/>
                <a:cs typeface="Arial"/>
                <a:sym typeface="Arial"/>
              </a:rPr>
              <a:t>The use of “digital twins” in manufacturing makes it possible to simulate thousands of disruption scenarios, increasing supply chain efficiency by 15%.</a:t>
            </a:r>
            <a:endParaRPr/>
          </a:p>
        </p:txBody>
      </p:sp>
      <p:sp>
        <p:nvSpPr>
          <p:cNvPr id="444" name="Google Shape;444;p9"/>
          <p:cNvSpPr txBox="1"/>
          <p:nvPr/>
        </p:nvSpPr>
        <p:spPr>
          <a:xfrm>
            <a:off x="4971190" y="5080274"/>
            <a:ext cx="3853607" cy="1650452"/>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Hyper-personalized marketing: </a:t>
            </a:r>
            <a:r>
              <a:rPr lang="en-US" sz="1125">
                <a:solidFill>
                  <a:schemeClr val="dk1"/>
                </a:solidFill>
                <a:latin typeface="Arial"/>
                <a:ea typeface="Arial"/>
                <a:cs typeface="Arial"/>
                <a:sym typeface="Arial"/>
              </a:rPr>
              <a:t>Generative AI (via platforms such as Studio X) enables the creation of personalized marketing content at scale, with digital media mix now accounting for approximately 65% of total spending.</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Accelerated product innovation: </a:t>
            </a:r>
            <a:r>
              <a:rPr lang="en-US" sz="1125">
                <a:solidFill>
                  <a:schemeClr val="dk1"/>
                </a:solidFill>
                <a:latin typeface="Arial"/>
                <a:ea typeface="Arial"/>
                <a:cs typeface="Arial"/>
                <a:sym typeface="Arial"/>
              </a:rPr>
              <a:t>AI reduces time to market for new products by 30% by analyzing consumer trends and flavor profiles in real time.</a:t>
            </a:r>
            <a:endParaRPr/>
          </a:p>
        </p:txBody>
      </p:sp>
      <p:cxnSp>
        <p:nvCxnSpPr>
          <p:cNvPr id="445" name="Google Shape;445;p9"/>
          <p:cNvCxnSpPr/>
          <p:nvPr/>
        </p:nvCxnSpPr>
        <p:spPr>
          <a:xfrm rot="10800000">
            <a:off x="4670278" y="5155031"/>
            <a:ext cx="0" cy="1281384"/>
          </a:xfrm>
          <a:prstGeom prst="straightConnector1">
            <a:avLst/>
          </a:prstGeom>
          <a:noFill/>
          <a:ln cap="rnd" cmpd="sng" w="9525">
            <a:solidFill>
              <a:srgbClr val="000000"/>
            </a:solidFill>
            <a:prstDash val="solid"/>
            <a:round/>
            <a:headEnd len="sm" w="sm" type="none"/>
            <a:tailEnd len="sm" w="sm" type="none"/>
          </a:ln>
        </p:spPr>
      </p:cxnSp>
      <p:pic>
        <p:nvPicPr>
          <p:cNvPr descr="Une image contenant texte, capture d’écran, carte de visite, Police&#10;&#10;Le contenu généré par l’IA peut être incorrect." id="446" name="Google Shape;446;p9"/>
          <p:cNvPicPr preferRelativeResize="0"/>
          <p:nvPr/>
        </p:nvPicPr>
        <p:blipFill rotWithShape="1">
          <a:blip r:embed="rId6">
            <a:alphaModFix/>
          </a:blip>
          <a:srcRect b="0" l="4814" r="3559" t="0"/>
          <a:stretch/>
        </p:blipFill>
        <p:spPr>
          <a:xfrm>
            <a:off x="1667267" y="1638218"/>
            <a:ext cx="5680878" cy="30804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0"/>
          <p:cNvSpPr txBox="1"/>
          <p:nvPr/>
        </p:nvSpPr>
        <p:spPr>
          <a:xfrm>
            <a:off x="4186585" y="6352232"/>
            <a:ext cx="616942" cy="15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25">
                <a:solidFill>
                  <a:srgbClr val="000000"/>
                </a:solidFill>
                <a:latin typeface="Avenir"/>
                <a:ea typeface="Avenir"/>
                <a:cs typeface="Avenir"/>
                <a:sym typeface="Avenir"/>
              </a:rPr>
              <a:t>02/12/2024</a:t>
            </a:r>
            <a:endParaRPr sz="1313">
              <a:solidFill>
                <a:srgbClr val="000000"/>
              </a:solidFill>
              <a:latin typeface="Arial"/>
              <a:ea typeface="Arial"/>
              <a:cs typeface="Arial"/>
              <a:sym typeface="Arial"/>
            </a:endParaRPr>
          </a:p>
        </p:txBody>
      </p:sp>
      <p:sp>
        <p:nvSpPr>
          <p:cNvPr id="456" name="Google Shape;456;p10"/>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457" name="Google Shape;457;p10"/>
          <p:cNvCxnSpPr/>
          <p:nvPr/>
        </p:nvCxnSpPr>
        <p:spPr>
          <a:xfrm>
            <a:off x="482268" y="1404914"/>
            <a:ext cx="3378260" cy="9677"/>
          </a:xfrm>
          <a:prstGeom prst="straightConnector1">
            <a:avLst/>
          </a:prstGeom>
          <a:noFill/>
          <a:ln cap="rnd" cmpd="sng" w="9525">
            <a:solidFill>
              <a:srgbClr val="000000"/>
            </a:solidFill>
            <a:prstDash val="solid"/>
            <a:round/>
            <a:headEnd len="sm" w="sm" type="none"/>
            <a:tailEnd len="sm" w="sm" type="none"/>
          </a:ln>
        </p:spPr>
      </p:cxnSp>
      <p:sp>
        <p:nvSpPr>
          <p:cNvPr id="458" name="Google Shape;458;p10"/>
          <p:cNvSpPr txBox="1"/>
          <p:nvPr/>
        </p:nvSpPr>
        <p:spPr>
          <a:xfrm>
            <a:off x="482268" y="1070198"/>
            <a:ext cx="8473612" cy="346249"/>
          </a:xfrm>
          <a:prstGeom prst="rect">
            <a:avLst/>
          </a:prstGeom>
          <a:noFill/>
          <a:ln>
            <a:noFill/>
          </a:ln>
        </p:spPr>
        <p:txBody>
          <a:bodyPr anchorCtr="0" anchor="t" bIns="0" lIns="0" spcFirstLastPara="1" rIns="0" wrap="square" tIns="0">
            <a:spAutoFit/>
          </a:bodyPr>
          <a:lstStyle/>
          <a:p>
            <a:pPr indent="0" lvl="0" marL="0" marR="0" rtl="0" algn="l">
              <a:lnSpc>
                <a:spcPct val="120029"/>
              </a:lnSpc>
              <a:spcBef>
                <a:spcPts val="0"/>
              </a:spcBef>
              <a:spcAft>
                <a:spcPts val="0"/>
              </a:spcAft>
              <a:buNone/>
            </a:pPr>
            <a:r>
              <a:rPr b="1" lang="en-US" sz="1875">
                <a:solidFill>
                  <a:srgbClr val="00023D"/>
                </a:solidFill>
                <a:latin typeface="Avenir"/>
                <a:ea typeface="Avenir"/>
                <a:cs typeface="Avenir"/>
                <a:sym typeface="Avenir"/>
              </a:rPr>
              <a:t>Key factors </a:t>
            </a:r>
            <a:endParaRPr sz="1125">
              <a:solidFill>
                <a:srgbClr val="000000"/>
              </a:solidFill>
              <a:latin typeface="Arial"/>
              <a:ea typeface="Arial"/>
              <a:cs typeface="Arial"/>
              <a:sym typeface="Arial"/>
            </a:endParaRPr>
          </a:p>
        </p:txBody>
      </p:sp>
      <p:sp>
        <p:nvSpPr>
          <p:cNvPr descr="Icône spinner, cercle" id="459" name="Google Shape;459;p10"/>
          <p:cNvSpPr/>
          <p:nvPr/>
        </p:nvSpPr>
        <p:spPr>
          <a:xfrm>
            <a:off x="237331" y="1121835"/>
            <a:ext cx="198497" cy="198497"/>
          </a:xfrm>
          <a:custGeom>
            <a:rect b="b" l="l" r="r" t="t"/>
            <a:pathLst>
              <a:path extrusionOk="0" h="211730" w="211730">
                <a:moveTo>
                  <a:pt x="0" y="0"/>
                </a:moveTo>
                <a:lnTo>
                  <a:pt x="211730" y="0"/>
                </a:lnTo>
                <a:lnTo>
                  <a:pt x="211730" y="211731"/>
                </a:lnTo>
                <a:lnTo>
                  <a:pt x="0" y="211731"/>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60" name="Google Shape;460;p10"/>
          <p:cNvSpPr txBox="1"/>
          <p:nvPr/>
        </p:nvSpPr>
        <p:spPr>
          <a:xfrm>
            <a:off x="528506" y="589932"/>
            <a:ext cx="5844075"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00">
                <a:solidFill>
                  <a:srgbClr val="FFFFFF"/>
                </a:solidFill>
                <a:latin typeface="Avenir"/>
                <a:ea typeface="Avenir"/>
                <a:cs typeface="Avenir"/>
                <a:sym typeface="Avenir"/>
              </a:rPr>
              <a:t> I. Industry Overview </a:t>
            </a:r>
            <a:endParaRPr sz="1313">
              <a:solidFill>
                <a:srgbClr val="000000"/>
              </a:solidFill>
              <a:latin typeface="Arial"/>
              <a:ea typeface="Arial"/>
              <a:cs typeface="Arial"/>
              <a:sym typeface="Arial"/>
            </a:endParaRPr>
          </a:p>
        </p:txBody>
      </p:sp>
      <p:cxnSp>
        <p:nvCxnSpPr>
          <p:cNvPr id="461" name="Google Shape;461;p10"/>
          <p:cNvCxnSpPr/>
          <p:nvPr/>
        </p:nvCxnSpPr>
        <p:spPr>
          <a:xfrm flipH="1" rot="10800000">
            <a:off x="4831317" y="2910298"/>
            <a:ext cx="9677" cy="2270888"/>
          </a:xfrm>
          <a:prstGeom prst="straightConnector1">
            <a:avLst/>
          </a:prstGeom>
          <a:noFill/>
          <a:ln cap="rnd" cmpd="sng" w="9525">
            <a:solidFill>
              <a:srgbClr val="000000"/>
            </a:solidFill>
            <a:prstDash val="solid"/>
            <a:round/>
            <a:headEnd len="sm" w="sm" type="none"/>
            <a:tailEnd len="sm" w="sm" type="none"/>
          </a:ln>
        </p:spPr>
      </p:cxnSp>
      <p:grpSp>
        <p:nvGrpSpPr>
          <p:cNvPr id="462" name="Google Shape;462;p10"/>
          <p:cNvGrpSpPr/>
          <p:nvPr/>
        </p:nvGrpSpPr>
        <p:grpSpPr>
          <a:xfrm>
            <a:off x="4060555" y="6357909"/>
            <a:ext cx="770763" cy="162211"/>
            <a:chOff x="0" y="0"/>
            <a:chExt cx="2055368" cy="432562"/>
          </a:xfrm>
        </p:grpSpPr>
        <p:sp>
          <p:nvSpPr>
            <p:cNvPr id="463" name="Google Shape;463;p10"/>
            <p:cNvSpPr/>
            <p:nvPr/>
          </p:nvSpPr>
          <p:spPr>
            <a:xfrm>
              <a:off x="25400" y="25400"/>
              <a:ext cx="2004568" cy="381762"/>
            </a:xfrm>
            <a:custGeom>
              <a:rect b="b" l="l" r="r" t="t"/>
              <a:pathLst>
                <a:path extrusionOk="0" h="381762" w="2004568">
                  <a:moveTo>
                    <a:pt x="0" y="0"/>
                  </a:moveTo>
                  <a:lnTo>
                    <a:pt x="2004568" y="0"/>
                  </a:lnTo>
                  <a:lnTo>
                    <a:pt x="2004568" y="381762"/>
                  </a:lnTo>
                  <a:lnTo>
                    <a:pt x="0" y="381762"/>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64" name="Google Shape;464;p10"/>
            <p:cNvSpPr/>
            <p:nvPr/>
          </p:nvSpPr>
          <p:spPr>
            <a:xfrm>
              <a:off x="0" y="0"/>
              <a:ext cx="2055368" cy="432562"/>
            </a:xfrm>
            <a:custGeom>
              <a:rect b="b" l="l" r="r" t="t"/>
              <a:pathLst>
                <a:path extrusionOk="0" h="432562" w="2055368">
                  <a:moveTo>
                    <a:pt x="25400" y="0"/>
                  </a:moveTo>
                  <a:lnTo>
                    <a:pt x="2029968" y="0"/>
                  </a:lnTo>
                  <a:cubicBezTo>
                    <a:pt x="2043938" y="0"/>
                    <a:pt x="2055368" y="11430"/>
                    <a:pt x="2055368" y="25400"/>
                  </a:cubicBezTo>
                  <a:lnTo>
                    <a:pt x="2055368" y="407162"/>
                  </a:lnTo>
                  <a:cubicBezTo>
                    <a:pt x="2055368" y="421132"/>
                    <a:pt x="2043938" y="432562"/>
                    <a:pt x="2029968" y="432562"/>
                  </a:cubicBezTo>
                  <a:lnTo>
                    <a:pt x="25400" y="432562"/>
                  </a:lnTo>
                  <a:cubicBezTo>
                    <a:pt x="11430" y="432562"/>
                    <a:pt x="0" y="421132"/>
                    <a:pt x="0" y="407162"/>
                  </a:cubicBezTo>
                  <a:lnTo>
                    <a:pt x="0" y="25400"/>
                  </a:lnTo>
                  <a:cubicBezTo>
                    <a:pt x="0" y="11430"/>
                    <a:pt x="11430" y="0"/>
                    <a:pt x="25400" y="0"/>
                  </a:cubicBezTo>
                  <a:moveTo>
                    <a:pt x="25400" y="50800"/>
                  </a:moveTo>
                  <a:lnTo>
                    <a:pt x="25400" y="25400"/>
                  </a:lnTo>
                  <a:lnTo>
                    <a:pt x="50800" y="25400"/>
                  </a:lnTo>
                  <a:lnTo>
                    <a:pt x="50800" y="407162"/>
                  </a:lnTo>
                  <a:lnTo>
                    <a:pt x="25400" y="407162"/>
                  </a:lnTo>
                  <a:lnTo>
                    <a:pt x="25400" y="381762"/>
                  </a:lnTo>
                  <a:lnTo>
                    <a:pt x="2029968" y="381762"/>
                  </a:lnTo>
                  <a:lnTo>
                    <a:pt x="2029968" y="407162"/>
                  </a:lnTo>
                  <a:lnTo>
                    <a:pt x="2004568" y="407162"/>
                  </a:lnTo>
                  <a:lnTo>
                    <a:pt x="2004568" y="25400"/>
                  </a:lnTo>
                  <a:lnTo>
                    <a:pt x="2029968" y="25400"/>
                  </a:lnTo>
                  <a:lnTo>
                    <a:pt x="2029968" y="50800"/>
                  </a:lnTo>
                  <a:lnTo>
                    <a:pt x="25400" y="50800"/>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cxnSp>
        <p:nvCxnSpPr>
          <p:cNvPr id="465" name="Google Shape;465;p10"/>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466" name="Google Shape;466;p10"/>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67" name="Google Shape;467;p10"/>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68" name="Google Shape;468;p10"/>
          <p:cNvSpPr txBox="1"/>
          <p:nvPr/>
        </p:nvSpPr>
        <p:spPr>
          <a:xfrm>
            <a:off x="64294" y="444686"/>
            <a:ext cx="444341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Industry Overview</a:t>
            </a:r>
            <a:endParaRPr sz="1313">
              <a:solidFill>
                <a:srgbClr val="000000"/>
              </a:solidFill>
              <a:latin typeface="Arial"/>
              <a:ea typeface="Arial"/>
              <a:cs typeface="Arial"/>
              <a:sym typeface="Arial"/>
            </a:endParaRPr>
          </a:p>
        </p:txBody>
      </p:sp>
      <p:sp>
        <p:nvSpPr>
          <p:cNvPr id="469" name="Google Shape;469;p10"/>
          <p:cNvSpPr txBox="1"/>
          <p:nvPr/>
        </p:nvSpPr>
        <p:spPr>
          <a:xfrm>
            <a:off x="5059678" y="1860047"/>
            <a:ext cx="3648539" cy="4375429"/>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Consumption bifurcation: </a:t>
            </a:r>
            <a:r>
              <a:rPr lang="en-US" sz="1031">
                <a:solidFill>
                  <a:schemeClr val="dk1"/>
                </a:solidFill>
                <a:latin typeface="Arial"/>
                <a:ea typeface="Arial"/>
                <a:cs typeface="Arial"/>
                <a:sym typeface="Arial"/>
              </a:rPr>
              <a:t>A gap is emerging between affluent households and “value seekers” (47% of global consumers), forcing brands to aggressively segment their prices.</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Surge in “Sugar-Free”: </a:t>
            </a:r>
            <a:r>
              <a:rPr lang="en-US" sz="1031">
                <a:solidFill>
                  <a:schemeClr val="dk1"/>
                </a:solidFill>
                <a:latin typeface="Arial"/>
                <a:ea typeface="Arial"/>
                <a:cs typeface="Arial"/>
                <a:sym typeface="Arial"/>
              </a:rPr>
              <a:t>Health is becoming a major revenue driver, illustrated by the 14% growth of the Coca-Cola Zero Sugar segment in 2025.</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Pivot to smoke-free: </a:t>
            </a:r>
            <a:r>
              <a:rPr lang="en-US" sz="1031">
                <a:solidFill>
                  <a:schemeClr val="dk1"/>
                </a:solidFill>
                <a:latin typeface="Arial"/>
                <a:ea typeface="Arial"/>
                <a:cs typeface="Arial"/>
                <a:sym typeface="Arial"/>
              </a:rPr>
              <a:t>The tobacco industry is undergoing structural change, with smoke-free products (IQOS, nicotine pouches) already accounting for 41% of revenues among industry leaders.</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Resilience of e-commerce: </a:t>
            </a:r>
            <a:r>
              <a:rPr lang="en-US" sz="1031">
                <a:solidFill>
                  <a:schemeClr val="dk1"/>
                </a:solidFill>
                <a:latin typeface="Arial"/>
                <a:ea typeface="Arial"/>
                <a:cs typeface="Arial"/>
                <a:sym typeface="Arial"/>
              </a:rPr>
              <a:t>Online sales reach 16.3% of total retail sales in the United States, redefining digital visibility as the new currency of exchange.</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USMCA regulatory uncertainty: </a:t>
            </a:r>
            <a:r>
              <a:rPr lang="en-US" sz="1031">
                <a:solidFill>
                  <a:schemeClr val="dk1"/>
                </a:solidFill>
                <a:latin typeface="Arial"/>
                <a:ea typeface="Arial"/>
                <a:cs typeface="Arial"/>
                <a:sym typeface="Arial"/>
              </a:rPr>
              <a:t>The mandatory review of the trade agreement in 2026 requires increased strategic traceability for agricultural and industrial products in North America.</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Post-inflation normalization: </a:t>
            </a:r>
            <a:r>
              <a:rPr lang="en-US" sz="1031">
                <a:solidFill>
                  <a:schemeClr val="dk1"/>
                </a:solidFill>
                <a:latin typeface="Arial"/>
                <a:ea typeface="Arial"/>
                <a:cs typeface="Arial"/>
                <a:sym typeface="Arial"/>
              </a:rPr>
              <a:t>Companies are shifting from exclusively price-driven growth to a more balanced mix/volume model after the inflationary shock of 2022-2024.</a:t>
            </a:r>
            <a:endParaRPr/>
          </a:p>
        </p:txBody>
      </p:sp>
      <p:pic>
        <p:nvPicPr>
          <p:cNvPr descr="Une image contenant texte, capture d’écran, Police, conception&#10;&#10;Le contenu généré par l’IA peut être incorrect." id="470" name="Google Shape;470;p10"/>
          <p:cNvPicPr preferRelativeResize="0"/>
          <p:nvPr/>
        </p:nvPicPr>
        <p:blipFill rotWithShape="1">
          <a:blip r:embed="rId6">
            <a:alphaModFix/>
          </a:blip>
          <a:srcRect b="0" l="8093" r="2969" t="0"/>
          <a:stretch/>
        </p:blipFill>
        <p:spPr>
          <a:xfrm>
            <a:off x="64294" y="2731613"/>
            <a:ext cx="4607131" cy="26282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11"/>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313">
              <a:solidFill>
                <a:srgbClr val="000000"/>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313">
              <a:solidFill>
                <a:srgbClr val="000000"/>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313">
              <a:solidFill>
                <a:srgbClr val="000000"/>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313">
              <a:solidFill>
                <a:srgbClr val="000000"/>
              </a:solidFill>
              <a:latin typeface="Arial"/>
              <a:ea typeface="Arial"/>
              <a:cs typeface="Arial"/>
              <a:sym typeface="Arial"/>
            </a:endParaRPr>
          </a:p>
        </p:txBody>
      </p:sp>
      <p:grpSp>
        <p:nvGrpSpPr>
          <p:cNvPr id="476" name="Google Shape;476;p11"/>
          <p:cNvGrpSpPr/>
          <p:nvPr/>
        </p:nvGrpSpPr>
        <p:grpSpPr>
          <a:xfrm>
            <a:off x="-2192501" y="2633500"/>
            <a:ext cx="1970251" cy="496313"/>
            <a:chOff x="0" y="-28575"/>
            <a:chExt cx="2802135" cy="705866"/>
          </a:xfrm>
        </p:grpSpPr>
        <p:sp>
          <p:nvSpPr>
            <p:cNvPr id="477" name="Google Shape;477;p11"/>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78" name="Google Shape;478;p11"/>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313">
                <a:solidFill>
                  <a:srgbClr val="000000"/>
                </a:solidFill>
                <a:latin typeface="Arial"/>
                <a:ea typeface="Arial"/>
                <a:cs typeface="Arial"/>
                <a:sym typeface="Arial"/>
              </a:endParaRPr>
            </a:p>
          </p:txBody>
        </p:sp>
      </p:grpSp>
      <p:grpSp>
        <p:nvGrpSpPr>
          <p:cNvPr id="479" name="Google Shape;479;p11"/>
          <p:cNvGrpSpPr/>
          <p:nvPr/>
        </p:nvGrpSpPr>
        <p:grpSpPr>
          <a:xfrm>
            <a:off x="-2186151" y="3363382"/>
            <a:ext cx="1957566" cy="486436"/>
            <a:chOff x="0" y="-28575"/>
            <a:chExt cx="2784094" cy="691820"/>
          </a:xfrm>
        </p:grpSpPr>
        <p:sp>
          <p:nvSpPr>
            <p:cNvPr id="480" name="Google Shape;480;p11"/>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81" name="Google Shape;481;p11"/>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313">
                <a:solidFill>
                  <a:srgbClr val="000000"/>
                </a:solidFill>
                <a:latin typeface="Arial"/>
                <a:ea typeface="Arial"/>
                <a:cs typeface="Arial"/>
                <a:sym typeface="Arial"/>
              </a:endParaRPr>
            </a:p>
          </p:txBody>
        </p:sp>
      </p:grpSp>
      <p:grpSp>
        <p:nvGrpSpPr>
          <p:cNvPr id="482" name="Google Shape;482;p11"/>
          <p:cNvGrpSpPr/>
          <p:nvPr/>
        </p:nvGrpSpPr>
        <p:grpSpPr>
          <a:xfrm>
            <a:off x="-2186151" y="4089757"/>
            <a:ext cx="1957566" cy="486436"/>
            <a:chOff x="0" y="-28575"/>
            <a:chExt cx="2784094" cy="691820"/>
          </a:xfrm>
        </p:grpSpPr>
        <p:sp>
          <p:nvSpPr>
            <p:cNvPr id="483" name="Google Shape;483;p11"/>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84" name="Google Shape;484;p11"/>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313">
                <a:solidFill>
                  <a:srgbClr val="000000"/>
                </a:solidFill>
                <a:latin typeface="Arial"/>
                <a:ea typeface="Arial"/>
                <a:cs typeface="Arial"/>
                <a:sym typeface="Arial"/>
              </a:endParaRPr>
            </a:p>
          </p:txBody>
        </p:sp>
      </p:grpSp>
      <p:grpSp>
        <p:nvGrpSpPr>
          <p:cNvPr id="485" name="Google Shape;485;p11"/>
          <p:cNvGrpSpPr/>
          <p:nvPr/>
        </p:nvGrpSpPr>
        <p:grpSpPr>
          <a:xfrm>
            <a:off x="-2186151" y="4816132"/>
            <a:ext cx="1957566" cy="486436"/>
            <a:chOff x="0" y="-28575"/>
            <a:chExt cx="2784094" cy="691820"/>
          </a:xfrm>
        </p:grpSpPr>
        <p:sp>
          <p:nvSpPr>
            <p:cNvPr id="486" name="Google Shape;486;p11"/>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87" name="Google Shape;487;p11"/>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313">
                <a:solidFill>
                  <a:srgbClr val="000000"/>
                </a:solidFill>
                <a:latin typeface="Arial"/>
                <a:ea typeface="Arial"/>
                <a:cs typeface="Arial"/>
                <a:sym typeface="Arial"/>
              </a:endParaRPr>
            </a:p>
          </p:txBody>
        </p:sp>
      </p:grpSp>
      <p:grpSp>
        <p:nvGrpSpPr>
          <p:cNvPr id="488" name="Google Shape;488;p11"/>
          <p:cNvGrpSpPr/>
          <p:nvPr/>
        </p:nvGrpSpPr>
        <p:grpSpPr>
          <a:xfrm>
            <a:off x="-2186151" y="5542509"/>
            <a:ext cx="1957566" cy="486436"/>
            <a:chOff x="0" y="-28575"/>
            <a:chExt cx="2784094" cy="691820"/>
          </a:xfrm>
        </p:grpSpPr>
        <p:sp>
          <p:nvSpPr>
            <p:cNvPr id="489" name="Google Shape;489;p11"/>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90" name="Google Shape;490;p11"/>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grpSp>
        <p:nvGrpSpPr>
          <p:cNvPr id="491" name="Google Shape;491;p11"/>
          <p:cNvGrpSpPr/>
          <p:nvPr/>
        </p:nvGrpSpPr>
        <p:grpSpPr>
          <a:xfrm>
            <a:off x="-2186151" y="1916319"/>
            <a:ext cx="1957566" cy="483632"/>
            <a:chOff x="0" y="-28575"/>
            <a:chExt cx="2784094" cy="687832"/>
          </a:xfrm>
        </p:grpSpPr>
        <p:sp>
          <p:nvSpPr>
            <p:cNvPr id="492" name="Google Shape;492;p11"/>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93" name="Google Shape;493;p11"/>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313" u="none" cap="none" strike="noStrike">
                <a:solidFill>
                  <a:srgbClr val="000000"/>
                </a:solidFill>
                <a:latin typeface="Arial"/>
                <a:ea typeface="Arial"/>
                <a:cs typeface="Arial"/>
                <a:sym typeface="Arial"/>
              </a:endParaRPr>
            </a:p>
          </p:txBody>
        </p:sp>
      </p:grpSp>
      <p:sp>
        <p:nvSpPr>
          <p:cNvPr id="494" name="Google Shape;494;p11"/>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cxnSp>
        <p:nvCxnSpPr>
          <p:cNvPr id="495" name="Google Shape;495;p11"/>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496" name="Google Shape;496;p11"/>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97" name="Google Shape;497;p11"/>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498" name="Google Shape;498;p11"/>
          <p:cNvSpPr txBox="1"/>
          <p:nvPr/>
        </p:nvSpPr>
        <p:spPr>
          <a:xfrm>
            <a:off x="64294" y="455032"/>
            <a:ext cx="530708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Risk Considerations</a:t>
            </a:r>
            <a:endParaRPr sz="1313">
              <a:solidFill>
                <a:srgbClr val="000000"/>
              </a:solidFill>
              <a:latin typeface="Arial"/>
              <a:ea typeface="Arial"/>
              <a:cs typeface="Arial"/>
              <a:sym typeface="Arial"/>
            </a:endParaRPr>
          </a:p>
        </p:txBody>
      </p:sp>
      <p:grpSp>
        <p:nvGrpSpPr>
          <p:cNvPr id="499" name="Google Shape;499;p11"/>
          <p:cNvGrpSpPr/>
          <p:nvPr/>
        </p:nvGrpSpPr>
        <p:grpSpPr>
          <a:xfrm>
            <a:off x="572622" y="5790155"/>
            <a:ext cx="7998768" cy="241911"/>
            <a:chOff x="0" y="-28575"/>
            <a:chExt cx="11376025" cy="344051"/>
          </a:xfrm>
        </p:grpSpPr>
        <p:sp>
          <p:nvSpPr>
            <p:cNvPr id="500" name="Google Shape;500;p11"/>
            <p:cNvSpPr/>
            <p:nvPr/>
          </p:nvSpPr>
          <p:spPr>
            <a:xfrm>
              <a:off x="0" y="0"/>
              <a:ext cx="11376025" cy="315468"/>
            </a:xfrm>
            <a:custGeom>
              <a:rect b="b" l="l" r="r" t="t"/>
              <a:pathLst>
                <a:path extrusionOk="0" h="315468" w="11376025">
                  <a:moveTo>
                    <a:pt x="0" y="0"/>
                  </a:moveTo>
                  <a:lnTo>
                    <a:pt x="11376025" y="0"/>
                  </a:lnTo>
                  <a:lnTo>
                    <a:pt x="11376025" y="315468"/>
                  </a:lnTo>
                  <a:lnTo>
                    <a:pt x="0" y="315468"/>
                  </a:lnTo>
                  <a:close/>
                </a:path>
              </a:pathLst>
            </a:custGeom>
            <a:solidFill>
              <a:srgbClr val="333F4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01" name="Google Shape;501;p11"/>
            <p:cNvSpPr txBox="1"/>
            <p:nvPr/>
          </p:nvSpPr>
          <p:spPr>
            <a:xfrm>
              <a:off x="0" y="-28575"/>
              <a:ext cx="11376011" cy="344051"/>
            </a:xfrm>
            <a:prstGeom prst="rect">
              <a:avLst/>
            </a:prstGeom>
            <a:noFill/>
            <a:ln>
              <a:noFill/>
            </a:ln>
          </p:spPr>
          <p:txBody>
            <a:bodyPr anchorCtr="0" anchor="ctr" bIns="47625" lIns="47625" spcFirstLastPara="1" rIns="47625" wrap="square" tIns="47625">
              <a:noAutofit/>
            </a:bodyPr>
            <a:lstStyle/>
            <a:p>
              <a:pPr indent="0" lvl="0" marL="0" marR="0" rtl="0" algn="l">
                <a:lnSpc>
                  <a:spcPct val="120016"/>
                </a:lnSpc>
                <a:spcBef>
                  <a:spcPts val="0"/>
                </a:spcBef>
                <a:spcAft>
                  <a:spcPts val="0"/>
                </a:spcAft>
                <a:buNone/>
              </a:pPr>
              <a:r>
                <a:rPr b="1" lang="en-US" sz="1199">
                  <a:solidFill>
                    <a:srgbClr val="FFFFFF"/>
                  </a:solidFill>
                  <a:latin typeface="Arial"/>
                  <a:ea typeface="Arial"/>
                  <a:cs typeface="Arial"/>
                  <a:sym typeface="Arial"/>
                </a:rPr>
                <a:t>Low		 		Probability		         		   High</a:t>
              </a:r>
              <a:endParaRPr/>
            </a:p>
          </p:txBody>
        </p:sp>
      </p:grpSp>
      <p:cxnSp>
        <p:nvCxnSpPr>
          <p:cNvPr id="502" name="Google Shape;502;p11"/>
          <p:cNvCxnSpPr/>
          <p:nvPr/>
        </p:nvCxnSpPr>
        <p:spPr>
          <a:xfrm rot="4088">
            <a:off x="567856" y="5810246"/>
            <a:ext cx="8008289" cy="0"/>
          </a:xfrm>
          <a:prstGeom prst="straightConnector1">
            <a:avLst/>
          </a:prstGeom>
          <a:noFill/>
          <a:ln cap="rnd" cmpd="sng" w="9525">
            <a:solidFill>
              <a:srgbClr val="000000"/>
            </a:solidFill>
            <a:prstDash val="solid"/>
            <a:round/>
            <a:headEnd len="sm" w="sm" type="none"/>
            <a:tailEnd len="sm" w="sm" type="none"/>
          </a:ln>
        </p:spPr>
      </p:cxnSp>
      <p:grpSp>
        <p:nvGrpSpPr>
          <p:cNvPr id="503" name="Google Shape;503;p11"/>
          <p:cNvGrpSpPr/>
          <p:nvPr/>
        </p:nvGrpSpPr>
        <p:grpSpPr>
          <a:xfrm rot="-5400000">
            <a:off x="-1811883" y="3425708"/>
            <a:ext cx="4526280" cy="242798"/>
            <a:chOff x="0" y="-28575"/>
            <a:chExt cx="6437376" cy="345313"/>
          </a:xfrm>
        </p:grpSpPr>
        <p:sp>
          <p:nvSpPr>
            <p:cNvPr id="504" name="Google Shape;504;p11"/>
            <p:cNvSpPr/>
            <p:nvPr/>
          </p:nvSpPr>
          <p:spPr>
            <a:xfrm>
              <a:off x="0" y="0"/>
              <a:ext cx="6437376" cy="316738"/>
            </a:xfrm>
            <a:custGeom>
              <a:rect b="b" l="l" r="r" t="t"/>
              <a:pathLst>
                <a:path extrusionOk="0" h="316738" w="6437376">
                  <a:moveTo>
                    <a:pt x="0" y="0"/>
                  </a:moveTo>
                  <a:lnTo>
                    <a:pt x="6437376" y="0"/>
                  </a:lnTo>
                  <a:lnTo>
                    <a:pt x="6437376" y="316738"/>
                  </a:lnTo>
                  <a:lnTo>
                    <a:pt x="0" y="316738"/>
                  </a:lnTo>
                  <a:close/>
                </a:path>
              </a:pathLst>
            </a:custGeom>
            <a:solidFill>
              <a:srgbClr val="333F4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05" name="Google Shape;505;p11"/>
            <p:cNvSpPr txBox="1"/>
            <p:nvPr/>
          </p:nvSpPr>
          <p:spPr>
            <a:xfrm>
              <a:off x="0" y="-28575"/>
              <a:ext cx="6437376" cy="345263"/>
            </a:xfrm>
            <a:prstGeom prst="rect">
              <a:avLst/>
            </a:prstGeom>
            <a:noFill/>
            <a:ln>
              <a:noFill/>
            </a:ln>
          </p:spPr>
          <p:txBody>
            <a:bodyPr anchorCtr="0" anchor="ctr" bIns="47625" lIns="47625" spcFirstLastPara="1" rIns="47625" wrap="square" tIns="47625">
              <a:noAutofit/>
            </a:bodyPr>
            <a:lstStyle/>
            <a:p>
              <a:pPr indent="0" lvl="0" marL="0" marR="0" rtl="0" algn="l">
                <a:lnSpc>
                  <a:spcPct val="120016"/>
                </a:lnSpc>
                <a:spcBef>
                  <a:spcPts val="0"/>
                </a:spcBef>
                <a:spcAft>
                  <a:spcPts val="0"/>
                </a:spcAft>
                <a:buNone/>
              </a:pPr>
              <a:r>
                <a:rPr b="1" lang="en-US" sz="1199">
                  <a:solidFill>
                    <a:srgbClr val="FFFFFF"/>
                  </a:solidFill>
                  <a:latin typeface="Arial"/>
                  <a:ea typeface="Arial"/>
                  <a:cs typeface="Arial"/>
                  <a:sym typeface="Arial"/>
                </a:rPr>
                <a:t> Low		  Impact      		        High</a:t>
              </a:r>
              <a:endParaRPr/>
            </a:p>
          </p:txBody>
        </p:sp>
      </p:grpSp>
      <p:sp>
        <p:nvSpPr>
          <p:cNvPr id="506" name="Google Shape;506;p11"/>
          <p:cNvSpPr/>
          <p:nvPr/>
        </p:nvSpPr>
        <p:spPr>
          <a:xfrm rot="-5400000">
            <a:off x="349681" y="5809091"/>
            <a:ext cx="223242" cy="222706"/>
          </a:xfrm>
          <a:custGeom>
            <a:rect b="b" l="l" r="r" t="t"/>
            <a:pathLst>
              <a:path extrusionOk="0" h="316738" w="317500">
                <a:moveTo>
                  <a:pt x="0" y="0"/>
                </a:moveTo>
                <a:lnTo>
                  <a:pt x="317500" y="0"/>
                </a:lnTo>
                <a:lnTo>
                  <a:pt x="317500" y="316738"/>
                </a:lnTo>
                <a:lnTo>
                  <a:pt x="0" y="316738"/>
                </a:ln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cxnSp>
        <p:nvCxnSpPr>
          <p:cNvPr id="507" name="Google Shape;507;p11"/>
          <p:cNvCxnSpPr/>
          <p:nvPr/>
        </p:nvCxnSpPr>
        <p:spPr>
          <a:xfrm rot="8096081">
            <a:off x="296910" y="5920464"/>
            <a:ext cx="328749" cy="0"/>
          </a:xfrm>
          <a:prstGeom prst="straightConnector1">
            <a:avLst/>
          </a:prstGeom>
          <a:noFill/>
          <a:ln cap="rnd" cmpd="sng" w="9525">
            <a:solidFill>
              <a:srgbClr val="BFBFBF"/>
            </a:solidFill>
            <a:prstDash val="solid"/>
            <a:round/>
            <a:headEnd len="sm" w="sm" type="none"/>
            <a:tailEnd len="sm" w="sm" type="none"/>
          </a:ln>
        </p:spPr>
      </p:cxnSp>
      <p:grpSp>
        <p:nvGrpSpPr>
          <p:cNvPr id="508" name="Google Shape;508;p11"/>
          <p:cNvGrpSpPr/>
          <p:nvPr/>
        </p:nvGrpSpPr>
        <p:grpSpPr>
          <a:xfrm>
            <a:off x="2569082" y="4420155"/>
            <a:ext cx="2157833" cy="507034"/>
            <a:chOff x="0" y="-28575"/>
            <a:chExt cx="3068918" cy="721116"/>
          </a:xfrm>
        </p:grpSpPr>
        <p:sp>
          <p:nvSpPr>
            <p:cNvPr id="509" name="Google Shape;509;p11"/>
            <p:cNvSpPr/>
            <p:nvPr/>
          </p:nvSpPr>
          <p:spPr>
            <a:xfrm>
              <a:off x="6731" y="6957"/>
              <a:ext cx="3055366" cy="678600"/>
            </a:xfrm>
            <a:custGeom>
              <a:rect b="b" l="l" r="r" t="t"/>
              <a:pathLst>
                <a:path extrusionOk="0" h="678600" w="3055366">
                  <a:moveTo>
                    <a:pt x="0" y="0"/>
                  </a:moveTo>
                  <a:lnTo>
                    <a:pt x="3055366" y="0"/>
                  </a:lnTo>
                  <a:lnTo>
                    <a:pt x="3055366" y="678599"/>
                  </a:lnTo>
                  <a:lnTo>
                    <a:pt x="0" y="678599"/>
                  </a:lnTo>
                  <a:close/>
                </a:path>
              </a:pathLst>
            </a:custGeom>
            <a:solidFill>
              <a:srgbClr val="E8FE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0" name="Google Shape;510;p11"/>
            <p:cNvSpPr/>
            <p:nvPr/>
          </p:nvSpPr>
          <p:spPr>
            <a:xfrm>
              <a:off x="0" y="0"/>
              <a:ext cx="3068828" cy="692513"/>
            </a:xfrm>
            <a:custGeom>
              <a:rect b="b" l="l" r="r" t="t"/>
              <a:pathLst>
                <a:path extrusionOk="0" h="692513" w="3068828">
                  <a:moveTo>
                    <a:pt x="6731" y="0"/>
                  </a:moveTo>
                  <a:lnTo>
                    <a:pt x="3062097" y="0"/>
                  </a:lnTo>
                  <a:cubicBezTo>
                    <a:pt x="3065780" y="0"/>
                    <a:pt x="3068828" y="3150"/>
                    <a:pt x="3068828" y="6957"/>
                  </a:cubicBezTo>
                  <a:lnTo>
                    <a:pt x="3068828" y="685556"/>
                  </a:lnTo>
                  <a:cubicBezTo>
                    <a:pt x="3068828" y="689363"/>
                    <a:pt x="3065780" y="692513"/>
                    <a:pt x="3062097" y="692513"/>
                  </a:cubicBezTo>
                  <a:lnTo>
                    <a:pt x="6731" y="692513"/>
                  </a:lnTo>
                  <a:cubicBezTo>
                    <a:pt x="3048" y="692513"/>
                    <a:pt x="0" y="689363"/>
                    <a:pt x="0" y="685556"/>
                  </a:cubicBezTo>
                  <a:lnTo>
                    <a:pt x="0" y="6957"/>
                  </a:lnTo>
                  <a:cubicBezTo>
                    <a:pt x="0" y="3150"/>
                    <a:pt x="3048" y="0"/>
                    <a:pt x="6731" y="0"/>
                  </a:cubicBezTo>
                  <a:moveTo>
                    <a:pt x="6731" y="14045"/>
                  </a:moveTo>
                  <a:lnTo>
                    <a:pt x="6731" y="6957"/>
                  </a:lnTo>
                  <a:lnTo>
                    <a:pt x="13462" y="6957"/>
                  </a:lnTo>
                  <a:lnTo>
                    <a:pt x="13462" y="685556"/>
                  </a:lnTo>
                  <a:lnTo>
                    <a:pt x="6731" y="685556"/>
                  </a:lnTo>
                  <a:lnTo>
                    <a:pt x="6731" y="678600"/>
                  </a:lnTo>
                  <a:lnTo>
                    <a:pt x="3062097" y="678600"/>
                  </a:lnTo>
                  <a:lnTo>
                    <a:pt x="3062097" y="685556"/>
                  </a:lnTo>
                  <a:lnTo>
                    <a:pt x="3055366" y="685556"/>
                  </a:lnTo>
                  <a:lnTo>
                    <a:pt x="3055366" y="6957"/>
                  </a:lnTo>
                  <a:lnTo>
                    <a:pt x="3062097" y="6957"/>
                  </a:lnTo>
                  <a:lnTo>
                    <a:pt x="3062097" y="13913"/>
                  </a:lnTo>
                  <a:lnTo>
                    <a:pt x="6731" y="13913"/>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1" name="Google Shape;511;p11"/>
            <p:cNvSpPr txBox="1"/>
            <p:nvPr/>
          </p:nvSpPr>
          <p:spPr>
            <a:xfrm>
              <a:off x="0" y="-28575"/>
              <a:ext cx="3068918" cy="721116"/>
            </a:xfrm>
            <a:prstGeom prst="rect">
              <a:avLst/>
            </a:prstGeom>
            <a:noFill/>
            <a:ln>
              <a:noFill/>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Political instability and volatility in currencies</a:t>
              </a:r>
              <a:endParaRPr/>
            </a:p>
          </p:txBody>
        </p:sp>
      </p:grpSp>
      <p:grpSp>
        <p:nvGrpSpPr>
          <p:cNvPr id="512" name="Google Shape;512;p11"/>
          <p:cNvGrpSpPr/>
          <p:nvPr/>
        </p:nvGrpSpPr>
        <p:grpSpPr>
          <a:xfrm>
            <a:off x="718633" y="1982947"/>
            <a:ext cx="1763569" cy="477605"/>
            <a:chOff x="0" y="0"/>
            <a:chExt cx="2508187" cy="679260"/>
          </a:xfrm>
        </p:grpSpPr>
        <p:sp>
          <p:nvSpPr>
            <p:cNvPr id="513" name="Google Shape;513;p11"/>
            <p:cNvSpPr/>
            <p:nvPr/>
          </p:nvSpPr>
          <p:spPr>
            <a:xfrm>
              <a:off x="3787" y="3787"/>
              <a:ext cx="2486606" cy="664915"/>
            </a:xfrm>
            <a:custGeom>
              <a:rect b="b" l="l" r="r" t="t"/>
              <a:pathLst>
                <a:path extrusionOk="0" h="664915" w="2486606">
                  <a:moveTo>
                    <a:pt x="0" y="0"/>
                  </a:moveTo>
                  <a:lnTo>
                    <a:pt x="2486606" y="0"/>
                  </a:lnTo>
                  <a:lnTo>
                    <a:pt x="2486606" y="664915"/>
                  </a:lnTo>
                  <a:lnTo>
                    <a:pt x="0" y="664915"/>
                  </a:lnTo>
                  <a:close/>
                </a:path>
              </a:pathLst>
            </a:custGeom>
            <a:solidFill>
              <a:srgbClr val="FEF7F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4" name="Google Shape;514;p11"/>
            <p:cNvSpPr/>
            <p:nvPr/>
          </p:nvSpPr>
          <p:spPr>
            <a:xfrm>
              <a:off x="0" y="0"/>
              <a:ext cx="2494180" cy="672488"/>
            </a:xfrm>
            <a:custGeom>
              <a:rect b="b" l="l" r="r" t="t"/>
              <a:pathLst>
                <a:path extrusionOk="0" h="672488" w="2494180">
                  <a:moveTo>
                    <a:pt x="3787" y="0"/>
                  </a:moveTo>
                  <a:lnTo>
                    <a:pt x="2490393" y="0"/>
                  </a:lnTo>
                  <a:cubicBezTo>
                    <a:pt x="2492465" y="0"/>
                    <a:pt x="2494180" y="1715"/>
                    <a:pt x="2494180" y="3787"/>
                  </a:cubicBezTo>
                  <a:lnTo>
                    <a:pt x="2494180" y="668702"/>
                  </a:lnTo>
                  <a:cubicBezTo>
                    <a:pt x="2494180" y="670774"/>
                    <a:pt x="2492465" y="672488"/>
                    <a:pt x="2490393" y="672488"/>
                  </a:cubicBezTo>
                  <a:lnTo>
                    <a:pt x="3787" y="672488"/>
                  </a:lnTo>
                  <a:cubicBezTo>
                    <a:pt x="1715" y="672488"/>
                    <a:pt x="0" y="670774"/>
                    <a:pt x="0" y="668702"/>
                  </a:cubicBezTo>
                  <a:lnTo>
                    <a:pt x="0" y="3787"/>
                  </a:lnTo>
                  <a:cubicBezTo>
                    <a:pt x="0" y="1715"/>
                    <a:pt x="1715" y="0"/>
                    <a:pt x="3787" y="0"/>
                  </a:cubicBezTo>
                  <a:moveTo>
                    <a:pt x="3787" y="7645"/>
                  </a:moveTo>
                  <a:lnTo>
                    <a:pt x="3787" y="3787"/>
                  </a:lnTo>
                  <a:lnTo>
                    <a:pt x="7574" y="3787"/>
                  </a:lnTo>
                  <a:lnTo>
                    <a:pt x="7574" y="668702"/>
                  </a:lnTo>
                  <a:lnTo>
                    <a:pt x="3787" y="668702"/>
                  </a:lnTo>
                  <a:lnTo>
                    <a:pt x="3787" y="664915"/>
                  </a:lnTo>
                  <a:lnTo>
                    <a:pt x="2490393" y="664915"/>
                  </a:lnTo>
                  <a:lnTo>
                    <a:pt x="2490393" y="668702"/>
                  </a:lnTo>
                  <a:lnTo>
                    <a:pt x="2486607" y="668702"/>
                  </a:lnTo>
                  <a:lnTo>
                    <a:pt x="2486607" y="3787"/>
                  </a:lnTo>
                  <a:lnTo>
                    <a:pt x="2490393" y="3787"/>
                  </a:lnTo>
                  <a:lnTo>
                    <a:pt x="2490393" y="7574"/>
                  </a:lnTo>
                  <a:lnTo>
                    <a:pt x="3787" y="7574"/>
                  </a:lnTo>
                  <a:close/>
                </a:path>
              </a:pathLst>
            </a:custGeom>
            <a:solidFill>
              <a:srgbClr val="00206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5" name="Google Shape;515;p11"/>
            <p:cNvSpPr txBox="1"/>
            <p:nvPr/>
          </p:nvSpPr>
          <p:spPr>
            <a:xfrm>
              <a:off x="13960" y="14345"/>
              <a:ext cx="2494227" cy="664915"/>
            </a:xfrm>
            <a:prstGeom prst="rect">
              <a:avLst/>
            </a:prstGeom>
            <a:solidFill>
              <a:srgbClr val="E8FFCD"/>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input and tariff margins</a:t>
              </a:r>
              <a:endParaRPr b="1" sz="1199">
                <a:solidFill>
                  <a:srgbClr val="000000"/>
                </a:solidFill>
                <a:latin typeface="Arial"/>
                <a:ea typeface="Arial"/>
                <a:cs typeface="Arial"/>
                <a:sym typeface="Arial"/>
              </a:endParaRPr>
            </a:p>
          </p:txBody>
        </p:sp>
      </p:grpSp>
      <p:grpSp>
        <p:nvGrpSpPr>
          <p:cNvPr id="516" name="Google Shape;516;p11"/>
          <p:cNvGrpSpPr/>
          <p:nvPr/>
        </p:nvGrpSpPr>
        <p:grpSpPr>
          <a:xfrm>
            <a:off x="6214719" y="1484748"/>
            <a:ext cx="2478556" cy="666935"/>
            <a:chOff x="0" y="-28575"/>
            <a:chExt cx="3525057" cy="948529"/>
          </a:xfrm>
        </p:grpSpPr>
        <p:sp>
          <p:nvSpPr>
            <p:cNvPr id="517" name="Google Shape;517;p11"/>
            <p:cNvSpPr/>
            <p:nvPr/>
          </p:nvSpPr>
          <p:spPr>
            <a:xfrm>
              <a:off x="6731" y="9241"/>
              <a:ext cx="3511550" cy="901436"/>
            </a:xfrm>
            <a:custGeom>
              <a:rect b="b" l="l" r="r" t="t"/>
              <a:pathLst>
                <a:path extrusionOk="0" h="901436" w="3511550">
                  <a:moveTo>
                    <a:pt x="0" y="0"/>
                  </a:moveTo>
                  <a:lnTo>
                    <a:pt x="3511550" y="0"/>
                  </a:lnTo>
                  <a:lnTo>
                    <a:pt x="3511550" y="901436"/>
                  </a:lnTo>
                  <a:lnTo>
                    <a:pt x="0" y="901436"/>
                  </a:lnTo>
                  <a:close/>
                </a:path>
              </a:pathLst>
            </a:custGeom>
            <a:solidFill>
              <a:srgbClr val="FEF7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8" name="Google Shape;518;p11"/>
            <p:cNvSpPr/>
            <p:nvPr/>
          </p:nvSpPr>
          <p:spPr>
            <a:xfrm>
              <a:off x="0" y="0"/>
              <a:ext cx="3525012" cy="919918"/>
            </a:xfrm>
            <a:custGeom>
              <a:rect b="b" l="l" r="r" t="t"/>
              <a:pathLst>
                <a:path extrusionOk="0" h="919918" w="3525012">
                  <a:moveTo>
                    <a:pt x="6731" y="0"/>
                  </a:moveTo>
                  <a:lnTo>
                    <a:pt x="3518281" y="0"/>
                  </a:lnTo>
                  <a:cubicBezTo>
                    <a:pt x="3521964" y="0"/>
                    <a:pt x="3525012" y="4185"/>
                    <a:pt x="3525012" y="9241"/>
                  </a:cubicBezTo>
                  <a:lnTo>
                    <a:pt x="3525012" y="910677"/>
                  </a:lnTo>
                  <a:cubicBezTo>
                    <a:pt x="3525012" y="915733"/>
                    <a:pt x="3521964" y="919918"/>
                    <a:pt x="3518281" y="919918"/>
                  </a:cubicBezTo>
                  <a:lnTo>
                    <a:pt x="6731" y="919918"/>
                  </a:lnTo>
                  <a:cubicBezTo>
                    <a:pt x="3048" y="919918"/>
                    <a:pt x="0" y="915733"/>
                    <a:pt x="0" y="910677"/>
                  </a:cubicBezTo>
                  <a:lnTo>
                    <a:pt x="0" y="9241"/>
                  </a:lnTo>
                  <a:cubicBezTo>
                    <a:pt x="0" y="4185"/>
                    <a:pt x="3048" y="0"/>
                    <a:pt x="6731" y="0"/>
                  </a:cubicBezTo>
                  <a:moveTo>
                    <a:pt x="6731" y="18656"/>
                  </a:moveTo>
                  <a:lnTo>
                    <a:pt x="6731" y="9241"/>
                  </a:lnTo>
                  <a:lnTo>
                    <a:pt x="13462" y="9241"/>
                  </a:lnTo>
                  <a:lnTo>
                    <a:pt x="13462" y="910677"/>
                  </a:lnTo>
                  <a:lnTo>
                    <a:pt x="6731" y="910677"/>
                  </a:lnTo>
                  <a:lnTo>
                    <a:pt x="6731" y="901436"/>
                  </a:lnTo>
                  <a:lnTo>
                    <a:pt x="3518281" y="901436"/>
                  </a:lnTo>
                  <a:lnTo>
                    <a:pt x="3518281" y="910677"/>
                  </a:lnTo>
                  <a:lnTo>
                    <a:pt x="3511550" y="910677"/>
                  </a:lnTo>
                  <a:lnTo>
                    <a:pt x="3511550" y="9241"/>
                  </a:lnTo>
                  <a:lnTo>
                    <a:pt x="3518281" y="9241"/>
                  </a:lnTo>
                  <a:lnTo>
                    <a:pt x="3518281" y="18482"/>
                  </a:lnTo>
                  <a:lnTo>
                    <a:pt x="6731" y="1848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19" name="Google Shape;519;p11"/>
            <p:cNvSpPr txBox="1"/>
            <p:nvPr/>
          </p:nvSpPr>
          <p:spPr>
            <a:xfrm>
              <a:off x="0" y="-28575"/>
              <a:ext cx="3525057" cy="948529"/>
            </a:xfrm>
            <a:prstGeom prst="rect">
              <a:avLst/>
            </a:prstGeom>
            <a:solidFill>
              <a:srgbClr val="E8FECC"/>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Normative pressure and ESG criterias</a:t>
              </a:r>
              <a:endParaRPr b="1" sz="1199">
                <a:solidFill>
                  <a:srgbClr val="000000"/>
                </a:solidFill>
                <a:latin typeface="Arial"/>
                <a:ea typeface="Arial"/>
                <a:cs typeface="Arial"/>
                <a:sym typeface="Arial"/>
              </a:endParaRPr>
            </a:p>
          </p:txBody>
        </p:sp>
      </p:grpSp>
      <p:sp>
        <p:nvSpPr>
          <p:cNvPr id="520" name="Google Shape;520;p11"/>
          <p:cNvSpPr txBox="1"/>
          <p:nvPr/>
        </p:nvSpPr>
        <p:spPr>
          <a:xfrm>
            <a:off x="3692085" y="3284212"/>
            <a:ext cx="2796624" cy="533360"/>
          </a:xfrm>
          <a:prstGeom prst="rect">
            <a:avLst/>
          </a:prstGeom>
          <a:solidFill>
            <a:srgbClr val="FFF7F4"/>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200">
                <a:solidFill>
                  <a:schemeClr val="dk1"/>
                </a:solidFill>
                <a:latin typeface="Arial"/>
                <a:ea typeface="Arial"/>
                <a:cs typeface="Arial"/>
                <a:sym typeface="Arial"/>
              </a:rPr>
              <a:t>GLP-1 drugs = reduction in global calories consumptions</a:t>
            </a:r>
            <a:endParaRPr b="1" sz="1199">
              <a:solidFill>
                <a:srgbClr val="000000"/>
              </a:solidFill>
              <a:latin typeface="Arial"/>
              <a:ea typeface="Arial"/>
              <a:cs typeface="Arial"/>
              <a:sym typeface="Arial"/>
            </a:endParaRPr>
          </a:p>
        </p:txBody>
      </p:sp>
      <p:grpSp>
        <p:nvGrpSpPr>
          <p:cNvPr id="521" name="Google Shape;521;p11"/>
          <p:cNvGrpSpPr/>
          <p:nvPr/>
        </p:nvGrpSpPr>
        <p:grpSpPr>
          <a:xfrm>
            <a:off x="1439573" y="1138239"/>
            <a:ext cx="245923" cy="145732"/>
            <a:chOff x="0" y="0"/>
            <a:chExt cx="349758" cy="207264"/>
          </a:xfrm>
        </p:grpSpPr>
        <p:sp>
          <p:nvSpPr>
            <p:cNvPr id="522" name="Google Shape;522;p11"/>
            <p:cNvSpPr/>
            <p:nvPr/>
          </p:nvSpPr>
          <p:spPr>
            <a:xfrm>
              <a:off x="6731" y="6731"/>
              <a:ext cx="336296" cy="193802"/>
            </a:xfrm>
            <a:custGeom>
              <a:rect b="b" l="l" r="r" t="t"/>
              <a:pathLst>
                <a:path extrusionOk="0" h="193802" w="336296">
                  <a:moveTo>
                    <a:pt x="0" y="0"/>
                  </a:moveTo>
                  <a:lnTo>
                    <a:pt x="336296" y="0"/>
                  </a:lnTo>
                  <a:lnTo>
                    <a:pt x="336296" y="193802"/>
                  </a:lnTo>
                  <a:lnTo>
                    <a:pt x="0" y="193802"/>
                  </a:lnTo>
                  <a:close/>
                </a:path>
              </a:pathLst>
            </a:custGeom>
            <a:solidFill>
              <a:srgbClr val="E6B9B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23" name="Google Shape;523;p11"/>
            <p:cNvSpPr/>
            <p:nvPr/>
          </p:nvSpPr>
          <p:spPr>
            <a:xfrm>
              <a:off x="0" y="0"/>
              <a:ext cx="349758" cy="207264"/>
            </a:xfrm>
            <a:custGeom>
              <a:rect b="b" l="l" r="r" t="t"/>
              <a:pathLst>
                <a:path extrusionOk="0" h="207264" w="349758">
                  <a:moveTo>
                    <a:pt x="6731" y="0"/>
                  </a:moveTo>
                  <a:lnTo>
                    <a:pt x="343027" y="0"/>
                  </a:lnTo>
                  <a:cubicBezTo>
                    <a:pt x="346710" y="0"/>
                    <a:pt x="349758" y="3048"/>
                    <a:pt x="349758" y="6731"/>
                  </a:cubicBezTo>
                  <a:lnTo>
                    <a:pt x="349758" y="200533"/>
                  </a:lnTo>
                  <a:cubicBezTo>
                    <a:pt x="349758" y="204216"/>
                    <a:pt x="346710" y="207264"/>
                    <a:pt x="343027" y="207264"/>
                  </a:cubicBezTo>
                  <a:lnTo>
                    <a:pt x="6731" y="207264"/>
                  </a:lnTo>
                  <a:cubicBezTo>
                    <a:pt x="3048" y="207264"/>
                    <a:pt x="0" y="204216"/>
                    <a:pt x="0" y="200533"/>
                  </a:cubicBezTo>
                  <a:lnTo>
                    <a:pt x="0" y="6731"/>
                  </a:lnTo>
                  <a:cubicBezTo>
                    <a:pt x="0" y="3048"/>
                    <a:pt x="3048" y="0"/>
                    <a:pt x="6731" y="0"/>
                  </a:cubicBezTo>
                  <a:moveTo>
                    <a:pt x="6731" y="13589"/>
                  </a:moveTo>
                  <a:lnTo>
                    <a:pt x="6731" y="6731"/>
                  </a:lnTo>
                  <a:lnTo>
                    <a:pt x="13462" y="6731"/>
                  </a:lnTo>
                  <a:lnTo>
                    <a:pt x="13462" y="200533"/>
                  </a:lnTo>
                  <a:lnTo>
                    <a:pt x="6731" y="200533"/>
                  </a:lnTo>
                  <a:lnTo>
                    <a:pt x="6731" y="193802"/>
                  </a:lnTo>
                  <a:lnTo>
                    <a:pt x="343027" y="193802"/>
                  </a:lnTo>
                  <a:lnTo>
                    <a:pt x="343027" y="200533"/>
                  </a:lnTo>
                  <a:lnTo>
                    <a:pt x="336296" y="200533"/>
                  </a:lnTo>
                  <a:lnTo>
                    <a:pt x="336296" y="6731"/>
                  </a:lnTo>
                  <a:lnTo>
                    <a:pt x="343027" y="6731"/>
                  </a:lnTo>
                  <a:lnTo>
                    <a:pt x="343027" y="13462"/>
                  </a:lnTo>
                  <a:lnTo>
                    <a:pt x="6731" y="1346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sp>
        <p:nvSpPr>
          <p:cNvPr id="524" name="Google Shape;524;p11"/>
          <p:cNvSpPr txBox="1"/>
          <p:nvPr/>
        </p:nvSpPr>
        <p:spPr>
          <a:xfrm>
            <a:off x="1766465" y="1127227"/>
            <a:ext cx="561443"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High Risk</a:t>
            </a:r>
            <a:endParaRPr/>
          </a:p>
        </p:txBody>
      </p:sp>
      <p:sp>
        <p:nvSpPr>
          <p:cNvPr id="525" name="Google Shape;525;p11"/>
          <p:cNvSpPr/>
          <p:nvPr/>
        </p:nvSpPr>
        <p:spPr>
          <a:xfrm>
            <a:off x="3730161" y="1157230"/>
            <a:ext cx="205679" cy="148281"/>
          </a:xfrm>
          <a:custGeom>
            <a:rect b="b" l="l" r="r" t="t"/>
            <a:pathLst>
              <a:path extrusionOk="0" h="158166" w="219391">
                <a:moveTo>
                  <a:pt x="0" y="0"/>
                </a:moveTo>
                <a:lnTo>
                  <a:pt x="219391" y="0"/>
                </a:lnTo>
                <a:lnTo>
                  <a:pt x="219391" y="158167"/>
                </a:lnTo>
                <a:lnTo>
                  <a:pt x="0" y="1581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26" name="Google Shape;526;p11"/>
          <p:cNvSpPr txBox="1"/>
          <p:nvPr/>
        </p:nvSpPr>
        <p:spPr>
          <a:xfrm>
            <a:off x="2811840" y="1124334"/>
            <a:ext cx="753803"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Medium Risk</a:t>
            </a:r>
            <a:endParaRPr/>
          </a:p>
        </p:txBody>
      </p:sp>
      <p:grpSp>
        <p:nvGrpSpPr>
          <p:cNvPr id="527" name="Google Shape;527;p11"/>
          <p:cNvGrpSpPr/>
          <p:nvPr/>
        </p:nvGrpSpPr>
        <p:grpSpPr>
          <a:xfrm>
            <a:off x="2477470" y="1174357"/>
            <a:ext cx="277981" cy="103763"/>
            <a:chOff x="0" y="0"/>
            <a:chExt cx="395351" cy="147574"/>
          </a:xfrm>
        </p:grpSpPr>
        <p:sp>
          <p:nvSpPr>
            <p:cNvPr id="528" name="Google Shape;528;p11"/>
            <p:cNvSpPr/>
            <p:nvPr/>
          </p:nvSpPr>
          <p:spPr>
            <a:xfrm>
              <a:off x="6731" y="6731"/>
              <a:ext cx="381889" cy="134112"/>
            </a:xfrm>
            <a:custGeom>
              <a:rect b="b" l="l" r="r" t="t"/>
              <a:pathLst>
                <a:path extrusionOk="0" h="134112" w="381889">
                  <a:moveTo>
                    <a:pt x="0" y="0"/>
                  </a:moveTo>
                  <a:lnTo>
                    <a:pt x="381889" y="0"/>
                  </a:lnTo>
                  <a:lnTo>
                    <a:pt x="381889" y="134112"/>
                  </a:lnTo>
                  <a:lnTo>
                    <a:pt x="0" y="134112"/>
                  </a:lnTo>
                  <a:close/>
                </a:path>
              </a:pathLst>
            </a:custGeom>
            <a:solidFill>
              <a:srgbClr val="FEF7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29" name="Google Shape;529;p11"/>
            <p:cNvSpPr/>
            <p:nvPr/>
          </p:nvSpPr>
          <p:spPr>
            <a:xfrm>
              <a:off x="0" y="0"/>
              <a:ext cx="395351" cy="147574"/>
            </a:xfrm>
            <a:custGeom>
              <a:rect b="b" l="l" r="r" t="t"/>
              <a:pathLst>
                <a:path extrusionOk="0" h="147574" w="395351">
                  <a:moveTo>
                    <a:pt x="6731" y="0"/>
                  </a:moveTo>
                  <a:lnTo>
                    <a:pt x="388620" y="0"/>
                  </a:lnTo>
                  <a:cubicBezTo>
                    <a:pt x="392303" y="0"/>
                    <a:pt x="395351" y="3048"/>
                    <a:pt x="395351" y="6731"/>
                  </a:cubicBezTo>
                  <a:lnTo>
                    <a:pt x="395351" y="140843"/>
                  </a:lnTo>
                  <a:cubicBezTo>
                    <a:pt x="395351" y="144526"/>
                    <a:pt x="392303" y="147574"/>
                    <a:pt x="388620" y="147574"/>
                  </a:cubicBezTo>
                  <a:lnTo>
                    <a:pt x="6731" y="147574"/>
                  </a:lnTo>
                  <a:cubicBezTo>
                    <a:pt x="3048" y="147574"/>
                    <a:pt x="0" y="144526"/>
                    <a:pt x="0" y="140843"/>
                  </a:cubicBezTo>
                  <a:lnTo>
                    <a:pt x="0" y="6731"/>
                  </a:lnTo>
                  <a:cubicBezTo>
                    <a:pt x="0" y="3048"/>
                    <a:pt x="3048" y="0"/>
                    <a:pt x="6731" y="0"/>
                  </a:cubicBezTo>
                  <a:moveTo>
                    <a:pt x="6731" y="13589"/>
                  </a:moveTo>
                  <a:lnTo>
                    <a:pt x="6731" y="6731"/>
                  </a:lnTo>
                  <a:lnTo>
                    <a:pt x="13462" y="6731"/>
                  </a:lnTo>
                  <a:lnTo>
                    <a:pt x="13462" y="140843"/>
                  </a:lnTo>
                  <a:lnTo>
                    <a:pt x="6731" y="140843"/>
                  </a:lnTo>
                  <a:lnTo>
                    <a:pt x="6731" y="134112"/>
                  </a:lnTo>
                  <a:lnTo>
                    <a:pt x="388620" y="134112"/>
                  </a:lnTo>
                  <a:lnTo>
                    <a:pt x="388620" y="140843"/>
                  </a:lnTo>
                  <a:lnTo>
                    <a:pt x="381889" y="140843"/>
                  </a:lnTo>
                  <a:lnTo>
                    <a:pt x="381889" y="6731"/>
                  </a:lnTo>
                  <a:lnTo>
                    <a:pt x="388620" y="6731"/>
                  </a:lnTo>
                  <a:lnTo>
                    <a:pt x="388620" y="13462"/>
                  </a:lnTo>
                  <a:lnTo>
                    <a:pt x="6731" y="1346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sp>
        <p:nvSpPr>
          <p:cNvPr id="530" name="Google Shape;530;p11"/>
          <p:cNvSpPr txBox="1"/>
          <p:nvPr/>
        </p:nvSpPr>
        <p:spPr>
          <a:xfrm>
            <a:off x="4012949" y="1132174"/>
            <a:ext cx="532589"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Low Risk</a:t>
            </a:r>
            <a:endParaRPr/>
          </a:p>
        </p:txBody>
      </p:sp>
      <p:sp>
        <p:nvSpPr>
          <p:cNvPr id="531" name="Google Shape;531;p11"/>
          <p:cNvSpPr/>
          <p:nvPr/>
        </p:nvSpPr>
        <p:spPr>
          <a:xfrm>
            <a:off x="1181389" y="1044578"/>
            <a:ext cx="3565803" cy="388263"/>
          </a:xfrm>
          <a:custGeom>
            <a:rect b="b" l="l" r="r" t="t"/>
            <a:pathLst>
              <a:path extrusionOk="0" h="552196" w="5071364">
                <a:moveTo>
                  <a:pt x="4572" y="0"/>
                </a:moveTo>
                <a:lnTo>
                  <a:pt x="5066792" y="0"/>
                </a:lnTo>
                <a:cubicBezTo>
                  <a:pt x="5069332" y="0"/>
                  <a:pt x="5071364" y="2032"/>
                  <a:pt x="5071364" y="4572"/>
                </a:cubicBezTo>
                <a:lnTo>
                  <a:pt x="5071364" y="547624"/>
                </a:lnTo>
                <a:cubicBezTo>
                  <a:pt x="5071364" y="550164"/>
                  <a:pt x="5069332" y="552196"/>
                  <a:pt x="5066792" y="552196"/>
                </a:cubicBezTo>
                <a:lnTo>
                  <a:pt x="4572" y="552196"/>
                </a:lnTo>
                <a:cubicBezTo>
                  <a:pt x="2032" y="552196"/>
                  <a:pt x="0" y="550164"/>
                  <a:pt x="0" y="547624"/>
                </a:cubicBezTo>
                <a:lnTo>
                  <a:pt x="0" y="4572"/>
                </a:lnTo>
                <a:cubicBezTo>
                  <a:pt x="0" y="2032"/>
                  <a:pt x="2032" y="0"/>
                  <a:pt x="4572" y="0"/>
                </a:cubicBezTo>
                <a:moveTo>
                  <a:pt x="4572" y="9017"/>
                </a:moveTo>
                <a:lnTo>
                  <a:pt x="4572" y="4572"/>
                </a:lnTo>
                <a:lnTo>
                  <a:pt x="9017" y="4572"/>
                </a:lnTo>
                <a:lnTo>
                  <a:pt x="9017" y="547624"/>
                </a:lnTo>
                <a:lnTo>
                  <a:pt x="4572" y="547624"/>
                </a:lnTo>
                <a:lnTo>
                  <a:pt x="4572" y="543052"/>
                </a:lnTo>
                <a:lnTo>
                  <a:pt x="5066792" y="543052"/>
                </a:lnTo>
                <a:lnTo>
                  <a:pt x="5066792" y="547624"/>
                </a:lnTo>
                <a:lnTo>
                  <a:pt x="5062220" y="547624"/>
                </a:lnTo>
                <a:lnTo>
                  <a:pt x="5062220" y="4572"/>
                </a:lnTo>
                <a:lnTo>
                  <a:pt x="5066792" y="4572"/>
                </a:lnTo>
                <a:lnTo>
                  <a:pt x="5066792" y="9017"/>
                </a:lnTo>
                <a:lnTo>
                  <a:pt x="4572" y="9017"/>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nvGrpSpPr>
          <p:cNvPr id="532" name="Google Shape;532;p11"/>
          <p:cNvGrpSpPr/>
          <p:nvPr/>
        </p:nvGrpSpPr>
        <p:grpSpPr>
          <a:xfrm>
            <a:off x="5009502" y="2602201"/>
            <a:ext cx="1876735" cy="451718"/>
            <a:chOff x="0" y="-28575"/>
            <a:chExt cx="2669135" cy="642443"/>
          </a:xfrm>
        </p:grpSpPr>
        <p:sp>
          <p:nvSpPr>
            <p:cNvPr id="533" name="Google Shape;533;p11"/>
            <p:cNvSpPr/>
            <p:nvPr/>
          </p:nvSpPr>
          <p:spPr>
            <a:xfrm>
              <a:off x="5097" y="5097"/>
              <a:ext cx="2658907" cy="497163"/>
            </a:xfrm>
            <a:custGeom>
              <a:rect b="b" l="l" r="r" t="t"/>
              <a:pathLst>
                <a:path extrusionOk="0" h="497163" w="2658907">
                  <a:moveTo>
                    <a:pt x="0" y="0"/>
                  </a:moveTo>
                  <a:lnTo>
                    <a:pt x="2658907" y="0"/>
                  </a:lnTo>
                  <a:lnTo>
                    <a:pt x="2658907" y="497162"/>
                  </a:lnTo>
                  <a:lnTo>
                    <a:pt x="0" y="497162"/>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34" name="Google Shape;534;p11"/>
            <p:cNvSpPr/>
            <p:nvPr/>
          </p:nvSpPr>
          <p:spPr>
            <a:xfrm>
              <a:off x="0" y="0"/>
              <a:ext cx="2669100" cy="507356"/>
            </a:xfrm>
            <a:custGeom>
              <a:rect b="b" l="l" r="r" t="t"/>
              <a:pathLst>
                <a:path extrusionOk="0" h="507356" w="2669100">
                  <a:moveTo>
                    <a:pt x="5097" y="0"/>
                  </a:moveTo>
                  <a:lnTo>
                    <a:pt x="2664004" y="0"/>
                  </a:lnTo>
                  <a:cubicBezTo>
                    <a:pt x="2666792" y="0"/>
                    <a:pt x="2669100" y="2308"/>
                    <a:pt x="2669100" y="5097"/>
                  </a:cubicBezTo>
                  <a:lnTo>
                    <a:pt x="2669100" y="502259"/>
                  </a:lnTo>
                  <a:cubicBezTo>
                    <a:pt x="2669100" y="505048"/>
                    <a:pt x="2666792" y="507356"/>
                    <a:pt x="2664004" y="507356"/>
                  </a:cubicBezTo>
                  <a:lnTo>
                    <a:pt x="5097" y="507356"/>
                  </a:lnTo>
                  <a:cubicBezTo>
                    <a:pt x="2308" y="507356"/>
                    <a:pt x="0" y="505048"/>
                    <a:pt x="0" y="502259"/>
                  </a:cubicBezTo>
                  <a:lnTo>
                    <a:pt x="0" y="5097"/>
                  </a:lnTo>
                  <a:cubicBezTo>
                    <a:pt x="0" y="2308"/>
                    <a:pt x="2308" y="0"/>
                    <a:pt x="5097" y="0"/>
                  </a:cubicBezTo>
                  <a:moveTo>
                    <a:pt x="5097" y="10289"/>
                  </a:moveTo>
                  <a:lnTo>
                    <a:pt x="5097" y="5097"/>
                  </a:lnTo>
                  <a:lnTo>
                    <a:pt x="10193" y="5097"/>
                  </a:lnTo>
                  <a:lnTo>
                    <a:pt x="10193" y="502259"/>
                  </a:lnTo>
                  <a:lnTo>
                    <a:pt x="5097" y="502259"/>
                  </a:lnTo>
                  <a:lnTo>
                    <a:pt x="5097" y="497163"/>
                  </a:lnTo>
                  <a:lnTo>
                    <a:pt x="2664004" y="497163"/>
                  </a:lnTo>
                  <a:lnTo>
                    <a:pt x="2664004" y="502259"/>
                  </a:lnTo>
                  <a:lnTo>
                    <a:pt x="2658907" y="502259"/>
                  </a:lnTo>
                  <a:lnTo>
                    <a:pt x="2658907" y="5097"/>
                  </a:lnTo>
                  <a:lnTo>
                    <a:pt x="2664004" y="5097"/>
                  </a:lnTo>
                  <a:lnTo>
                    <a:pt x="2664004" y="10193"/>
                  </a:lnTo>
                  <a:lnTo>
                    <a:pt x="5097" y="10193"/>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35" name="Google Shape;535;p11"/>
            <p:cNvSpPr txBox="1"/>
            <p:nvPr/>
          </p:nvSpPr>
          <p:spPr>
            <a:xfrm>
              <a:off x="0" y="-28575"/>
              <a:ext cx="2669135" cy="642443"/>
            </a:xfrm>
            <a:prstGeom prst="rect">
              <a:avLst/>
            </a:prstGeom>
            <a:solidFill>
              <a:srgbClr val="E6BAB8"/>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Labor shortage and demographics</a:t>
              </a:r>
              <a:endParaRPr b="1" sz="1199">
                <a:solidFill>
                  <a:srgbClr val="000000"/>
                </a:solidFill>
                <a:latin typeface="Arial"/>
                <a:ea typeface="Arial"/>
                <a:cs typeface="Arial"/>
                <a:sym typeface="Arial"/>
              </a:endParaRPr>
            </a:p>
          </p:txBody>
        </p:sp>
      </p:grpSp>
      <p:grpSp>
        <p:nvGrpSpPr>
          <p:cNvPr id="536" name="Google Shape;536;p11"/>
          <p:cNvGrpSpPr/>
          <p:nvPr/>
        </p:nvGrpSpPr>
        <p:grpSpPr>
          <a:xfrm>
            <a:off x="3412775" y="1744231"/>
            <a:ext cx="2139207" cy="486923"/>
            <a:chOff x="-373293" y="-28575"/>
            <a:chExt cx="3042428" cy="692512"/>
          </a:xfrm>
        </p:grpSpPr>
        <p:sp>
          <p:nvSpPr>
            <p:cNvPr id="537" name="Google Shape;537;p11"/>
            <p:cNvSpPr/>
            <p:nvPr/>
          </p:nvSpPr>
          <p:spPr>
            <a:xfrm>
              <a:off x="5097" y="5097"/>
              <a:ext cx="2658907" cy="497163"/>
            </a:xfrm>
            <a:custGeom>
              <a:rect b="b" l="l" r="r" t="t"/>
              <a:pathLst>
                <a:path extrusionOk="0" h="497163" w="2658907">
                  <a:moveTo>
                    <a:pt x="0" y="0"/>
                  </a:moveTo>
                  <a:lnTo>
                    <a:pt x="2658907" y="0"/>
                  </a:lnTo>
                  <a:lnTo>
                    <a:pt x="2658907" y="497162"/>
                  </a:lnTo>
                  <a:lnTo>
                    <a:pt x="0" y="497162"/>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38" name="Google Shape;538;p11"/>
            <p:cNvSpPr/>
            <p:nvPr/>
          </p:nvSpPr>
          <p:spPr>
            <a:xfrm>
              <a:off x="0" y="0"/>
              <a:ext cx="2669100" cy="507356"/>
            </a:xfrm>
            <a:custGeom>
              <a:rect b="b" l="l" r="r" t="t"/>
              <a:pathLst>
                <a:path extrusionOk="0" h="507356" w="2669100">
                  <a:moveTo>
                    <a:pt x="5097" y="0"/>
                  </a:moveTo>
                  <a:lnTo>
                    <a:pt x="2664004" y="0"/>
                  </a:lnTo>
                  <a:cubicBezTo>
                    <a:pt x="2666792" y="0"/>
                    <a:pt x="2669100" y="2308"/>
                    <a:pt x="2669100" y="5097"/>
                  </a:cubicBezTo>
                  <a:lnTo>
                    <a:pt x="2669100" y="502259"/>
                  </a:lnTo>
                  <a:cubicBezTo>
                    <a:pt x="2669100" y="505048"/>
                    <a:pt x="2666792" y="507356"/>
                    <a:pt x="2664004" y="507356"/>
                  </a:cubicBezTo>
                  <a:lnTo>
                    <a:pt x="5097" y="507356"/>
                  </a:lnTo>
                  <a:cubicBezTo>
                    <a:pt x="2308" y="507356"/>
                    <a:pt x="0" y="505048"/>
                    <a:pt x="0" y="502259"/>
                  </a:cubicBezTo>
                  <a:lnTo>
                    <a:pt x="0" y="5097"/>
                  </a:lnTo>
                  <a:cubicBezTo>
                    <a:pt x="0" y="2308"/>
                    <a:pt x="2308" y="0"/>
                    <a:pt x="5097" y="0"/>
                  </a:cubicBezTo>
                  <a:moveTo>
                    <a:pt x="5097" y="10289"/>
                  </a:moveTo>
                  <a:lnTo>
                    <a:pt x="5097" y="5097"/>
                  </a:lnTo>
                  <a:lnTo>
                    <a:pt x="10193" y="5097"/>
                  </a:lnTo>
                  <a:lnTo>
                    <a:pt x="10193" y="502259"/>
                  </a:lnTo>
                  <a:lnTo>
                    <a:pt x="5097" y="502259"/>
                  </a:lnTo>
                  <a:lnTo>
                    <a:pt x="5097" y="497163"/>
                  </a:lnTo>
                  <a:lnTo>
                    <a:pt x="2664004" y="497163"/>
                  </a:lnTo>
                  <a:lnTo>
                    <a:pt x="2664004" y="502259"/>
                  </a:lnTo>
                  <a:lnTo>
                    <a:pt x="2658907" y="502259"/>
                  </a:lnTo>
                  <a:lnTo>
                    <a:pt x="2658907" y="5097"/>
                  </a:lnTo>
                  <a:lnTo>
                    <a:pt x="2664004" y="5097"/>
                  </a:lnTo>
                  <a:lnTo>
                    <a:pt x="2664004" y="10193"/>
                  </a:lnTo>
                  <a:lnTo>
                    <a:pt x="5097" y="10193"/>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39" name="Google Shape;539;p11"/>
            <p:cNvSpPr txBox="1"/>
            <p:nvPr/>
          </p:nvSpPr>
          <p:spPr>
            <a:xfrm>
              <a:off x="-373293" y="-28575"/>
              <a:ext cx="3042428" cy="692512"/>
            </a:xfrm>
            <a:prstGeom prst="rect">
              <a:avLst/>
            </a:prstGeom>
            <a:solidFill>
              <a:srgbClr val="E6BAB8"/>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Water security and environmental stress</a:t>
              </a:r>
              <a:endParaRPr b="1" sz="1199">
                <a:solidFill>
                  <a:srgbClr val="000000"/>
                </a:solidFill>
                <a:latin typeface="Arial"/>
                <a:ea typeface="Arial"/>
                <a:cs typeface="Arial"/>
                <a:sym typeface="Arial"/>
              </a:endParaRPr>
            </a:p>
          </p:txBody>
        </p:sp>
      </p:grpSp>
      <p:grpSp>
        <p:nvGrpSpPr>
          <p:cNvPr id="540" name="Google Shape;540;p11"/>
          <p:cNvGrpSpPr/>
          <p:nvPr/>
        </p:nvGrpSpPr>
        <p:grpSpPr>
          <a:xfrm>
            <a:off x="5457961" y="3962413"/>
            <a:ext cx="2360856" cy="533360"/>
            <a:chOff x="0" y="-1"/>
            <a:chExt cx="3357662" cy="758556"/>
          </a:xfrm>
        </p:grpSpPr>
        <p:sp>
          <p:nvSpPr>
            <p:cNvPr id="541" name="Google Shape;541;p11"/>
            <p:cNvSpPr/>
            <p:nvPr/>
          </p:nvSpPr>
          <p:spPr>
            <a:xfrm>
              <a:off x="6731" y="7620"/>
              <a:ext cx="3344164" cy="743286"/>
            </a:xfrm>
            <a:custGeom>
              <a:rect b="b" l="l" r="r" t="t"/>
              <a:pathLst>
                <a:path extrusionOk="0" h="743286" w="3344164">
                  <a:moveTo>
                    <a:pt x="0" y="0"/>
                  </a:moveTo>
                  <a:lnTo>
                    <a:pt x="3344164" y="0"/>
                  </a:lnTo>
                  <a:lnTo>
                    <a:pt x="3344164" y="743286"/>
                  </a:lnTo>
                  <a:lnTo>
                    <a:pt x="0" y="743286"/>
                  </a:lnTo>
                  <a:close/>
                </a:path>
              </a:pathLst>
            </a:custGeom>
            <a:solidFill>
              <a:srgbClr val="FFF7F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42" name="Google Shape;542;p11"/>
            <p:cNvSpPr/>
            <p:nvPr/>
          </p:nvSpPr>
          <p:spPr>
            <a:xfrm>
              <a:off x="0" y="0"/>
              <a:ext cx="3357626" cy="758526"/>
            </a:xfrm>
            <a:custGeom>
              <a:rect b="b" l="l" r="r" t="t"/>
              <a:pathLst>
                <a:path extrusionOk="0" h="758526" w="3357626">
                  <a:moveTo>
                    <a:pt x="6731" y="0"/>
                  </a:moveTo>
                  <a:lnTo>
                    <a:pt x="3350895" y="0"/>
                  </a:lnTo>
                  <a:cubicBezTo>
                    <a:pt x="3354578" y="0"/>
                    <a:pt x="3357626" y="3450"/>
                    <a:pt x="3357626" y="7620"/>
                  </a:cubicBezTo>
                  <a:lnTo>
                    <a:pt x="3357626" y="750906"/>
                  </a:lnTo>
                  <a:cubicBezTo>
                    <a:pt x="3357626" y="755075"/>
                    <a:pt x="3354578" y="758526"/>
                    <a:pt x="3350895" y="758526"/>
                  </a:cubicBezTo>
                  <a:lnTo>
                    <a:pt x="6731" y="758526"/>
                  </a:lnTo>
                  <a:cubicBezTo>
                    <a:pt x="3048" y="758526"/>
                    <a:pt x="0" y="755075"/>
                    <a:pt x="0" y="750906"/>
                  </a:cubicBezTo>
                  <a:lnTo>
                    <a:pt x="0" y="7620"/>
                  </a:lnTo>
                  <a:cubicBezTo>
                    <a:pt x="0" y="3450"/>
                    <a:pt x="3048" y="0"/>
                    <a:pt x="6731" y="0"/>
                  </a:cubicBezTo>
                  <a:moveTo>
                    <a:pt x="6731" y="15383"/>
                  </a:moveTo>
                  <a:lnTo>
                    <a:pt x="6731" y="7620"/>
                  </a:lnTo>
                  <a:lnTo>
                    <a:pt x="13462" y="7620"/>
                  </a:lnTo>
                  <a:lnTo>
                    <a:pt x="13462" y="750906"/>
                  </a:lnTo>
                  <a:lnTo>
                    <a:pt x="6731" y="750906"/>
                  </a:lnTo>
                  <a:lnTo>
                    <a:pt x="6731" y="743286"/>
                  </a:lnTo>
                  <a:lnTo>
                    <a:pt x="3350895" y="743286"/>
                  </a:lnTo>
                  <a:lnTo>
                    <a:pt x="3350895" y="750906"/>
                  </a:lnTo>
                  <a:lnTo>
                    <a:pt x="3344164" y="750906"/>
                  </a:lnTo>
                  <a:lnTo>
                    <a:pt x="3344164" y="7620"/>
                  </a:lnTo>
                  <a:lnTo>
                    <a:pt x="3350895" y="7620"/>
                  </a:lnTo>
                  <a:lnTo>
                    <a:pt x="3350895" y="15240"/>
                  </a:lnTo>
                  <a:lnTo>
                    <a:pt x="6731" y="15240"/>
                  </a:lnTo>
                  <a:close/>
                </a:path>
              </a:pathLst>
            </a:custGeom>
            <a:solidFill>
              <a:srgbClr val="FFF7F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543" name="Google Shape;543;p11"/>
            <p:cNvSpPr txBox="1"/>
            <p:nvPr/>
          </p:nvSpPr>
          <p:spPr>
            <a:xfrm>
              <a:off x="0" y="-1"/>
              <a:ext cx="3357662" cy="758556"/>
            </a:xfrm>
            <a:prstGeom prst="rect">
              <a:avLst/>
            </a:prstGeom>
            <a:solidFill>
              <a:srgbClr val="FFF7F4"/>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200">
                  <a:solidFill>
                    <a:srgbClr val="000000"/>
                  </a:solidFill>
                  <a:latin typeface="Arial"/>
                  <a:ea typeface="Arial"/>
                  <a:cs typeface="Arial"/>
                  <a:sym typeface="Arial"/>
                </a:rPr>
                <a:t>New consumers trends: low-sugar, “premium”, …</a:t>
              </a:r>
              <a:endParaRPr b="1" sz="1199">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2"/>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53" name="Google Shape;553;p12"/>
          <p:cNvCxnSpPr/>
          <p:nvPr/>
        </p:nvCxnSpPr>
        <p:spPr>
          <a:xfrm>
            <a:off x="482268" y="1404914"/>
            <a:ext cx="3378260" cy="9677"/>
          </a:xfrm>
          <a:prstGeom prst="straightConnector1">
            <a:avLst/>
          </a:prstGeom>
          <a:noFill/>
          <a:ln cap="rnd" cmpd="sng" w="9525">
            <a:solidFill>
              <a:srgbClr val="000000"/>
            </a:solidFill>
            <a:prstDash val="solid"/>
            <a:round/>
            <a:headEnd len="sm" w="sm" type="none"/>
            <a:tailEnd len="sm" w="sm" type="none"/>
          </a:ln>
        </p:spPr>
      </p:cxnSp>
      <p:sp>
        <p:nvSpPr>
          <p:cNvPr id="554" name="Google Shape;554;p12"/>
          <p:cNvSpPr txBox="1"/>
          <p:nvPr/>
        </p:nvSpPr>
        <p:spPr>
          <a:xfrm>
            <a:off x="482268" y="1070198"/>
            <a:ext cx="8473612"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75">
                <a:solidFill>
                  <a:srgbClr val="00023D"/>
                </a:solidFill>
                <a:latin typeface="Avenir"/>
                <a:ea typeface="Avenir"/>
                <a:cs typeface="Avenir"/>
                <a:sym typeface="Avenir"/>
              </a:rPr>
              <a:t>A transitioning sector</a:t>
            </a:r>
            <a:endParaRPr b="1" sz="1350">
              <a:solidFill>
                <a:srgbClr val="00023D"/>
              </a:solidFill>
              <a:latin typeface="Avenir"/>
              <a:ea typeface="Avenir"/>
              <a:cs typeface="Avenir"/>
              <a:sym typeface="Avenir"/>
            </a:endParaRPr>
          </a:p>
        </p:txBody>
      </p:sp>
      <p:sp>
        <p:nvSpPr>
          <p:cNvPr descr="Icône spinner, cercle" id="555" name="Google Shape;555;p12"/>
          <p:cNvSpPr/>
          <p:nvPr/>
        </p:nvSpPr>
        <p:spPr>
          <a:xfrm>
            <a:off x="237331" y="1121835"/>
            <a:ext cx="198497" cy="198497"/>
          </a:xfrm>
          <a:custGeom>
            <a:rect b="b" l="l" r="r" t="t"/>
            <a:pathLst>
              <a:path extrusionOk="0" h="211730" w="211730">
                <a:moveTo>
                  <a:pt x="0" y="0"/>
                </a:moveTo>
                <a:lnTo>
                  <a:pt x="211730" y="0"/>
                </a:lnTo>
                <a:lnTo>
                  <a:pt x="211730" y="211731"/>
                </a:lnTo>
                <a:lnTo>
                  <a:pt x="0" y="211731"/>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56" name="Google Shape;556;p12"/>
          <p:cNvCxnSpPr/>
          <p:nvPr/>
        </p:nvCxnSpPr>
        <p:spPr>
          <a:xfrm flipH="1" rot="10800000">
            <a:off x="4952209" y="2910298"/>
            <a:ext cx="9677" cy="2270888"/>
          </a:xfrm>
          <a:prstGeom prst="straightConnector1">
            <a:avLst/>
          </a:prstGeom>
          <a:noFill/>
          <a:ln cap="rnd" cmpd="sng" w="9525">
            <a:solidFill>
              <a:srgbClr val="000000"/>
            </a:solidFill>
            <a:prstDash val="solid"/>
            <a:round/>
            <a:headEnd len="sm" w="sm" type="none"/>
            <a:tailEnd len="sm" w="sm" type="none"/>
          </a:ln>
        </p:spPr>
      </p:cxnSp>
      <p:cxnSp>
        <p:nvCxnSpPr>
          <p:cNvPr id="557" name="Google Shape;557;p12"/>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558" name="Google Shape;558;p12"/>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59" name="Google Shape;559;p12"/>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60" name="Google Shape;560;p12"/>
          <p:cNvSpPr txBox="1"/>
          <p:nvPr/>
        </p:nvSpPr>
        <p:spPr>
          <a:xfrm>
            <a:off x="64294" y="444686"/>
            <a:ext cx="444341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 Business Overview - Key Trends</a:t>
            </a:r>
            <a:endParaRPr sz="1688">
              <a:solidFill>
                <a:schemeClr val="dk1"/>
              </a:solidFill>
              <a:latin typeface="Arial"/>
              <a:ea typeface="Arial"/>
              <a:cs typeface="Arial"/>
              <a:sym typeface="Arial"/>
            </a:endParaRPr>
          </a:p>
        </p:txBody>
      </p:sp>
      <p:sp>
        <p:nvSpPr>
          <p:cNvPr id="561" name="Google Shape;561;p12"/>
          <p:cNvSpPr txBox="1"/>
          <p:nvPr/>
        </p:nvSpPr>
        <p:spPr>
          <a:xfrm>
            <a:off x="5115795" y="1225259"/>
            <a:ext cx="3886524" cy="5644494"/>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Widespread adoption of the “Asset-light” model and managerial profitability: </a:t>
            </a:r>
            <a:r>
              <a:rPr lang="en-US" sz="1031">
                <a:solidFill>
                  <a:schemeClr val="dk1"/>
                </a:solidFill>
                <a:latin typeface="Arial"/>
                <a:ea typeface="Arial"/>
                <a:cs typeface="Arial"/>
                <a:sym typeface="Arial"/>
              </a:rPr>
              <a:t>The industry is migrating en masse toward refranchising heavy production and logistics assets (bottling, processing plants, …) to focus on intellectual property and high value-added marketing. This strategy makes it possible to maintain high sector operating margins while protecting the free cash flow needed to maintain “Dividend King” status.</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Orchestration of “Decision Intelligence” via agentic AI: </a:t>
            </a:r>
            <a:r>
              <a:rPr lang="en-US" sz="1031">
                <a:solidFill>
                  <a:schemeClr val="dk1"/>
                </a:solidFill>
                <a:latin typeface="Arial"/>
                <a:ea typeface="Arial"/>
                <a:cs typeface="Arial"/>
                <a:sym typeface="Arial"/>
              </a:rPr>
              <a:t>AI is no longer just an analytical tool but an integrated operational layer capable of executing autonomous replenishment and inventory management decisions. The intensive use of digital twins in manufacturing generates immediate efficiency gains (15% energy savings) and reduces innovation time-to-market cycles by 30%.</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Strategic pivot towards functionality and preventive health: </a:t>
            </a:r>
            <a:r>
              <a:rPr lang="en-US" sz="1031">
                <a:solidFill>
                  <a:schemeClr val="dk1"/>
                </a:solidFill>
                <a:latin typeface="Arial"/>
                <a:ea typeface="Arial"/>
                <a:cs typeface="Arial"/>
                <a:sym typeface="Arial"/>
              </a:rPr>
              <a:t>Faced with a slowdown in mass market segments, the sector is making a radical shift towards products with “perceived benefits” (zero sugar, enriched proteins, personalized nutrition) to justify high pricing power. This pivot towards functional products (e.g., sports drinks, premium dairy products) compensates for the erosion of traditional volumes and meets the demand of 72% of global consumers who want to reduce their sugar intake.</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031"/>
              <a:buFont typeface="Arial"/>
              <a:buChar char="-"/>
            </a:pPr>
            <a:r>
              <a:rPr b="1" lang="en-US" sz="1031">
                <a:solidFill>
                  <a:schemeClr val="dk1"/>
                </a:solidFill>
                <a:latin typeface="Arial"/>
                <a:ea typeface="Arial"/>
                <a:cs typeface="Arial"/>
                <a:sym typeface="Arial"/>
              </a:rPr>
              <a:t>Global-local agility: </a:t>
            </a:r>
            <a:r>
              <a:rPr lang="en-US" sz="1031">
                <a:solidFill>
                  <a:schemeClr val="dk1"/>
                </a:solidFill>
                <a:latin typeface="Arial"/>
                <a:ea typeface="Arial"/>
                <a:cs typeface="Arial"/>
                <a:sym typeface="Arial"/>
              </a:rPr>
              <a:t>The sector is restructuring its networks around “local-for-local” and “nearshoring” to protect margins against geopolitical and tariff volatility. This resilience is based on modular networks capable of instant scenario simulations and formulation flexibility that allows raw materials to be substituted (e.g., switching from aluminum to plastic) in response to cost shocks.</a:t>
            </a:r>
            <a:endParaRPr/>
          </a:p>
          <a:p>
            <a:pPr indent="0" lvl="0" marL="0" marR="0" rtl="0" algn="just">
              <a:spcBef>
                <a:spcPts val="0"/>
              </a:spcBef>
              <a:spcAft>
                <a:spcPts val="0"/>
              </a:spcAft>
              <a:buNone/>
            </a:pPr>
            <a:r>
              <a:t/>
            </a:r>
            <a:endParaRPr sz="1031">
              <a:solidFill>
                <a:schemeClr val="dk1"/>
              </a:solidFill>
              <a:latin typeface="Arial"/>
              <a:ea typeface="Arial"/>
              <a:cs typeface="Arial"/>
              <a:sym typeface="Arial"/>
            </a:endParaRPr>
          </a:p>
        </p:txBody>
      </p:sp>
      <p:pic>
        <p:nvPicPr>
          <p:cNvPr descr="Une image contenant texte, capture d’écran, Police, conception&#10;&#10;Le contenu généré par l’IA peut être incorrect." id="562" name="Google Shape;562;p12"/>
          <p:cNvPicPr preferRelativeResize="0"/>
          <p:nvPr/>
        </p:nvPicPr>
        <p:blipFill rotWithShape="1">
          <a:blip r:embed="rId6">
            <a:alphaModFix/>
          </a:blip>
          <a:srcRect b="0" l="5996" r="5242" t="0"/>
          <a:stretch/>
        </p:blipFill>
        <p:spPr>
          <a:xfrm>
            <a:off x="141681" y="1740753"/>
            <a:ext cx="4642833" cy="2400583"/>
          </a:xfrm>
          <a:prstGeom prst="rect">
            <a:avLst/>
          </a:prstGeom>
          <a:noFill/>
          <a:ln>
            <a:noFill/>
          </a:ln>
        </p:spPr>
      </p:pic>
      <p:pic>
        <p:nvPicPr>
          <p:cNvPr descr="Une image contenant texte, capture d’écran, Police, logo&#10;&#10;Le contenu généré par l’IA peut être incorrect." id="563" name="Google Shape;563;p12"/>
          <p:cNvPicPr preferRelativeResize="0"/>
          <p:nvPr/>
        </p:nvPicPr>
        <p:blipFill rotWithShape="1">
          <a:blip r:embed="rId7">
            <a:alphaModFix/>
          </a:blip>
          <a:srcRect b="0" l="0" r="0" t="0"/>
          <a:stretch/>
        </p:blipFill>
        <p:spPr>
          <a:xfrm>
            <a:off x="381764" y="4276312"/>
            <a:ext cx="4416534" cy="23535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3"/>
          <p:cNvSpPr/>
          <p:nvPr/>
        </p:nvSpPr>
        <p:spPr>
          <a:xfrm>
            <a:off x="8413596" y="-35718"/>
            <a:ext cx="822403" cy="751780"/>
          </a:xfrm>
          <a:custGeom>
            <a:rect b="b" l="l" r="r" t="t"/>
            <a:pathLst>
              <a:path extrusionOk="0" h="801899" w="877230">
                <a:moveTo>
                  <a:pt x="0" y="0"/>
                </a:moveTo>
                <a:lnTo>
                  <a:pt x="877229" y="0"/>
                </a:lnTo>
                <a:lnTo>
                  <a:pt x="877229" y="801899"/>
                </a:lnTo>
                <a:lnTo>
                  <a:pt x="0" y="801899"/>
                </a:lnTo>
                <a:lnTo>
                  <a:pt x="0" y="0"/>
                </a:lnTo>
                <a:close/>
              </a:path>
            </a:pathLst>
          </a:custGeom>
          <a:blipFill rotWithShape="1">
            <a:blip r:embed="rId3">
              <a:alphaModFix/>
            </a:blip>
            <a:stretch>
              <a:fillRect b="-31401" l="-2079" r="-11104" t="31401"/>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73" name="Google Shape;573;p13"/>
          <p:cNvCxnSpPr/>
          <p:nvPr/>
        </p:nvCxnSpPr>
        <p:spPr>
          <a:xfrm>
            <a:off x="478027" y="1352860"/>
            <a:ext cx="3325273" cy="9525"/>
          </a:xfrm>
          <a:prstGeom prst="straightConnector1">
            <a:avLst/>
          </a:prstGeom>
          <a:noFill/>
          <a:ln cap="rnd" cmpd="sng" w="9525">
            <a:solidFill>
              <a:srgbClr val="000000"/>
            </a:solidFill>
            <a:prstDash val="solid"/>
            <a:round/>
            <a:headEnd len="sm" w="sm" type="none"/>
            <a:tailEnd len="sm" w="sm" type="none"/>
          </a:ln>
        </p:spPr>
      </p:cxnSp>
      <p:sp>
        <p:nvSpPr>
          <p:cNvPr descr="Icône spinner, cercle" id="574" name="Google Shape;574;p13"/>
          <p:cNvSpPr/>
          <p:nvPr/>
        </p:nvSpPr>
        <p:spPr>
          <a:xfrm>
            <a:off x="211472" y="1114560"/>
            <a:ext cx="195389" cy="195389"/>
          </a:xfrm>
          <a:custGeom>
            <a:rect b="b" l="l" r="r" t="t"/>
            <a:pathLst>
              <a:path extrusionOk="0" h="208415" w="208415">
                <a:moveTo>
                  <a:pt x="0" y="0"/>
                </a:moveTo>
                <a:lnTo>
                  <a:pt x="208415" y="0"/>
                </a:lnTo>
                <a:lnTo>
                  <a:pt x="208415" y="208416"/>
                </a:lnTo>
                <a:lnTo>
                  <a:pt x="0" y="208416"/>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75" name="Google Shape;575;p13"/>
          <p:cNvSpPr txBox="1"/>
          <p:nvPr/>
        </p:nvSpPr>
        <p:spPr>
          <a:xfrm>
            <a:off x="462867" y="1020263"/>
            <a:ext cx="7720073"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75">
                <a:solidFill>
                  <a:srgbClr val="00023D"/>
                </a:solidFill>
                <a:latin typeface="Avenir"/>
                <a:ea typeface="Avenir"/>
                <a:cs typeface="Avenir"/>
                <a:sym typeface="Avenir"/>
              </a:rPr>
              <a:t>Key trends for the industry: short term</a:t>
            </a:r>
            <a:endParaRPr sz="1875">
              <a:solidFill>
                <a:srgbClr val="000000"/>
              </a:solidFill>
              <a:latin typeface="Arial"/>
              <a:ea typeface="Arial"/>
              <a:cs typeface="Arial"/>
              <a:sym typeface="Arial"/>
            </a:endParaRPr>
          </a:p>
        </p:txBody>
      </p:sp>
      <p:sp>
        <p:nvSpPr>
          <p:cNvPr id="576" name="Google Shape;576;p13"/>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77" name="Google Shape;577;p13"/>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578" name="Google Shape;578;p13"/>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79" name="Google Shape;579;p13"/>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80" name="Google Shape;580;p13"/>
          <p:cNvSpPr txBox="1"/>
          <p:nvPr/>
        </p:nvSpPr>
        <p:spPr>
          <a:xfrm>
            <a:off x="75985" y="456778"/>
            <a:ext cx="4443413" cy="797526"/>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 Business Overview - Key Trends</a:t>
            </a:r>
            <a:endParaRPr sz="1313">
              <a:solidFill>
                <a:srgbClr val="000000"/>
              </a:solidFill>
              <a:latin typeface="Arial"/>
              <a:ea typeface="Arial"/>
              <a:cs typeface="Arial"/>
              <a:sym typeface="Arial"/>
            </a:endParaRPr>
          </a:p>
          <a:p>
            <a:pPr indent="0" lvl="0" marL="0" marR="0" rtl="0" algn="l">
              <a:lnSpc>
                <a:spcPct val="108010"/>
              </a:lnSpc>
              <a:spcBef>
                <a:spcPts val="0"/>
              </a:spcBef>
              <a:spcAft>
                <a:spcPts val="0"/>
              </a:spcAft>
              <a:buNone/>
            </a:pPr>
            <a:r>
              <a:t/>
            </a:r>
            <a:endParaRPr sz="2399">
              <a:solidFill>
                <a:srgbClr val="333F44"/>
              </a:solidFill>
              <a:latin typeface="Open Sans Light"/>
              <a:ea typeface="Open Sans Light"/>
              <a:cs typeface="Open Sans Light"/>
              <a:sym typeface="Open Sans Light"/>
            </a:endParaRPr>
          </a:p>
        </p:txBody>
      </p:sp>
      <p:grpSp>
        <p:nvGrpSpPr>
          <p:cNvPr id="581" name="Google Shape;581;p13"/>
          <p:cNvGrpSpPr/>
          <p:nvPr/>
        </p:nvGrpSpPr>
        <p:grpSpPr>
          <a:xfrm>
            <a:off x="211473" y="4692966"/>
            <a:ext cx="8613325" cy="1344981"/>
            <a:chOff x="225570" y="5429577"/>
            <a:chExt cx="9187547" cy="1434646"/>
          </a:xfrm>
        </p:grpSpPr>
        <p:sp>
          <p:nvSpPr>
            <p:cNvPr id="582" name="Google Shape;582;p13"/>
            <p:cNvSpPr txBox="1"/>
            <p:nvPr/>
          </p:nvSpPr>
          <p:spPr>
            <a:xfrm>
              <a:off x="225570" y="5429577"/>
              <a:ext cx="4291977" cy="1391149"/>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Organic growth target: </a:t>
              </a:r>
              <a:r>
                <a:rPr lang="en-US" sz="1125">
                  <a:solidFill>
                    <a:schemeClr val="dk1"/>
                  </a:solidFill>
                  <a:latin typeface="Arial"/>
                  <a:ea typeface="Arial"/>
                  <a:cs typeface="Arial"/>
                  <a:sym typeface="Arial"/>
                </a:rPr>
                <a:t>The sector expects revenue growth of 4% to 7% in 2026, supported by price normalization and volume stabilization.</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Easing of raw material prices: </a:t>
              </a:r>
              <a:r>
                <a:rPr lang="en-US" sz="1125">
                  <a:solidFill>
                    <a:schemeClr val="dk1"/>
                  </a:solidFill>
                  <a:latin typeface="Arial"/>
                  <a:ea typeface="Arial"/>
                  <a:cs typeface="Arial"/>
                  <a:sym typeface="Arial"/>
                </a:rPr>
                <a:t>The World Bank forecasts an average 7% decline in global commodity prices in 2026, providing tactical relief for EBIT margins.</a:t>
              </a:r>
              <a:endParaRPr/>
            </a:p>
          </p:txBody>
        </p:sp>
        <p:sp>
          <p:nvSpPr>
            <p:cNvPr id="583" name="Google Shape;583;p13"/>
            <p:cNvSpPr txBox="1"/>
            <p:nvPr/>
          </p:nvSpPr>
          <p:spPr>
            <a:xfrm>
              <a:off x="5121142" y="5429577"/>
              <a:ext cx="4291975" cy="652486"/>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Tariff lag effect: </a:t>
              </a:r>
              <a:r>
                <a:rPr lang="en-US" sz="1125">
                  <a:solidFill>
                    <a:schemeClr val="dk1"/>
                  </a:solidFill>
                  <a:latin typeface="Arial"/>
                  <a:ea typeface="Arial"/>
                  <a:cs typeface="Arial"/>
                  <a:sym typeface="Arial"/>
                </a:rPr>
                <a:t>The increase in import prices linked to customs duties is expected to be fully passed on to the end consumer by the end of 2026.</a:t>
              </a:r>
              <a:endParaRPr/>
            </a:p>
          </p:txBody>
        </p:sp>
        <p:cxnSp>
          <p:nvCxnSpPr>
            <p:cNvPr id="584" name="Google Shape;584;p13"/>
            <p:cNvCxnSpPr/>
            <p:nvPr/>
          </p:nvCxnSpPr>
          <p:spPr>
            <a:xfrm rot="10800000">
              <a:off x="4876800" y="5497413"/>
              <a:ext cx="0" cy="1366810"/>
            </a:xfrm>
            <a:prstGeom prst="straightConnector1">
              <a:avLst/>
            </a:prstGeom>
            <a:noFill/>
            <a:ln cap="rnd" cmpd="sng" w="9525">
              <a:solidFill>
                <a:srgbClr val="000000"/>
              </a:solidFill>
              <a:prstDash val="solid"/>
              <a:round/>
              <a:headEnd len="sm" w="sm" type="none"/>
              <a:tailEnd len="sm" w="sm" type="none"/>
            </a:ln>
          </p:spPr>
        </p:cxnSp>
      </p:grpSp>
      <p:pic>
        <p:nvPicPr>
          <p:cNvPr descr="Une image contenant capture d’écran, texte, logiciel, Logiciel multimédia&#10;&#10;Le contenu généré par l’IA peut être incorrect." id="585" name="Google Shape;585;p13"/>
          <p:cNvPicPr preferRelativeResize="0"/>
          <p:nvPr/>
        </p:nvPicPr>
        <p:blipFill rotWithShape="1">
          <a:blip r:embed="rId6">
            <a:alphaModFix/>
          </a:blip>
          <a:srcRect b="0" l="0" r="0" t="0"/>
          <a:stretch/>
        </p:blipFill>
        <p:spPr>
          <a:xfrm>
            <a:off x="1529134" y="1526184"/>
            <a:ext cx="5980528" cy="29832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4"/>
          <p:cNvSpPr/>
          <p:nvPr/>
        </p:nvSpPr>
        <p:spPr>
          <a:xfrm>
            <a:off x="8413596" y="-35718"/>
            <a:ext cx="822403" cy="751780"/>
          </a:xfrm>
          <a:custGeom>
            <a:rect b="b" l="l" r="r" t="t"/>
            <a:pathLst>
              <a:path extrusionOk="0" h="801899" w="877230">
                <a:moveTo>
                  <a:pt x="0" y="0"/>
                </a:moveTo>
                <a:lnTo>
                  <a:pt x="877229" y="0"/>
                </a:lnTo>
                <a:lnTo>
                  <a:pt x="877229" y="801899"/>
                </a:lnTo>
                <a:lnTo>
                  <a:pt x="0" y="801899"/>
                </a:lnTo>
                <a:lnTo>
                  <a:pt x="0" y="0"/>
                </a:lnTo>
                <a:close/>
              </a:path>
            </a:pathLst>
          </a:custGeom>
          <a:blipFill rotWithShape="1">
            <a:blip r:embed="rId3">
              <a:alphaModFix/>
            </a:blip>
            <a:stretch>
              <a:fillRect b="-31401" l="-2079" r="-11104" t="31401"/>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95" name="Google Shape;595;p14"/>
          <p:cNvCxnSpPr/>
          <p:nvPr/>
        </p:nvCxnSpPr>
        <p:spPr>
          <a:xfrm>
            <a:off x="478027" y="1352860"/>
            <a:ext cx="3325273" cy="9525"/>
          </a:xfrm>
          <a:prstGeom prst="straightConnector1">
            <a:avLst/>
          </a:prstGeom>
          <a:noFill/>
          <a:ln cap="rnd" cmpd="sng" w="9525">
            <a:solidFill>
              <a:srgbClr val="000000"/>
            </a:solidFill>
            <a:prstDash val="solid"/>
            <a:round/>
            <a:headEnd len="sm" w="sm" type="none"/>
            <a:tailEnd len="sm" w="sm" type="none"/>
          </a:ln>
        </p:spPr>
      </p:cxnSp>
      <p:sp>
        <p:nvSpPr>
          <p:cNvPr descr="Icône spinner, cercle" id="596" name="Google Shape;596;p14"/>
          <p:cNvSpPr/>
          <p:nvPr/>
        </p:nvSpPr>
        <p:spPr>
          <a:xfrm>
            <a:off x="211472" y="1114560"/>
            <a:ext cx="195389" cy="195389"/>
          </a:xfrm>
          <a:custGeom>
            <a:rect b="b" l="l" r="r" t="t"/>
            <a:pathLst>
              <a:path extrusionOk="0" h="208415" w="208415">
                <a:moveTo>
                  <a:pt x="0" y="0"/>
                </a:moveTo>
                <a:lnTo>
                  <a:pt x="208415" y="0"/>
                </a:lnTo>
                <a:lnTo>
                  <a:pt x="208415" y="208416"/>
                </a:lnTo>
                <a:lnTo>
                  <a:pt x="0" y="208416"/>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597" name="Google Shape;597;p14"/>
          <p:cNvSpPr txBox="1"/>
          <p:nvPr/>
        </p:nvSpPr>
        <p:spPr>
          <a:xfrm>
            <a:off x="448931" y="1020900"/>
            <a:ext cx="7720073"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75">
                <a:solidFill>
                  <a:srgbClr val="00023D"/>
                </a:solidFill>
                <a:latin typeface="Avenir"/>
                <a:ea typeface="Avenir"/>
                <a:cs typeface="Avenir"/>
                <a:sym typeface="Avenir"/>
              </a:rPr>
              <a:t>Key trends for the industry: medium term</a:t>
            </a:r>
            <a:endParaRPr sz="1875">
              <a:solidFill>
                <a:srgbClr val="000000"/>
              </a:solidFill>
              <a:latin typeface="Arial"/>
              <a:ea typeface="Arial"/>
              <a:cs typeface="Arial"/>
              <a:sym typeface="Arial"/>
            </a:endParaRPr>
          </a:p>
        </p:txBody>
      </p:sp>
      <p:sp>
        <p:nvSpPr>
          <p:cNvPr id="598" name="Google Shape;598;p14"/>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599" name="Google Shape;599;p14"/>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600" name="Google Shape;600;p14"/>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01" name="Google Shape;601;p14"/>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02" name="Google Shape;602;p14"/>
          <p:cNvSpPr txBox="1"/>
          <p:nvPr/>
        </p:nvSpPr>
        <p:spPr>
          <a:xfrm>
            <a:off x="75985" y="429429"/>
            <a:ext cx="444341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 Business Overview - Key Trends</a:t>
            </a:r>
            <a:endParaRPr sz="1313">
              <a:solidFill>
                <a:srgbClr val="000000"/>
              </a:solidFill>
              <a:latin typeface="Arial"/>
              <a:ea typeface="Arial"/>
              <a:cs typeface="Arial"/>
              <a:sym typeface="Arial"/>
            </a:endParaRPr>
          </a:p>
        </p:txBody>
      </p:sp>
      <p:grpSp>
        <p:nvGrpSpPr>
          <p:cNvPr id="603" name="Google Shape;603;p14"/>
          <p:cNvGrpSpPr/>
          <p:nvPr/>
        </p:nvGrpSpPr>
        <p:grpSpPr>
          <a:xfrm>
            <a:off x="201044" y="5038956"/>
            <a:ext cx="8613325" cy="1344981"/>
            <a:chOff x="225570" y="5429577"/>
            <a:chExt cx="9187547" cy="1434646"/>
          </a:xfrm>
        </p:grpSpPr>
        <p:sp>
          <p:nvSpPr>
            <p:cNvPr id="604" name="Google Shape;604;p14"/>
            <p:cNvSpPr txBox="1"/>
            <p:nvPr/>
          </p:nvSpPr>
          <p:spPr>
            <a:xfrm>
              <a:off x="225570" y="5429577"/>
              <a:ext cx="4291977" cy="1391149"/>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Acceleration of digital profitability: </a:t>
              </a:r>
              <a:r>
                <a:rPr lang="en-US" sz="1125">
                  <a:solidFill>
                    <a:schemeClr val="dk1"/>
                  </a:solidFill>
                  <a:latin typeface="Arial"/>
                  <a:ea typeface="Arial"/>
                  <a:cs typeface="Arial"/>
                  <a:sym typeface="Arial"/>
                </a:rPr>
                <a:t>The sector's operating income is expected to rebound significantly thanks to the efficiency gains achieved through automation and AI.</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Expansion of digital revenues: </a:t>
              </a:r>
              <a:r>
                <a:rPr lang="en-US" sz="1125">
                  <a:solidFill>
                    <a:schemeClr val="dk1"/>
                  </a:solidFill>
                  <a:latin typeface="Arial"/>
                  <a:ea typeface="Arial"/>
                  <a:cs typeface="Arial"/>
                  <a:sym typeface="Arial"/>
                </a:rPr>
                <a:t>The industry is targeting a 25% share of total revenues from digital sales channels by 2028.</a:t>
              </a:r>
              <a:endParaRPr/>
            </a:p>
          </p:txBody>
        </p:sp>
        <p:sp>
          <p:nvSpPr>
            <p:cNvPr id="605" name="Google Shape;605;p14"/>
            <p:cNvSpPr txBox="1"/>
            <p:nvPr/>
          </p:nvSpPr>
          <p:spPr>
            <a:xfrm>
              <a:off x="5121142" y="5429577"/>
              <a:ext cx="4291975" cy="652486"/>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Simplification of portfolios: </a:t>
              </a:r>
              <a:r>
                <a:rPr lang="en-US" sz="1125">
                  <a:solidFill>
                    <a:schemeClr val="dk1"/>
                  </a:solidFill>
                  <a:latin typeface="Arial"/>
                  <a:ea typeface="Arial"/>
                  <a:cs typeface="Arial"/>
                  <a:sym typeface="Arial"/>
                </a:rPr>
                <a:t>An increase in divestitures of non-strategic local brands is expected in order to refocus capital on scalable global platforms.</a:t>
              </a:r>
              <a:endParaRPr/>
            </a:p>
          </p:txBody>
        </p:sp>
        <p:cxnSp>
          <p:nvCxnSpPr>
            <p:cNvPr id="606" name="Google Shape;606;p14"/>
            <p:cNvCxnSpPr/>
            <p:nvPr/>
          </p:nvCxnSpPr>
          <p:spPr>
            <a:xfrm rot="10800000">
              <a:off x="4876800" y="5497413"/>
              <a:ext cx="0" cy="1366810"/>
            </a:xfrm>
            <a:prstGeom prst="straightConnector1">
              <a:avLst/>
            </a:prstGeom>
            <a:noFill/>
            <a:ln cap="rnd" cmpd="sng" w="9525">
              <a:solidFill>
                <a:srgbClr val="000000"/>
              </a:solidFill>
              <a:prstDash val="solid"/>
              <a:round/>
              <a:headEnd len="sm" w="sm" type="none"/>
              <a:tailEnd len="sm" w="sm" type="none"/>
            </a:ln>
          </p:spPr>
        </p:cxnSp>
      </p:grpSp>
      <p:pic>
        <p:nvPicPr>
          <p:cNvPr descr="Une image contenant texte, Police, capture d’écran, ligne&#10;&#10;Le contenu généré par l’IA peut être incorrect." id="607" name="Google Shape;607;p14"/>
          <p:cNvPicPr preferRelativeResize="0"/>
          <p:nvPr/>
        </p:nvPicPr>
        <p:blipFill rotWithShape="1">
          <a:blip r:embed="rId6">
            <a:alphaModFix/>
          </a:blip>
          <a:srcRect b="0" l="0" r="0" t="0"/>
          <a:stretch/>
        </p:blipFill>
        <p:spPr>
          <a:xfrm>
            <a:off x="1140361" y="1508489"/>
            <a:ext cx="6758073" cy="34527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5"/>
          <p:cNvSpPr/>
          <p:nvPr/>
        </p:nvSpPr>
        <p:spPr>
          <a:xfrm>
            <a:off x="8413596" y="-35718"/>
            <a:ext cx="822403" cy="751780"/>
          </a:xfrm>
          <a:custGeom>
            <a:rect b="b" l="l" r="r" t="t"/>
            <a:pathLst>
              <a:path extrusionOk="0" h="801899" w="877230">
                <a:moveTo>
                  <a:pt x="0" y="0"/>
                </a:moveTo>
                <a:lnTo>
                  <a:pt x="877229" y="0"/>
                </a:lnTo>
                <a:lnTo>
                  <a:pt x="877229" y="801899"/>
                </a:lnTo>
                <a:lnTo>
                  <a:pt x="0" y="801899"/>
                </a:lnTo>
                <a:lnTo>
                  <a:pt x="0" y="0"/>
                </a:lnTo>
                <a:close/>
              </a:path>
            </a:pathLst>
          </a:custGeom>
          <a:blipFill rotWithShape="1">
            <a:blip r:embed="rId3">
              <a:alphaModFix/>
            </a:blip>
            <a:stretch>
              <a:fillRect b="-31401" l="-2079" r="-11104" t="31401"/>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617" name="Google Shape;617;p15"/>
          <p:cNvCxnSpPr/>
          <p:nvPr/>
        </p:nvCxnSpPr>
        <p:spPr>
          <a:xfrm>
            <a:off x="478027" y="1352860"/>
            <a:ext cx="3325273" cy="9525"/>
          </a:xfrm>
          <a:prstGeom prst="straightConnector1">
            <a:avLst/>
          </a:prstGeom>
          <a:noFill/>
          <a:ln cap="rnd" cmpd="sng" w="9525">
            <a:solidFill>
              <a:srgbClr val="000000"/>
            </a:solidFill>
            <a:prstDash val="solid"/>
            <a:round/>
            <a:headEnd len="sm" w="sm" type="none"/>
            <a:tailEnd len="sm" w="sm" type="none"/>
          </a:ln>
        </p:spPr>
      </p:cxnSp>
      <p:sp>
        <p:nvSpPr>
          <p:cNvPr descr="Icône spinner, cercle" id="618" name="Google Shape;618;p15"/>
          <p:cNvSpPr/>
          <p:nvPr/>
        </p:nvSpPr>
        <p:spPr>
          <a:xfrm>
            <a:off x="211472" y="1114560"/>
            <a:ext cx="195389" cy="195389"/>
          </a:xfrm>
          <a:custGeom>
            <a:rect b="b" l="l" r="r" t="t"/>
            <a:pathLst>
              <a:path extrusionOk="0" h="208415" w="208415">
                <a:moveTo>
                  <a:pt x="0" y="0"/>
                </a:moveTo>
                <a:lnTo>
                  <a:pt x="208415" y="0"/>
                </a:lnTo>
                <a:lnTo>
                  <a:pt x="208415" y="208416"/>
                </a:lnTo>
                <a:lnTo>
                  <a:pt x="0" y="208416"/>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19" name="Google Shape;619;p15"/>
          <p:cNvSpPr txBox="1"/>
          <p:nvPr/>
        </p:nvSpPr>
        <p:spPr>
          <a:xfrm>
            <a:off x="448931" y="1020900"/>
            <a:ext cx="7720073"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75">
                <a:solidFill>
                  <a:srgbClr val="00023D"/>
                </a:solidFill>
                <a:latin typeface="Avenir"/>
                <a:ea typeface="Avenir"/>
                <a:cs typeface="Avenir"/>
                <a:sym typeface="Avenir"/>
              </a:rPr>
              <a:t>Key trends for the industry: long term</a:t>
            </a:r>
            <a:endParaRPr sz="1875">
              <a:solidFill>
                <a:srgbClr val="000000"/>
              </a:solidFill>
              <a:latin typeface="Arial"/>
              <a:ea typeface="Arial"/>
              <a:cs typeface="Arial"/>
              <a:sym typeface="Arial"/>
            </a:endParaRPr>
          </a:p>
        </p:txBody>
      </p:sp>
      <p:sp>
        <p:nvSpPr>
          <p:cNvPr id="620" name="Google Shape;620;p15"/>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21" name="Google Shape;621;p15"/>
          <p:cNvSpPr txBox="1"/>
          <p:nvPr/>
        </p:nvSpPr>
        <p:spPr>
          <a:xfrm>
            <a:off x="528506" y="589932"/>
            <a:ext cx="5844075"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00">
                <a:solidFill>
                  <a:srgbClr val="FFFFFF"/>
                </a:solidFill>
                <a:latin typeface="Avenir"/>
                <a:ea typeface="Avenir"/>
                <a:cs typeface="Avenir"/>
                <a:sym typeface="Avenir"/>
              </a:rPr>
              <a:t> I. Industry Overview </a:t>
            </a:r>
            <a:endParaRPr sz="1313">
              <a:solidFill>
                <a:srgbClr val="000000"/>
              </a:solidFill>
              <a:latin typeface="Arial"/>
              <a:ea typeface="Arial"/>
              <a:cs typeface="Arial"/>
              <a:sym typeface="Arial"/>
            </a:endParaRPr>
          </a:p>
        </p:txBody>
      </p:sp>
      <p:cxnSp>
        <p:nvCxnSpPr>
          <p:cNvPr id="622" name="Google Shape;622;p15"/>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623" name="Google Shape;623;p15"/>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24" name="Google Shape;624;p15"/>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25" name="Google Shape;625;p15"/>
          <p:cNvSpPr txBox="1"/>
          <p:nvPr/>
        </p:nvSpPr>
        <p:spPr>
          <a:xfrm>
            <a:off x="64294" y="283952"/>
            <a:ext cx="4443413" cy="797526"/>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 Business Overview - Key Trends</a:t>
            </a:r>
            <a:endParaRPr sz="1313">
              <a:solidFill>
                <a:srgbClr val="000000"/>
              </a:solidFill>
              <a:latin typeface="Arial"/>
              <a:ea typeface="Arial"/>
              <a:cs typeface="Arial"/>
              <a:sym typeface="Arial"/>
            </a:endParaRPr>
          </a:p>
          <a:p>
            <a:pPr indent="0" lvl="0" marL="0" marR="0" rtl="0" algn="l">
              <a:lnSpc>
                <a:spcPct val="108010"/>
              </a:lnSpc>
              <a:spcBef>
                <a:spcPts val="0"/>
              </a:spcBef>
              <a:spcAft>
                <a:spcPts val="0"/>
              </a:spcAft>
              <a:buNone/>
            </a:pPr>
            <a:r>
              <a:t/>
            </a:r>
            <a:endParaRPr sz="2399">
              <a:solidFill>
                <a:srgbClr val="333F44"/>
              </a:solidFill>
              <a:latin typeface="Open Sans Light"/>
              <a:ea typeface="Open Sans Light"/>
              <a:cs typeface="Open Sans Light"/>
              <a:sym typeface="Open Sans Light"/>
            </a:endParaRPr>
          </a:p>
        </p:txBody>
      </p:sp>
      <p:grpSp>
        <p:nvGrpSpPr>
          <p:cNvPr id="626" name="Google Shape;626;p15"/>
          <p:cNvGrpSpPr/>
          <p:nvPr/>
        </p:nvGrpSpPr>
        <p:grpSpPr>
          <a:xfrm>
            <a:off x="201044" y="4921100"/>
            <a:ext cx="8613325" cy="1344981"/>
            <a:chOff x="225570" y="5429577"/>
            <a:chExt cx="9187547" cy="1434646"/>
          </a:xfrm>
        </p:grpSpPr>
        <p:grpSp>
          <p:nvGrpSpPr>
            <p:cNvPr id="627" name="Google Shape;627;p15"/>
            <p:cNvGrpSpPr/>
            <p:nvPr/>
          </p:nvGrpSpPr>
          <p:grpSpPr>
            <a:xfrm>
              <a:off x="4274752" y="6021364"/>
              <a:ext cx="806907" cy="236627"/>
              <a:chOff x="0" y="0"/>
              <a:chExt cx="2017268" cy="591566"/>
            </a:xfrm>
          </p:grpSpPr>
          <p:sp>
            <p:nvSpPr>
              <p:cNvPr id="628" name="Google Shape;628;p15"/>
              <p:cNvSpPr/>
              <p:nvPr/>
            </p:nvSpPr>
            <p:spPr>
              <a:xfrm>
                <a:off x="25400" y="25400"/>
                <a:ext cx="1966468" cy="540766"/>
              </a:xfrm>
              <a:custGeom>
                <a:rect b="b" l="l" r="r" t="t"/>
                <a:pathLst>
                  <a:path extrusionOk="0" h="540766" w="1966468">
                    <a:moveTo>
                      <a:pt x="0" y="0"/>
                    </a:moveTo>
                    <a:lnTo>
                      <a:pt x="1966468" y="0"/>
                    </a:lnTo>
                    <a:lnTo>
                      <a:pt x="1966468" y="540766"/>
                    </a:lnTo>
                    <a:lnTo>
                      <a:pt x="0" y="540766"/>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29" name="Google Shape;629;p15"/>
              <p:cNvSpPr/>
              <p:nvPr/>
            </p:nvSpPr>
            <p:spPr>
              <a:xfrm>
                <a:off x="0" y="0"/>
                <a:ext cx="2017268" cy="591566"/>
              </a:xfrm>
              <a:custGeom>
                <a:rect b="b" l="l" r="r" t="t"/>
                <a:pathLst>
                  <a:path extrusionOk="0" h="591566" w="2017268">
                    <a:moveTo>
                      <a:pt x="25400" y="0"/>
                    </a:moveTo>
                    <a:lnTo>
                      <a:pt x="1991868" y="0"/>
                    </a:lnTo>
                    <a:cubicBezTo>
                      <a:pt x="2005838" y="0"/>
                      <a:pt x="2017268" y="11430"/>
                      <a:pt x="2017268" y="25400"/>
                    </a:cubicBezTo>
                    <a:lnTo>
                      <a:pt x="2017268" y="566166"/>
                    </a:lnTo>
                    <a:cubicBezTo>
                      <a:pt x="2017268" y="580136"/>
                      <a:pt x="2005838" y="591566"/>
                      <a:pt x="1991868" y="591566"/>
                    </a:cubicBezTo>
                    <a:lnTo>
                      <a:pt x="25400" y="591566"/>
                    </a:lnTo>
                    <a:cubicBezTo>
                      <a:pt x="11430" y="591566"/>
                      <a:pt x="0" y="580136"/>
                      <a:pt x="0" y="566166"/>
                    </a:cubicBezTo>
                    <a:lnTo>
                      <a:pt x="0" y="25400"/>
                    </a:lnTo>
                    <a:cubicBezTo>
                      <a:pt x="0" y="11430"/>
                      <a:pt x="11430" y="0"/>
                      <a:pt x="25400" y="0"/>
                    </a:cubicBezTo>
                    <a:moveTo>
                      <a:pt x="25400" y="50800"/>
                    </a:moveTo>
                    <a:lnTo>
                      <a:pt x="25400" y="25400"/>
                    </a:lnTo>
                    <a:lnTo>
                      <a:pt x="50800" y="25400"/>
                    </a:lnTo>
                    <a:lnTo>
                      <a:pt x="50800" y="566166"/>
                    </a:lnTo>
                    <a:lnTo>
                      <a:pt x="25400" y="566166"/>
                    </a:lnTo>
                    <a:lnTo>
                      <a:pt x="25400" y="540766"/>
                    </a:lnTo>
                    <a:lnTo>
                      <a:pt x="1991868" y="540766"/>
                    </a:lnTo>
                    <a:lnTo>
                      <a:pt x="1991868" y="566166"/>
                    </a:lnTo>
                    <a:lnTo>
                      <a:pt x="1966468" y="566166"/>
                    </a:lnTo>
                    <a:lnTo>
                      <a:pt x="1966468" y="25400"/>
                    </a:lnTo>
                    <a:lnTo>
                      <a:pt x="1991868" y="25400"/>
                    </a:lnTo>
                    <a:lnTo>
                      <a:pt x="1991868" y="50800"/>
                    </a:lnTo>
                    <a:lnTo>
                      <a:pt x="25400" y="50800"/>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630" name="Google Shape;630;p15"/>
            <p:cNvSpPr txBox="1"/>
            <p:nvPr/>
          </p:nvSpPr>
          <p:spPr>
            <a:xfrm>
              <a:off x="225570" y="5429577"/>
              <a:ext cx="4291977" cy="1391149"/>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Home Automation and Services: </a:t>
              </a:r>
              <a:r>
                <a:rPr lang="en-US" sz="1125">
                  <a:solidFill>
                    <a:schemeClr val="dk1"/>
                  </a:solidFill>
                  <a:latin typeface="Arial"/>
                  <a:ea typeface="Arial"/>
                  <a:cs typeface="Arial"/>
                  <a:sym typeface="Arial"/>
                </a:rPr>
                <a:t>The home automation market is expected to reach $211.2 billion by 2031, redefining home care services.</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Global Education: </a:t>
              </a:r>
              <a:r>
                <a:rPr lang="en-US" sz="1125">
                  <a:solidFill>
                    <a:schemeClr val="dk1"/>
                  </a:solidFill>
                  <a:latin typeface="Arial"/>
                  <a:ea typeface="Arial"/>
                  <a:cs typeface="Arial"/>
                  <a:sym typeface="Arial"/>
                </a:rPr>
                <a:t>The sector is expected to be worth $10.4 trillion by 2030, driven by a 12% penetration of online learning.</a:t>
              </a:r>
              <a:endParaRPr/>
            </a:p>
          </p:txBody>
        </p:sp>
        <p:sp>
          <p:nvSpPr>
            <p:cNvPr id="631" name="Google Shape;631;p15"/>
            <p:cNvSpPr txBox="1"/>
            <p:nvPr/>
          </p:nvSpPr>
          <p:spPr>
            <a:xfrm>
              <a:off x="5121142" y="5429577"/>
              <a:ext cx="4291975" cy="652486"/>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2035 Sustainability Goals: </a:t>
              </a:r>
              <a:r>
                <a:rPr lang="en-US" sz="1125">
                  <a:solidFill>
                    <a:schemeClr val="dk1"/>
                  </a:solidFill>
                  <a:latin typeface="Arial"/>
                  <a:ea typeface="Arial"/>
                  <a:cs typeface="Arial"/>
                  <a:sym typeface="Arial"/>
                </a:rPr>
                <a:t>Inclusion of 35-40% recycled materials in all global packaging and return of more than 100% of water used to ecosystems.</a:t>
              </a:r>
              <a:endParaRPr/>
            </a:p>
          </p:txBody>
        </p:sp>
        <p:cxnSp>
          <p:nvCxnSpPr>
            <p:cNvPr id="632" name="Google Shape;632;p15"/>
            <p:cNvCxnSpPr/>
            <p:nvPr/>
          </p:nvCxnSpPr>
          <p:spPr>
            <a:xfrm rot="10800000">
              <a:off x="4876800" y="5497413"/>
              <a:ext cx="0" cy="1366810"/>
            </a:xfrm>
            <a:prstGeom prst="straightConnector1">
              <a:avLst/>
            </a:prstGeom>
            <a:noFill/>
            <a:ln cap="rnd" cmpd="sng" w="9525">
              <a:solidFill>
                <a:srgbClr val="000000"/>
              </a:solidFill>
              <a:prstDash val="solid"/>
              <a:round/>
              <a:headEnd len="sm" w="sm" type="none"/>
              <a:tailEnd len="sm" w="sm" type="none"/>
            </a:ln>
          </p:spPr>
        </p:cxnSp>
      </p:grpSp>
      <p:pic>
        <p:nvPicPr>
          <p:cNvPr descr="Une image contenant texte, capture d’écran, Police&#10;&#10;Le contenu généré par l’IA peut être incorrect." id="633" name="Google Shape;633;p15"/>
          <p:cNvPicPr preferRelativeResize="0"/>
          <p:nvPr/>
        </p:nvPicPr>
        <p:blipFill rotWithShape="1">
          <a:blip r:embed="rId6">
            <a:alphaModFix/>
          </a:blip>
          <a:srcRect b="0" l="0" r="0" t="0"/>
          <a:stretch/>
        </p:blipFill>
        <p:spPr>
          <a:xfrm>
            <a:off x="201043" y="1620890"/>
            <a:ext cx="4691897" cy="3019699"/>
          </a:xfrm>
          <a:prstGeom prst="rect">
            <a:avLst/>
          </a:prstGeom>
          <a:noFill/>
          <a:ln>
            <a:noFill/>
          </a:ln>
        </p:spPr>
      </p:pic>
      <p:pic>
        <p:nvPicPr>
          <p:cNvPr descr="Une image contenant texte, capture d’écran, Police, nombre&#10;&#10;Le contenu généré par l’IA peut être incorrect." id="634" name="Google Shape;634;p15"/>
          <p:cNvPicPr preferRelativeResize="0"/>
          <p:nvPr/>
        </p:nvPicPr>
        <p:blipFill rotWithShape="1">
          <a:blip r:embed="rId7">
            <a:alphaModFix/>
          </a:blip>
          <a:srcRect b="0" l="0" r="0" t="0"/>
          <a:stretch/>
        </p:blipFill>
        <p:spPr>
          <a:xfrm>
            <a:off x="5425046" y="1636464"/>
            <a:ext cx="2988550" cy="2988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6"/>
          <p:cNvSpPr/>
          <p:nvPr/>
        </p:nvSpPr>
        <p:spPr>
          <a:xfrm>
            <a:off x="8413596" y="29091"/>
            <a:ext cx="822403" cy="751780"/>
          </a:xfrm>
          <a:custGeom>
            <a:rect b="b" l="l" r="r" t="t"/>
            <a:pathLst>
              <a:path extrusionOk="0" h="801899" w="877230">
                <a:moveTo>
                  <a:pt x="0" y="0"/>
                </a:moveTo>
                <a:lnTo>
                  <a:pt x="877229" y="0"/>
                </a:lnTo>
                <a:lnTo>
                  <a:pt x="877229" y="801900"/>
                </a:lnTo>
                <a:lnTo>
                  <a:pt x="0" y="801900"/>
                </a:lnTo>
                <a:lnTo>
                  <a:pt x="0" y="0"/>
                </a:lnTo>
                <a:close/>
              </a:path>
            </a:pathLst>
          </a:custGeom>
          <a:blipFill rotWithShape="1">
            <a:blip r:embed="rId3">
              <a:alphaModFix/>
            </a:blip>
            <a:stretch>
              <a:fillRect b="-31401" l="-2079" r="-11104" t="31401"/>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644" name="Google Shape;644;p16"/>
          <p:cNvCxnSpPr/>
          <p:nvPr/>
        </p:nvCxnSpPr>
        <p:spPr>
          <a:xfrm>
            <a:off x="478027" y="1318633"/>
            <a:ext cx="3325273" cy="9525"/>
          </a:xfrm>
          <a:prstGeom prst="straightConnector1">
            <a:avLst/>
          </a:prstGeom>
          <a:noFill/>
          <a:ln cap="rnd" cmpd="sng" w="9525">
            <a:solidFill>
              <a:srgbClr val="000000"/>
            </a:solidFill>
            <a:prstDash val="solid"/>
            <a:round/>
            <a:headEnd len="sm" w="sm" type="none"/>
            <a:tailEnd len="sm" w="sm" type="none"/>
          </a:ln>
        </p:spPr>
      </p:cxnSp>
      <p:sp>
        <p:nvSpPr>
          <p:cNvPr id="645" name="Google Shape;645;p16"/>
          <p:cNvSpPr txBox="1"/>
          <p:nvPr/>
        </p:nvSpPr>
        <p:spPr>
          <a:xfrm>
            <a:off x="452573" y="1028943"/>
            <a:ext cx="8340915" cy="266483"/>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None/>
            </a:pPr>
            <a:r>
              <a:rPr b="1" lang="en-US" sz="1443">
                <a:solidFill>
                  <a:srgbClr val="00023D"/>
                </a:solidFill>
                <a:latin typeface="Avenir"/>
                <a:ea typeface="Avenir"/>
                <a:cs typeface="Avenir"/>
                <a:sym typeface="Avenir"/>
              </a:rPr>
              <a:t>M&amp;A, VC &amp; PE deals</a:t>
            </a:r>
            <a:endParaRPr sz="1313">
              <a:solidFill>
                <a:srgbClr val="000000"/>
              </a:solidFill>
              <a:latin typeface="Arial"/>
              <a:ea typeface="Arial"/>
              <a:cs typeface="Arial"/>
              <a:sym typeface="Arial"/>
            </a:endParaRPr>
          </a:p>
        </p:txBody>
      </p:sp>
      <p:sp>
        <p:nvSpPr>
          <p:cNvPr descr="Icône spinner, cercle" id="646" name="Google Shape;646;p16"/>
          <p:cNvSpPr/>
          <p:nvPr/>
        </p:nvSpPr>
        <p:spPr>
          <a:xfrm>
            <a:off x="211472" y="1080332"/>
            <a:ext cx="195389" cy="195389"/>
          </a:xfrm>
          <a:custGeom>
            <a:rect b="b" l="l" r="r" t="t"/>
            <a:pathLst>
              <a:path extrusionOk="0" h="208415" w="208415">
                <a:moveTo>
                  <a:pt x="0" y="0"/>
                </a:moveTo>
                <a:lnTo>
                  <a:pt x="208415" y="0"/>
                </a:lnTo>
                <a:lnTo>
                  <a:pt x="208415" y="208415"/>
                </a:lnTo>
                <a:lnTo>
                  <a:pt x="0" y="208415"/>
                </a:lnTo>
                <a:lnTo>
                  <a:pt x="0" y="0"/>
                </a:lnTo>
                <a:close/>
              </a:path>
            </a:pathLst>
          </a:custGeom>
          <a:blipFill rotWithShape="1">
            <a:blip r:embed="rId4">
              <a:alphaModFix/>
            </a:blip>
            <a:stretch>
              <a:fillRect b="0" l="0" r="0" t="0"/>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47" name="Google Shape;647;p16"/>
          <p:cNvSpPr/>
          <p:nvPr/>
        </p:nvSpPr>
        <p:spPr>
          <a:xfrm>
            <a:off x="8413596" y="133946"/>
            <a:ext cx="822403" cy="751780"/>
          </a:xfrm>
          <a:custGeom>
            <a:rect b="b" l="l" r="r" t="t"/>
            <a:pathLst>
              <a:path extrusionOk="0" h="801899" w="877230">
                <a:moveTo>
                  <a:pt x="0" y="0"/>
                </a:moveTo>
                <a:lnTo>
                  <a:pt x="877230" y="0"/>
                </a:lnTo>
                <a:lnTo>
                  <a:pt x="877230" y="801899"/>
                </a:lnTo>
                <a:lnTo>
                  <a:pt x="0" y="801899"/>
                </a:lnTo>
                <a:lnTo>
                  <a:pt x="0" y="0"/>
                </a:lnTo>
                <a:close/>
              </a:path>
            </a:pathLst>
          </a:custGeom>
          <a:blipFill rotWithShape="1">
            <a:blip r:embed="rId3">
              <a:alphaModFix/>
            </a:blip>
            <a:stretch>
              <a:fillRect b="-31399" l="-2080" r="-11103" t="3139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48" name="Google Shape;648;p16"/>
          <p:cNvSpPr txBox="1"/>
          <p:nvPr/>
        </p:nvSpPr>
        <p:spPr>
          <a:xfrm>
            <a:off x="528506" y="589932"/>
            <a:ext cx="5844075"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800">
                <a:solidFill>
                  <a:srgbClr val="FFFFFF"/>
                </a:solidFill>
                <a:latin typeface="Avenir"/>
                <a:ea typeface="Avenir"/>
                <a:cs typeface="Avenir"/>
                <a:sym typeface="Avenir"/>
              </a:rPr>
              <a:t> I. Industry Overview </a:t>
            </a:r>
            <a:endParaRPr sz="1313">
              <a:solidFill>
                <a:srgbClr val="000000"/>
              </a:solidFill>
              <a:latin typeface="Arial"/>
              <a:ea typeface="Arial"/>
              <a:cs typeface="Arial"/>
              <a:sym typeface="Arial"/>
            </a:endParaRPr>
          </a:p>
        </p:txBody>
      </p:sp>
      <p:cxnSp>
        <p:nvCxnSpPr>
          <p:cNvPr id="649" name="Google Shape;649;p16"/>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650" name="Google Shape;650;p16"/>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51" name="Google Shape;651;p16"/>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5">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52" name="Google Shape;652;p16"/>
          <p:cNvSpPr txBox="1"/>
          <p:nvPr/>
        </p:nvSpPr>
        <p:spPr>
          <a:xfrm>
            <a:off x="64294" y="444686"/>
            <a:ext cx="696154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Business Overview - Competitive Landscape</a:t>
            </a:r>
            <a:endParaRPr sz="1313">
              <a:solidFill>
                <a:srgbClr val="000000"/>
              </a:solidFill>
              <a:latin typeface="Arial"/>
              <a:ea typeface="Arial"/>
              <a:cs typeface="Arial"/>
              <a:sym typeface="Arial"/>
            </a:endParaRPr>
          </a:p>
        </p:txBody>
      </p:sp>
      <p:grpSp>
        <p:nvGrpSpPr>
          <p:cNvPr id="653" name="Google Shape;653;p16"/>
          <p:cNvGrpSpPr/>
          <p:nvPr/>
        </p:nvGrpSpPr>
        <p:grpSpPr>
          <a:xfrm>
            <a:off x="201044" y="4921100"/>
            <a:ext cx="8613325" cy="1823576"/>
            <a:chOff x="225570" y="5429577"/>
            <a:chExt cx="9187547" cy="1945147"/>
          </a:xfrm>
        </p:grpSpPr>
        <p:grpSp>
          <p:nvGrpSpPr>
            <p:cNvPr id="654" name="Google Shape;654;p16"/>
            <p:cNvGrpSpPr/>
            <p:nvPr/>
          </p:nvGrpSpPr>
          <p:grpSpPr>
            <a:xfrm>
              <a:off x="4274752" y="6021364"/>
              <a:ext cx="806907" cy="236627"/>
              <a:chOff x="0" y="0"/>
              <a:chExt cx="2017268" cy="591566"/>
            </a:xfrm>
          </p:grpSpPr>
          <p:sp>
            <p:nvSpPr>
              <p:cNvPr id="655" name="Google Shape;655;p16"/>
              <p:cNvSpPr/>
              <p:nvPr/>
            </p:nvSpPr>
            <p:spPr>
              <a:xfrm>
                <a:off x="25400" y="25400"/>
                <a:ext cx="1966468" cy="540766"/>
              </a:xfrm>
              <a:custGeom>
                <a:rect b="b" l="l" r="r" t="t"/>
                <a:pathLst>
                  <a:path extrusionOk="0" h="540766" w="1966468">
                    <a:moveTo>
                      <a:pt x="0" y="0"/>
                    </a:moveTo>
                    <a:lnTo>
                      <a:pt x="1966468" y="0"/>
                    </a:lnTo>
                    <a:lnTo>
                      <a:pt x="1966468" y="540766"/>
                    </a:lnTo>
                    <a:lnTo>
                      <a:pt x="0" y="540766"/>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56" name="Google Shape;656;p16"/>
              <p:cNvSpPr/>
              <p:nvPr/>
            </p:nvSpPr>
            <p:spPr>
              <a:xfrm>
                <a:off x="0" y="0"/>
                <a:ext cx="2017268" cy="591566"/>
              </a:xfrm>
              <a:custGeom>
                <a:rect b="b" l="l" r="r" t="t"/>
                <a:pathLst>
                  <a:path extrusionOk="0" h="591566" w="2017268">
                    <a:moveTo>
                      <a:pt x="25400" y="0"/>
                    </a:moveTo>
                    <a:lnTo>
                      <a:pt x="1991868" y="0"/>
                    </a:lnTo>
                    <a:cubicBezTo>
                      <a:pt x="2005838" y="0"/>
                      <a:pt x="2017268" y="11430"/>
                      <a:pt x="2017268" y="25400"/>
                    </a:cubicBezTo>
                    <a:lnTo>
                      <a:pt x="2017268" y="566166"/>
                    </a:lnTo>
                    <a:cubicBezTo>
                      <a:pt x="2017268" y="580136"/>
                      <a:pt x="2005838" y="591566"/>
                      <a:pt x="1991868" y="591566"/>
                    </a:cubicBezTo>
                    <a:lnTo>
                      <a:pt x="25400" y="591566"/>
                    </a:lnTo>
                    <a:cubicBezTo>
                      <a:pt x="11430" y="591566"/>
                      <a:pt x="0" y="580136"/>
                      <a:pt x="0" y="566166"/>
                    </a:cubicBezTo>
                    <a:lnTo>
                      <a:pt x="0" y="25400"/>
                    </a:lnTo>
                    <a:cubicBezTo>
                      <a:pt x="0" y="11430"/>
                      <a:pt x="11430" y="0"/>
                      <a:pt x="25400" y="0"/>
                    </a:cubicBezTo>
                    <a:moveTo>
                      <a:pt x="25400" y="50800"/>
                    </a:moveTo>
                    <a:lnTo>
                      <a:pt x="25400" y="25400"/>
                    </a:lnTo>
                    <a:lnTo>
                      <a:pt x="50800" y="25400"/>
                    </a:lnTo>
                    <a:lnTo>
                      <a:pt x="50800" y="566166"/>
                    </a:lnTo>
                    <a:lnTo>
                      <a:pt x="25400" y="566166"/>
                    </a:lnTo>
                    <a:lnTo>
                      <a:pt x="25400" y="540766"/>
                    </a:lnTo>
                    <a:lnTo>
                      <a:pt x="1991868" y="540766"/>
                    </a:lnTo>
                    <a:lnTo>
                      <a:pt x="1991868" y="566166"/>
                    </a:lnTo>
                    <a:lnTo>
                      <a:pt x="1966468" y="566166"/>
                    </a:lnTo>
                    <a:lnTo>
                      <a:pt x="1966468" y="25400"/>
                    </a:lnTo>
                    <a:lnTo>
                      <a:pt x="1991868" y="25400"/>
                    </a:lnTo>
                    <a:lnTo>
                      <a:pt x="1991868" y="50800"/>
                    </a:lnTo>
                    <a:lnTo>
                      <a:pt x="25400" y="50800"/>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657" name="Google Shape;657;p16"/>
            <p:cNvSpPr txBox="1"/>
            <p:nvPr/>
          </p:nvSpPr>
          <p:spPr>
            <a:xfrm>
              <a:off x="225570" y="5429577"/>
              <a:ext cx="4291977" cy="1945147"/>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Strategic divestitures: </a:t>
              </a:r>
              <a:r>
                <a:rPr lang="en-US" sz="1125">
                  <a:solidFill>
                    <a:schemeClr val="dk1"/>
                  </a:solidFill>
                  <a:latin typeface="Arial"/>
                  <a:ea typeface="Arial"/>
                  <a:cs typeface="Arial"/>
                  <a:sym typeface="Arial"/>
                </a:rPr>
                <a:t>Giants are simplifying their structures, as seen in the spin-off of Unilever's ice cream division and the potential exit from retail for Costa Coffee.</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Major consolidation: </a:t>
              </a:r>
              <a:r>
                <a:rPr lang="en-US" sz="1125">
                  <a:solidFill>
                    <a:schemeClr val="dk1"/>
                  </a:solidFill>
                  <a:latin typeface="Arial"/>
                  <a:ea typeface="Arial"/>
                  <a:cs typeface="Arial"/>
                  <a:sym typeface="Arial"/>
                </a:rPr>
                <a:t>Acquisition of Kellanova by Mars ($36 billion) to dominate the global snacking segment.</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Private equity offensives: </a:t>
              </a:r>
              <a:r>
                <a:rPr lang="en-US" sz="1125">
                  <a:solidFill>
                    <a:schemeClr val="dk1"/>
                  </a:solidFill>
                  <a:latin typeface="Arial"/>
                  <a:ea typeface="Arial"/>
                  <a:cs typeface="Arial"/>
                  <a:sym typeface="Arial"/>
                </a:rPr>
                <a:t>Increase in take-privates of undervalued companies, such as Walgreens Boots Alliance by Sycamore Partners.</a:t>
              </a:r>
              <a:endParaRPr/>
            </a:p>
          </p:txBody>
        </p:sp>
        <p:sp>
          <p:nvSpPr>
            <p:cNvPr id="658" name="Google Shape;658;p16"/>
            <p:cNvSpPr txBox="1"/>
            <p:nvPr/>
          </p:nvSpPr>
          <p:spPr>
            <a:xfrm>
              <a:off x="5121142" y="5429577"/>
              <a:ext cx="4291975" cy="1391149"/>
            </a:xfrm>
            <a:prstGeom prst="rect">
              <a:avLst/>
            </a:prstGeom>
            <a:noFill/>
            <a:ln>
              <a:noFill/>
            </a:ln>
          </p:spPr>
          <p:txBody>
            <a:bodyPr anchorCtr="0" anchor="t" bIns="45700" lIns="91425" spcFirstLastPara="1" rIns="91425" wrap="square" tIns="45700">
              <a:spAutoFit/>
            </a:bodyPr>
            <a:lstStyle/>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Healthcare mega-mergers: </a:t>
              </a:r>
              <a:r>
                <a:rPr lang="en-US" sz="1125">
                  <a:solidFill>
                    <a:schemeClr val="dk1"/>
                  </a:solidFill>
                  <a:latin typeface="Arial"/>
                  <a:ea typeface="Arial"/>
                  <a:cs typeface="Arial"/>
                  <a:sym typeface="Arial"/>
                </a:rPr>
                <a:t>Acquisition of Kenvue by Kimberly-Clark for $48.7 billion, creating an undisputed leader in consumer healthcare.</a:t>
              </a:r>
              <a:endParaRPr/>
            </a:p>
            <a:p>
              <a:pPr indent="0" lvl="0" marL="0" marR="0" rtl="0" algn="just">
                <a:spcBef>
                  <a:spcPts val="0"/>
                </a:spcBef>
                <a:spcAft>
                  <a:spcPts val="0"/>
                </a:spcAft>
                <a:buNone/>
              </a:pPr>
              <a:r>
                <a:t/>
              </a:r>
              <a:endParaRPr sz="1125">
                <a:solidFill>
                  <a:schemeClr val="dk1"/>
                </a:solidFill>
                <a:latin typeface="Arial"/>
                <a:ea typeface="Arial"/>
                <a:cs typeface="Arial"/>
                <a:sym typeface="Arial"/>
              </a:endParaRPr>
            </a:p>
            <a:p>
              <a:pPr indent="-160734" lvl="0" marL="160734" marR="0" rtl="0" algn="just">
                <a:spcBef>
                  <a:spcPts val="0"/>
                </a:spcBef>
                <a:spcAft>
                  <a:spcPts val="0"/>
                </a:spcAft>
                <a:buClr>
                  <a:schemeClr val="dk1"/>
                </a:buClr>
                <a:buSzPts val="1125"/>
                <a:buFont typeface="Arial"/>
                <a:buChar char="-"/>
              </a:pPr>
              <a:r>
                <a:rPr b="1" lang="en-US" sz="1125">
                  <a:solidFill>
                    <a:schemeClr val="dk1"/>
                  </a:solidFill>
                  <a:latin typeface="Arial"/>
                  <a:ea typeface="Arial"/>
                  <a:cs typeface="Arial"/>
                  <a:sym typeface="Arial"/>
                </a:rPr>
                <a:t>VC and clean-label brands: </a:t>
              </a:r>
              <a:r>
                <a:rPr lang="en-US" sz="1125">
                  <a:solidFill>
                    <a:schemeClr val="dk1"/>
                  </a:solidFill>
                  <a:latin typeface="Arial"/>
                  <a:ea typeface="Arial"/>
                  <a:cs typeface="Arial"/>
                  <a:sym typeface="Arial"/>
                </a:rPr>
                <a:t>Massive funding for agri-food startups focused on transparency and nutrition (e.g., $51 million for The Whole Truth).</a:t>
              </a:r>
              <a:endParaRPr/>
            </a:p>
          </p:txBody>
        </p:sp>
        <p:cxnSp>
          <p:nvCxnSpPr>
            <p:cNvPr id="659" name="Google Shape;659;p16"/>
            <p:cNvCxnSpPr/>
            <p:nvPr/>
          </p:nvCxnSpPr>
          <p:spPr>
            <a:xfrm rot="10800000">
              <a:off x="4798742" y="5632427"/>
              <a:ext cx="0" cy="1366810"/>
            </a:xfrm>
            <a:prstGeom prst="straightConnector1">
              <a:avLst/>
            </a:prstGeom>
            <a:noFill/>
            <a:ln cap="rnd" cmpd="sng" w="9525">
              <a:solidFill>
                <a:srgbClr val="000000"/>
              </a:solidFill>
              <a:prstDash val="solid"/>
              <a:round/>
              <a:headEnd len="sm" w="sm" type="none"/>
              <a:tailEnd len="sm" w="sm" type="none"/>
            </a:ln>
          </p:spPr>
        </p:cxnSp>
      </p:grpSp>
      <p:pic>
        <p:nvPicPr>
          <p:cNvPr descr="Une image contenant texte, capture d’écran, Police, conception&#10;&#10;Le contenu généré par l’IA peut être incorrect." id="660" name="Google Shape;660;p16"/>
          <p:cNvPicPr preferRelativeResize="0"/>
          <p:nvPr/>
        </p:nvPicPr>
        <p:blipFill rotWithShape="1">
          <a:blip r:embed="rId6">
            <a:alphaModFix/>
          </a:blip>
          <a:srcRect b="0" l="0" r="0" t="0"/>
          <a:stretch/>
        </p:blipFill>
        <p:spPr>
          <a:xfrm>
            <a:off x="4896678" y="1178749"/>
            <a:ext cx="3657600" cy="3530138"/>
          </a:xfrm>
          <a:prstGeom prst="rect">
            <a:avLst/>
          </a:prstGeom>
          <a:noFill/>
          <a:ln>
            <a:noFill/>
          </a:ln>
        </p:spPr>
      </p:pic>
      <p:pic>
        <p:nvPicPr>
          <p:cNvPr descr="Une image contenant texte, capture d’écran, Police, diagramme&#10;&#10;Le contenu généré par l’IA peut être incorrect." id="661" name="Google Shape;661;p16"/>
          <p:cNvPicPr preferRelativeResize="0"/>
          <p:nvPr/>
        </p:nvPicPr>
        <p:blipFill rotWithShape="1">
          <a:blip r:embed="rId7">
            <a:alphaModFix/>
          </a:blip>
          <a:srcRect b="0" l="0" r="0" t="0"/>
          <a:stretch/>
        </p:blipFill>
        <p:spPr>
          <a:xfrm>
            <a:off x="303322" y="1798091"/>
            <a:ext cx="4183615" cy="25482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7"/>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667" name="Google Shape;667;p17"/>
          <p:cNvGrpSpPr/>
          <p:nvPr/>
        </p:nvGrpSpPr>
        <p:grpSpPr>
          <a:xfrm>
            <a:off x="-2192501" y="2633500"/>
            <a:ext cx="1970251" cy="496313"/>
            <a:chOff x="0" y="-28575"/>
            <a:chExt cx="2802135" cy="705866"/>
          </a:xfrm>
        </p:grpSpPr>
        <p:sp>
          <p:nvSpPr>
            <p:cNvPr id="668" name="Google Shape;668;p17"/>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69" name="Google Shape;669;p17"/>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670" name="Google Shape;670;p17"/>
          <p:cNvGrpSpPr/>
          <p:nvPr/>
        </p:nvGrpSpPr>
        <p:grpSpPr>
          <a:xfrm>
            <a:off x="-2186151" y="3363382"/>
            <a:ext cx="1957566" cy="486436"/>
            <a:chOff x="0" y="-28575"/>
            <a:chExt cx="2784094" cy="691820"/>
          </a:xfrm>
        </p:grpSpPr>
        <p:sp>
          <p:nvSpPr>
            <p:cNvPr id="671" name="Google Shape;671;p1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72" name="Google Shape;672;p1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673" name="Google Shape;673;p17"/>
          <p:cNvGrpSpPr/>
          <p:nvPr/>
        </p:nvGrpSpPr>
        <p:grpSpPr>
          <a:xfrm>
            <a:off x="-2186151" y="4089757"/>
            <a:ext cx="1957566" cy="486436"/>
            <a:chOff x="0" y="-28575"/>
            <a:chExt cx="2784094" cy="691820"/>
          </a:xfrm>
        </p:grpSpPr>
        <p:sp>
          <p:nvSpPr>
            <p:cNvPr id="674" name="Google Shape;674;p1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75" name="Google Shape;675;p1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676" name="Google Shape;676;p17"/>
          <p:cNvGrpSpPr/>
          <p:nvPr/>
        </p:nvGrpSpPr>
        <p:grpSpPr>
          <a:xfrm>
            <a:off x="-2186151" y="4816132"/>
            <a:ext cx="1957566" cy="486436"/>
            <a:chOff x="0" y="-28575"/>
            <a:chExt cx="2784094" cy="691820"/>
          </a:xfrm>
        </p:grpSpPr>
        <p:sp>
          <p:nvSpPr>
            <p:cNvPr id="677" name="Google Shape;677;p1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78" name="Google Shape;678;p1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679" name="Google Shape;679;p17"/>
          <p:cNvGrpSpPr/>
          <p:nvPr/>
        </p:nvGrpSpPr>
        <p:grpSpPr>
          <a:xfrm>
            <a:off x="-2186151" y="5542509"/>
            <a:ext cx="1957566" cy="486436"/>
            <a:chOff x="0" y="-28575"/>
            <a:chExt cx="2784094" cy="691820"/>
          </a:xfrm>
        </p:grpSpPr>
        <p:sp>
          <p:nvSpPr>
            <p:cNvPr id="680" name="Google Shape;680;p1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81" name="Google Shape;681;p1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682" name="Google Shape;682;p17"/>
          <p:cNvGrpSpPr/>
          <p:nvPr/>
        </p:nvGrpSpPr>
        <p:grpSpPr>
          <a:xfrm>
            <a:off x="-2186151" y="1916319"/>
            <a:ext cx="1957566" cy="483632"/>
            <a:chOff x="0" y="-28575"/>
            <a:chExt cx="2784094" cy="687832"/>
          </a:xfrm>
        </p:grpSpPr>
        <p:sp>
          <p:nvSpPr>
            <p:cNvPr id="683" name="Google Shape;683;p17"/>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84" name="Google Shape;684;p17"/>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685" name="Google Shape;685;p17"/>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686" name="Google Shape;686;p17"/>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687" name="Google Shape;687;p17"/>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688" name="Google Shape;688;p17"/>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689" name="Google Shape;689;p17"/>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690" name="Google Shape;690;p17"/>
          <p:cNvGrpSpPr/>
          <p:nvPr/>
        </p:nvGrpSpPr>
        <p:grpSpPr>
          <a:xfrm>
            <a:off x="3246975" y="2929020"/>
            <a:ext cx="2647741" cy="2580970"/>
            <a:chOff x="3464687" y="2446304"/>
            <a:chExt cx="2824257" cy="2753035"/>
          </a:xfrm>
        </p:grpSpPr>
        <p:grpSp>
          <p:nvGrpSpPr>
            <p:cNvPr id="691" name="Google Shape;691;p17"/>
            <p:cNvGrpSpPr/>
            <p:nvPr/>
          </p:nvGrpSpPr>
          <p:grpSpPr>
            <a:xfrm>
              <a:off x="3464687" y="2448986"/>
              <a:ext cx="2824257" cy="339661"/>
              <a:chOff x="-1524" y="-1524"/>
              <a:chExt cx="3765677" cy="452882"/>
            </a:xfrm>
          </p:grpSpPr>
          <p:sp>
            <p:nvSpPr>
              <p:cNvPr id="692" name="Google Shape;692;p17"/>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93" name="Google Shape;693;p17"/>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694" name="Google Shape;694;p17"/>
            <p:cNvSpPr txBox="1"/>
            <p:nvPr/>
          </p:nvSpPr>
          <p:spPr>
            <a:xfrm>
              <a:off x="3551406" y="2446304"/>
              <a:ext cx="115123"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nvGrpSpPr>
            <p:cNvPr id="695" name="Google Shape;695;p17"/>
            <p:cNvGrpSpPr/>
            <p:nvPr/>
          </p:nvGrpSpPr>
          <p:grpSpPr>
            <a:xfrm>
              <a:off x="3481694" y="3364869"/>
              <a:ext cx="341566" cy="367093"/>
              <a:chOff x="-1524" y="-38100"/>
              <a:chExt cx="455422" cy="489458"/>
            </a:xfrm>
          </p:grpSpPr>
          <p:sp>
            <p:nvSpPr>
              <p:cNvPr id="696" name="Google Shape;696;p1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97" name="Google Shape;697;p17"/>
              <p:cNvSpPr/>
              <p:nvPr/>
            </p:nvSpPr>
            <p:spPr>
              <a:xfrm>
                <a:off x="-1524" y="-1524"/>
                <a:ext cx="455422" cy="452882"/>
              </a:xfrm>
              <a:custGeom>
                <a:rect b="b" l="l" r="r" t="t"/>
                <a:pathLst>
                  <a:path extrusionOk="0" h="452882" w="455422">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698" name="Google Shape;698;p1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699" name="Google Shape;699;p17"/>
            <p:cNvGrpSpPr/>
            <p:nvPr/>
          </p:nvGrpSpPr>
          <p:grpSpPr>
            <a:xfrm>
              <a:off x="3482837" y="3854375"/>
              <a:ext cx="339280" cy="365953"/>
              <a:chOff x="0" y="-38100"/>
              <a:chExt cx="452374" cy="487938"/>
            </a:xfrm>
          </p:grpSpPr>
          <p:sp>
            <p:nvSpPr>
              <p:cNvPr id="700" name="Google Shape;700;p1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01" name="Google Shape;701;p1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702" name="Google Shape;702;p17"/>
            <p:cNvGrpSpPr/>
            <p:nvPr/>
          </p:nvGrpSpPr>
          <p:grpSpPr>
            <a:xfrm>
              <a:off x="3482836" y="4343880"/>
              <a:ext cx="402812" cy="365953"/>
              <a:chOff x="0" y="-38100"/>
              <a:chExt cx="537083" cy="487938"/>
            </a:xfrm>
          </p:grpSpPr>
          <p:sp>
            <p:nvSpPr>
              <p:cNvPr id="703" name="Google Shape;703;p17"/>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04" name="Google Shape;704;p17"/>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sp>
          <p:nvSpPr>
            <p:cNvPr id="705" name="Google Shape;705;p17"/>
            <p:cNvSpPr txBox="1"/>
            <p:nvPr/>
          </p:nvSpPr>
          <p:spPr>
            <a:xfrm>
              <a:off x="3890662" y="2465354"/>
              <a:ext cx="2328540" cy="20682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nvGrpSpPr>
            <p:cNvPr id="706" name="Google Shape;706;p17"/>
            <p:cNvGrpSpPr/>
            <p:nvPr/>
          </p:nvGrpSpPr>
          <p:grpSpPr>
            <a:xfrm>
              <a:off x="3820950" y="3379157"/>
              <a:ext cx="2467928" cy="352805"/>
              <a:chOff x="-1524" y="-19050"/>
              <a:chExt cx="3290570" cy="470408"/>
            </a:xfrm>
          </p:grpSpPr>
          <p:sp>
            <p:nvSpPr>
              <p:cNvPr id="707" name="Google Shape;707;p1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08" name="Google Shape;708;p17"/>
              <p:cNvSpPr/>
              <p:nvPr/>
            </p:nvSpPr>
            <p:spPr>
              <a:xfrm>
                <a:off x="-1524" y="-1524"/>
                <a:ext cx="3290570" cy="452882"/>
              </a:xfrm>
              <a:custGeom>
                <a:rect b="b" l="l" r="r" t="t"/>
                <a:pathLst>
                  <a:path extrusionOk="0" h="452882" w="329057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09" name="Google Shape;709;p1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710" name="Google Shape;710;p17"/>
            <p:cNvGrpSpPr/>
            <p:nvPr/>
          </p:nvGrpSpPr>
          <p:grpSpPr>
            <a:xfrm>
              <a:off x="3822093" y="3868663"/>
              <a:ext cx="2465678" cy="351665"/>
              <a:chOff x="0" y="-19050"/>
              <a:chExt cx="3287570" cy="468888"/>
            </a:xfrm>
          </p:grpSpPr>
          <p:sp>
            <p:nvSpPr>
              <p:cNvPr id="711" name="Google Shape;711;p1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12" name="Google Shape;712;p1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713" name="Google Shape;713;p17"/>
            <p:cNvGrpSpPr/>
            <p:nvPr/>
          </p:nvGrpSpPr>
          <p:grpSpPr>
            <a:xfrm>
              <a:off x="3822093" y="4358168"/>
              <a:ext cx="2465678" cy="351665"/>
              <a:chOff x="0" y="-19050"/>
              <a:chExt cx="3287570" cy="468888"/>
            </a:xfrm>
          </p:grpSpPr>
          <p:sp>
            <p:nvSpPr>
              <p:cNvPr id="714" name="Google Shape;714;p1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15" name="Google Shape;715;p1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716" name="Google Shape;716;p17"/>
            <p:cNvGrpSpPr/>
            <p:nvPr/>
          </p:nvGrpSpPr>
          <p:grpSpPr>
            <a:xfrm>
              <a:off x="3482837" y="4833386"/>
              <a:ext cx="339280" cy="365953"/>
              <a:chOff x="0" y="-38100"/>
              <a:chExt cx="452374" cy="487938"/>
            </a:xfrm>
          </p:grpSpPr>
          <p:sp>
            <p:nvSpPr>
              <p:cNvPr id="717" name="Google Shape;717;p1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18" name="Google Shape;718;p1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719" name="Google Shape;719;p17"/>
            <p:cNvGrpSpPr/>
            <p:nvPr/>
          </p:nvGrpSpPr>
          <p:grpSpPr>
            <a:xfrm>
              <a:off x="3822093" y="4847674"/>
              <a:ext cx="2465678" cy="351665"/>
              <a:chOff x="0" y="-19050"/>
              <a:chExt cx="3287570" cy="468888"/>
            </a:xfrm>
          </p:grpSpPr>
          <p:sp>
            <p:nvSpPr>
              <p:cNvPr id="720" name="Google Shape;720;p1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21" name="Google Shape;721;p1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722" name="Google Shape;722;p17"/>
            <p:cNvGrpSpPr/>
            <p:nvPr/>
          </p:nvGrpSpPr>
          <p:grpSpPr>
            <a:xfrm>
              <a:off x="3465829" y="2893212"/>
              <a:ext cx="341596" cy="365953"/>
              <a:chOff x="0" y="-38100"/>
              <a:chExt cx="455461" cy="487938"/>
            </a:xfrm>
          </p:grpSpPr>
          <p:sp>
            <p:nvSpPr>
              <p:cNvPr id="723" name="Google Shape;723;p17"/>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24" name="Google Shape;724;p17"/>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725" name="Google Shape;725;p17"/>
            <p:cNvGrpSpPr/>
            <p:nvPr/>
          </p:nvGrpSpPr>
          <p:grpSpPr>
            <a:xfrm>
              <a:off x="3805085" y="2907500"/>
              <a:ext cx="2482692" cy="351665"/>
              <a:chOff x="0" y="-19050"/>
              <a:chExt cx="3310255" cy="468888"/>
            </a:xfrm>
          </p:grpSpPr>
          <p:sp>
            <p:nvSpPr>
              <p:cNvPr id="726" name="Google Shape;726;p17"/>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27" name="Google Shape;727;p17"/>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Industry Overview</a:t>
                </a:r>
                <a:endParaRPr sz="1688">
                  <a:solidFill>
                    <a:schemeClr val="dk1"/>
                  </a:solidFill>
                  <a:latin typeface="Arial"/>
                  <a:ea typeface="Arial"/>
                  <a:cs typeface="Arial"/>
                  <a:sym typeface="Arial"/>
                </a:endParaRPr>
              </a:p>
            </p:txBody>
          </p:sp>
        </p:grpSp>
      </p:grpSp>
      <p:cxnSp>
        <p:nvCxnSpPr>
          <p:cNvPr id="728" name="Google Shape;728;p17"/>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sp>
        <p:nvSpPr>
          <p:cNvPr id="729" name="Google Shape;729;p17"/>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pic>
        <p:nvPicPr>
          <p:cNvPr descr="Une image contenant Police, Graphique, calligraphie, typographie&#10;&#10;Le contenu généré par l’IA peut être incorrect." id="730" name="Google Shape;730;p17"/>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8"/>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736" name="Google Shape;736;p18"/>
          <p:cNvGrpSpPr/>
          <p:nvPr/>
        </p:nvGrpSpPr>
        <p:grpSpPr>
          <a:xfrm>
            <a:off x="-2192501" y="2633500"/>
            <a:ext cx="1970251" cy="496313"/>
            <a:chOff x="0" y="-28575"/>
            <a:chExt cx="2802135" cy="705866"/>
          </a:xfrm>
        </p:grpSpPr>
        <p:sp>
          <p:nvSpPr>
            <p:cNvPr id="737" name="Google Shape;737;p18"/>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38" name="Google Shape;738;p18"/>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739" name="Google Shape;739;p18"/>
          <p:cNvGrpSpPr/>
          <p:nvPr/>
        </p:nvGrpSpPr>
        <p:grpSpPr>
          <a:xfrm>
            <a:off x="-2186151" y="3363382"/>
            <a:ext cx="1957566" cy="486436"/>
            <a:chOff x="0" y="-28575"/>
            <a:chExt cx="2784094" cy="691820"/>
          </a:xfrm>
        </p:grpSpPr>
        <p:sp>
          <p:nvSpPr>
            <p:cNvPr id="740" name="Google Shape;740;p1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41" name="Google Shape;741;p1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742" name="Google Shape;742;p18"/>
          <p:cNvGrpSpPr/>
          <p:nvPr/>
        </p:nvGrpSpPr>
        <p:grpSpPr>
          <a:xfrm>
            <a:off x="-2186151" y="4089757"/>
            <a:ext cx="1957566" cy="486436"/>
            <a:chOff x="0" y="-28575"/>
            <a:chExt cx="2784094" cy="691820"/>
          </a:xfrm>
        </p:grpSpPr>
        <p:sp>
          <p:nvSpPr>
            <p:cNvPr id="743" name="Google Shape;743;p1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44" name="Google Shape;744;p1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745" name="Google Shape;745;p18"/>
          <p:cNvGrpSpPr/>
          <p:nvPr/>
        </p:nvGrpSpPr>
        <p:grpSpPr>
          <a:xfrm>
            <a:off x="-2186151" y="4816132"/>
            <a:ext cx="1957566" cy="486436"/>
            <a:chOff x="0" y="-28575"/>
            <a:chExt cx="2784094" cy="691820"/>
          </a:xfrm>
        </p:grpSpPr>
        <p:sp>
          <p:nvSpPr>
            <p:cNvPr id="746" name="Google Shape;746;p1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47" name="Google Shape;747;p1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748" name="Google Shape;748;p18"/>
          <p:cNvGrpSpPr/>
          <p:nvPr/>
        </p:nvGrpSpPr>
        <p:grpSpPr>
          <a:xfrm>
            <a:off x="-2186151" y="5542509"/>
            <a:ext cx="1957566" cy="486436"/>
            <a:chOff x="0" y="-28575"/>
            <a:chExt cx="2784094" cy="691820"/>
          </a:xfrm>
        </p:grpSpPr>
        <p:sp>
          <p:nvSpPr>
            <p:cNvPr id="749" name="Google Shape;749;p1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50" name="Google Shape;750;p1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751" name="Google Shape;751;p18"/>
          <p:cNvGrpSpPr/>
          <p:nvPr/>
        </p:nvGrpSpPr>
        <p:grpSpPr>
          <a:xfrm>
            <a:off x="-2186151" y="1916319"/>
            <a:ext cx="1957566" cy="483632"/>
            <a:chOff x="0" y="-28575"/>
            <a:chExt cx="2784094" cy="687832"/>
          </a:xfrm>
        </p:grpSpPr>
        <p:sp>
          <p:nvSpPr>
            <p:cNvPr id="752" name="Google Shape;752;p18"/>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53" name="Google Shape;753;p18"/>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754" name="Google Shape;754;p18"/>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755" name="Google Shape;755;p18"/>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756" name="Google Shape;756;p18"/>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757" name="Google Shape;757;p18"/>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758" name="Google Shape;758;p18"/>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59" name="Google Shape;759;p18"/>
          <p:cNvSpPr txBox="1"/>
          <p:nvPr/>
        </p:nvSpPr>
        <p:spPr>
          <a:xfrm>
            <a:off x="64294" y="455032"/>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Investment Thesis</a:t>
            </a:r>
            <a:endParaRPr sz="1688">
              <a:solidFill>
                <a:schemeClr val="dk1"/>
              </a:solidFill>
              <a:latin typeface="Arial"/>
              <a:ea typeface="Arial"/>
              <a:cs typeface="Arial"/>
              <a:sym typeface="Arial"/>
            </a:endParaRPr>
          </a:p>
        </p:txBody>
      </p:sp>
      <p:grpSp>
        <p:nvGrpSpPr>
          <p:cNvPr id="760" name="Google Shape;760;p18"/>
          <p:cNvGrpSpPr/>
          <p:nvPr/>
        </p:nvGrpSpPr>
        <p:grpSpPr>
          <a:xfrm>
            <a:off x="544516" y="1296628"/>
            <a:ext cx="1764416" cy="4640045"/>
            <a:chOff x="0" y="0"/>
            <a:chExt cx="2509393" cy="6599174"/>
          </a:xfrm>
        </p:grpSpPr>
        <p:sp>
          <p:nvSpPr>
            <p:cNvPr id="761" name="Google Shape;761;p18"/>
            <p:cNvSpPr/>
            <p:nvPr/>
          </p:nvSpPr>
          <p:spPr>
            <a:xfrm>
              <a:off x="4572" y="4572"/>
              <a:ext cx="2500249" cy="6590030"/>
            </a:xfrm>
            <a:custGeom>
              <a:rect b="b" l="l" r="r" t="t"/>
              <a:pathLst>
                <a:path extrusionOk="0" h="6590030" w="2500249">
                  <a:moveTo>
                    <a:pt x="0" y="0"/>
                  </a:moveTo>
                  <a:lnTo>
                    <a:pt x="2500249" y="0"/>
                  </a:lnTo>
                  <a:lnTo>
                    <a:pt x="2500249" y="6590030"/>
                  </a:lnTo>
                  <a:lnTo>
                    <a:pt x="0" y="6590030"/>
                  </a:lnTo>
                  <a:close/>
                </a:path>
              </a:pathLst>
            </a:custGeom>
            <a:solidFill>
              <a:srgbClr val="1F497D"/>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62" name="Google Shape;762;p18"/>
            <p:cNvSpPr/>
            <p:nvPr/>
          </p:nvSpPr>
          <p:spPr>
            <a:xfrm>
              <a:off x="0" y="0"/>
              <a:ext cx="2509393" cy="6599174"/>
            </a:xfrm>
            <a:custGeom>
              <a:rect b="b" l="l" r="r" t="t"/>
              <a:pathLst>
                <a:path extrusionOk="0" h="6599174" w="2509393">
                  <a:moveTo>
                    <a:pt x="4572" y="0"/>
                  </a:moveTo>
                  <a:lnTo>
                    <a:pt x="2504821" y="0"/>
                  </a:lnTo>
                  <a:cubicBezTo>
                    <a:pt x="2507361" y="0"/>
                    <a:pt x="2509393" y="2032"/>
                    <a:pt x="2509393" y="4572"/>
                  </a:cubicBezTo>
                  <a:lnTo>
                    <a:pt x="2509393" y="6594602"/>
                  </a:lnTo>
                  <a:cubicBezTo>
                    <a:pt x="2509393" y="6597142"/>
                    <a:pt x="2507361" y="6599174"/>
                    <a:pt x="2504821" y="6599174"/>
                  </a:cubicBezTo>
                  <a:lnTo>
                    <a:pt x="4572" y="6599174"/>
                  </a:lnTo>
                  <a:cubicBezTo>
                    <a:pt x="2032" y="6599174"/>
                    <a:pt x="0" y="6597142"/>
                    <a:pt x="0" y="6594602"/>
                  </a:cubicBezTo>
                  <a:lnTo>
                    <a:pt x="0" y="4572"/>
                  </a:lnTo>
                  <a:cubicBezTo>
                    <a:pt x="0" y="2032"/>
                    <a:pt x="2032" y="0"/>
                    <a:pt x="4572" y="0"/>
                  </a:cubicBezTo>
                  <a:moveTo>
                    <a:pt x="4572" y="9017"/>
                  </a:moveTo>
                  <a:lnTo>
                    <a:pt x="4572" y="4572"/>
                  </a:lnTo>
                  <a:lnTo>
                    <a:pt x="9017" y="4572"/>
                  </a:lnTo>
                  <a:lnTo>
                    <a:pt x="9017" y="6594602"/>
                  </a:lnTo>
                  <a:lnTo>
                    <a:pt x="4572" y="6594602"/>
                  </a:lnTo>
                  <a:lnTo>
                    <a:pt x="4572" y="6590030"/>
                  </a:lnTo>
                  <a:lnTo>
                    <a:pt x="2504821" y="6590030"/>
                  </a:lnTo>
                  <a:lnTo>
                    <a:pt x="2504821" y="6594602"/>
                  </a:lnTo>
                  <a:lnTo>
                    <a:pt x="2500249" y="6594602"/>
                  </a:lnTo>
                  <a:lnTo>
                    <a:pt x="2500249" y="4572"/>
                  </a:lnTo>
                  <a:lnTo>
                    <a:pt x="2504821" y="4572"/>
                  </a:lnTo>
                  <a:lnTo>
                    <a:pt x="2504821" y="9017"/>
                  </a:lnTo>
                  <a:lnTo>
                    <a:pt x="4572" y="9017"/>
                  </a:lnTo>
                  <a:close/>
                </a:path>
              </a:pathLst>
            </a:custGeom>
            <a:solidFill>
              <a:srgbClr val="1F497D"/>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grpSp>
        <p:nvGrpSpPr>
          <p:cNvPr id="763" name="Google Shape;763;p18"/>
          <p:cNvGrpSpPr/>
          <p:nvPr/>
        </p:nvGrpSpPr>
        <p:grpSpPr>
          <a:xfrm>
            <a:off x="775607" y="1489296"/>
            <a:ext cx="2358599" cy="1131221"/>
            <a:chOff x="0" y="-38100"/>
            <a:chExt cx="3354451" cy="1608848"/>
          </a:xfrm>
        </p:grpSpPr>
        <p:sp>
          <p:nvSpPr>
            <p:cNvPr id="764" name="Google Shape;764;p18"/>
            <p:cNvSpPr/>
            <p:nvPr/>
          </p:nvSpPr>
          <p:spPr>
            <a:xfrm>
              <a:off x="0" y="0"/>
              <a:ext cx="3354451" cy="1570736"/>
            </a:xfrm>
            <a:custGeom>
              <a:rect b="b" l="l" r="r" t="t"/>
              <a:pathLst>
                <a:path extrusionOk="0" h="1570736" w="3354451">
                  <a:moveTo>
                    <a:pt x="0" y="0"/>
                  </a:moveTo>
                  <a:lnTo>
                    <a:pt x="3354451" y="0"/>
                  </a:lnTo>
                  <a:lnTo>
                    <a:pt x="3354451" y="1570736"/>
                  </a:lnTo>
                  <a:lnTo>
                    <a:pt x="0" y="1570736"/>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65" name="Google Shape;765;p18"/>
            <p:cNvSpPr txBox="1"/>
            <p:nvPr/>
          </p:nvSpPr>
          <p:spPr>
            <a:xfrm>
              <a:off x="0" y="-38100"/>
              <a:ext cx="3354409" cy="1608848"/>
            </a:xfrm>
            <a:prstGeom prst="rect">
              <a:avLst/>
            </a:prstGeom>
            <a:noFill/>
            <a:ln>
              <a:noFill/>
            </a:ln>
          </p:spPr>
          <p:txBody>
            <a:bodyPr anchorCtr="0" anchor="ctr" bIns="47625" lIns="47625" spcFirstLastPara="1" rIns="47625" wrap="square" tIns="47625">
              <a:noAutofit/>
            </a:bodyPr>
            <a:lstStyle/>
            <a:p>
              <a:pPr indent="0" lvl="0" marL="0" marR="0" rtl="0" algn="ctr">
                <a:lnSpc>
                  <a:spcPct val="120046"/>
                </a:lnSpc>
                <a:spcBef>
                  <a:spcPts val="0"/>
                </a:spcBef>
                <a:spcAft>
                  <a:spcPts val="0"/>
                </a:spcAft>
                <a:buNone/>
              </a:pPr>
              <a:r>
                <a:rPr b="1" lang="en-US" sz="1599">
                  <a:solidFill>
                    <a:srgbClr val="000000"/>
                  </a:solidFill>
                  <a:latin typeface="Arial"/>
                  <a:ea typeface="Arial"/>
                  <a:cs typeface="Arial"/>
                  <a:sym typeface="Arial"/>
                </a:rPr>
                <a:t>Strong and predictable dividend yield</a:t>
              </a:r>
              <a:endParaRPr b="1" sz="1688">
                <a:solidFill>
                  <a:schemeClr val="dk1"/>
                </a:solidFill>
                <a:latin typeface="Arial"/>
                <a:ea typeface="Arial"/>
                <a:cs typeface="Arial"/>
                <a:sym typeface="Arial"/>
              </a:endParaRPr>
            </a:p>
          </p:txBody>
        </p:sp>
      </p:grpSp>
      <p:grpSp>
        <p:nvGrpSpPr>
          <p:cNvPr id="766" name="Google Shape;766;p18"/>
          <p:cNvGrpSpPr/>
          <p:nvPr/>
        </p:nvGrpSpPr>
        <p:grpSpPr>
          <a:xfrm>
            <a:off x="3404053" y="1351978"/>
            <a:ext cx="5238780" cy="1412588"/>
            <a:chOff x="0" y="-28575"/>
            <a:chExt cx="7450709" cy="2009013"/>
          </a:xfrm>
        </p:grpSpPr>
        <p:sp>
          <p:nvSpPr>
            <p:cNvPr id="767" name="Google Shape;767;p18"/>
            <p:cNvSpPr/>
            <p:nvPr/>
          </p:nvSpPr>
          <p:spPr>
            <a:xfrm>
              <a:off x="4572" y="4572"/>
              <a:ext cx="7441565" cy="1971294"/>
            </a:xfrm>
            <a:custGeom>
              <a:rect b="b" l="l" r="r" t="t"/>
              <a:pathLst>
                <a:path extrusionOk="0" h="1971294" w="7441565">
                  <a:moveTo>
                    <a:pt x="0" y="0"/>
                  </a:moveTo>
                  <a:lnTo>
                    <a:pt x="7441565" y="0"/>
                  </a:lnTo>
                  <a:lnTo>
                    <a:pt x="7441565" y="1971294"/>
                  </a:lnTo>
                  <a:lnTo>
                    <a:pt x="0" y="1971294"/>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68" name="Google Shape;768;p18"/>
            <p:cNvSpPr/>
            <p:nvPr/>
          </p:nvSpPr>
          <p:spPr>
            <a:xfrm>
              <a:off x="0" y="0"/>
              <a:ext cx="7450709" cy="1980438"/>
            </a:xfrm>
            <a:custGeom>
              <a:rect b="b" l="l" r="r" t="t"/>
              <a:pathLst>
                <a:path extrusionOk="0" h="1980438" w="7450709">
                  <a:moveTo>
                    <a:pt x="4572" y="0"/>
                  </a:moveTo>
                  <a:lnTo>
                    <a:pt x="7446137" y="0"/>
                  </a:lnTo>
                  <a:cubicBezTo>
                    <a:pt x="7448677" y="0"/>
                    <a:pt x="7450709" y="2032"/>
                    <a:pt x="7450709" y="4572"/>
                  </a:cubicBezTo>
                  <a:lnTo>
                    <a:pt x="7450709" y="1975866"/>
                  </a:lnTo>
                  <a:cubicBezTo>
                    <a:pt x="7450709" y="1978406"/>
                    <a:pt x="7448677" y="1980438"/>
                    <a:pt x="7446137" y="1980438"/>
                  </a:cubicBezTo>
                  <a:lnTo>
                    <a:pt x="4572" y="1980438"/>
                  </a:lnTo>
                  <a:cubicBezTo>
                    <a:pt x="2032" y="1980438"/>
                    <a:pt x="0" y="1978406"/>
                    <a:pt x="0" y="1975866"/>
                  </a:cubicBezTo>
                  <a:lnTo>
                    <a:pt x="0" y="4572"/>
                  </a:lnTo>
                  <a:cubicBezTo>
                    <a:pt x="0" y="2032"/>
                    <a:pt x="2032" y="0"/>
                    <a:pt x="4572" y="0"/>
                  </a:cubicBezTo>
                  <a:moveTo>
                    <a:pt x="4572" y="9017"/>
                  </a:moveTo>
                  <a:lnTo>
                    <a:pt x="4572" y="4572"/>
                  </a:lnTo>
                  <a:lnTo>
                    <a:pt x="9017" y="4572"/>
                  </a:lnTo>
                  <a:lnTo>
                    <a:pt x="9017" y="1975866"/>
                  </a:lnTo>
                  <a:lnTo>
                    <a:pt x="4572" y="1975866"/>
                  </a:lnTo>
                  <a:lnTo>
                    <a:pt x="4572" y="1971294"/>
                  </a:lnTo>
                  <a:lnTo>
                    <a:pt x="7446137" y="1971294"/>
                  </a:lnTo>
                  <a:lnTo>
                    <a:pt x="7446137" y="1975866"/>
                  </a:lnTo>
                  <a:lnTo>
                    <a:pt x="7441565" y="1975866"/>
                  </a:lnTo>
                  <a:lnTo>
                    <a:pt x="7441565" y="4572"/>
                  </a:lnTo>
                  <a:lnTo>
                    <a:pt x="7446137" y="4572"/>
                  </a:lnTo>
                  <a:lnTo>
                    <a:pt x="7446137" y="9017"/>
                  </a:lnTo>
                  <a:lnTo>
                    <a:pt x="4572" y="9017"/>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69" name="Google Shape;769;p18"/>
            <p:cNvSpPr txBox="1"/>
            <p:nvPr/>
          </p:nvSpPr>
          <p:spPr>
            <a:xfrm>
              <a:off x="0" y="-28575"/>
              <a:ext cx="7450665" cy="2008967"/>
            </a:xfrm>
            <a:prstGeom prst="rect">
              <a:avLst/>
            </a:prstGeom>
            <a:noFill/>
            <a:ln>
              <a:noFill/>
            </a:ln>
          </p:spPr>
          <p:txBody>
            <a:bodyPr anchorCtr="0" anchor="ctr" bIns="47625" lIns="47625" spcFirstLastPara="1" rIns="47625" wrap="square" tIns="47625">
              <a:noAutofit/>
            </a:bodyPr>
            <a:lstStyle/>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Coca-Cola holds the title of “Dividend King” with 64 consecutive years of dividend increases. Its current yield (2.65%) significantly outperforms the S&amp;P 500 average.</a:t>
              </a:r>
              <a:endParaRPr/>
            </a:p>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The group generates massive free cash flow (FCF), projected at $12.3 billion in 2026, providing complete flexibility to fund dividends, share buybacks, and innovation.</a:t>
              </a:r>
              <a:endParaRPr sz="1688">
                <a:solidFill>
                  <a:schemeClr val="dk1"/>
                </a:solidFill>
                <a:latin typeface="Arial"/>
                <a:ea typeface="Arial"/>
                <a:cs typeface="Arial"/>
                <a:sym typeface="Arial"/>
              </a:endParaRPr>
            </a:p>
          </p:txBody>
        </p:sp>
      </p:grpSp>
      <p:grpSp>
        <p:nvGrpSpPr>
          <p:cNvPr id="770" name="Google Shape;770;p18"/>
          <p:cNvGrpSpPr/>
          <p:nvPr/>
        </p:nvGrpSpPr>
        <p:grpSpPr>
          <a:xfrm>
            <a:off x="811891" y="3052327"/>
            <a:ext cx="2385784" cy="1134785"/>
            <a:chOff x="0" y="-38100"/>
            <a:chExt cx="3393115" cy="1613917"/>
          </a:xfrm>
        </p:grpSpPr>
        <p:sp>
          <p:nvSpPr>
            <p:cNvPr id="771" name="Google Shape;771;p18"/>
            <p:cNvSpPr/>
            <p:nvPr/>
          </p:nvSpPr>
          <p:spPr>
            <a:xfrm>
              <a:off x="0" y="0"/>
              <a:ext cx="3393059" cy="1575816"/>
            </a:xfrm>
            <a:custGeom>
              <a:rect b="b" l="l" r="r" t="t"/>
              <a:pathLst>
                <a:path extrusionOk="0" h="1575816" w="3393059">
                  <a:moveTo>
                    <a:pt x="0" y="0"/>
                  </a:moveTo>
                  <a:lnTo>
                    <a:pt x="3393059" y="0"/>
                  </a:lnTo>
                  <a:lnTo>
                    <a:pt x="3393059" y="1575816"/>
                  </a:lnTo>
                  <a:lnTo>
                    <a:pt x="0" y="1575816"/>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72" name="Google Shape;772;p18"/>
            <p:cNvSpPr txBox="1"/>
            <p:nvPr/>
          </p:nvSpPr>
          <p:spPr>
            <a:xfrm>
              <a:off x="0" y="-38100"/>
              <a:ext cx="3393115" cy="1613917"/>
            </a:xfrm>
            <a:prstGeom prst="rect">
              <a:avLst/>
            </a:prstGeom>
            <a:noFill/>
            <a:ln>
              <a:noFill/>
            </a:ln>
          </p:spPr>
          <p:txBody>
            <a:bodyPr anchorCtr="0" anchor="ctr" bIns="47625" lIns="47625" spcFirstLastPara="1" rIns="47625" wrap="square" tIns="47625">
              <a:noAutofit/>
            </a:bodyPr>
            <a:lstStyle/>
            <a:p>
              <a:pPr indent="0" lvl="0" marL="0" marR="0" rtl="0" algn="ctr">
                <a:lnSpc>
                  <a:spcPct val="113777"/>
                </a:lnSpc>
                <a:spcBef>
                  <a:spcPts val="0"/>
                </a:spcBef>
                <a:spcAft>
                  <a:spcPts val="0"/>
                </a:spcAft>
                <a:buNone/>
              </a:pPr>
              <a:r>
                <a:rPr b="1" lang="en-US" sz="1599">
                  <a:solidFill>
                    <a:srgbClr val="000000"/>
                  </a:solidFill>
                  <a:latin typeface="Arial"/>
                  <a:ea typeface="Arial"/>
                  <a:cs typeface="Arial"/>
                  <a:sym typeface="Arial"/>
                </a:rPr>
                <a:t>Structural resilience via the “Total Beverage” model</a:t>
              </a:r>
              <a:endParaRPr b="1" sz="1599">
                <a:solidFill>
                  <a:srgbClr val="000000"/>
                </a:solidFill>
                <a:latin typeface="Arial"/>
                <a:ea typeface="Arial"/>
                <a:cs typeface="Arial"/>
                <a:sym typeface="Arial"/>
              </a:endParaRPr>
            </a:p>
          </p:txBody>
        </p:sp>
      </p:grpSp>
      <p:grpSp>
        <p:nvGrpSpPr>
          <p:cNvPr id="773" name="Google Shape;773;p18"/>
          <p:cNvGrpSpPr/>
          <p:nvPr/>
        </p:nvGrpSpPr>
        <p:grpSpPr>
          <a:xfrm>
            <a:off x="3409202" y="4597013"/>
            <a:ext cx="5247888" cy="1367225"/>
            <a:chOff x="0" y="-28575"/>
            <a:chExt cx="7463663" cy="1944497"/>
          </a:xfrm>
        </p:grpSpPr>
        <p:sp>
          <p:nvSpPr>
            <p:cNvPr id="774" name="Google Shape;774;p18"/>
            <p:cNvSpPr/>
            <p:nvPr/>
          </p:nvSpPr>
          <p:spPr>
            <a:xfrm>
              <a:off x="4572" y="4572"/>
              <a:ext cx="7454519" cy="1906778"/>
            </a:xfrm>
            <a:custGeom>
              <a:rect b="b" l="l" r="r" t="t"/>
              <a:pathLst>
                <a:path extrusionOk="0" h="1906778" w="7454519">
                  <a:moveTo>
                    <a:pt x="0" y="0"/>
                  </a:moveTo>
                  <a:lnTo>
                    <a:pt x="7454519" y="0"/>
                  </a:lnTo>
                  <a:lnTo>
                    <a:pt x="7454519" y="1906778"/>
                  </a:lnTo>
                  <a:lnTo>
                    <a:pt x="0" y="190677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75" name="Google Shape;775;p18"/>
            <p:cNvSpPr/>
            <p:nvPr/>
          </p:nvSpPr>
          <p:spPr>
            <a:xfrm>
              <a:off x="0" y="0"/>
              <a:ext cx="7463663" cy="1915922"/>
            </a:xfrm>
            <a:custGeom>
              <a:rect b="b" l="l" r="r" t="t"/>
              <a:pathLst>
                <a:path extrusionOk="0" h="1915922" w="7463663">
                  <a:moveTo>
                    <a:pt x="4572" y="0"/>
                  </a:moveTo>
                  <a:lnTo>
                    <a:pt x="7459091" y="0"/>
                  </a:lnTo>
                  <a:cubicBezTo>
                    <a:pt x="7461631" y="0"/>
                    <a:pt x="7463663" y="2032"/>
                    <a:pt x="7463663" y="4572"/>
                  </a:cubicBezTo>
                  <a:lnTo>
                    <a:pt x="7463663" y="1911350"/>
                  </a:lnTo>
                  <a:cubicBezTo>
                    <a:pt x="7463663" y="1913890"/>
                    <a:pt x="7461631" y="1915922"/>
                    <a:pt x="7459091" y="1915922"/>
                  </a:cubicBezTo>
                  <a:lnTo>
                    <a:pt x="4572" y="1915922"/>
                  </a:lnTo>
                  <a:cubicBezTo>
                    <a:pt x="2032" y="1915922"/>
                    <a:pt x="0" y="1913890"/>
                    <a:pt x="0" y="1911350"/>
                  </a:cubicBezTo>
                  <a:lnTo>
                    <a:pt x="0" y="4572"/>
                  </a:lnTo>
                  <a:cubicBezTo>
                    <a:pt x="0" y="2032"/>
                    <a:pt x="2032" y="0"/>
                    <a:pt x="4572" y="0"/>
                  </a:cubicBezTo>
                  <a:moveTo>
                    <a:pt x="4572" y="9017"/>
                  </a:moveTo>
                  <a:lnTo>
                    <a:pt x="4572" y="4572"/>
                  </a:lnTo>
                  <a:lnTo>
                    <a:pt x="9017" y="4572"/>
                  </a:lnTo>
                  <a:lnTo>
                    <a:pt x="9017" y="1911350"/>
                  </a:lnTo>
                  <a:lnTo>
                    <a:pt x="4572" y="1911350"/>
                  </a:lnTo>
                  <a:lnTo>
                    <a:pt x="4572" y="1906778"/>
                  </a:lnTo>
                  <a:lnTo>
                    <a:pt x="7459091" y="1906778"/>
                  </a:lnTo>
                  <a:lnTo>
                    <a:pt x="7459091" y="1911350"/>
                  </a:lnTo>
                  <a:lnTo>
                    <a:pt x="7454519" y="1911350"/>
                  </a:lnTo>
                  <a:lnTo>
                    <a:pt x="7454519" y="4572"/>
                  </a:lnTo>
                  <a:lnTo>
                    <a:pt x="7459091" y="4572"/>
                  </a:lnTo>
                  <a:lnTo>
                    <a:pt x="7459091" y="9017"/>
                  </a:lnTo>
                  <a:lnTo>
                    <a:pt x="4572" y="9017"/>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76" name="Google Shape;776;p18"/>
            <p:cNvSpPr txBox="1"/>
            <p:nvPr/>
          </p:nvSpPr>
          <p:spPr>
            <a:xfrm>
              <a:off x="0" y="-28575"/>
              <a:ext cx="7463568" cy="1944459"/>
            </a:xfrm>
            <a:prstGeom prst="rect">
              <a:avLst/>
            </a:prstGeom>
            <a:noFill/>
            <a:ln>
              <a:noFill/>
            </a:ln>
          </p:spPr>
          <p:txBody>
            <a:bodyPr anchorCtr="0" anchor="ctr" bIns="47625" lIns="47625" spcFirstLastPara="1" rIns="47625" wrap="square" tIns="47625">
              <a:noAutofit/>
            </a:bodyPr>
            <a:lstStyle/>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A $1.1 billion strategic partnership with Microsoft deploys generative AI to personalize marketing and uses “digital twins” to increase supply chain efficiency by 15%.</a:t>
              </a:r>
              <a:endParaRPr/>
            </a:p>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For 2026, management targets organic growth of 4-5% and comparable EPS growth of 7-8%, driven by agile local execution in pivotal emerging markets such as India and China.</a:t>
              </a:r>
              <a:endParaRPr sz="1688">
                <a:solidFill>
                  <a:schemeClr val="dk1"/>
                </a:solidFill>
                <a:latin typeface="Arial"/>
                <a:ea typeface="Arial"/>
                <a:cs typeface="Arial"/>
                <a:sym typeface="Arial"/>
              </a:endParaRPr>
            </a:p>
          </p:txBody>
        </p:sp>
      </p:grpSp>
      <p:grpSp>
        <p:nvGrpSpPr>
          <p:cNvPr id="777" name="Google Shape;777;p18"/>
          <p:cNvGrpSpPr/>
          <p:nvPr/>
        </p:nvGrpSpPr>
        <p:grpSpPr>
          <a:xfrm>
            <a:off x="757462" y="4632528"/>
            <a:ext cx="2494642" cy="1104008"/>
            <a:chOff x="0" y="-38100"/>
            <a:chExt cx="3547935" cy="1570143"/>
          </a:xfrm>
        </p:grpSpPr>
        <p:sp>
          <p:nvSpPr>
            <p:cNvPr id="778" name="Google Shape;778;p18"/>
            <p:cNvSpPr/>
            <p:nvPr/>
          </p:nvSpPr>
          <p:spPr>
            <a:xfrm>
              <a:off x="0" y="0"/>
              <a:ext cx="3547872" cy="1532001"/>
            </a:xfrm>
            <a:custGeom>
              <a:rect b="b" l="l" r="r" t="t"/>
              <a:pathLst>
                <a:path extrusionOk="0" h="1532001" w="3547872">
                  <a:moveTo>
                    <a:pt x="0" y="0"/>
                  </a:moveTo>
                  <a:lnTo>
                    <a:pt x="3547872" y="0"/>
                  </a:lnTo>
                  <a:lnTo>
                    <a:pt x="3547872" y="1532001"/>
                  </a:lnTo>
                  <a:lnTo>
                    <a:pt x="0" y="1532001"/>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79" name="Google Shape;779;p18"/>
            <p:cNvSpPr txBox="1"/>
            <p:nvPr/>
          </p:nvSpPr>
          <p:spPr>
            <a:xfrm>
              <a:off x="0" y="-38100"/>
              <a:ext cx="3547935" cy="1570143"/>
            </a:xfrm>
            <a:prstGeom prst="rect">
              <a:avLst/>
            </a:prstGeom>
            <a:noFill/>
            <a:ln>
              <a:noFill/>
            </a:ln>
          </p:spPr>
          <p:txBody>
            <a:bodyPr anchorCtr="0" anchor="ctr" bIns="47625" lIns="47625" spcFirstLastPara="1" rIns="47625" wrap="square" tIns="47625">
              <a:noAutofit/>
            </a:bodyPr>
            <a:lstStyle/>
            <a:p>
              <a:pPr indent="0" lvl="0" marL="0" marR="0" rtl="0" algn="ctr">
                <a:lnSpc>
                  <a:spcPct val="120046"/>
                </a:lnSpc>
                <a:spcBef>
                  <a:spcPts val="0"/>
                </a:spcBef>
                <a:spcAft>
                  <a:spcPts val="0"/>
                </a:spcAft>
                <a:buNone/>
              </a:pPr>
              <a:r>
                <a:rPr b="1" lang="en-US" sz="1599">
                  <a:solidFill>
                    <a:srgbClr val="000000"/>
                  </a:solidFill>
                  <a:latin typeface="Arial"/>
                  <a:ea typeface="Arial"/>
                  <a:cs typeface="Arial"/>
                  <a:sym typeface="Arial"/>
                </a:rPr>
                <a:t>Digital acceleration and growth through AI</a:t>
              </a:r>
              <a:endParaRPr sz="1688">
                <a:solidFill>
                  <a:schemeClr val="dk1"/>
                </a:solidFill>
                <a:latin typeface="Arial"/>
                <a:ea typeface="Arial"/>
                <a:cs typeface="Arial"/>
                <a:sym typeface="Arial"/>
              </a:endParaRPr>
            </a:p>
          </p:txBody>
        </p:sp>
      </p:grpSp>
      <p:grpSp>
        <p:nvGrpSpPr>
          <p:cNvPr id="780" name="Google Shape;780;p18"/>
          <p:cNvGrpSpPr/>
          <p:nvPr/>
        </p:nvGrpSpPr>
        <p:grpSpPr>
          <a:xfrm>
            <a:off x="3404053" y="2984557"/>
            <a:ext cx="5238780" cy="1412588"/>
            <a:chOff x="0" y="-28575"/>
            <a:chExt cx="7450709" cy="2009013"/>
          </a:xfrm>
        </p:grpSpPr>
        <p:sp>
          <p:nvSpPr>
            <p:cNvPr id="781" name="Google Shape;781;p18"/>
            <p:cNvSpPr/>
            <p:nvPr/>
          </p:nvSpPr>
          <p:spPr>
            <a:xfrm>
              <a:off x="4572" y="4572"/>
              <a:ext cx="7441565" cy="1971294"/>
            </a:xfrm>
            <a:custGeom>
              <a:rect b="b" l="l" r="r" t="t"/>
              <a:pathLst>
                <a:path extrusionOk="0" h="1971294" w="7441565">
                  <a:moveTo>
                    <a:pt x="0" y="0"/>
                  </a:moveTo>
                  <a:lnTo>
                    <a:pt x="7441565" y="0"/>
                  </a:lnTo>
                  <a:lnTo>
                    <a:pt x="7441565" y="1971294"/>
                  </a:lnTo>
                  <a:lnTo>
                    <a:pt x="0" y="1971294"/>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82" name="Google Shape;782;p18"/>
            <p:cNvSpPr/>
            <p:nvPr/>
          </p:nvSpPr>
          <p:spPr>
            <a:xfrm>
              <a:off x="0" y="0"/>
              <a:ext cx="7450709" cy="1980438"/>
            </a:xfrm>
            <a:custGeom>
              <a:rect b="b" l="l" r="r" t="t"/>
              <a:pathLst>
                <a:path extrusionOk="0" h="1980438" w="7450709">
                  <a:moveTo>
                    <a:pt x="4572" y="0"/>
                  </a:moveTo>
                  <a:lnTo>
                    <a:pt x="7446137" y="0"/>
                  </a:lnTo>
                  <a:cubicBezTo>
                    <a:pt x="7448677" y="0"/>
                    <a:pt x="7450709" y="2032"/>
                    <a:pt x="7450709" y="4572"/>
                  </a:cubicBezTo>
                  <a:lnTo>
                    <a:pt x="7450709" y="1975866"/>
                  </a:lnTo>
                  <a:cubicBezTo>
                    <a:pt x="7450709" y="1978406"/>
                    <a:pt x="7448677" y="1980438"/>
                    <a:pt x="7446137" y="1980438"/>
                  </a:cubicBezTo>
                  <a:lnTo>
                    <a:pt x="4572" y="1980438"/>
                  </a:lnTo>
                  <a:cubicBezTo>
                    <a:pt x="2032" y="1980438"/>
                    <a:pt x="0" y="1978406"/>
                    <a:pt x="0" y="1975866"/>
                  </a:cubicBezTo>
                  <a:lnTo>
                    <a:pt x="0" y="4572"/>
                  </a:lnTo>
                  <a:cubicBezTo>
                    <a:pt x="0" y="2032"/>
                    <a:pt x="2032" y="0"/>
                    <a:pt x="4572" y="0"/>
                  </a:cubicBezTo>
                  <a:moveTo>
                    <a:pt x="4572" y="9017"/>
                  </a:moveTo>
                  <a:lnTo>
                    <a:pt x="4572" y="4572"/>
                  </a:lnTo>
                  <a:lnTo>
                    <a:pt x="9017" y="4572"/>
                  </a:lnTo>
                  <a:lnTo>
                    <a:pt x="9017" y="1975866"/>
                  </a:lnTo>
                  <a:lnTo>
                    <a:pt x="4572" y="1975866"/>
                  </a:lnTo>
                  <a:lnTo>
                    <a:pt x="4572" y="1971294"/>
                  </a:lnTo>
                  <a:lnTo>
                    <a:pt x="7446137" y="1971294"/>
                  </a:lnTo>
                  <a:lnTo>
                    <a:pt x="7446137" y="1975866"/>
                  </a:lnTo>
                  <a:lnTo>
                    <a:pt x="7441565" y="1975866"/>
                  </a:lnTo>
                  <a:lnTo>
                    <a:pt x="7441565" y="4572"/>
                  </a:lnTo>
                  <a:lnTo>
                    <a:pt x="7446137" y="4572"/>
                  </a:lnTo>
                  <a:lnTo>
                    <a:pt x="7446137" y="9017"/>
                  </a:lnTo>
                  <a:lnTo>
                    <a:pt x="4572" y="9017"/>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83" name="Google Shape;783;p18"/>
            <p:cNvSpPr txBox="1"/>
            <p:nvPr/>
          </p:nvSpPr>
          <p:spPr>
            <a:xfrm>
              <a:off x="0" y="-28575"/>
              <a:ext cx="7450665" cy="2008967"/>
            </a:xfrm>
            <a:prstGeom prst="rect">
              <a:avLst/>
            </a:prstGeom>
            <a:noFill/>
            <a:ln>
              <a:noFill/>
            </a:ln>
          </p:spPr>
          <p:txBody>
            <a:bodyPr anchorCtr="0" anchor="ctr" bIns="47625" lIns="47625" spcFirstLastPara="1" rIns="47625" wrap="square" tIns="47625">
              <a:noAutofit/>
            </a:bodyPr>
            <a:lstStyle/>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The strategic transition to a “Total Beverage Company” diversifies revenues beyond traditional sodas, focusing on high-growth segments such as premium dairy products (fairlife), sports drinks, and coffee.</a:t>
              </a:r>
              <a:endParaRPr/>
            </a:p>
            <a:p>
              <a:pPr indent="-267891" lvl="0" marL="267891" marR="0" rtl="0" algn="l">
                <a:spcBef>
                  <a:spcPts val="0"/>
                </a:spcBef>
                <a:spcAft>
                  <a:spcPts val="0"/>
                </a:spcAft>
                <a:buClr>
                  <a:srgbClr val="000000"/>
                </a:buClr>
                <a:buSzPts val="1280"/>
                <a:buFont typeface="Arial"/>
                <a:buChar char="•"/>
              </a:pPr>
              <a:r>
                <a:rPr lang="en-US" sz="1200">
                  <a:solidFill>
                    <a:srgbClr val="000000"/>
                  </a:solidFill>
                  <a:latin typeface="Arial"/>
                  <a:ea typeface="Arial"/>
                  <a:cs typeface="Arial"/>
                  <a:sym typeface="Arial"/>
                </a:rPr>
                <a:t>Its asset-light model (bottling franchise) and pricing power enable it to maintain exceptional operating margins of 31%, protecting profitability against raw material inflation.</a:t>
              </a:r>
              <a:endParaRPr sz="1688">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9"/>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789" name="Google Shape;789;p19"/>
          <p:cNvGrpSpPr/>
          <p:nvPr/>
        </p:nvGrpSpPr>
        <p:grpSpPr>
          <a:xfrm>
            <a:off x="-2192501" y="2633500"/>
            <a:ext cx="1970251" cy="496313"/>
            <a:chOff x="0" y="-28575"/>
            <a:chExt cx="2802135" cy="705866"/>
          </a:xfrm>
        </p:grpSpPr>
        <p:sp>
          <p:nvSpPr>
            <p:cNvPr id="790" name="Google Shape;790;p19"/>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91" name="Google Shape;791;p19"/>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792" name="Google Shape;792;p19"/>
          <p:cNvGrpSpPr/>
          <p:nvPr/>
        </p:nvGrpSpPr>
        <p:grpSpPr>
          <a:xfrm>
            <a:off x="-2186151" y="3363382"/>
            <a:ext cx="1957566" cy="486436"/>
            <a:chOff x="0" y="-28575"/>
            <a:chExt cx="2784094" cy="691820"/>
          </a:xfrm>
        </p:grpSpPr>
        <p:sp>
          <p:nvSpPr>
            <p:cNvPr id="793" name="Google Shape;793;p1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94" name="Google Shape;794;p1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795" name="Google Shape;795;p19"/>
          <p:cNvGrpSpPr/>
          <p:nvPr/>
        </p:nvGrpSpPr>
        <p:grpSpPr>
          <a:xfrm>
            <a:off x="-2186151" y="4089757"/>
            <a:ext cx="1957566" cy="486436"/>
            <a:chOff x="0" y="-28575"/>
            <a:chExt cx="2784094" cy="691820"/>
          </a:xfrm>
        </p:grpSpPr>
        <p:sp>
          <p:nvSpPr>
            <p:cNvPr id="796" name="Google Shape;796;p1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797" name="Google Shape;797;p1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798" name="Google Shape;798;p19"/>
          <p:cNvGrpSpPr/>
          <p:nvPr/>
        </p:nvGrpSpPr>
        <p:grpSpPr>
          <a:xfrm>
            <a:off x="-2186151" y="4816132"/>
            <a:ext cx="1957566" cy="486436"/>
            <a:chOff x="0" y="-28575"/>
            <a:chExt cx="2784094" cy="691820"/>
          </a:xfrm>
        </p:grpSpPr>
        <p:sp>
          <p:nvSpPr>
            <p:cNvPr id="799" name="Google Shape;799;p1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00" name="Google Shape;800;p1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801" name="Google Shape;801;p19"/>
          <p:cNvGrpSpPr/>
          <p:nvPr/>
        </p:nvGrpSpPr>
        <p:grpSpPr>
          <a:xfrm>
            <a:off x="-2186151" y="5542509"/>
            <a:ext cx="1957566" cy="486436"/>
            <a:chOff x="0" y="-28575"/>
            <a:chExt cx="2784094" cy="691820"/>
          </a:xfrm>
        </p:grpSpPr>
        <p:sp>
          <p:nvSpPr>
            <p:cNvPr id="802" name="Google Shape;802;p1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03" name="Google Shape;803;p1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804" name="Google Shape;804;p19"/>
          <p:cNvGrpSpPr/>
          <p:nvPr/>
        </p:nvGrpSpPr>
        <p:grpSpPr>
          <a:xfrm>
            <a:off x="-2186151" y="1916319"/>
            <a:ext cx="1957566" cy="483632"/>
            <a:chOff x="0" y="-28575"/>
            <a:chExt cx="2784094" cy="687832"/>
          </a:xfrm>
        </p:grpSpPr>
        <p:sp>
          <p:nvSpPr>
            <p:cNvPr id="805" name="Google Shape;805;p19"/>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06" name="Google Shape;806;p19"/>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807" name="Google Shape;807;p19"/>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808" name="Google Shape;808;p19"/>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809" name="Google Shape;809;p19"/>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810" name="Google Shape;810;p19"/>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811" name="Google Shape;811;p19"/>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812" name="Google Shape;812;p19"/>
          <p:cNvGrpSpPr/>
          <p:nvPr/>
        </p:nvGrpSpPr>
        <p:grpSpPr>
          <a:xfrm>
            <a:off x="3246975" y="2981630"/>
            <a:ext cx="2647741" cy="2580970"/>
            <a:chOff x="3464687" y="2446304"/>
            <a:chExt cx="2824257" cy="2753035"/>
          </a:xfrm>
        </p:grpSpPr>
        <p:grpSp>
          <p:nvGrpSpPr>
            <p:cNvPr id="813" name="Google Shape;813;p19"/>
            <p:cNvGrpSpPr/>
            <p:nvPr/>
          </p:nvGrpSpPr>
          <p:grpSpPr>
            <a:xfrm>
              <a:off x="3464687" y="2448986"/>
              <a:ext cx="2824257" cy="339661"/>
              <a:chOff x="-1524" y="-1524"/>
              <a:chExt cx="3765677" cy="452882"/>
            </a:xfrm>
          </p:grpSpPr>
          <p:sp>
            <p:nvSpPr>
              <p:cNvPr id="814" name="Google Shape;814;p19"/>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15" name="Google Shape;815;p19"/>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816" name="Google Shape;816;p19"/>
            <p:cNvSpPr txBox="1"/>
            <p:nvPr/>
          </p:nvSpPr>
          <p:spPr>
            <a:xfrm>
              <a:off x="3551406" y="2446304"/>
              <a:ext cx="115123"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nvGrpSpPr>
            <p:cNvPr id="817" name="Google Shape;817;p19"/>
            <p:cNvGrpSpPr/>
            <p:nvPr/>
          </p:nvGrpSpPr>
          <p:grpSpPr>
            <a:xfrm>
              <a:off x="3482837" y="3364869"/>
              <a:ext cx="339280" cy="365953"/>
              <a:chOff x="0" y="-38100"/>
              <a:chExt cx="452374" cy="487938"/>
            </a:xfrm>
          </p:grpSpPr>
          <p:sp>
            <p:nvSpPr>
              <p:cNvPr id="818" name="Google Shape;818;p1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19" name="Google Shape;819;p1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820" name="Google Shape;820;p19"/>
            <p:cNvGrpSpPr/>
            <p:nvPr/>
          </p:nvGrpSpPr>
          <p:grpSpPr>
            <a:xfrm>
              <a:off x="3481694" y="3854375"/>
              <a:ext cx="341566" cy="367093"/>
              <a:chOff x="-1524" y="-38100"/>
              <a:chExt cx="455422" cy="489458"/>
            </a:xfrm>
          </p:grpSpPr>
          <p:sp>
            <p:nvSpPr>
              <p:cNvPr id="821" name="Google Shape;821;p1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22" name="Google Shape;822;p19"/>
              <p:cNvSpPr/>
              <p:nvPr/>
            </p:nvSpPr>
            <p:spPr>
              <a:xfrm>
                <a:off x="-1524" y="-1524"/>
                <a:ext cx="455422" cy="452882"/>
              </a:xfrm>
              <a:custGeom>
                <a:rect b="b" l="l" r="r" t="t"/>
                <a:pathLst>
                  <a:path extrusionOk="0" h="452882" w="455422">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23" name="Google Shape;823;p1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824" name="Google Shape;824;p19"/>
            <p:cNvGrpSpPr/>
            <p:nvPr/>
          </p:nvGrpSpPr>
          <p:grpSpPr>
            <a:xfrm>
              <a:off x="3482836" y="4343880"/>
              <a:ext cx="402812" cy="365953"/>
              <a:chOff x="0" y="-38100"/>
              <a:chExt cx="537083" cy="487938"/>
            </a:xfrm>
          </p:grpSpPr>
          <p:sp>
            <p:nvSpPr>
              <p:cNvPr id="825" name="Google Shape;825;p19"/>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26" name="Google Shape;826;p19"/>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sp>
          <p:nvSpPr>
            <p:cNvPr id="827" name="Google Shape;827;p19"/>
            <p:cNvSpPr txBox="1"/>
            <p:nvPr/>
          </p:nvSpPr>
          <p:spPr>
            <a:xfrm>
              <a:off x="3890662" y="2465354"/>
              <a:ext cx="2328540" cy="20682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nvGrpSpPr>
            <p:cNvPr id="828" name="Google Shape;828;p19"/>
            <p:cNvGrpSpPr/>
            <p:nvPr/>
          </p:nvGrpSpPr>
          <p:grpSpPr>
            <a:xfrm>
              <a:off x="3822093" y="3379157"/>
              <a:ext cx="2465678" cy="351665"/>
              <a:chOff x="0" y="-19050"/>
              <a:chExt cx="3287570" cy="468888"/>
            </a:xfrm>
          </p:grpSpPr>
          <p:sp>
            <p:nvSpPr>
              <p:cNvPr id="829" name="Google Shape;829;p1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30" name="Google Shape;830;p1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831" name="Google Shape;831;p19"/>
            <p:cNvGrpSpPr/>
            <p:nvPr/>
          </p:nvGrpSpPr>
          <p:grpSpPr>
            <a:xfrm>
              <a:off x="3820950" y="3868663"/>
              <a:ext cx="2467928" cy="352805"/>
              <a:chOff x="-1524" y="-19050"/>
              <a:chExt cx="3290570" cy="470408"/>
            </a:xfrm>
          </p:grpSpPr>
          <p:sp>
            <p:nvSpPr>
              <p:cNvPr id="832" name="Google Shape;832;p1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33" name="Google Shape;833;p19"/>
              <p:cNvSpPr/>
              <p:nvPr/>
            </p:nvSpPr>
            <p:spPr>
              <a:xfrm>
                <a:off x="-1524" y="-1524"/>
                <a:ext cx="3290570" cy="452882"/>
              </a:xfrm>
              <a:custGeom>
                <a:rect b="b" l="l" r="r" t="t"/>
                <a:pathLst>
                  <a:path extrusionOk="0" h="452882" w="329057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34" name="Google Shape;834;p1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835" name="Google Shape;835;p19"/>
            <p:cNvGrpSpPr/>
            <p:nvPr/>
          </p:nvGrpSpPr>
          <p:grpSpPr>
            <a:xfrm>
              <a:off x="3822093" y="4358168"/>
              <a:ext cx="2465678" cy="351665"/>
              <a:chOff x="0" y="-19050"/>
              <a:chExt cx="3287570" cy="468888"/>
            </a:xfrm>
          </p:grpSpPr>
          <p:sp>
            <p:nvSpPr>
              <p:cNvPr id="836" name="Google Shape;836;p1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37" name="Google Shape;837;p1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838" name="Google Shape;838;p19"/>
            <p:cNvGrpSpPr/>
            <p:nvPr/>
          </p:nvGrpSpPr>
          <p:grpSpPr>
            <a:xfrm>
              <a:off x="3482837" y="4833386"/>
              <a:ext cx="339280" cy="365953"/>
              <a:chOff x="0" y="-38100"/>
              <a:chExt cx="452374" cy="487938"/>
            </a:xfrm>
          </p:grpSpPr>
          <p:sp>
            <p:nvSpPr>
              <p:cNvPr id="839" name="Google Shape;839;p1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40" name="Google Shape;840;p1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841" name="Google Shape;841;p19"/>
            <p:cNvGrpSpPr/>
            <p:nvPr/>
          </p:nvGrpSpPr>
          <p:grpSpPr>
            <a:xfrm>
              <a:off x="3822093" y="4847674"/>
              <a:ext cx="2465678" cy="351665"/>
              <a:chOff x="0" y="-19050"/>
              <a:chExt cx="3287570" cy="468888"/>
            </a:xfrm>
          </p:grpSpPr>
          <p:sp>
            <p:nvSpPr>
              <p:cNvPr id="842" name="Google Shape;842;p1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43" name="Google Shape;843;p1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844" name="Google Shape;844;p19"/>
            <p:cNvGrpSpPr/>
            <p:nvPr/>
          </p:nvGrpSpPr>
          <p:grpSpPr>
            <a:xfrm>
              <a:off x="3465829" y="2893212"/>
              <a:ext cx="341596" cy="365953"/>
              <a:chOff x="0" y="-38100"/>
              <a:chExt cx="455461" cy="487938"/>
            </a:xfrm>
          </p:grpSpPr>
          <p:sp>
            <p:nvSpPr>
              <p:cNvPr id="845" name="Google Shape;845;p19"/>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46" name="Google Shape;846;p19"/>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847" name="Google Shape;847;p19"/>
            <p:cNvGrpSpPr/>
            <p:nvPr/>
          </p:nvGrpSpPr>
          <p:grpSpPr>
            <a:xfrm>
              <a:off x="3805085" y="2907500"/>
              <a:ext cx="2482692" cy="351665"/>
              <a:chOff x="0" y="-19050"/>
              <a:chExt cx="3310255" cy="468888"/>
            </a:xfrm>
          </p:grpSpPr>
          <p:sp>
            <p:nvSpPr>
              <p:cNvPr id="848" name="Google Shape;848;p19"/>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49" name="Google Shape;849;p19"/>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Industry overview</a:t>
                </a:r>
                <a:endParaRPr sz="1688">
                  <a:solidFill>
                    <a:schemeClr val="dk1"/>
                  </a:solidFill>
                  <a:latin typeface="Arial"/>
                  <a:ea typeface="Arial"/>
                  <a:cs typeface="Arial"/>
                  <a:sym typeface="Arial"/>
                </a:endParaRPr>
              </a:p>
            </p:txBody>
          </p:sp>
        </p:grpSp>
      </p:grpSp>
      <p:cxnSp>
        <p:nvCxnSpPr>
          <p:cNvPr id="850" name="Google Shape;850;p19"/>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sp>
        <p:nvSpPr>
          <p:cNvPr id="851" name="Google Shape;851;p19"/>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pic>
        <p:nvPicPr>
          <p:cNvPr descr="Une image contenant Police, Graphique, calligraphie, typographie&#10;&#10;Le contenu généré par l’IA peut être incorrect." id="852" name="Google Shape;852;p19"/>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20"/>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862" name="Google Shape;862;p20"/>
          <p:cNvGrpSpPr/>
          <p:nvPr/>
        </p:nvGrpSpPr>
        <p:grpSpPr>
          <a:xfrm>
            <a:off x="-2192501" y="2633500"/>
            <a:ext cx="1970251" cy="496313"/>
            <a:chOff x="0" y="-28575"/>
            <a:chExt cx="2802135" cy="705866"/>
          </a:xfrm>
        </p:grpSpPr>
        <p:sp>
          <p:nvSpPr>
            <p:cNvPr id="863" name="Google Shape;863;p20"/>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64" name="Google Shape;864;p20"/>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865" name="Google Shape;865;p20"/>
          <p:cNvGrpSpPr/>
          <p:nvPr/>
        </p:nvGrpSpPr>
        <p:grpSpPr>
          <a:xfrm>
            <a:off x="-2186151" y="3363382"/>
            <a:ext cx="1957566" cy="486436"/>
            <a:chOff x="0" y="-28575"/>
            <a:chExt cx="2784094" cy="691820"/>
          </a:xfrm>
        </p:grpSpPr>
        <p:sp>
          <p:nvSpPr>
            <p:cNvPr id="866" name="Google Shape;866;p2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67" name="Google Shape;867;p2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868" name="Google Shape;868;p20"/>
          <p:cNvGrpSpPr/>
          <p:nvPr/>
        </p:nvGrpSpPr>
        <p:grpSpPr>
          <a:xfrm>
            <a:off x="-2186151" y="4089757"/>
            <a:ext cx="1957566" cy="486436"/>
            <a:chOff x="0" y="-28575"/>
            <a:chExt cx="2784094" cy="691820"/>
          </a:xfrm>
        </p:grpSpPr>
        <p:sp>
          <p:nvSpPr>
            <p:cNvPr id="869" name="Google Shape;869;p2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70" name="Google Shape;870;p2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871" name="Google Shape;871;p20"/>
          <p:cNvGrpSpPr/>
          <p:nvPr/>
        </p:nvGrpSpPr>
        <p:grpSpPr>
          <a:xfrm>
            <a:off x="-2186151" y="4816132"/>
            <a:ext cx="1957566" cy="486436"/>
            <a:chOff x="0" y="-28575"/>
            <a:chExt cx="2784094" cy="691820"/>
          </a:xfrm>
        </p:grpSpPr>
        <p:sp>
          <p:nvSpPr>
            <p:cNvPr id="872" name="Google Shape;872;p2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73" name="Google Shape;873;p2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874" name="Google Shape;874;p20"/>
          <p:cNvGrpSpPr/>
          <p:nvPr/>
        </p:nvGrpSpPr>
        <p:grpSpPr>
          <a:xfrm>
            <a:off x="-2186151" y="5542509"/>
            <a:ext cx="1957566" cy="486436"/>
            <a:chOff x="0" y="-28575"/>
            <a:chExt cx="2784094" cy="691820"/>
          </a:xfrm>
        </p:grpSpPr>
        <p:sp>
          <p:nvSpPr>
            <p:cNvPr id="875" name="Google Shape;875;p2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76" name="Google Shape;876;p2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877" name="Google Shape;877;p20"/>
          <p:cNvGrpSpPr/>
          <p:nvPr/>
        </p:nvGrpSpPr>
        <p:grpSpPr>
          <a:xfrm>
            <a:off x="-2186151" y="1916319"/>
            <a:ext cx="1957566" cy="483632"/>
            <a:chOff x="0" y="-28575"/>
            <a:chExt cx="2784094" cy="687832"/>
          </a:xfrm>
        </p:grpSpPr>
        <p:sp>
          <p:nvSpPr>
            <p:cNvPr id="878" name="Google Shape;878;p20"/>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79" name="Google Shape;879;p20"/>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880" name="Google Shape;880;p20"/>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881" name="Google Shape;881;p20"/>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882" name="Google Shape;882;p20"/>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883" name="Google Shape;883;p20"/>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884" name="Google Shape;884;p20"/>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85" name="Google Shape;885;p20"/>
          <p:cNvSpPr txBox="1"/>
          <p:nvPr/>
        </p:nvSpPr>
        <p:spPr>
          <a:xfrm>
            <a:off x="64294" y="444686"/>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Broker estimates</a:t>
            </a:r>
            <a:endParaRPr sz="1688">
              <a:solidFill>
                <a:schemeClr val="dk1"/>
              </a:solidFill>
              <a:latin typeface="Arial"/>
              <a:ea typeface="Arial"/>
              <a:cs typeface="Arial"/>
              <a:sym typeface="Arial"/>
            </a:endParaRPr>
          </a:p>
        </p:txBody>
      </p:sp>
      <p:graphicFrame>
        <p:nvGraphicFramePr>
          <p:cNvPr id="886" name="Google Shape;886;p20"/>
          <p:cNvGraphicFramePr/>
          <p:nvPr/>
        </p:nvGraphicFramePr>
        <p:xfrm>
          <a:off x="209438" y="1340301"/>
          <a:ext cx="3000000" cy="3000000"/>
        </p:xfrm>
        <a:graphic>
          <a:graphicData uri="http://schemas.openxmlformats.org/drawingml/2006/table">
            <a:tbl>
              <a:tblPr>
                <a:noFill/>
                <a:tableStyleId>{9631001D-9986-4F02-BF56-0136913FF124}</a:tableStyleId>
              </a:tblPr>
              <a:tblGrid>
                <a:gridCol w="2596850"/>
                <a:gridCol w="2047800"/>
                <a:gridCol w="2112325"/>
                <a:gridCol w="1968150"/>
              </a:tblGrid>
              <a:tr h="509050">
                <a:tc>
                  <a:txBody>
                    <a:bodyPr/>
                    <a:lstStyle/>
                    <a:p>
                      <a:pPr indent="0" lvl="0" marL="0" marR="0" rtl="0" algn="l">
                        <a:lnSpc>
                          <a:spcPct val="120075"/>
                        </a:lnSpc>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Broker Estimates</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13D63"/>
                    </a:solidFill>
                  </a:tcPr>
                </a:tc>
                <a:tc>
                  <a:txBody>
                    <a:bodyPr/>
                    <a:lstStyle/>
                    <a:p>
                      <a:pPr indent="0" lvl="0" marL="0" marR="0" rtl="0" algn="ctr">
                        <a:lnSpc>
                          <a:spcPct val="120075"/>
                        </a:lnSpc>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Target Prices </a:t>
                      </a:r>
                      <a:r>
                        <a:rPr i="1" lang="en-US" sz="1000" u="none" cap="none" strike="noStrike">
                          <a:solidFill>
                            <a:srgbClr val="FFFFFF"/>
                          </a:solidFill>
                          <a:latin typeface="Arial"/>
                          <a:ea typeface="Arial"/>
                          <a:cs typeface="Arial"/>
                          <a:sym typeface="Arial"/>
                        </a:rPr>
                        <a:t>($)</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13D63"/>
                    </a:solidFill>
                  </a:tcPr>
                </a:tc>
                <a:tc>
                  <a:txBody>
                    <a:bodyPr/>
                    <a:lstStyle/>
                    <a:p>
                      <a:pPr indent="0" lvl="0" marL="0" marR="0" rtl="0" algn="ctr">
                        <a:lnSpc>
                          <a:spcPct val="120075"/>
                        </a:lnSpc>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Upside </a:t>
                      </a:r>
                      <a:r>
                        <a:rPr lang="en-US" sz="1000" u="none" cap="none" strike="noStrike">
                          <a:solidFill>
                            <a:srgbClr val="FFFFFF"/>
                          </a:solidFill>
                          <a:latin typeface="Arial"/>
                          <a:ea typeface="Arial"/>
                          <a:cs typeface="Arial"/>
                          <a:sym typeface="Arial"/>
                        </a:rPr>
                        <a:t>(%)</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13D63"/>
                    </a:solidFill>
                  </a:tcPr>
                </a:tc>
                <a:tc>
                  <a:txBody>
                    <a:bodyPr/>
                    <a:lstStyle/>
                    <a:p>
                      <a:pPr indent="0" lvl="0" marL="0" marR="0" rtl="0" algn="ctr">
                        <a:lnSpc>
                          <a:spcPct val="120075"/>
                        </a:lnSpc>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Rating</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13D63"/>
                    </a:solidFill>
                  </a:tcPr>
                </a:tc>
              </a:tr>
              <a:tr h="485075">
                <a:tc>
                  <a:txBody>
                    <a:bodyPr/>
                    <a:lstStyle/>
                    <a:p>
                      <a:pPr indent="0" lvl="0" marL="0" marR="0" rtl="0" algn="l">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Evercore (11/02/2026)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$85.00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+10.7%</a:t>
                      </a:r>
                      <a:endParaRPr b="1" sz="1000" u="none" cap="none" strike="noStrike">
                        <a:solidFill>
                          <a:srgbClr val="00B050"/>
                        </a:solidFill>
                        <a:latin typeface="Arial"/>
                        <a:ea typeface="Arial"/>
                        <a:cs typeface="Arial"/>
                        <a:sym typeface="Arial"/>
                      </a:endParaRPr>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lang="en-US" sz="1000" u="none" cap="none" strike="noStrike">
                          <a:solidFill>
                            <a:srgbClr val="111111"/>
                          </a:solidFill>
                          <a:latin typeface="Arial"/>
                          <a:ea typeface="Arial"/>
                          <a:cs typeface="Arial"/>
                          <a:sym typeface="Arial"/>
                        </a:rPr>
                        <a:t>Buy</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UBS (11/02/2026)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$87.00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+13.3%</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lang="en-US" sz="1000" u="none" cap="none" strike="noStrike">
                          <a:solidFill>
                            <a:srgbClr val="111111"/>
                          </a:solidFill>
                          <a:latin typeface="Arial"/>
                          <a:ea typeface="Arial"/>
                          <a:cs typeface="Arial"/>
                          <a:sym typeface="Arial"/>
                        </a:rPr>
                        <a:t>Strong Buy</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Jefferies (11/02/2026)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$87.00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+13.3%</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lang="en-US" sz="1000" u="none" cap="none" strike="noStrike">
                          <a:solidFill>
                            <a:srgbClr val="111111"/>
                          </a:solidFill>
                          <a:latin typeface="Arial"/>
                          <a:ea typeface="Arial"/>
                          <a:cs typeface="Arial"/>
                          <a:sym typeface="Arial"/>
                        </a:rPr>
                        <a:t>Strong Buy</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Wells Fargo (09/02/2026)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$87.00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+13.3%</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lang="en-US" sz="1000" u="none" cap="none" strike="noStrike">
                          <a:solidFill>
                            <a:srgbClr val="111111"/>
                          </a:solidFill>
                          <a:latin typeface="Arial"/>
                          <a:ea typeface="Arial"/>
                          <a:cs typeface="Arial"/>
                          <a:sym typeface="Arial"/>
                        </a:rPr>
                        <a:t>Buy</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chemeClr val="dk1"/>
                        </a:buClr>
                        <a:buSzPts val="1000"/>
                        <a:buFont typeface="Arial"/>
                        <a:buNone/>
                      </a:pPr>
                      <a:r>
                        <a:rPr lang="en-US" sz="1000" u="none" cap="none" strike="noStrike"/>
                        <a:t>Citigroup (11/02/2026)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chemeClr val="dk1"/>
                        </a:buClr>
                        <a:buSzPts val="1000"/>
                        <a:buFont typeface="Arial"/>
                        <a:buNone/>
                      </a:pPr>
                      <a:r>
                        <a:rPr lang="en-US" sz="1000" u="none" cap="none" strike="noStrike"/>
                        <a:t>$87.00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b="1" lang="en-US" sz="1000" u="none" cap="none" strike="noStrike">
                          <a:solidFill>
                            <a:srgbClr val="00B050"/>
                          </a:solidFill>
                          <a:latin typeface="Arial"/>
                          <a:ea typeface="Arial"/>
                          <a:cs typeface="Arial"/>
                          <a:sym typeface="Arial"/>
                        </a:rPr>
                        <a:t>+13.3%</a:t>
                      </a:r>
                      <a:endParaRPr sz="11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i="0" lang="en-US" sz="1000" u="none" cap="none" strike="noStrike">
                          <a:solidFill>
                            <a:srgbClr val="111111"/>
                          </a:solidFill>
                          <a:latin typeface="Arial"/>
                          <a:ea typeface="Arial"/>
                          <a:cs typeface="Arial"/>
                          <a:sym typeface="Arial"/>
                        </a:rPr>
                        <a:t>Strong Buy</a:t>
                      </a:r>
                      <a:endParaRPr b="1" i="0" sz="1000" u="none" cap="none" strike="noStrike">
                        <a:solidFill>
                          <a:srgbClr val="111111"/>
                        </a:solidFill>
                        <a:latin typeface="Arial"/>
                        <a:ea typeface="Arial"/>
                        <a:cs typeface="Arial"/>
                        <a:sym typeface="Arial"/>
                      </a:endParaRPr>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chemeClr val="dk1"/>
                        </a:buClr>
                        <a:buSzPts val="1000"/>
                        <a:buFont typeface="Arial"/>
                        <a:buNone/>
                      </a:pPr>
                      <a:r>
                        <a:rPr lang="en-US" sz="1000" u="none" cap="none" strike="noStrike"/>
                        <a:t>JP Morgan(11/02/2026)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chemeClr val="dk1"/>
                        </a:buClr>
                        <a:buSzPts val="1000"/>
                        <a:buFont typeface="Arial"/>
                        <a:buNone/>
                      </a:pPr>
                      <a:r>
                        <a:rPr lang="en-US" sz="1000" u="none" cap="none" strike="noStrike"/>
                        <a:t>$83.00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b="1" lang="en-US" sz="1000" u="none" cap="none" strike="noStrike">
                          <a:solidFill>
                            <a:srgbClr val="00B050"/>
                          </a:solidFill>
                          <a:latin typeface="Arial"/>
                          <a:ea typeface="Arial"/>
                          <a:cs typeface="Arial"/>
                          <a:sym typeface="Arial"/>
                        </a:rPr>
                        <a:t>+8.06%</a:t>
                      </a:r>
                      <a:endParaRPr sz="11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i="0" lang="en-US" sz="1000" u="none" cap="none" strike="noStrike">
                          <a:solidFill>
                            <a:srgbClr val="111111"/>
                          </a:solidFill>
                          <a:latin typeface="Arial"/>
                          <a:ea typeface="Arial"/>
                          <a:cs typeface="Arial"/>
                          <a:sym typeface="Arial"/>
                        </a:rPr>
                        <a:t>Buy</a:t>
                      </a:r>
                      <a:endParaRPr b="1" i="0" sz="1000" u="none" cap="none" strike="noStrike">
                        <a:solidFill>
                          <a:srgbClr val="111111"/>
                        </a:solidFill>
                        <a:latin typeface="Arial"/>
                        <a:ea typeface="Arial"/>
                        <a:cs typeface="Arial"/>
                        <a:sym typeface="Arial"/>
                      </a:endParaRPr>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chemeClr val="dk1"/>
                        </a:buClr>
                        <a:buSzPts val="1000"/>
                        <a:buFont typeface="Arial"/>
                        <a:buNone/>
                      </a:pPr>
                      <a:r>
                        <a:rPr lang="en-US" sz="1000" u="none" cap="none" strike="noStrike"/>
                        <a:t>RBC Capital (11/02/2026)</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chemeClr val="dk1"/>
                        </a:buClr>
                        <a:buSzPts val="1000"/>
                        <a:buFont typeface="Arial"/>
                        <a:buNone/>
                      </a:pPr>
                      <a:r>
                        <a:rPr lang="en-US" sz="1000" u="none" cap="none" strike="noStrike"/>
                        <a:t>$87.00</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0000"/>
                        </a:buClr>
                        <a:buSzPts val="1000"/>
                        <a:buFont typeface="Arial"/>
                        <a:buNone/>
                      </a:pPr>
                      <a:r>
                        <a:rPr b="1" lang="en-US" sz="1000" u="none" cap="none" strike="noStrike">
                          <a:solidFill>
                            <a:srgbClr val="00B050"/>
                          </a:solidFill>
                          <a:latin typeface="Arial"/>
                          <a:ea typeface="Arial"/>
                          <a:cs typeface="Arial"/>
                          <a:sym typeface="Arial"/>
                        </a:rPr>
                        <a:t>+13.3%</a:t>
                      </a:r>
                      <a:endParaRPr sz="11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i="0" lang="en-US" sz="1000" u="none" cap="none" strike="noStrike">
                          <a:solidFill>
                            <a:srgbClr val="111111"/>
                          </a:solidFill>
                          <a:latin typeface="Arial"/>
                          <a:ea typeface="Arial"/>
                          <a:cs typeface="Arial"/>
                          <a:sym typeface="Arial"/>
                        </a:rPr>
                        <a:t>Buy</a:t>
                      </a:r>
                      <a:endParaRPr b="1" i="0" sz="1000" u="none" cap="none" strike="noStrike">
                        <a:solidFill>
                          <a:srgbClr val="111111"/>
                        </a:solidFill>
                        <a:latin typeface="Arial"/>
                        <a:ea typeface="Arial"/>
                        <a:cs typeface="Arial"/>
                        <a:sym typeface="Arial"/>
                      </a:endParaRPr>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5075">
                <a:tc>
                  <a:txBody>
                    <a:bodyPr/>
                    <a:lstStyle/>
                    <a:p>
                      <a:pPr indent="0" lvl="0" marL="0" marR="0" rtl="0" algn="l">
                        <a:lnSpc>
                          <a:spcPct val="120075"/>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Overall average (23 analysts)</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FF"/>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$81.93</a:t>
                      </a:r>
                      <a:endParaRPr sz="1000" u="none" cap="none" strike="noStrike">
                        <a:solidFill>
                          <a:srgbClr val="00B050"/>
                        </a:solidFill>
                      </a:endParaRPr>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DBDBDB"/>
                    </a:solidFill>
                  </a:tcPr>
                </a:tc>
                <a:tc>
                  <a:txBody>
                    <a:bodyPr/>
                    <a:lstStyle/>
                    <a:p>
                      <a:pPr indent="0" lvl="0" marL="0" marR="0" rtl="0" algn="ctr">
                        <a:lnSpc>
                          <a:spcPct val="120075"/>
                        </a:lnSpc>
                        <a:spcBef>
                          <a:spcPts val="0"/>
                        </a:spcBef>
                        <a:spcAft>
                          <a:spcPts val="0"/>
                        </a:spcAft>
                        <a:buClr>
                          <a:srgbClr val="00B050"/>
                        </a:buClr>
                        <a:buSzPts val="1000"/>
                        <a:buFont typeface="Arial"/>
                        <a:buNone/>
                      </a:pPr>
                      <a:r>
                        <a:rPr b="1" lang="en-US" sz="1000" u="none" cap="none" strike="noStrike">
                          <a:solidFill>
                            <a:srgbClr val="00B050"/>
                          </a:solidFill>
                          <a:latin typeface="Arial"/>
                          <a:ea typeface="Arial"/>
                          <a:cs typeface="Arial"/>
                          <a:sym typeface="Arial"/>
                        </a:rPr>
                        <a:t>+6.67%</a:t>
                      </a:r>
                      <a:endParaRPr sz="10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ctr">
                        <a:lnSpc>
                          <a:spcPct val="120075"/>
                        </a:lnSpc>
                        <a:spcBef>
                          <a:spcPts val="0"/>
                        </a:spcBef>
                        <a:spcAft>
                          <a:spcPts val="0"/>
                        </a:spcAft>
                        <a:buClr>
                          <a:srgbClr val="111111"/>
                        </a:buClr>
                        <a:buSzPts val="1000"/>
                        <a:buFont typeface="Arial"/>
                        <a:buNone/>
                      </a:pPr>
                      <a:r>
                        <a:rPr b="1" lang="en-US" sz="1000" u="none" cap="none" strike="noStrike">
                          <a:solidFill>
                            <a:srgbClr val="111111"/>
                          </a:solidFill>
                          <a:latin typeface="Arial"/>
                          <a:ea typeface="Arial"/>
                          <a:cs typeface="Arial"/>
                          <a:sym typeface="Arial"/>
                        </a:rPr>
                        <a:t>Outperform</a:t>
                      </a:r>
                      <a:endParaRPr sz="1300" u="none" cap="none" strike="noStrike"/>
                    </a:p>
                  </a:txBody>
                  <a:tcPr marT="46800" marB="46800" marR="46800" marL="468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grpSp>
        <p:nvGrpSpPr>
          <p:cNvPr id="895" name="Google Shape;895;p21"/>
          <p:cNvGrpSpPr/>
          <p:nvPr/>
        </p:nvGrpSpPr>
        <p:grpSpPr>
          <a:xfrm>
            <a:off x="-2186151" y="5542509"/>
            <a:ext cx="1957566" cy="486436"/>
            <a:chOff x="0" y="-28575"/>
            <a:chExt cx="2784094" cy="691820"/>
          </a:xfrm>
        </p:grpSpPr>
        <p:sp>
          <p:nvSpPr>
            <p:cNvPr id="896" name="Google Shape;896;p21"/>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897" name="Google Shape;897;p21"/>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sp>
        <p:nvSpPr>
          <p:cNvPr id="898" name="Google Shape;898;p21"/>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cxnSp>
        <p:nvCxnSpPr>
          <p:cNvPr id="899" name="Google Shape;899;p21"/>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900" name="Google Shape;900;p21"/>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901" name="Google Shape;901;p21"/>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902" name="Google Shape;902;p21"/>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03" name="Google Shape;903;p21"/>
          <p:cNvSpPr txBox="1"/>
          <p:nvPr/>
        </p:nvSpPr>
        <p:spPr>
          <a:xfrm>
            <a:off x="64294" y="444686"/>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DCF Model Output</a:t>
            </a:r>
            <a:endParaRPr sz="1313">
              <a:solidFill>
                <a:srgbClr val="000000"/>
              </a:solidFill>
              <a:latin typeface="Arial"/>
              <a:ea typeface="Arial"/>
              <a:cs typeface="Arial"/>
              <a:sym typeface="Arial"/>
            </a:endParaRPr>
          </a:p>
        </p:txBody>
      </p:sp>
      <p:grpSp>
        <p:nvGrpSpPr>
          <p:cNvPr id="904" name="Google Shape;904;p21"/>
          <p:cNvGrpSpPr/>
          <p:nvPr/>
        </p:nvGrpSpPr>
        <p:grpSpPr>
          <a:xfrm>
            <a:off x="239486" y="1206408"/>
            <a:ext cx="4766489" cy="291580"/>
            <a:chOff x="0" y="-9525"/>
            <a:chExt cx="6779006" cy="414692"/>
          </a:xfrm>
        </p:grpSpPr>
        <p:sp>
          <p:nvSpPr>
            <p:cNvPr id="905" name="Google Shape;905;p21"/>
            <p:cNvSpPr/>
            <p:nvPr/>
          </p:nvSpPr>
          <p:spPr>
            <a:xfrm>
              <a:off x="0" y="0"/>
              <a:ext cx="6779006" cy="405130"/>
            </a:xfrm>
            <a:custGeom>
              <a:rect b="b" l="l" r="r" t="t"/>
              <a:pathLst>
                <a:path extrusionOk="0" h="405130" w="6779006">
                  <a:moveTo>
                    <a:pt x="0" y="0"/>
                  </a:moveTo>
                  <a:lnTo>
                    <a:pt x="6779006" y="0"/>
                  </a:lnTo>
                  <a:lnTo>
                    <a:pt x="6779006" y="405130"/>
                  </a:lnTo>
                  <a:lnTo>
                    <a:pt x="0" y="40513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06" name="Google Shape;906;p21"/>
            <p:cNvSpPr txBox="1"/>
            <p:nvPr/>
          </p:nvSpPr>
          <p:spPr>
            <a:xfrm>
              <a:off x="0" y="-9525"/>
              <a:ext cx="6778955" cy="414692"/>
            </a:xfrm>
            <a:prstGeom prst="rect">
              <a:avLst/>
            </a:prstGeom>
            <a:noFill/>
            <a:ln>
              <a:noFill/>
            </a:ln>
          </p:spPr>
          <p:txBody>
            <a:bodyPr anchorCtr="0" anchor="ctr" bIns="47625" lIns="47625" spcFirstLastPara="1" rIns="47625" wrap="square" tIns="47625">
              <a:noAutofit/>
            </a:bodyPr>
            <a:lstStyle/>
            <a:p>
              <a:pPr indent="0" lvl="0" marL="0" marR="0" rtl="0" algn="l">
                <a:lnSpc>
                  <a:spcPct val="107946"/>
                </a:lnSpc>
                <a:spcBef>
                  <a:spcPts val="0"/>
                </a:spcBef>
                <a:spcAft>
                  <a:spcPts val="0"/>
                </a:spcAft>
                <a:buNone/>
              </a:pPr>
              <a:r>
                <a:rPr b="1" lang="en-US" sz="1050">
                  <a:solidFill>
                    <a:srgbClr val="FFFFFF"/>
                  </a:solidFill>
                  <a:latin typeface="Arial"/>
                  <a:ea typeface="Arial"/>
                  <a:cs typeface="Arial"/>
                  <a:sym typeface="Arial"/>
                </a:rPr>
                <a:t>WACC Assumptions</a:t>
              </a:r>
              <a:endParaRPr sz="1313">
                <a:solidFill>
                  <a:srgbClr val="000000"/>
                </a:solidFill>
                <a:latin typeface="Arial"/>
                <a:ea typeface="Arial"/>
                <a:cs typeface="Arial"/>
                <a:sym typeface="Arial"/>
              </a:endParaRPr>
            </a:p>
          </p:txBody>
        </p:sp>
      </p:grpSp>
      <p:grpSp>
        <p:nvGrpSpPr>
          <p:cNvPr id="907" name="Google Shape;907;p21"/>
          <p:cNvGrpSpPr/>
          <p:nvPr/>
        </p:nvGrpSpPr>
        <p:grpSpPr>
          <a:xfrm>
            <a:off x="239486" y="5091880"/>
            <a:ext cx="1604487" cy="689462"/>
            <a:chOff x="0" y="-28575"/>
            <a:chExt cx="2281936" cy="980567"/>
          </a:xfrm>
        </p:grpSpPr>
        <p:sp>
          <p:nvSpPr>
            <p:cNvPr id="908" name="Google Shape;908;p21"/>
            <p:cNvSpPr/>
            <p:nvPr/>
          </p:nvSpPr>
          <p:spPr>
            <a:xfrm>
              <a:off x="4572" y="4572"/>
              <a:ext cx="2272792" cy="942848"/>
            </a:xfrm>
            <a:custGeom>
              <a:rect b="b" l="l" r="r" t="t"/>
              <a:pathLst>
                <a:path extrusionOk="0" h="942848" w="2272792">
                  <a:moveTo>
                    <a:pt x="0" y="0"/>
                  </a:moveTo>
                  <a:lnTo>
                    <a:pt x="2272792" y="0"/>
                  </a:lnTo>
                  <a:lnTo>
                    <a:pt x="2272792" y="942848"/>
                  </a:lnTo>
                  <a:lnTo>
                    <a:pt x="0" y="94284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09" name="Google Shape;909;p21"/>
            <p:cNvSpPr/>
            <p:nvPr/>
          </p:nvSpPr>
          <p:spPr>
            <a:xfrm>
              <a:off x="0" y="0"/>
              <a:ext cx="2281936" cy="951992"/>
            </a:xfrm>
            <a:custGeom>
              <a:rect b="b" l="l" r="r" t="t"/>
              <a:pathLst>
                <a:path extrusionOk="0" h="951992" w="2281936">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10" name="Google Shape;910;p21"/>
            <p:cNvSpPr txBox="1"/>
            <p:nvPr/>
          </p:nvSpPr>
          <p:spPr>
            <a:xfrm>
              <a:off x="0" y="-28575"/>
              <a:ext cx="2281867" cy="980505"/>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b="1" lang="en-US" sz="1199">
                  <a:solidFill>
                    <a:srgbClr val="FF0000"/>
                  </a:solidFill>
                  <a:latin typeface="Arial"/>
                  <a:ea typeface="Arial"/>
                  <a:cs typeface="Arial"/>
                  <a:sym typeface="Arial"/>
                </a:rPr>
                <a:t>WACC</a:t>
              </a:r>
              <a:endParaRPr sz="1313">
                <a:solidFill>
                  <a:srgbClr val="000000"/>
                </a:solidFill>
                <a:latin typeface="Arial"/>
                <a:ea typeface="Arial"/>
                <a:cs typeface="Arial"/>
                <a:sym typeface="Arial"/>
              </a:endParaRPr>
            </a:p>
            <a:p>
              <a:pPr indent="0" lvl="0" marL="0" marR="0" rtl="0" algn="ctr">
                <a:lnSpc>
                  <a:spcPct val="120015"/>
                </a:lnSpc>
                <a:spcBef>
                  <a:spcPts val="0"/>
                </a:spcBef>
                <a:spcAft>
                  <a:spcPts val="0"/>
                </a:spcAft>
                <a:buNone/>
              </a:pPr>
              <a:r>
                <a:rPr b="1" lang="en-US" sz="1199">
                  <a:solidFill>
                    <a:srgbClr val="FF0000"/>
                  </a:solidFill>
                  <a:latin typeface="Arial"/>
                  <a:ea typeface="Arial"/>
                  <a:cs typeface="Arial"/>
                  <a:sym typeface="Arial"/>
                </a:rPr>
                <a:t>6.98%</a:t>
              </a:r>
              <a:endParaRPr sz="1313">
                <a:solidFill>
                  <a:srgbClr val="000000"/>
                </a:solidFill>
                <a:latin typeface="Arial"/>
                <a:ea typeface="Arial"/>
                <a:cs typeface="Arial"/>
                <a:sym typeface="Arial"/>
              </a:endParaRPr>
            </a:p>
          </p:txBody>
        </p:sp>
      </p:grpSp>
      <p:grpSp>
        <p:nvGrpSpPr>
          <p:cNvPr id="911" name="Google Shape;911;p21"/>
          <p:cNvGrpSpPr/>
          <p:nvPr/>
        </p:nvGrpSpPr>
        <p:grpSpPr>
          <a:xfrm>
            <a:off x="239486" y="3431759"/>
            <a:ext cx="1604487" cy="689462"/>
            <a:chOff x="0" y="-28575"/>
            <a:chExt cx="2281936" cy="980567"/>
          </a:xfrm>
        </p:grpSpPr>
        <p:sp>
          <p:nvSpPr>
            <p:cNvPr id="912" name="Google Shape;912;p21"/>
            <p:cNvSpPr/>
            <p:nvPr/>
          </p:nvSpPr>
          <p:spPr>
            <a:xfrm>
              <a:off x="4572" y="4572"/>
              <a:ext cx="2272792" cy="942848"/>
            </a:xfrm>
            <a:custGeom>
              <a:rect b="b" l="l" r="r" t="t"/>
              <a:pathLst>
                <a:path extrusionOk="0" h="942848" w="2272792">
                  <a:moveTo>
                    <a:pt x="0" y="0"/>
                  </a:moveTo>
                  <a:lnTo>
                    <a:pt x="2272792" y="0"/>
                  </a:lnTo>
                  <a:lnTo>
                    <a:pt x="2272792" y="942848"/>
                  </a:lnTo>
                  <a:lnTo>
                    <a:pt x="0" y="94284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13" name="Google Shape;913;p21"/>
            <p:cNvSpPr/>
            <p:nvPr/>
          </p:nvSpPr>
          <p:spPr>
            <a:xfrm>
              <a:off x="0" y="0"/>
              <a:ext cx="2281936" cy="951992"/>
            </a:xfrm>
            <a:custGeom>
              <a:rect b="b" l="l" r="r" t="t"/>
              <a:pathLst>
                <a:path extrusionOk="0" h="951992" w="2281936">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14" name="Google Shape;914;p21"/>
            <p:cNvSpPr txBox="1"/>
            <p:nvPr/>
          </p:nvSpPr>
          <p:spPr>
            <a:xfrm>
              <a:off x="0" y="-28575"/>
              <a:ext cx="2281867" cy="980505"/>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b="1" lang="en-US" sz="1199">
                  <a:solidFill>
                    <a:srgbClr val="000000"/>
                  </a:solidFill>
                  <a:latin typeface="Arial"/>
                  <a:ea typeface="Arial"/>
                  <a:cs typeface="Arial"/>
                  <a:sym typeface="Arial"/>
                </a:rPr>
                <a:t>Cost of Equity</a:t>
              </a:r>
              <a:endParaRPr sz="1313">
                <a:solidFill>
                  <a:srgbClr val="000000"/>
                </a:solidFill>
                <a:latin typeface="Arial"/>
                <a:ea typeface="Arial"/>
                <a:cs typeface="Arial"/>
                <a:sym typeface="Arial"/>
              </a:endParaRPr>
            </a:p>
            <a:p>
              <a:pPr indent="0" lvl="0" marL="0" marR="0" rtl="0" algn="ctr">
                <a:lnSpc>
                  <a:spcPct val="120015"/>
                </a:lnSpc>
                <a:spcBef>
                  <a:spcPts val="0"/>
                </a:spcBef>
                <a:spcAft>
                  <a:spcPts val="0"/>
                </a:spcAft>
                <a:buNone/>
              </a:pPr>
              <a:r>
                <a:rPr b="1" lang="en-US" sz="1199">
                  <a:solidFill>
                    <a:schemeClr val="dk1"/>
                  </a:solidFill>
                  <a:latin typeface="Arial"/>
                  <a:ea typeface="Arial"/>
                  <a:cs typeface="Arial"/>
                  <a:sym typeface="Arial"/>
                </a:rPr>
                <a:t>7.71</a:t>
              </a:r>
              <a:r>
                <a:rPr b="1" lang="en-US" sz="1199">
                  <a:solidFill>
                    <a:srgbClr val="000000"/>
                  </a:solidFill>
                  <a:latin typeface="Arial"/>
                  <a:ea typeface="Arial"/>
                  <a:cs typeface="Arial"/>
                  <a:sym typeface="Arial"/>
                </a:rPr>
                <a:t>%</a:t>
              </a:r>
              <a:endParaRPr sz="1313">
                <a:solidFill>
                  <a:srgbClr val="000000"/>
                </a:solidFill>
                <a:latin typeface="Arial"/>
                <a:ea typeface="Arial"/>
                <a:cs typeface="Arial"/>
                <a:sym typeface="Arial"/>
              </a:endParaRPr>
            </a:p>
          </p:txBody>
        </p:sp>
      </p:grpSp>
      <p:grpSp>
        <p:nvGrpSpPr>
          <p:cNvPr id="915" name="Google Shape;915;p21"/>
          <p:cNvGrpSpPr/>
          <p:nvPr/>
        </p:nvGrpSpPr>
        <p:grpSpPr>
          <a:xfrm>
            <a:off x="239486" y="1772674"/>
            <a:ext cx="1604487" cy="689462"/>
            <a:chOff x="0" y="-28575"/>
            <a:chExt cx="2281936" cy="980567"/>
          </a:xfrm>
        </p:grpSpPr>
        <p:sp>
          <p:nvSpPr>
            <p:cNvPr id="916" name="Google Shape;916;p21"/>
            <p:cNvSpPr/>
            <p:nvPr/>
          </p:nvSpPr>
          <p:spPr>
            <a:xfrm>
              <a:off x="4572" y="4572"/>
              <a:ext cx="2272792" cy="942848"/>
            </a:xfrm>
            <a:custGeom>
              <a:rect b="b" l="l" r="r" t="t"/>
              <a:pathLst>
                <a:path extrusionOk="0" h="942848" w="2272792">
                  <a:moveTo>
                    <a:pt x="0" y="0"/>
                  </a:moveTo>
                  <a:lnTo>
                    <a:pt x="2272792" y="0"/>
                  </a:lnTo>
                  <a:lnTo>
                    <a:pt x="2272792" y="942848"/>
                  </a:lnTo>
                  <a:lnTo>
                    <a:pt x="0" y="94284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17" name="Google Shape;917;p21"/>
            <p:cNvSpPr/>
            <p:nvPr/>
          </p:nvSpPr>
          <p:spPr>
            <a:xfrm>
              <a:off x="0" y="0"/>
              <a:ext cx="2281936" cy="951992"/>
            </a:xfrm>
            <a:custGeom>
              <a:rect b="b" l="l" r="r" t="t"/>
              <a:pathLst>
                <a:path extrusionOk="0" h="951992" w="2281936">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18" name="Google Shape;918;p21"/>
            <p:cNvSpPr txBox="1"/>
            <p:nvPr/>
          </p:nvSpPr>
          <p:spPr>
            <a:xfrm>
              <a:off x="0" y="-28575"/>
              <a:ext cx="2281867" cy="980505"/>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b="1" lang="en-US" sz="1199">
                  <a:solidFill>
                    <a:srgbClr val="000000"/>
                  </a:solidFill>
                  <a:latin typeface="Arial"/>
                  <a:ea typeface="Arial"/>
                  <a:cs typeface="Arial"/>
                  <a:sym typeface="Arial"/>
                </a:rPr>
                <a:t>Cost of Debt</a:t>
              </a:r>
              <a:endParaRPr sz="1313">
                <a:solidFill>
                  <a:srgbClr val="000000"/>
                </a:solidFill>
                <a:latin typeface="Arial"/>
                <a:ea typeface="Arial"/>
                <a:cs typeface="Arial"/>
                <a:sym typeface="Arial"/>
              </a:endParaRPr>
            </a:p>
            <a:p>
              <a:pPr indent="0" lvl="0" marL="0" marR="0" rtl="0" algn="ctr">
                <a:lnSpc>
                  <a:spcPct val="120015"/>
                </a:lnSpc>
                <a:spcBef>
                  <a:spcPts val="0"/>
                </a:spcBef>
                <a:spcAft>
                  <a:spcPts val="0"/>
                </a:spcAft>
                <a:buNone/>
              </a:pPr>
              <a:r>
                <a:rPr b="1" lang="en-US" sz="1199">
                  <a:solidFill>
                    <a:schemeClr val="dk1"/>
                  </a:solidFill>
                  <a:latin typeface="Arial"/>
                  <a:ea typeface="Arial"/>
                  <a:cs typeface="Arial"/>
                  <a:sym typeface="Arial"/>
                </a:rPr>
                <a:t>2</a:t>
              </a:r>
              <a:r>
                <a:rPr b="1" lang="en-US" sz="1199">
                  <a:solidFill>
                    <a:srgbClr val="000000"/>
                  </a:solidFill>
                  <a:latin typeface="Arial"/>
                  <a:ea typeface="Arial"/>
                  <a:cs typeface="Arial"/>
                  <a:sym typeface="Arial"/>
                </a:rPr>
                <a:t>.92%</a:t>
              </a:r>
              <a:endParaRPr sz="1313">
                <a:solidFill>
                  <a:srgbClr val="000000"/>
                </a:solidFill>
                <a:latin typeface="Arial"/>
                <a:ea typeface="Arial"/>
                <a:cs typeface="Arial"/>
                <a:sym typeface="Arial"/>
              </a:endParaRPr>
            </a:p>
          </p:txBody>
        </p:sp>
      </p:grpSp>
      <p:grpSp>
        <p:nvGrpSpPr>
          <p:cNvPr id="919" name="Google Shape;919;p21"/>
          <p:cNvGrpSpPr/>
          <p:nvPr/>
        </p:nvGrpSpPr>
        <p:grpSpPr>
          <a:xfrm>
            <a:off x="239486" y="2631146"/>
            <a:ext cx="1604487" cy="689462"/>
            <a:chOff x="0" y="-28575"/>
            <a:chExt cx="2281936" cy="980567"/>
          </a:xfrm>
        </p:grpSpPr>
        <p:sp>
          <p:nvSpPr>
            <p:cNvPr id="920" name="Google Shape;920;p21"/>
            <p:cNvSpPr/>
            <p:nvPr/>
          </p:nvSpPr>
          <p:spPr>
            <a:xfrm>
              <a:off x="4572" y="4572"/>
              <a:ext cx="2272792" cy="942848"/>
            </a:xfrm>
            <a:custGeom>
              <a:rect b="b" l="l" r="r" t="t"/>
              <a:pathLst>
                <a:path extrusionOk="0" h="942848" w="2272792">
                  <a:moveTo>
                    <a:pt x="0" y="0"/>
                  </a:moveTo>
                  <a:lnTo>
                    <a:pt x="2272792" y="0"/>
                  </a:lnTo>
                  <a:lnTo>
                    <a:pt x="2272792" y="942848"/>
                  </a:lnTo>
                  <a:lnTo>
                    <a:pt x="0" y="94284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21" name="Google Shape;921;p21"/>
            <p:cNvSpPr/>
            <p:nvPr/>
          </p:nvSpPr>
          <p:spPr>
            <a:xfrm>
              <a:off x="0" y="0"/>
              <a:ext cx="2281936" cy="951992"/>
            </a:xfrm>
            <a:custGeom>
              <a:rect b="b" l="l" r="r" t="t"/>
              <a:pathLst>
                <a:path extrusionOk="0" h="951992" w="2281936">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22" name="Google Shape;922;p21"/>
            <p:cNvSpPr txBox="1"/>
            <p:nvPr/>
          </p:nvSpPr>
          <p:spPr>
            <a:xfrm>
              <a:off x="0" y="-28575"/>
              <a:ext cx="2281867" cy="980505"/>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b="1" lang="en-US" sz="1199">
                  <a:solidFill>
                    <a:srgbClr val="000000"/>
                  </a:solidFill>
                  <a:latin typeface="Arial"/>
                  <a:ea typeface="Arial"/>
                  <a:cs typeface="Arial"/>
                  <a:sym typeface="Arial"/>
                </a:rPr>
                <a:t>Risk Free Rate</a:t>
              </a:r>
              <a:endParaRPr sz="1313">
                <a:solidFill>
                  <a:srgbClr val="000000"/>
                </a:solidFill>
                <a:latin typeface="Arial"/>
                <a:ea typeface="Arial"/>
                <a:cs typeface="Arial"/>
                <a:sym typeface="Arial"/>
              </a:endParaRPr>
            </a:p>
            <a:p>
              <a:pPr indent="0" lvl="0" marL="0" marR="0" rtl="0" algn="ctr">
                <a:lnSpc>
                  <a:spcPct val="120015"/>
                </a:lnSpc>
                <a:spcBef>
                  <a:spcPts val="0"/>
                </a:spcBef>
                <a:spcAft>
                  <a:spcPts val="0"/>
                </a:spcAft>
                <a:buNone/>
              </a:pPr>
              <a:r>
                <a:rPr b="1" lang="en-US" sz="1199">
                  <a:solidFill>
                    <a:schemeClr val="dk1"/>
                  </a:solidFill>
                  <a:latin typeface="Arial"/>
                  <a:ea typeface="Arial"/>
                  <a:cs typeface="Arial"/>
                  <a:sym typeface="Arial"/>
                </a:rPr>
                <a:t>4</a:t>
              </a:r>
              <a:r>
                <a:rPr b="1" lang="en-US" sz="1199">
                  <a:solidFill>
                    <a:srgbClr val="000000"/>
                  </a:solidFill>
                  <a:latin typeface="Arial"/>
                  <a:ea typeface="Arial"/>
                  <a:cs typeface="Arial"/>
                  <a:sym typeface="Arial"/>
                </a:rPr>
                <a:t>.16%</a:t>
              </a:r>
              <a:endParaRPr sz="1313">
                <a:solidFill>
                  <a:srgbClr val="000000"/>
                </a:solidFill>
                <a:latin typeface="Arial"/>
                <a:ea typeface="Arial"/>
                <a:cs typeface="Arial"/>
                <a:sym typeface="Arial"/>
              </a:endParaRPr>
            </a:p>
          </p:txBody>
        </p:sp>
      </p:grpSp>
      <p:grpSp>
        <p:nvGrpSpPr>
          <p:cNvPr id="923" name="Google Shape;923;p21"/>
          <p:cNvGrpSpPr/>
          <p:nvPr/>
        </p:nvGrpSpPr>
        <p:grpSpPr>
          <a:xfrm>
            <a:off x="239486" y="4261820"/>
            <a:ext cx="1604487" cy="689462"/>
            <a:chOff x="0" y="-28575"/>
            <a:chExt cx="2281936" cy="980567"/>
          </a:xfrm>
        </p:grpSpPr>
        <p:sp>
          <p:nvSpPr>
            <p:cNvPr id="924" name="Google Shape;924;p21"/>
            <p:cNvSpPr/>
            <p:nvPr/>
          </p:nvSpPr>
          <p:spPr>
            <a:xfrm>
              <a:off x="4572" y="4572"/>
              <a:ext cx="2272792" cy="942848"/>
            </a:xfrm>
            <a:custGeom>
              <a:rect b="b" l="l" r="r" t="t"/>
              <a:pathLst>
                <a:path extrusionOk="0" h="942848" w="2272792">
                  <a:moveTo>
                    <a:pt x="0" y="0"/>
                  </a:moveTo>
                  <a:lnTo>
                    <a:pt x="2272792" y="0"/>
                  </a:lnTo>
                  <a:lnTo>
                    <a:pt x="2272792" y="942848"/>
                  </a:lnTo>
                  <a:lnTo>
                    <a:pt x="0" y="942848"/>
                  </a:lnTo>
                  <a:close/>
                </a:path>
              </a:pathLst>
            </a:custGeom>
            <a:solidFill>
              <a:srgbClr val="D9D9D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25" name="Google Shape;925;p21"/>
            <p:cNvSpPr/>
            <p:nvPr/>
          </p:nvSpPr>
          <p:spPr>
            <a:xfrm>
              <a:off x="0" y="0"/>
              <a:ext cx="2281936" cy="951992"/>
            </a:xfrm>
            <a:custGeom>
              <a:rect b="b" l="l" r="r" t="t"/>
              <a:pathLst>
                <a:path extrusionOk="0" h="951992" w="2281936">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26" name="Google Shape;926;p21"/>
            <p:cNvSpPr txBox="1"/>
            <p:nvPr/>
          </p:nvSpPr>
          <p:spPr>
            <a:xfrm>
              <a:off x="0" y="-28575"/>
              <a:ext cx="2281867" cy="980505"/>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200">
                  <a:solidFill>
                    <a:srgbClr val="000000"/>
                  </a:solidFill>
                  <a:latin typeface="Arial"/>
                  <a:ea typeface="Arial"/>
                  <a:cs typeface="Arial"/>
                  <a:sym typeface="Arial"/>
                </a:rPr>
                <a:t>Weight of debt</a:t>
              </a:r>
              <a:endParaRPr sz="1313">
                <a:solidFill>
                  <a:srgbClr val="000000"/>
                </a:solidFill>
                <a:latin typeface="Arial"/>
                <a:ea typeface="Arial"/>
                <a:cs typeface="Arial"/>
                <a:sym typeface="Arial"/>
              </a:endParaRPr>
            </a:p>
            <a:p>
              <a:pPr indent="0" lvl="0" marL="0" marR="0" rtl="0" algn="ctr">
                <a:lnSpc>
                  <a:spcPct val="120015"/>
                </a:lnSpc>
                <a:spcBef>
                  <a:spcPts val="0"/>
                </a:spcBef>
                <a:spcAft>
                  <a:spcPts val="0"/>
                </a:spcAft>
                <a:buNone/>
              </a:pPr>
              <a:r>
                <a:rPr b="1" lang="en-US" sz="1199">
                  <a:solidFill>
                    <a:schemeClr val="dk1"/>
                  </a:solidFill>
                  <a:latin typeface="Arial"/>
                  <a:ea typeface="Arial"/>
                  <a:cs typeface="Arial"/>
                  <a:sym typeface="Arial"/>
                </a:rPr>
                <a:t>13.77</a:t>
              </a:r>
              <a:r>
                <a:rPr b="1" lang="en-US" sz="1199">
                  <a:solidFill>
                    <a:srgbClr val="000000"/>
                  </a:solidFill>
                  <a:latin typeface="Arial"/>
                  <a:ea typeface="Arial"/>
                  <a:cs typeface="Arial"/>
                  <a:sym typeface="Arial"/>
                </a:rPr>
                <a:t>%</a:t>
              </a:r>
              <a:endParaRPr sz="1313">
                <a:solidFill>
                  <a:srgbClr val="000000"/>
                </a:solidFill>
                <a:latin typeface="Arial"/>
                <a:ea typeface="Arial"/>
                <a:cs typeface="Arial"/>
                <a:sym typeface="Arial"/>
              </a:endParaRPr>
            </a:p>
          </p:txBody>
        </p:sp>
      </p:grpSp>
      <p:sp>
        <p:nvSpPr>
          <p:cNvPr id="927" name="Google Shape;927;p21"/>
          <p:cNvSpPr txBox="1"/>
          <p:nvPr/>
        </p:nvSpPr>
        <p:spPr>
          <a:xfrm>
            <a:off x="2008414" y="1922046"/>
            <a:ext cx="7007906" cy="63709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125">
                <a:solidFill>
                  <a:srgbClr val="000000"/>
                </a:solidFill>
                <a:latin typeface="Arial"/>
                <a:ea typeface="Arial"/>
                <a:cs typeface="Arial"/>
                <a:sym typeface="Arial"/>
              </a:rPr>
              <a:t>As of December 2025, the cost of debt for </a:t>
            </a:r>
            <a:r>
              <a:rPr lang="en-US" sz="1125">
                <a:solidFill>
                  <a:schemeClr val="dk1"/>
                </a:solidFill>
                <a:latin typeface="Arial"/>
                <a:ea typeface="Arial"/>
                <a:cs typeface="Arial"/>
                <a:sym typeface="Arial"/>
              </a:rPr>
              <a:t>KO</a:t>
            </a:r>
            <a:r>
              <a:rPr lang="en-US" sz="1125">
                <a:solidFill>
                  <a:srgbClr val="000000"/>
                </a:solidFill>
                <a:latin typeface="Arial"/>
                <a:ea typeface="Arial"/>
                <a:cs typeface="Arial"/>
                <a:sym typeface="Arial"/>
              </a:rPr>
              <a:t> was $</a:t>
            </a:r>
            <a:r>
              <a:rPr lang="en-US" sz="1125">
                <a:solidFill>
                  <a:schemeClr val="dk1"/>
                </a:solidFill>
                <a:latin typeface="Arial"/>
                <a:ea typeface="Arial"/>
                <a:cs typeface="Arial"/>
                <a:sym typeface="Arial"/>
              </a:rPr>
              <a:t>868</a:t>
            </a:r>
            <a:r>
              <a:rPr lang="en-US" sz="1125">
                <a:solidFill>
                  <a:srgbClr val="000000"/>
                </a:solidFill>
                <a:latin typeface="Arial"/>
                <a:ea typeface="Arial"/>
                <a:cs typeface="Arial"/>
                <a:sym typeface="Arial"/>
              </a:rPr>
              <a:t>m, for a total book value of net debts of                   -$29.69</a:t>
            </a:r>
            <a:r>
              <a:rPr lang="en-US" sz="1125">
                <a:solidFill>
                  <a:schemeClr val="dk1"/>
                </a:solidFill>
                <a:latin typeface="Arial"/>
                <a:ea typeface="Arial"/>
                <a:cs typeface="Arial"/>
                <a:sym typeface="Arial"/>
              </a:rPr>
              <a:t>m</a:t>
            </a:r>
            <a:endParaRPr sz="1125">
              <a:solidFill>
                <a:srgbClr val="000000"/>
              </a:solidFill>
              <a:latin typeface="Arial"/>
              <a:ea typeface="Arial"/>
              <a:cs typeface="Arial"/>
              <a:sym typeface="Arial"/>
            </a:endParaRPr>
          </a:p>
          <a:p>
            <a:pPr indent="0" lvl="0" marL="0" marR="0" rtl="0" algn="ctr">
              <a:lnSpc>
                <a:spcPct val="120000"/>
              </a:lnSpc>
              <a:spcBef>
                <a:spcPts val="0"/>
              </a:spcBef>
              <a:spcAft>
                <a:spcPts val="0"/>
              </a:spcAft>
              <a:buNone/>
            </a:pPr>
            <a:r>
              <a:rPr lang="en-US" sz="1200">
                <a:solidFill>
                  <a:srgbClr val="000000"/>
                </a:solidFill>
                <a:latin typeface="Arial"/>
                <a:ea typeface="Arial"/>
                <a:cs typeface="Arial"/>
                <a:sym typeface="Arial"/>
              </a:rPr>
              <a:t>=&gt; Cost of Debt = </a:t>
            </a:r>
            <a:r>
              <a:rPr lang="en-US" sz="1200">
                <a:solidFill>
                  <a:schemeClr val="dk1"/>
                </a:solidFill>
                <a:latin typeface="Arial"/>
                <a:ea typeface="Arial"/>
                <a:cs typeface="Arial"/>
                <a:sym typeface="Arial"/>
              </a:rPr>
              <a:t>0.868</a:t>
            </a:r>
            <a:r>
              <a:rPr lang="en-US" sz="1200">
                <a:solidFill>
                  <a:srgbClr val="000000"/>
                </a:solidFill>
                <a:latin typeface="Arial"/>
                <a:ea typeface="Arial"/>
                <a:cs typeface="Arial"/>
                <a:sym typeface="Arial"/>
              </a:rPr>
              <a:t> / 29.69 = 2.92%.</a:t>
            </a:r>
            <a:endParaRPr sz="1313">
              <a:solidFill>
                <a:srgbClr val="000000"/>
              </a:solidFill>
              <a:latin typeface="Arial"/>
              <a:ea typeface="Arial"/>
              <a:cs typeface="Arial"/>
              <a:sym typeface="Arial"/>
            </a:endParaRPr>
          </a:p>
        </p:txBody>
      </p:sp>
      <p:sp>
        <p:nvSpPr>
          <p:cNvPr id="928" name="Google Shape;928;p21"/>
          <p:cNvSpPr txBox="1"/>
          <p:nvPr/>
        </p:nvSpPr>
        <p:spPr>
          <a:xfrm>
            <a:off x="2008426" y="2872867"/>
            <a:ext cx="7007906" cy="2215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200">
                <a:solidFill>
                  <a:srgbClr val="000000"/>
                </a:solidFill>
                <a:latin typeface="Arial"/>
                <a:ea typeface="Arial"/>
                <a:cs typeface="Arial"/>
                <a:sym typeface="Arial"/>
              </a:rPr>
              <a:t>We use here the US Treasuries 10Y rate</a:t>
            </a:r>
            <a:endParaRPr sz="1313">
              <a:solidFill>
                <a:srgbClr val="000000"/>
              </a:solidFill>
              <a:latin typeface="Arial"/>
              <a:ea typeface="Arial"/>
              <a:cs typeface="Arial"/>
              <a:sym typeface="Arial"/>
            </a:endParaRPr>
          </a:p>
        </p:txBody>
      </p:sp>
      <p:sp>
        <p:nvSpPr>
          <p:cNvPr id="929" name="Google Shape;929;p21"/>
          <p:cNvSpPr txBox="1"/>
          <p:nvPr/>
        </p:nvSpPr>
        <p:spPr>
          <a:xfrm>
            <a:off x="2008414" y="3588351"/>
            <a:ext cx="7007906" cy="66479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200">
                <a:solidFill>
                  <a:srgbClr val="000000"/>
                </a:solidFill>
                <a:latin typeface="Arial"/>
                <a:ea typeface="Arial"/>
                <a:cs typeface="Arial"/>
                <a:sym typeface="Arial"/>
              </a:rPr>
              <a:t>We use here a </a:t>
            </a:r>
            <a:r>
              <a:rPr lang="en-US" sz="1200">
                <a:solidFill>
                  <a:schemeClr val="dk1"/>
                </a:solidFill>
                <a:latin typeface="Arial"/>
                <a:ea typeface="Arial"/>
                <a:cs typeface="Arial"/>
                <a:sym typeface="Arial"/>
              </a:rPr>
              <a:t>9.76</a:t>
            </a:r>
            <a:r>
              <a:rPr lang="en-US" sz="1200">
                <a:solidFill>
                  <a:srgbClr val="000000"/>
                </a:solidFill>
                <a:latin typeface="Arial"/>
                <a:ea typeface="Arial"/>
                <a:cs typeface="Arial"/>
                <a:sym typeface="Arial"/>
              </a:rPr>
              <a:t>% market premium, the difference between the risk-free rate and the 10Y return average of the S&amp;P500 Index and the CAPM model then:</a:t>
            </a:r>
            <a:endParaRPr/>
          </a:p>
          <a:p>
            <a:pPr indent="0" lvl="0" marL="0" marR="0" rtl="0" algn="ctr">
              <a:lnSpc>
                <a:spcPct val="120000"/>
              </a:lnSpc>
              <a:spcBef>
                <a:spcPts val="0"/>
              </a:spcBef>
              <a:spcAft>
                <a:spcPts val="0"/>
              </a:spcAft>
              <a:buNone/>
            </a:pPr>
            <a:r>
              <a:rPr lang="en-US" sz="1200">
                <a:solidFill>
                  <a:schemeClr val="dk1"/>
                </a:solidFill>
                <a:latin typeface="Arial"/>
                <a:ea typeface="Arial"/>
                <a:cs typeface="Arial"/>
                <a:sym typeface="Arial"/>
              </a:rPr>
              <a:t>Ke = Rf + β * (Rm - Rf) with a β= 0.36</a:t>
            </a:r>
            <a:endParaRPr sz="1200">
              <a:solidFill>
                <a:schemeClr val="dk1"/>
              </a:solidFill>
              <a:latin typeface="Arial"/>
              <a:ea typeface="Arial"/>
              <a:cs typeface="Arial"/>
              <a:sym typeface="Arial"/>
            </a:endParaRPr>
          </a:p>
        </p:txBody>
      </p:sp>
      <p:sp>
        <p:nvSpPr>
          <p:cNvPr id="930" name="Google Shape;930;p21"/>
          <p:cNvSpPr txBox="1"/>
          <p:nvPr/>
        </p:nvSpPr>
        <p:spPr>
          <a:xfrm>
            <a:off x="2008414" y="4358415"/>
            <a:ext cx="7007906" cy="44319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200">
                <a:solidFill>
                  <a:srgbClr val="000000"/>
                </a:solidFill>
                <a:latin typeface="Arial"/>
                <a:ea typeface="Arial"/>
                <a:cs typeface="Arial"/>
                <a:sym typeface="Arial"/>
              </a:rPr>
              <a:t>Market cap : $</a:t>
            </a:r>
            <a:r>
              <a:rPr lang="en-US" sz="1200">
                <a:solidFill>
                  <a:schemeClr val="dk1"/>
                </a:solidFill>
                <a:latin typeface="Arial"/>
                <a:ea typeface="Arial"/>
                <a:cs typeface="Arial"/>
                <a:sym typeface="Arial"/>
              </a:rPr>
              <a:t>330.41</a:t>
            </a:r>
            <a:r>
              <a:rPr lang="en-US" sz="1200">
                <a:solidFill>
                  <a:srgbClr val="000000"/>
                </a:solidFill>
                <a:latin typeface="Arial"/>
                <a:ea typeface="Arial"/>
                <a:cs typeface="Arial"/>
                <a:sym typeface="Arial"/>
              </a:rPr>
              <a:t>bn</a:t>
            </a:r>
            <a:r>
              <a:rPr lang="en-US" sz="1200">
                <a:solidFill>
                  <a:schemeClr val="dk1"/>
                </a:solidFill>
                <a:latin typeface="Arial"/>
                <a:ea typeface="Arial"/>
                <a:cs typeface="Arial"/>
                <a:sym typeface="Arial"/>
              </a:rPr>
              <a:t> /</a:t>
            </a:r>
            <a:r>
              <a:rPr lang="en-US" sz="1200">
                <a:solidFill>
                  <a:srgbClr val="000000"/>
                </a:solidFill>
                <a:latin typeface="Arial"/>
                <a:ea typeface="Arial"/>
                <a:cs typeface="Arial"/>
                <a:sym typeface="Arial"/>
              </a:rPr>
              <a:t> Total debts : $45.49bn</a:t>
            </a:r>
            <a:r>
              <a:rPr lang="en-US" sz="1200">
                <a:solidFill>
                  <a:schemeClr val="dk1"/>
                </a:solidFill>
                <a:latin typeface="Arial"/>
                <a:ea typeface="Arial"/>
                <a:cs typeface="Arial"/>
                <a:sym typeface="Arial"/>
              </a:rPr>
              <a:t> </a:t>
            </a:r>
            <a:endParaRPr/>
          </a:p>
          <a:p>
            <a:pPr indent="0" lvl="0" marL="0" marR="0" rtl="0" algn="ctr">
              <a:lnSpc>
                <a:spcPct val="120000"/>
              </a:lnSpc>
              <a:spcBef>
                <a:spcPts val="0"/>
              </a:spcBef>
              <a:spcAft>
                <a:spcPts val="0"/>
              </a:spcAft>
              <a:buNone/>
            </a:pPr>
            <a:r>
              <a:rPr lang="en-US" sz="1200">
                <a:solidFill>
                  <a:srgbClr val="000000"/>
                </a:solidFill>
                <a:latin typeface="Arial"/>
                <a:ea typeface="Arial"/>
                <a:cs typeface="Arial"/>
                <a:sym typeface="Arial"/>
              </a:rPr>
              <a:t>Weight of debt = 45.49 / </a:t>
            </a:r>
            <a:r>
              <a:rPr lang="en-US" sz="1200">
                <a:solidFill>
                  <a:schemeClr val="dk1"/>
                </a:solidFill>
                <a:latin typeface="Arial"/>
                <a:ea typeface="Arial"/>
                <a:cs typeface="Arial"/>
                <a:sym typeface="Arial"/>
              </a:rPr>
              <a:t>330.41</a:t>
            </a:r>
            <a:r>
              <a:rPr lang="en-US" sz="1200">
                <a:solidFill>
                  <a:srgbClr val="000000"/>
                </a:solidFill>
                <a:latin typeface="Arial"/>
                <a:ea typeface="Arial"/>
                <a:cs typeface="Arial"/>
                <a:sym typeface="Arial"/>
              </a:rPr>
              <a:t> = 13.77%</a:t>
            </a:r>
            <a:endParaRPr sz="1313">
              <a:solidFill>
                <a:srgbClr val="000000"/>
              </a:solidFill>
              <a:latin typeface="Arial"/>
              <a:ea typeface="Arial"/>
              <a:cs typeface="Arial"/>
              <a:sym typeface="Arial"/>
            </a:endParaRPr>
          </a:p>
        </p:txBody>
      </p:sp>
      <p:sp>
        <p:nvSpPr>
          <p:cNvPr id="931" name="Google Shape;931;p21"/>
          <p:cNvSpPr txBox="1"/>
          <p:nvPr/>
        </p:nvSpPr>
        <p:spPr>
          <a:xfrm>
            <a:off x="2513410" y="5085183"/>
            <a:ext cx="6502781" cy="88639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00">
                <a:solidFill>
                  <a:srgbClr val="000000"/>
                </a:solidFill>
                <a:latin typeface="Arial"/>
                <a:ea typeface="Arial"/>
                <a:cs typeface="Arial"/>
                <a:sym typeface="Arial"/>
              </a:rPr>
              <a:t>WACC = (1- weight of debt) * Cost of Equity + weight of debt * Cost of Debt * (1 - Tax Rate) </a:t>
            </a:r>
            <a:endParaRPr sz="1313">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rPr lang="en-US" sz="1200">
                <a:solidFill>
                  <a:srgbClr val="000000"/>
                </a:solidFill>
                <a:latin typeface="Arial"/>
                <a:ea typeface="Arial"/>
                <a:cs typeface="Arial"/>
                <a:sym typeface="Arial"/>
              </a:rPr>
              <a:t>= (1 – 13.77%) * 7.71% + 13.77% * </a:t>
            </a:r>
            <a:r>
              <a:rPr lang="en-US" sz="1200">
                <a:solidFill>
                  <a:schemeClr val="dk1"/>
                </a:solidFill>
                <a:latin typeface="Arial"/>
                <a:ea typeface="Arial"/>
                <a:cs typeface="Arial"/>
                <a:sym typeface="Arial"/>
              </a:rPr>
              <a:t>2</a:t>
            </a:r>
            <a:r>
              <a:rPr lang="en-US" sz="1200">
                <a:solidFill>
                  <a:srgbClr val="000000"/>
                </a:solidFill>
                <a:latin typeface="Arial"/>
                <a:ea typeface="Arial"/>
                <a:cs typeface="Arial"/>
                <a:sym typeface="Arial"/>
              </a:rPr>
              <a:t>.92% * (1 – 18.61%)</a:t>
            </a:r>
            <a:endParaRPr sz="1313">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rPr lang="en-US" sz="1200">
                <a:solidFill>
                  <a:srgbClr val="000000"/>
                </a:solidFill>
                <a:latin typeface="Arial"/>
                <a:ea typeface="Arial"/>
                <a:cs typeface="Arial"/>
                <a:sym typeface="Arial"/>
              </a:rPr>
              <a:t>= </a:t>
            </a:r>
            <a:r>
              <a:rPr lang="en-US" sz="1200">
                <a:solidFill>
                  <a:schemeClr val="dk1"/>
                </a:solidFill>
                <a:latin typeface="Arial"/>
                <a:ea typeface="Arial"/>
                <a:cs typeface="Arial"/>
                <a:sym typeface="Arial"/>
              </a:rPr>
              <a:t>6.98</a:t>
            </a:r>
            <a:r>
              <a:rPr lang="en-US" sz="1200">
                <a:solidFill>
                  <a:srgbClr val="000000"/>
                </a:solidFill>
                <a:latin typeface="Arial"/>
                <a:ea typeface="Arial"/>
                <a:cs typeface="Arial"/>
                <a:sym typeface="Arial"/>
              </a:rPr>
              <a:t>%</a:t>
            </a:r>
            <a:endParaRPr sz="1313">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t/>
            </a:r>
            <a:endParaRPr sz="120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grpSp>
        <p:nvGrpSpPr>
          <p:cNvPr id="940" name="Google Shape;940;p22"/>
          <p:cNvGrpSpPr/>
          <p:nvPr/>
        </p:nvGrpSpPr>
        <p:grpSpPr>
          <a:xfrm>
            <a:off x="-2192501" y="2633500"/>
            <a:ext cx="1970251" cy="496313"/>
            <a:chOff x="0" y="-28575"/>
            <a:chExt cx="2802135" cy="705866"/>
          </a:xfrm>
        </p:grpSpPr>
        <p:sp>
          <p:nvSpPr>
            <p:cNvPr id="941" name="Google Shape;941;p22"/>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42" name="Google Shape;942;p22"/>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943" name="Google Shape;943;p22"/>
          <p:cNvGrpSpPr/>
          <p:nvPr/>
        </p:nvGrpSpPr>
        <p:grpSpPr>
          <a:xfrm>
            <a:off x="-2186151" y="3363382"/>
            <a:ext cx="1957566" cy="486436"/>
            <a:chOff x="0" y="-28575"/>
            <a:chExt cx="2784094" cy="691820"/>
          </a:xfrm>
        </p:grpSpPr>
        <p:sp>
          <p:nvSpPr>
            <p:cNvPr id="944" name="Google Shape;944;p2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45" name="Google Shape;945;p2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946" name="Google Shape;946;p22"/>
          <p:cNvGrpSpPr/>
          <p:nvPr/>
        </p:nvGrpSpPr>
        <p:grpSpPr>
          <a:xfrm>
            <a:off x="-2186151" y="4089757"/>
            <a:ext cx="1957566" cy="486436"/>
            <a:chOff x="0" y="-28575"/>
            <a:chExt cx="2784094" cy="691820"/>
          </a:xfrm>
        </p:grpSpPr>
        <p:sp>
          <p:nvSpPr>
            <p:cNvPr id="947" name="Google Shape;947;p2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48" name="Google Shape;948;p2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949" name="Google Shape;949;p22"/>
          <p:cNvGrpSpPr/>
          <p:nvPr/>
        </p:nvGrpSpPr>
        <p:grpSpPr>
          <a:xfrm>
            <a:off x="-2186151" y="4816132"/>
            <a:ext cx="1957566" cy="486436"/>
            <a:chOff x="0" y="-28575"/>
            <a:chExt cx="2784094" cy="691820"/>
          </a:xfrm>
        </p:grpSpPr>
        <p:sp>
          <p:nvSpPr>
            <p:cNvPr id="950" name="Google Shape;950;p2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51" name="Google Shape;951;p2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952" name="Google Shape;952;p22"/>
          <p:cNvGrpSpPr/>
          <p:nvPr/>
        </p:nvGrpSpPr>
        <p:grpSpPr>
          <a:xfrm>
            <a:off x="-2186151" y="5542509"/>
            <a:ext cx="1957566" cy="486436"/>
            <a:chOff x="0" y="-28575"/>
            <a:chExt cx="2784094" cy="691820"/>
          </a:xfrm>
        </p:grpSpPr>
        <p:sp>
          <p:nvSpPr>
            <p:cNvPr id="953" name="Google Shape;953;p22"/>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54" name="Google Shape;954;p22"/>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955" name="Google Shape;955;p22"/>
          <p:cNvGrpSpPr/>
          <p:nvPr/>
        </p:nvGrpSpPr>
        <p:grpSpPr>
          <a:xfrm>
            <a:off x="-2186151" y="1916319"/>
            <a:ext cx="1957566" cy="483632"/>
            <a:chOff x="0" y="-28575"/>
            <a:chExt cx="2784094" cy="687832"/>
          </a:xfrm>
        </p:grpSpPr>
        <p:sp>
          <p:nvSpPr>
            <p:cNvPr id="956" name="Google Shape;956;p22"/>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57" name="Google Shape;957;p22"/>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958" name="Google Shape;958;p22"/>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959" name="Google Shape;959;p22"/>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960" name="Google Shape;960;p22"/>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961" name="Google Shape;961;p22"/>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62" name="Google Shape;962;p22"/>
          <p:cNvSpPr txBox="1"/>
          <p:nvPr/>
        </p:nvSpPr>
        <p:spPr>
          <a:xfrm>
            <a:off x="64294" y="455032"/>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DCF Model Output</a:t>
            </a:r>
            <a:endParaRPr sz="1688">
              <a:solidFill>
                <a:schemeClr val="dk1"/>
              </a:solidFill>
              <a:latin typeface="Arial"/>
              <a:ea typeface="Arial"/>
              <a:cs typeface="Arial"/>
              <a:sym typeface="Arial"/>
            </a:endParaRPr>
          </a:p>
        </p:txBody>
      </p:sp>
      <p:grpSp>
        <p:nvGrpSpPr>
          <p:cNvPr id="963" name="Google Shape;963;p22"/>
          <p:cNvGrpSpPr/>
          <p:nvPr/>
        </p:nvGrpSpPr>
        <p:grpSpPr>
          <a:xfrm>
            <a:off x="1467896" y="4032620"/>
            <a:ext cx="3947769" cy="291580"/>
            <a:chOff x="0" y="-9525"/>
            <a:chExt cx="5614605" cy="414692"/>
          </a:xfrm>
        </p:grpSpPr>
        <p:sp>
          <p:nvSpPr>
            <p:cNvPr id="964" name="Google Shape;964;p22"/>
            <p:cNvSpPr/>
            <p:nvPr/>
          </p:nvSpPr>
          <p:spPr>
            <a:xfrm>
              <a:off x="0" y="0"/>
              <a:ext cx="5614543" cy="405130"/>
            </a:xfrm>
            <a:custGeom>
              <a:rect b="b" l="l" r="r" t="t"/>
              <a:pathLst>
                <a:path extrusionOk="0" h="405130" w="5614543">
                  <a:moveTo>
                    <a:pt x="0" y="0"/>
                  </a:moveTo>
                  <a:lnTo>
                    <a:pt x="5614543" y="0"/>
                  </a:lnTo>
                  <a:lnTo>
                    <a:pt x="5614543" y="405130"/>
                  </a:lnTo>
                  <a:lnTo>
                    <a:pt x="0" y="40513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65" name="Google Shape;965;p22"/>
            <p:cNvSpPr txBox="1"/>
            <p:nvPr/>
          </p:nvSpPr>
          <p:spPr>
            <a:xfrm>
              <a:off x="0" y="-9525"/>
              <a:ext cx="5614605" cy="414692"/>
            </a:xfrm>
            <a:prstGeom prst="rect">
              <a:avLst/>
            </a:prstGeom>
            <a:noFill/>
            <a:ln>
              <a:noFill/>
            </a:ln>
          </p:spPr>
          <p:txBody>
            <a:bodyPr anchorCtr="0" anchor="ctr" bIns="47625" lIns="47625" spcFirstLastPara="1" rIns="47625" wrap="square" tIns="47625">
              <a:noAutofit/>
            </a:bodyPr>
            <a:lstStyle/>
            <a:p>
              <a:pPr indent="0" lvl="0" marL="0" marR="0" rtl="0" algn="l">
                <a:lnSpc>
                  <a:spcPct val="107946"/>
                </a:lnSpc>
                <a:spcBef>
                  <a:spcPts val="0"/>
                </a:spcBef>
                <a:spcAft>
                  <a:spcPts val="0"/>
                </a:spcAft>
                <a:buNone/>
              </a:pPr>
              <a:r>
                <a:rPr b="1" lang="en-US" sz="1050">
                  <a:solidFill>
                    <a:srgbClr val="FFFFFF"/>
                  </a:solidFill>
                  <a:latin typeface="Arial"/>
                  <a:ea typeface="Arial"/>
                  <a:cs typeface="Arial"/>
                  <a:sym typeface="Arial"/>
                </a:rPr>
                <a:t>Sensitivity</a:t>
              </a:r>
              <a:r>
                <a:rPr b="1" lang="en-US" sz="1050">
                  <a:solidFill>
                    <a:srgbClr val="000000"/>
                  </a:solidFill>
                  <a:latin typeface="Arial"/>
                  <a:ea typeface="Arial"/>
                  <a:cs typeface="Arial"/>
                  <a:sym typeface="Arial"/>
                </a:rPr>
                <a:t> </a:t>
              </a:r>
              <a:r>
                <a:rPr b="1" lang="en-US" sz="1050">
                  <a:solidFill>
                    <a:srgbClr val="FFFFFF"/>
                  </a:solidFill>
                  <a:latin typeface="Arial"/>
                  <a:ea typeface="Arial"/>
                  <a:cs typeface="Arial"/>
                  <a:sym typeface="Arial"/>
                </a:rPr>
                <a:t>Analysis</a:t>
              </a:r>
              <a:endParaRPr sz="1688">
                <a:solidFill>
                  <a:schemeClr val="dk1"/>
                </a:solidFill>
                <a:latin typeface="Arial"/>
                <a:ea typeface="Arial"/>
                <a:cs typeface="Arial"/>
                <a:sym typeface="Arial"/>
              </a:endParaRPr>
            </a:p>
          </p:txBody>
        </p:sp>
      </p:grpSp>
      <p:sp>
        <p:nvSpPr>
          <p:cNvPr id="966" name="Google Shape;966;p22"/>
          <p:cNvSpPr/>
          <p:nvPr/>
        </p:nvSpPr>
        <p:spPr>
          <a:xfrm>
            <a:off x="1474833" y="3234420"/>
            <a:ext cx="4766489" cy="541853"/>
          </a:xfrm>
          <a:custGeom>
            <a:rect b="b" l="l" r="r" t="t"/>
            <a:pathLst>
              <a:path extrusionOk="0" h="770636" w="6779006">
                <a:moveTo>
                  <a:pt x="0" y="0"/>
                </a:moveTo>
                <a:lnTo>
                  <a:pt x="6779006" y="0"/>
                </a:lnTo>
                <a:lnTo>
                  <a:pt x="6779006" y="770636"/>
                </a:lnTo>
                <a:lnTo>
                  <a:pt x="0" y="770636"/>
                </a:lnTo>
                <a:close/>
              </a:path>
            </a:pathLst>
          </a:custGeom>
          <a:solidFill>
            <a:srgbClr val="17375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967" name="Google Shape;967;p22"/>
          <p:cNvCxnSpPr/>
          <p:nvPr/>
        </p:nvCxnSpPr>
        <p:spPr>
          <a:xfrm>
            <a:off x="3858060" y="3234420"/>
            <a:ext cx="0" cy="541853"/>
          </a:xfrm>
          <a:prstGeom prst="straightConnector1">
            <a:avLst/>
          </a:prstGeom>
          <a:noFill/>
          <a:ln cap="rnd" cmpd="sng" w="9525">
            <a:solidFill>
              <a:srgbClr val="FFFFFF"/>
            </a:solidFill>
            <a:prstDash val="solid"/>
            <a:round/>
            <a:headEnd len="sm" w="sm" type="none"/>
            <a:tailEnd len="sm" w="sm" type="none"/>
          </a:ln>
        </p:spPr>
      </p:cxnSp>
      <p:cxnSp>
        <p:nvCxnSpPr>
          <p:cNvPr id="968" name="Google Shape;968;p22"/>
          <p:cNvCxnSpPr/>
          <p:nvPr/>
        </p:nvCxnSpPr>
        <p:spPr>
          <a:xfrm>
            <a:off x="2768115" y="3167127"/>
            <a:ext cx="9525" cy="693189"/>
          </a:xfrm>
          <a:prstGeom prst="straightConnector1">
            <a:avLst/>
          </a:prstGeom>
          <a:noFill/>
          <a:ln cap="rnd" cmpd="sng" w="9525">
            <a:solidFill>
              <a:srgbClr val="FFFFFF"/>
            </a:solidFill>
            <a:prstDash val="solid"/>
            <a:round/>
            <a:headEnd len="sm" w="sm" type="none"/>
            <a:tailEnd len="sm" w="sm" type="none"/>
          </a:ln>
        </p:spPr>
      </p:cxnSp>
      <p:cxnSp>
        <p:nvCxnSpPr>
          <p:cNvPr id="969" name="Google Shape;969;p22"/>
          <p:cNvCxnSpPr/>
          <p:nvPr/>
        </p:nvCxnSpPr>
        <p:spPr>
          <a:xfrm>
            <a:off x="5187366" y="3167127"/>
            <a:ext cx="9525" cy="693189"/>
          </a:xfrm>
          <a:prstGeom prst="straightConnector1">
            <a:avLst/>
          </a:prstGeom>
          <a:noFill/>
          <a:ln cap="rnd" cmpd="sng" w="9525">
            <a:solidFill>
              <a:srgbClr val="FFFFFF"/>
            </a:solidFill>
            <a:prstDash val="solid"/>
            <a:round/>
            <a:headEnd len="sm" w="sm" type="none"/>
            <a:tailEnd len="sm" w="sm" type="none"/>
          </a:ln>
        </p:spPr>
      </p:cxnSp>
      <p:grpSp>
        <p:nvGrpSpPr>
          <p:cNvPr id="970" name="Google Shape;970;p22"/>
          <p:cNvGrpSpPr/>
          <p:nvPr/>
        </p:nvGrpSpPr>
        <p:grpSpPr>
          <a:xfrm>
            <a:off x="1467896" y="1206408"/>
            <a:ext cx="3947769" cy="291580"/>
            <a:chOff x="0" y="-9525"/>
            <a:chExt cx="5614605" cy="414692"/>
          </a:xfrm>
        </p:grpSpPr>
        <p:sp>
          <p:nvSpPr>
            <p:cNvPr id="971" name="Google Shape;971;p22"/>
            <p:cNvSpPr/>
            <p:nvPr/>
          </p:nvSpPr>
          <p:spPr>
            <a:xfrm>
              <a:off x="0" y="0"/>
              <a:ext cx="5614543" cy="405130"/>
            </a:xfrm>
            <a:custGeom>
              <a:rect b="b" l="l" r="r" t="t"/>
              <a:pathLst>
                <a:path extrusionOk="0" h="405130" w="5614543">
                  <a:moveTo>
                    <a:pt x="0" y="0"/>
                  </a:moveTo>
                  <a:lnTo>
                    <a:pt x="5614543" y="0"/>
                  </a:lnTo>
                  <a:lnTo>
                    <a:pt x="5614543" y="405130"/>
                  </a:lnTo>
                  <a:lnTo>
                    <a:pt x="0" y="40513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72" name="Google Shape;972;p22"/>
            <p:cNvSpPr txBox="1"/>
            <p:nvPr/>
          </p:nvSpPr>
          <p:spPr>
            <a:xfrm>
              <a:off x="0" y="-9525"/>
              <a:ext cx="5614605" cy="414692"/>
            </a:xfrm>
            <a:prstGeom prst="rect">
              <a:avLst/>
            </a:prstGeom>
            <a:noFill/>
            <a:ln>
              <a:noFill/>
            </a:ln>
          </p:spPr>
          <p:txBody>
            <a:bodyPr anchorCtr="0" anchor="ctr" bIns="47625" lIns="47625" spcFirstLastPara="1" rIns="47625" wrap="square" tIns="47625">
              <a:noAutofit/>
            </a:bodyPr>
            <a:lstStyle/>
            <a:p>
              <a:pPr indent="0" lvl="0" marL="0" marR="0" rtl="0" algn="l">
                <a:lnSpc>
                  <a:spcPct val="107946"/>
                </a:lnSpc>
                <a:spcBef>
                  <a:spcPts val="0"/>
                </a:spcBef>
                <a:spcAft>
                  <a:spcPts val="0"/>
                </a:spcAft>
                <a:buNone/>
              </a:pPr>
              <a:r>
                <a:rPr b="1" lang="en-US" sz="1050">
                  <a:solidFill>
                    <a:srgbClr val="FFFFFF"/>
                  </a:solidFill>
                  <a:latin typeface="Arial"/>
                  <a:ea typeface="Arial"/>
                  <a:cs typeface="Arial"/>
                  <a:sym typeface="Arial"/>
                </a:rPr>
                <a:t>Terminal Value – Perpetuity Growth Method</a:t>
              </a:r>
              <a:endParaRPr sz="1688">
                <a:solidFill>
                  <a:schemeClr val="dk1"/>
                </a:solidFill>
                <a:latin typeface="Arial"/>
                <a:ea typeface="Arial"/>
                <a:cs typeface="Arial"/>
                <a:sym typeface="Arial"/>
              </a:endParaRPr>
            </a:p>
          </p:txBody>
        </p:sp>
      </p:grpSp>
      <p:sp>
        <p:nvSpPr>
          <p:cNvPr id="973" name="Google Shape;973;p22"/>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974" name="Google Shape;974;p22"/>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sp>
        <p:nvSpPr>
          <p:cNvPr id="975" name="Google Shape;975;p22"/>
          <p:cNvSpPr txBox="1"/>
          <p:nvPr/>
        </p:nvSpPr>
        <p:spPr>
          <a:xfrm>
            <a:off x="1615344" y="3324541"/>
            <a:ext cx="998557" cy="3323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
                <a:solidFill>
                  <a:srgbClr val="FFFFFF"/>
                </a:solidFill>
                <a:latin typeface="Arial"/>
                <a:ea typeface="Arial"/>
                <a:cs typeface="Arial"/>
                <a:sym typeface="Arial"/>
              </a:rPr>
              <a:t>Implied Share Price from DCF</a:t>
            </a:r>
            <a:endParaRPr sz="1688">
              <a:solidFill>
                <a:schemeClr val="dk1"/>
              </a:solidFill>
              <a:latin typeface="Arial"/>
              <a:ea typeface="Arial"/>
              <a:cs typeface="Arial"/>
              <a:sym typeface="Arial"/>
            </a:endParaRPr>
          </a:p>
        </p:txBody>
      </p:sp>
      <p:sp>
        <p:nvSpPr>
          <p:cNvPr id="976" name="Google Shape;976;p22"/>
          <p:cNvSpPr txBox="1"/>
          <p:nvPr/>
        </p:nvSpPr>
        <p:spPr>
          <a:xfrm>
            <a:off x="3978386" y="3324541"/>
            <a:ext cx="1088656" cy="3323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
                <a:solidFill>
                  <a:srgbClr val="FFFFFF"/>
                </a:solidFill>
                <a:latin typeface="Arial"/>
                <a:ea typeface="Arial"/>
                <a:cs typeface="Arial"/>
                <a:sym typeface="Arial"/>
              </a:rPr>
              <a:t>Premium to Current Share Price</a:t>
            </a:r>
            <a:endParaRPr sz="1688">
              <a:solidFill>
                <a:schemeClr val="dk1"/>
              </a:solidFill>
              <a:latin typeface="Arial"/>
              <a:ea typeface="Arial"/>
              <a:cs typeface="Arial"/>
              <a:sym typeface="Arial"/>
            </a:endParaRPr>
          </a:p>
        </p:txBody>
      </p:sp>
      <p:sp>
        <p:nvSpPr>
          <p:cNvPr id="977" name="Google Shape;977;p22"/>
          <p:cNvSpPr txBox="1"/>
          <p:nvPr/>
        </p:nvSpPr>
        <p:spPr>
          <a:xfrm>
            <a:off x="2839843" y="3393199"/>
            <a:ext cx="976442" cy="1938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050">
                <a:solidFill>
                  <a:srgbClr val="FFFFFF"/>
                </a:solidFill>
                <a:latin typeface="Arial"/>
                <a:ea typeface="Arial"/>
                <a:cs typeface="Arial"/>
                <a:sym typeface="Arial"/>
              </a:rPr>
              <a:t>$62.61</a:t>
            </a:r>
            <a:endParaRPr sz="1688">
              <a:solidFill>
                <a:schemeClr val="dk1"/>
              </a:solidFill>
              <a:latin typeface="Arial"/>
              <a:ea typeface="Arial"/>
              <a:cs typeface="Arial"/>
              <a:sym typeface="Arial"/>
            </a:endParaRPr>
          </a:p>
        </p:txBody>
      </p:sp>
      <p:sp>
        <p:nvSpPr>
          <p:cNvPr id="978" name="Google Shape;978;p22"/>
          <p:cNvSpPr txBox="1"/>
          <p:nvPr/>
        </p:nvSpPr>
        <p:spPr>
          <a:xfrm>
            <a:off x="5233904" y="3402722"/>
            <a:ext cx="976442" cy="1938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050">
                <a:solidFill>
                  <a:srgbClr val="FFFFFF"/>
                </a:solidFill>
                <a:latin typeface="Arial"/>
                <a:ea typeface="Arial"/>
                <a:cs typeface="Arial"/>
                <a:sym typeface="Arial"/>
              </a:rPr>
              <a:t>-18.5%</a:t>
            </a:r>
            <a:endParaRPr sz="1688">
              <a:solidFill>
                <a:schemeClr val="dk1"/>
              </a:solidFill>
              <a:latin typeface="Arial"/>
              <a:ea typeface="Arial"/>
              <a:cs typeface="Arial"/>
              <a:sym typeface="Arial"/>
            </a:endParaRPr>
          </a:p>
        </p:txBody>
      </p:sp>
      <p:sp>
        <p:nvSpPr>
          <p:cNvPr id="979" name="Google Shape;979;p22"/>
          <p:cNvSpPr txBox="1"/>
          <p:nvPr/>
        </p:nvSpPr>
        <p:spPr>
          <a:xfrm>
            <a:off x="1480046" y="2269273"/>
            <a:ext cx="4576763"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Baseline Terminal Value : EUR 299.02B</a:t>
            </a:r>
            <a:endParaRPr sz="1688">
              <a:solidFill>
                <a:schemeClr val="dk1"/>
              </a:solidFill>
              <a:latin typeface="Arial"/>
              <a:ea typeface="Arial"/>
              <a:cs typeface="Arial"/>
              <a:sym typeface="Arial"/>
            </a:endParaRPr>
          </a:p>
        </p:txBody>
      </p:sp>
      <p:sp>
        <p:nvSpPr>
          <p:cNvPr id="980" name="Google Shape;980;p22"/>
          <p:cNvSpPr txBox="1"/>
          <p:nvPr/>
        </p:nvSpPr>
        <p:spPr>
          <a:xfrm>
            <a:off x="1474833" y="1592923"/>
            <a:ext cx="2239169"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2025 FCF : EUR </a:t>
            </a:r>
            <a:r>
              <a:rPr b="1" lang="en-US" sz="1125">
                <a:solidFill>
                  <a:schemeClr val="dk1"/>
                </a:solidFill>
                <a:latin typeface="Arial"/>
                <a:ea typeface="Arial"/>
                <a:cs typeface="Arial"/>
                <a:sym typeface="Arial"/>
              </a:rPr>
              <a:t>5.3</a:t>
            </a:r>
            <a:r>
              <a:rPr b="1" lang="en-US" sz="1125">
                <a:solidFill>
                  <a:srgbClr val="000000"/>
                </a:solidFill>
                <a:latin typeface="Arial"/>
                <a:ea typeface="Arial"/>
                <a:cs typeface="Arial"/>
                <a:sym typeface="Arial"/>
              </a:rPr>
              <a:t>B</a:t>
            </a:r>
            <a:endParaRPr sz="1688">
              <a:solidFill>
                <a:schemeClr val="dk1"/>
              </a:solidFill>
              <a:latin typeface="Arial"/>
              <a:ea typeface="Arial"/>
              <a:cs typeface="Arial"/>
              <a:sym typeface="Arial"/>
            </a:endParaRPr>
          </a:p>
        </p:txBody>
      </p:sp>
      <p:sp>
        <p:nvSpPr>
          <p:cNvPr id="981" name="Google Shape;981;p22"/>
          <p:cNvSpPr txBox="1"/>
          <p:nvPr/>
        </p:nvSpPr>
        <p:spPr>
          <a:xfrm>
            <a:off x="1467897" y="1834024"/>
            <a:ext cx="2239169"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FCF growth for the next 5Y : 3%</a:t>
            </a:r>
            <a:endParaRPr sz="1688">
              <a:solidFill>
                <a:schemeClr val="dk1"/>
              </a:solidFill>
              <a:latin typeface="Arial"/>
              <a:ea typeface="Arial"/>
              <a:cs typeface="Arial"/>
              <a:sym typeface="Arial"/>
            </a:endParaRPr>
          </a:p>
        </p:txBody>
      </p:sp>
      <p:sp>
        <p:nvSpPr>
          <p:cNvPr id="982" name="Google Shape;982;p22"/>
          <p:cNvSpPr txBox="1"/>
          <p:nvPr/>
        </p:nvSpPr>
        <p:spPr>
          <a:xfrm>
            <a:off x="1467897" y="2056541"/>
            <a:ext cx="4387748"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Baseline Terminal FCF Growth Rate: 3%</a:t>
            </a:r>
            <a:endParaRPr sz="1688">
              <a:solidFill>
                <a:schemeClr val="dk1"/>
              </a:solidFill>
              <a:latin typeface="Arial"/>
              <a:ea typeface="Arial"/>
              <a:cs typeface="Arial"/>
              <a:sym typeface="Arial"/>
            </a:endParaRPr>
          </a:p>
        </p:txBody>
      </p:sp>
      <p:sp>
        <p:nvSpPr>
          <p:cNvPr id="983" name="Google Shape;983;p22"/>
          <p:cNvSpPr txBox="1"/>
          <p:nvPr/>
        </p:nvSpPr>
        <p:spPr>
          <a:xfrm>
            <a:off x="1467896" y="2492516"/>
            <a:ext cx="3168150"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Diluted shares outstanding : </a:t>
            </a:r>
            <a:r>
              <a:rPr b="1" lang="en-US" sz="1125">
                <a:solidFill>
                  <a:schemeClr val="dk1"/>
                </a:solidFill>
                <a:latin typeface="Arial"/>
                <a:ea typeface="Arial"/>
                <a:cs typeface="Arial"/>
                <a:sym typeface="Arial"/>
              </a:rPr>
              <a:t>4,3B</a:t>
            </a:r>
            <a:endParaRPr sz="1688">
              <a:solidFill>
                <a:schemeClr val="dk1"/>
              </a:solidFill>
              <a:latin typeface="Arial"/>
              <a:ea typeface="Arial"/>
              <a:cs typeface="Arial"/>
              <a:sym typeface="Arial"/>
            </a:endParaRPr>
          </a:p>
        </p:txBody>
      </p:sp>
      <p:sp>
        <p:nvSpPr>
          <p:cNvPr id="984" name="Google Shape;984;p22"/>
          <p:cNvSpPr txBox="1"/>
          <p:nvPr/>
        </p:nvSpPr>
        <p:spPr>
          <a:xfrm>
            <a:off x="1460565" y="2715758"/>
            <a:ext cx="2267708"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Net debt : EUR </a:t>
            </a:r>
            <a:r>
              <a:rPr b="1" lang="en-US" sz="1125">
                <a:solidFill>
                  <a:schemeClr val="dk1"/>
                </a:solidFill>
                <a:latin typeface="Arial"/>
                <a:ea typeface="Arial"/>
                <a:cs typeface="Arial"/>
                <a:sym typeface="Arial"/>
              </a:rPr>
              <a:t>29</a:t>
            </a:r>
            <a:r>
              <a:rPr b="1" lang="en-US" sz="1125">
                <a:solidFill>
                  <a:srgbClr val="000000"/>
                </a:solidFill>
                <a:latin typeface="Arial"/>
                <a:ea typeface="Arial"/>
                <a:cs typeface="Arial"/>
                <a:sym typeface="Arial"/>
              </a:rPr>
              <a:t>.69 B</a:t>
            </a:r>
            <a:endParaRPr sz="1688">
              <a:solidFill>
                <a:schemeClr val="dk1"/>
              </a:solidFill>
              <a:latin typeface="Arial"/>
              <a:ea typeface="Arial"/>
              <a:cs typeface="Arial"/>
              <a:sym typeface="Arial"/>
            </a:endParaRPr>
          </a:p>
        </p:txBody>
      </p:sp>
      <p:sp>
        <p:nvSpPr>
          <p:cNvPr id="985" name="Google Shape;985;p22"/>
          <p:cNvSpPr txBox="1"/>
          <p:nvPr/>
        </p:nvSpPr>
        <p:spPr>
          <a:xfrm>
            <a:off x="1467897" y="2930070"/>
            <a:ext cx="2267708"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Baseline EV : EUR 269.33B</a:t>
            </a:r>
            <a:endParaRPr sz="1688">
              <a:solidFill>
                <a:schemeClr val="dk1"/>
              </a:solidFill>
              <a:latin typeface="Arial"/>
              <a:ea typeface="Arial"/>
              <a:cs typeface="Arial"/>
              <a:sym typeface="Arial"/>
            </a:endParaRPr>
          </a:p>
        </p:txBody>
      </p:sp>
      <p:pic>
        <p:nvPicPr>
          <p:cNvPr descr="Une image contenant texte, capture d’écran, nombre, Police&#10;&#10;Le contenu généré par l’IA peut être incorrect." id="986" name="Google Shape;986;p22"/>
          <p:cNvPicPr preferRelativeResize="0"/>
          <p:nvPr/>
        </p:nvPicPr>
        <p:blipFill rotWithShape="1">
          <a:blip r:embed="rId4">
            <a:alphaModFix/>
          </a:blip>
          <a:srcRect b="0" l="0" r="0" t="0"/>
          <a:stretch/>
        </p:blipFill>
        <p:spPr>
          <a:xfrm>
            <a:off x="1460564" y="4459294"/>
            <a:ext cx="6822281" cy="132159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grpSp>
        <p:nvGrpSpPr>
          <p:cNvPr id="995" name="Google Shape;995;p23"/>
          <p:cNvGrpSpPr/>
          <p:nvPr/>
        </p:nvGrpSpPr>
        <p:grpSpPr>
          <a:xfrm>
            <a:off x="-2192501" y="2633500"/>
            <a:ext cx="1970251" cy="496313"/>
            <a:chOff x="0" y="-28575"/>
            <a:chExt cx="2802135" cy="705866"/>
          </a:xfrm>
        </p:grpSpPr>
        <p:sp>
          <p:nvSpPr>
            <p:cNvPr id="996" name="Google Shape;996;p23"/>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997" name="Google Shape;997;p23"/>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313">
                <a:solidFill>
                  <a:srgbClr val="000000"/>
                </a:solidFill>
                <a:latin typeface="Arial"/>
                <a:ea typeface="Arial"/>
                <a:cs typeface="Arial"/>
                <a:sym typeface="Arial"/>
              </a:endParaRPr>
            </a:p>
          </p:txBody>
        </p:sp>
      </p:grpSp>
      <p:grpSp>
        <p:nvGrpSpPr>
          <p:cNvPr id="998" name="Google Shape;998;p23"/>
          <p:cNvGrpSpPr/>
          <p:nvPr/>
        </p:nvGrpSpPr>
        <p:grpSpPr>
          <a:xfrm>
            <a:off x="-2186151" y="3363382"/>
            <a:ext cx="1957566" cy="486436"/>
            <a:chOff x="0" y="-28575"/>
            <a:chExt cx="2784094" cy="691820"/>
          </a:xfrm>
        </p:grpSpPr>
        <p:sp>
          <p:nvSpPr>
            <p:cNvPr id="999" name="Google Shape;999;p2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00" name="Google Shape;1000;p2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313">
                <a:solidFill>
                  <a:srgbClr val="000000"/>
                </a:solidFill>
                <a:latin typeface="Arial"/>
                <a:ea typeface="Arial"/>
                <a:cs typeface="Arial"/>
                <a:sym typeface="Arial"/>
              </a:endParaRPr>
            </a:p>
          </p:txBody>
        </p:sp>
      </p:grpSp>
      <p:grpSp>
        <p:nvGrpSpPr>
          <p:cNvPr id="1001" name="Google Shape;1001;p23"/>
          <p:cNvGrpSpPr/>
          <p:nvPr/>
        </p:nvGrpSpPr>
        <p:grpSpPr>
          <a:xfrm>
            <a:off x="-2186151" y="4089757"/>
            <a:ext cx="1957566" cy="486436"/>
            <a:chOff x="0" y="-28575"/>
            <a:chExt cx="2784094" cy="691820"/>
          </a:xfrm>
        </p:grpSpPr>
        <p:sp>
          <p:nvSpPr>
            <p:cNvPr id="1002" name="Google Shape;1002;p2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03" name="Google Shape;1003;p2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313">
                <a:solidFill>
                  <a:srgbClr val="000000"/>
                </a:solidFill>
                <a:latin typeface="Arial"/>
                <a:ea typeface="Arial"/>
                <a:cs typeface="Arial"/>
                <a:sym typeface="Arial"/>
              </a:endParaRPr>
            </a:p>
          </p:txBody>
        </p:sp>
      </p:grpSp>
      <p:grpSp>
        <p:nvGrpSpPr>
          <p:cNvPr id="1004" name="Google Shape;1004;p23"/>
          <p:cNvGrpSpPr/>
          <p:nvPr/>
        </p:nvGrpSpPr>
        <p:grpSpPr>
          <a:xfrm>
            <a:off x="-2186151" y="4816132"/>
            <a:ext cx="1957566" cy="486436"/>
            <a:chOff x="0" y="-28575"/>
            <a:chExt cx="2784094" cy="691820"/>
          </a:xfrm>
        </p:grpSpPr>
        <p:sp>
          <p:nvSpPr>
            <p:cNvPr id="1005" name="Google Shape;1005;p2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06" name="Google Shape;1006;p2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313">
                <a:solidFill>
                  <a:srgbClr val="000000"/>
                </a:solidFill>
                <a:latin typeface="Arial"/>
                <a:ea typeface="Arial"/>
                <a:cs typeface="Arial"/>
                <a:sym typeface="Arial"/>
              </a:endParaRPr>
            </a:p>
          </p:txBody>
        </p:sp>
      </p:grpSp>
      <p:grpSp>
        <p:nvGrpSpPr>
          <p:cNvPr id="1007" name="Google Shape;1007;p23"/>
          <p:cNvGrpSpPr/>
          <p:nvPr/>
        </p:nvGrpSpPr>
        <p:grpSpPr>
          <a:xfrm>
            <a:off x="-2186151" y="5542509"/>
            <a:ext cx="1957566" cy="486436"/>
            <a:chOff x="0" y="-28575"/>
            <a:chExt cx="2784094" cy="691820"/>
          </a:xfrm>
        </p:grpSpPr>
        <p:sp>
          <p:nvSpPr>
            <p:cNvPr id="1008" name="Google Shape;1008;p23"/>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09" name="Google Shape;1009;p23"/>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grpSp>
        <p:nvGrpSpPr>
          <p:cNvPr id="1010" name="Google Shape;1010;p23"/>
          <p:cNvGrpSpPr/>
          <p:nvPr/>
        </p:nvGrpSpPr>
        <p:grpSpPr>
          <a:xfrm>
            <a:off x="-2186151" y="1916319"/>
            <a:ext cx="1957566" cy="483632"/>
            <a:chOff x="0" y="-28575"/>
            <a:chExt cx="2784094" cy="687832"/>
          </a:xfrm>
        </p:grpSpPr>
        <p:sp>
          <p:nvSpPr>
            <p:cNvPr id="1011" name="Google Shape;1011;p23"/>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12" name="Google Shape;1012;p23"/>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313" u="none" cap="none" strike="noStrike">
                <a:solidFill>
                  <a:srgbClr val="000000"/>
                </a:solidFill>
                <a:latin typeface="Arial"/>
                <a:ea typeface="Arial"/>
                <a:cs typeface="Arial"/>
                <a:sym typeface="Arial"/>
              </a:endParaRPr>
            </a:p>
          </p:txBody>
        </p:sp>
      </p:grpSp>
      <p:cxnSp>
        <p:nvCxnSpPr>
          <p:cNvPr id="1013" name="Google Shape;1013;p23"/>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014" name="Google Shape;1014;p23"/>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015" name="Google Shape;1015;p23"/>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1016" name="Google Shape;1016;p23"/>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17" name="Google Shape;1017;p23"/>
          <p:cNvSpPr txBox="1"/>
          <p:nvPr/>
        </p:nvSpPr>
        <p:spPr>
          <a:xfrm>
            <a:off x="64294" y="455032"/>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DDM Model Output</a:t>
            </a:r>
            <a:endParaRPr sz="1313">
              <a:solidFill>
                <a:srgbClr val="000000"/>
              </a:solidFill>
              <a:latin typeface="Arial"/>
              <a:ea typeface="Arial"/>
              <a:cs typeface="Arial"/>
              <a:sym typeface="Arial"/>
            </a:endParaRPr>
          </a:p>
        </p:txBody>
      </p:sp>
      <p:grpSp>
        <p:nvGrpSpPr>
          <p:cNvPr id="1018" name="Google Shape;1018;p23"/>
          <p:cNvGrpSpPr/>
          <p:nvPr/>
        </p:nvGrpSpPr>
        <p:grpSpPr>
          <a:xfrm>
            <a:off x="1467896" y="4471217"/>
            <a:ext cx="3947769" cy="291580"/>
            <a:chOff x="0" y="-9525"/>
            <a:chExt cx="5614605" cy="414692"/>
          </a:xfrm>
        </p:grpSpPr>
        <p:sp>
          <p:nvSpPr>
            <p:cNvPr id="1019" name="Google Shape;1019;p23"/>
            <p:cNvSpPr/>
            <p:nvPr/>
          </p:nvSpPr>
          <p:spPr>
            <a:xfrm>
              <a:off x="0" y="0"/>
              <a:ext cx="5614543" cy="405130"/>
            </a:xfrm>
            <a:custGeom>
              <a:rect b="b" l="l" r="r" t="t"/>
              <a:pathLst>
                <a:path extrusionOk="0" h="405130" w="5614543">
                  <a:moveTo>
                    <a:pt x="0" y="0"/>
                  </a:moveTo>
                  <a:lnTo>
                    <a:pt x="5614543" y="0"/>
                  </a:lnTo>
                  <a:lnTo>
                    <a:pt x="5614543" y="405130"/>
                  </a:lnTo>
                  <a:lnTo>
                    <a:pt x="0" y="40513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20" name="Google Shape;1020;p23"/>
            <p:cNvSpPr txBox="1"/>
            <p:nvPr/>
          </p:nvSpPr>
          <p:spPr>
            <a:xfrm>
              <a:off x="0" y="-9525"/>
              <a:ext cx="5614605" cy="414692"/>
            </a:xfrm>
            <a:prstGeom prst="rect">
              <a:avLst/>
            </a:prstGeom>
            <a:noFill/>
            <a:ln>
              <a:noFill/>
            </a:ln>
          </p:spPr>
          <p:txBody>
            <a:bodyPr anchorCtr="0" anchor="ctr" bIns="47625" lIns="47625" spcFirstLastPara="1" rIns="47625" wrap="square" tIns="47625">
              <a:noAutofit/>
            </a:bodyPr>
            <a:lstStyle/>
            <a:p>
              <a:pPr indent="0" lvl="0" marL="0" marR="0" rtl="0" algn="l">
                <a:lnSpc>
                  <a:spcPct val="107946"/>
                </a:lnSpc>
                <a:spcBef>
                  <a:spcPts val="0"/>
                </a:spcBef>
                <a:spcAft>
                  <a:spcPts val="0"/>
                </a:spcAft>
                <a:buNone/>
              </a:pPr>
              <a:r>
                <a:rPr b="1" lang="en-US" sz="1050">
                  <a:solidFill>
                    <a:srgbClr val="FFFFFF"/>
                  </a:solidFill>
                  <a:latin typeface="Arial"/>
                  <a:ea typeface="Arial"/>
                  <a:cs typeface="Arial"/>
                  <a:sym typeface="Arial"/>
                </a:rPr>
                <a:t>Sensitivity</a:t>
              </a:r>
              <a:r>
                <a:rPr b="1" lang="en-US" sz="1050">
                  <a:solidFill>
                    <a:srgbClr val="000000"/>
                  </a:solidFill>
                  <a:latin typeface="Arial"/>
                  <a:ea typeface="Arial"/>
                  <a:cs typeface="Arial"/>
                  <a:sym typeface="Arial"/>
                </a:rPr>
                <a:t> </a:t>
              </a:r>
              <a:r>
                <a:rPr b="1" lang="en-US" sz="1050">
                  <a:solidFill>
                    <a:srgbClr val="FFFFFF"/>
                  </a:solidFill>
                  <a:latin typeface="Arial"/>
                  <a:ea typeface="Arial"/>
                  <a:cs typeface="Arial"/>
                  <a:sym typeface="Arial"/>
                </a:rPr>
                <a:t>Analysis</a:t>
              </a:r>
              <a:endParaRPr sz="1313">
                <a:solidFill>
                  <a:srgbClr val="000000"/>
                </a:solidFill>
                <a:latin typeface="Arial"/>
                <a:ea typeface="Arial"/>
                <a:cs typeface="Arial"/>
                <a:sym typeface="Arial"/>
              </a:endParaRPr>
            </a:p>
          </p:txBody>
        </p:sp>
      </p:grpSp>
      <p:sp>
        <p:nvSpPr>
          <p:cNvPr id="1021" name="Google Shape;1021;p23"/>
          <p:cNvSpPr/>
          <p:nvPr/>
        </p:nvSpPr>
        <p:spPr>
          <a:xfrm>
            <a:off x="1474833" y="3673016"/>
            <a:ext cx="4766489" cy="541853"/>
          </a:xfrm>
          <a:custGeom>
            <a:rect b="b" l="l" r="r" t="t"/>
            <a:pathLst>
              <a:path extrusionOk="0" h="770636" w="6779006">
                <a:moveTo>
                  <a:pt x="0" y="0"/>
                </a:moveTo>
                <a:lnTo>
                  <a:pt x="6779006" y="0"/>
                </a:lnTo>
                <a:lnTo>
                  <a:pt x="6779006" y="770636"/>
                </a:lnTo>
                <a:lnTo>
                  <a:pt x="0" y="770636"/>
                </a:lnTo>
                <a:close/>
              </a:path>
            </a:pathLst>
          </a:custGeom>
          <a:solidFill>
            <a:srgbClr val="17375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022" name="Google Shape;1022;p23"/>
          <p:cNvCxnSpPr/>
          <p:nvPr/>
        </p:nvCxnSpPr>
        <p:spPr>
          <a:xfrm>
            <a:off x="3858060" y="3673016"/>
            <a:ext cx="0" cy="541853"/>
          </a:xfrm>
          <a:prstGeom prst="straightConnector1">
            <a:avLst/>
          </a:prstGeom>
          <a:noFill/>
          <a:ln cap="rnd" cmpd="sng" w="9525">
            <a:solidFill>
              <a:srgbClr val="FFFFFF"/>
            </a:solidFill>
            <a:prstDash val="solid"/>
            <a:round/>
            <a:headEnd len="sm" w="sm" type="none"/>
            <a:tailEnd len="sm" w="sm" type="none"/>
          </a:ln>
        </p:spPr>
      </p:cxnSp>
      <p:cxnSp>
        <p:nvCxnSpPr>
          <p:cNvPr id="1023" name="Google Shape;1023;p23"/>
          <p:cNvCxnSpPr/>
          <p:nvPr/>
        </p:nvCxnSpPr>
        <p:spPr>
          <a:xfrm>
            <a:off x="2768115" y="3605724"/>
            <a:ext cx="9525" cy="693189"/>
          </a:xfrm>
          <a:prstGeom prst="straightConnector1">
            <a:avLst/>
          </a:prstGeom>
          <a:noFill/>
          <a:ln cap="rnd" cmpd="sng" w="9525">
            <a:solidFill>
              <a:srgbClr val="FFFFFF"/>
            </a:solidFill>
            <a:prstDash val="solid"/>
            <a:round/>
            <a:headEnd len="sm" w="sm" type="none"/>
            <a:tailEnd len="sm" w="sm" type="none"/>
          </a:ln>
        </p:spPr>
      </p:cxnSp>
      <p:cxnSp>
        <p:nvCxnSpPr>
          <p:cNvPr id="1024" name="Google Shape;1024;p23"/>
          <p:cNvCxnSpPr/>
          <p:nvPr/>
        </p:nvCxnSpPr>
        <p:spPr>
          <a:xfrm>
            <a:off x="5187366" y="3605724"/>
            <a:ext cx="9525" cy="693189"/>
          </a:xfrm>
          <a:prstGeom prst="straightConnector1">
            <a:avLst/>
          </a:prstGeom>
          <a:noFill/>
          <a:ln cap="rnd" cmpd="sng" w="9525">
            <a:solidFill>
              <a:srgbClr val="FFFFFF"/>
            </a:solidFill>
            <a:prstDash val="solid"/>
            <a:round/>
            <a:headEnd len="sm" w="sm" type="none"/>
            <a:tailEnd len="sm" w="sm" type="none"/>
          </a:ln>
        </p:spPr>
      </p:cxnSp>
      <p:grpSp>
        <p:nvGrpSpPr>
          <p:cNvPr id="1025" name="Google Shape;1025;p23"/>
          <p:cNvGrpSpPr/>
          <p:nvPr/>
        </p:nvGrpSpPr>
        <p:grpSpPr>
          <a:xfrm>
            <a:off x="1467896" y="1206408"/>
            <a:ext cx="3947769" cy="291580"/>
            <a:chOff x="0" y="-9525"/>
            <a:chExt cx="5614605" cy="414692"/>
          </a:xfrm>
        </p:grpSpPr>
        <p:sp>
          <p:nvSpPr>
            <p:cNvPr id="1026" name="Google Shape;1026;p23"/>
            <p:cNvSpPr/>
            <p:nvPr/>
          </p:nvSpPr>
          <p:spPr>
            <a:xfrm>
              <a:off x="0" y="0"/>
              <a:ext cx="5614543" cy="405130"/>
            </a:xfrm>
            <a:custGeom>
              <a:rect b="b" l="l" r="r" t="t"/>
              <a:pathLst>
                <a:path extrusionOk="0" h="405130" w="5614543">
                  <a:moveTo>
                    <a:pt x="0" y="0"/>
                  </a:moveTo>
                  <a:lnTo>
                    <a:pt x="5614543" y="0"/>
                  </a:lnTo>
                  <a:lnTo>
                    <a:pt x="5614543" y="405130"/>
                  </a:lnTo>
                  <a:lnTo>
                    <a:pt x="0" y="405130"/>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27" name="Google Shape;1027;p23"/>
            <p:cNvSpPr txBox="1"/>
            <p:nvPr/>
          </p:nvSpPr>
          <p:spPr>
            <a:xfrm>
              <a:off x="0" y="-9525"/>
              <a:ext cx="5614605" cy="414692"/>
            </a:xfrm>
            <a:prstGeom prst="rect">
              <a:avLst/>
            </a:prstGeom>
            <a:noFill/>
            <a:ln>
              <a:noFill/>
            </a:ln>
          </p:spPr>
          <p:txBody>
            <a:bodyPr anchorCtr="0" anchor="ctr" bIns="47625" lIns="47625" spcFirstLastPara="1" rIns="47625" wrap="square" tIns="47625">
              <a:noAutofit/>
            </a:bodyPr>
            <a:lstStyle/>
            <a:p>
              <a:pPr indent="0" lvl="0" marL="0" marR="0" rtl="0" algn="l">
                <a:lnSpc>
                  <a:spcPct val="107946"/>
                </a:lnSpc>
                <a:spcBef>
                  <a:spcPts val="0"/>
                </a:spcBef>
                <a:spcAft>
                  <a:spcPts val="0"/>
                </a:spcAft>
                <a:buNone/>
              </a:pPr>
              <a:r>
                <a:rPr b="1" lang="en-US" sz="1050">
                  <a:solidFill>
                    <a:srgbClr val="FFFFFF"/>
                  </a:solidFill>
                  <a:latin typeface="Arial"/>
                  <a:ea typeface="Arial"/>
                  <a:cs typeface="Arial"/>
                  <a:sym typeface="Arial"/>
                </a:rPr>
                <a:t>Terminal Value – Gordon Growth Model</a:t>
              </a:r>
              <a:endParaRPr sz="1313">
                <a:solidFill>
                  <a:srgbClr val="000000"/>
                </a:solidFill>
                <a:latin typeface="Arial"/>
                <a:ea typeface="Arial"/>
                <a:cs typeface="Arial"/>
                <a:sym typeface="Arial"/>
              </a:endParaRPr>
            </a:p>
          </p:txBody>
        </p:sp>
      </p:grpSp>
      <p:sp>
        <p:nvSpPr>
          <p:cNvPr id="1028" name="Google Shape;1028;p23"/>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313">
              <a:solidFill>
                <a:srgbClr val="000000"/>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313">
              <a:solidFill>
                <a:srgbClr val="000000"/>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313">
              <a:solidFill>
                <a:srgbClr val="000000"/>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313">
              <a:solidFill>
                <a:srgbClr val="000000"/>
              </a:solidFill>
              <a:latin typeface="Arial"/>
              <a:ea typeface="Arial"/>
              <a:cs typeface="Arial"/>
              <a:sym typeface="Arial"/>
            </a:endParaRPr>
          </a:p>
        </p:txBody>
      </p:sp>
      <p:sp>
        <p:nvSpPr>
          <p:cNvPr id="1029" name="Google Shape;1029;p23"/>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sp>
        <p:nvSpPr>
          <p:cNvPr id="1030" name="Google Shape;1030;p23"/>
          <p:cNvSpPr txBox="1"/>
          <p:nvPr/>
        </p:nvSpPr>
        <p:spPr>
          <a:xfrm>
            <a:off x="1615344" y="3763138"/>
            <a:ext cx="998557" cy="3323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
                <a:solidFill>
                  <a:srgbClr val="FFFFFF"/>
                </a:solidFill>
                <a:latin typeface="Arial"/>
                <a:ea typeface="Arial"/>
                <a:cs typeface="Arial"/>
                <a:sym typeface="Arial"/>
              </a:rPr>
              <a:t>Implied Share Price from DDM</a:t>
            </a:r>
            <a:endParaRPr sz="1313">
              <a:solidFill>
                <a:srgbClr val="000000"/>
              </a:solidFill>
              <a:latin typeface="Arial"/>
              <a:ea typeface="Arial"/>
              <a:cs typeface="Arial"/>
              <a:sym typeface="Arial"/>
            </a:endParaRPr>
          </a:p>
        </p:txBody>
      </p:sp>
      <p:sp>
        <p:nvSpPr>
          <p:cNvPr id="1031" name="Google Shape;1031;p23"/>
          <p:cNvSpPr txBox="1"/>
          <p:nvPr/>
        </p:nvSpPr>
        <p:spPr>
          <a:xfrm>
            <a:off x="3978386" y="3763138"/>
            <a:ext cx="1088656" cy="3323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
                <a:solidFill>
                  <a:srgbClr val="FFFFFF"/>
                </a:solidFill>
                <a:latin typeface="Arial"/>
                <a:ea typeface="Arial"/>
                <a:cs typeface="Arial"/>
                <a:sym typeface="Arial"/>
              </a:rPr>
              <a:t>Premium to Current Share Price</a:t>
            </a:r>
            <a:endParaRPr sz="1313">
              <a:solidFill>
                <a:srgbClr val="000000"/>
              </a:solidFill>
              <a:latin typeface="Arial"/>
              <a:ea typeface="Arial"/>
              <a:cs typeface="Arial"/>
              <a:sym typeface="Arial"/>
            </a:endParaRPr>
          </a:p>
        </p:txBody>
      </p:sp>
      <p:sp>
        <p:nvSpPr>
          <p:cNvPr id="1032" name="Google Shape;1032;p23"/>
          <p:cNvSpPr txBox="1"/>
          <p:nvPr/>
        </p:nvSpPr>
        <p:spPr>
          <a:xfrm>
            <a:off x="2839843" y="3831796"/>
            <a:ext cx="976500" cy="1938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050">
                <a:solidFill>
                  <a:srgbClr val="FFFFFF"/>
                </a:solidFill>
                <a:latin typeface="Arial"/>
                <a:ea typeface="Arial"/>
                <a:cs typeface="Arial"/>
                <a:sym typeface="Arial"/>
              </a:rPr>
              <a:t> $118.02</a:t>
            </a:r>
            <a:endParaRPr sz="1313">
              <a:solidFill>
                <a:srgbClr val="000000"/>
              </a:solidFill>
              <a:latin typeface="Arial"/>
              <a:ea typeface="Arial"/>
              <a:cs typeface="Arial"/>
              <a:sym typeface="Arial"/>
            </a:endParaRPr>
          </a:p>
        </p:txBody>
      </p:sp>
      <p:sp>
        <p:nvSpPr>
          <p:cNvPr id="1033" name="Google Shape;1033;p23"/>
          <p:cNvSpPr txBox="1"/>
          <p:nvPr/>
        </p:nvSpPr>
        <p:spPr>
          <a:xfrm>
            <a:off x="5233904" y="3841318"/>
            <a:ext cx="976500" cy="19389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050">
                <a:solidFill>
                  <a:srgbClr val="FFFFFF"/>
                </a:solidFill>
                <a:latin typeface="Arial"/>
                <a:ea typeface="Arial"/>
                <a:cs typeface="Arial"/>
                <a:sym typeface="Arial"/>
              </a:rPr>
              <a:t>+53.7%</a:t>
            </a:r>
            <a:endParaRPr sz="1313">
              <a:solidFill>
                <a:srgbClr val="000000"/>
              </a:solidFill>
              <a:latin typeface="Arial"/>
              <a:ea typeface="Arial"/>
              <a:cs typeface="Arial"/>
              <a:sym typeface="Arial"/>
            </a:endParaRPr>
          </a:p>
        </p:txBody>
      </p:sp>
      <p:sp>
        <p:nvSpPr>
          <p:cNvPr id="1034" name="Google Shape;1034;p23"/>
          <p:cNvSpPr txBox="1"/>
          <p:nvPr/>
        </p:nvSpPr>
        <p:spPr>
          <a:xfrm>
            <a:off x="1467896" y="1864290"/>
            <a:ext cx="2239031"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Dividends 2024  : $1.94   </a:t>
            </a:r>
            <a:endParaRPr sz="1313">
              <a:solidFill>
                <a:srgbClr val="000000"/>
              </a:solidFill>
              <a:latin typeface="Arial"/>
              <a:ea typeface="Arial"/>
              <a:cs typeface="Arial"/>
              <a:sym typeface="Arial"/>
            </a:endParaRPr>
          </a:p>
        </p:txBody>
      </p:sp>
      <p:sp>
        <p:nvSpPr>
          <p:cNvPr id="1035" name="Google Shape;1035;p23"/>
          <p:cNvSpPr txBox="1"/>
          <p:nvPr/>
        </p:nvSpPr>
        <p:spPr>
          <a:xfrm>
            <a:off x="1474833" y="2105685"/>
            <a:ext cx="4130513"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chemeClr val="dk1"/>
                </a:solidFill>
                <a:latin typeface="Arial"/>
                <a:ea typeface="Arial"/>
                <a:cs typeface="Arial"/>
                <a:sym typeface="Arial"/>
              </a:rPr>
              <a:t>Estimated dividends :</a:t>
            </a:r>
            <a:endParaRPr sz="1313">
              <a:solidFill>
                <a:srgbClr val="000000"/>
              </a:solidFill>
              <a:latin typeface="Arial"/>
              <a:ea typeface="Arial"/>
              <a:cs typeface="Arial"/>
              <a:sym typeface="Arial"/>
            </a:endParaRPr>
          </a:p>
        </p:txBody>
      </p:sp>
      <p:sp>
        <p:nvSpPr>
          <p:cNvPr id="1036" name="Google Shape;1036;p23"/>
          <p:cNvSpPr txBox="1"/>
          <p:nvPr/>
        </p:nvSpPr>
        <p:spPr>
          <a:xfrm>
            <a:off x="1467896" y="3380308"/>
            <a:ext cx="4130513"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chemeClr val="dk1"/>
                </a:solidFill>
                <a:latin typeface="Arial"/>
                <a:ea typeface="Arial"/>
                <a:cs typeface="Arial"/>
                <a:sym typeface="Arial"/>
              </a:rPr>
              <a:t>Cost of Equity</a:t>
            </a:r>
            <a:r>
              <a:rPr b="1" lang="en-US" sz="1125">
                <a:solidFill>
                  <a:srgbClr val="000000"/>
                </a:solidFill>
                <a:latin typeface="Arial"/>
                <a:ea typeface="Arial"/>
                <a:cs typeface="Arial"/>
                <a:sym typeface="Arial"/>
              </a:rPr>
              <a:t>: 7.71%</a:t>
            </a:r>
            <a:endParaRPr sz="1313">
              <a:solidFill>
                <a:srgbClr val="000000"/>
              </a:solidFill>
              <a:latin typeface="Arial"/>
              <a:ea typeface="Arial"/>
              <a:cs typeface="Arial"/>
              <a:sym typeface="Arial"/>
            </a:endParaRPr>
          </a:p>
        </p:txBody>
      </p:sp>
      <p:sp>
        <p:nvSpPr>
          <p:cNvPr id="1037" name="Google Shape;1037;p23"/>
          <p:cNvSpPr txBox="1"/>
          <p:nvPr/>
        </p:nvSpPr>
        <p:spPr>
          <a:xfrm>
            <a:off x="1467896" y="3154893"/>
            <a:ext cx="4130513"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chemeClr val="dk1"/>
                </a:solidFill>
                <a:latin typeface="Arial"/>
                <a:ea typeface="Arial"/>
                <a:cs typeface="Arial"/>
                <a:sym typeface="Arial"/>
              </a:rPr>
              <a:t>D</a:t>
            </a:r>
            <a:r>
              <a:rPr b="1" lang="en-US" sz="1125">
                <a:solidFill>
                  <a:srgbClr val="000000"/>
                </a:solidFill>
                <a:latin typeface="Arial"/>
                <a:ea typeface="Arial"/>
                <a:cs typeface="Arial"/>
                <a:sym typeface="Arial"/>
              </a:rPr>
              <a:t>ividend growth rate perpetual : 5.00%</a:t>
            </a:r>
            <a:endParaRPr sz="1313">
              <a:solidFill>
                <a:srgbClr val="000000"/>
              </a:solidFill>
              <a:latin typeface="Arial"/>
              <a:ea typeface="Arial"/>
              <a:cs typeface="Arial"/>
              <a:sym typeface="Arial"/>
            </a:endParaRPr>
          </a:p>
        </p:txBody>
      </p:sp>
      <p:sp>
        <p:nvSpPr>
          <p:cNvPr id="1038" name="Google Shape;1038;p23"/>
          <p:cNvSpPr txBox="1"/>
          <p:nvPr/>
        </p:nvSpPr>
        <p:spPr>
          <a:xfrm>
            <a:off x="1467896" y="1621254"/>
            <a:ext cx="2239031" cy="207749"/>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1" lang="en-US" sz="1125">
                <a:solidFill>
                  <a:srgbClr val="000000"/>
                </a:solidFill>
                <a:latin typeface="Arial"/>
                <a:ea typeface="Arial"/>
                <a:cs typeface="Arial"/>
                <a:sym typeface="Arial"/>
              </a:rPr>
              <a:t>Dividend yield  : 2.65%</a:t>
            </a:r>
            <a:endParaRPr sz="1313">
              <a:solidFill>
                <a:srgbClr val="000000"/>
              </a:solidFill>
              <a:latin typeface="Arial"/>
              <a:ea typeface="Arial"/>
              <a:cs typeface="Arial"/>
              <a:sym typeface="Arial"/>
            </a:endParaRPr>
          </a:p>
        </p:txBody>
      </p:sp>
      <p:graphicFrame>
        <p:nvGraphicFramePr>
          <p:cNvPr id="1039" name="Google Shape;1039;p23"/>
          <p:cNvGraphicFramePr/>
          <p:nvPr/>
        </p:nvGraphicFramePr>
        <p:xfrm>
          <a:off x="1467896" y="2319005"/>
          <a:ext cx="3000000" cy="3000000"/>
        </p:xfrm>
        <a:graphic>
          <a:graphicData uri="http://schemas.openxmlformats.org/drawingml/2006/table">
            <a:tbl>
              <a:tblPr>
                <a:noFill/>
                <a:tableStyleId>{9631001D-9986-4F02-BF56-0136913FF124}</a:tableStyleId>
              </a:tblPr>
              <a:tblGrid>
                <a:gridCol w="892975"/>
                <a:gridCol w="892975"/>
                <a:gridCol w="892975"/>
                <a:gridCol w="892975"/>
                <a:gridCol w="892975"/>
                <a:gridCol w="892975"/>
                <a:gridCol w="892975"/>
                <a:gridCol w="892975"/>
              </a:tblGrid>
              <a:tr h="266075">
                <a:tc>
                  <a:txBody>
                    <a:bodyPr/>
                    <a:lstStyle/>
                    <a:p>
                      <a:pPr indent="0" lvl="0" marL="0" marR="0" rtl="0" algn="l">
                        <a:spcBef>
                          <a:spcPts val="0"/>
                        </a:spcBef>
                        <a:spcAft>
                          <a:spcPts val="0"/>
                        </a:spcAft>
                        <a:buClr>
                          <a:schemeClr val="dk1"/>
                        </a:buClr>
                        <a:buSzPts val="1000"/>
                        <a:buFont typeface="Arial"/>
                        <a:buNone/>
                      </a:pPr>
                      <a:r>
                        <a:t/>
                      </a:r>
                      <a:endParaRPr b="0" i="0" sz="1000" u="none" cap="none" strike="noStrike">
                        <a:solidFill>
                          <a:srgbClr val="000000"/>
                        </a:solidFill>
                        <a:latin typeface="Calibri"/>
                        <a:ea typeface="Calibri"/>
                        <a:cs typeface="Calibri"/>
                        <a:sym typeface="Calibri"/>
                      </a:endParaRPr>
                    </a:p>
                  </a:txBody>
                  <a:tcPr marT="8925" marB="0" marR="8925" marL="8925" anchor="b">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2025</a:t>
                      </a:r>
                      <a:endParaRPr b="0" i="0" sz="1000" u="none" cap="none" strike="noStrike">
                        <a:solidFill>
                          <a:srgbClr val="000000"/>
                        </a:solidFill>
                        <a:latin typeface="Calibri"/>
                        <a:ea typeface="Calibri"/>
                        <a:cs typeface="Calibri"/>
                        <a:sym typeface="Calibri"/>
                      </a:endParaRPr>
                    </a:p>
                  </a:txBody>
                  <a:tcPr marT="8925" marB="0" marR="8925" marL="8925" anchor="ctr">
                    <a:lnL cap="flat" cmpd="sng" w="12700">
                      <a:solidFill>
                        <a:schemeClr val="dk1"/>
                      </a:solidFill>
                      <a:prstDash val="solid"/>
                      <a:round/>
                      <a:headEnd len="sm" w="sm" type="none"/>
                      <a:tailEnd len="sm" w="sm" type="none"/>
                    </a:lnL>
                  </a:tcP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2026</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2027</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2028</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2029</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2030</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2031</a:t>
                      </a:r>
                      <a:endParaRPr b="0" i="0" sz="1000" u="none" cap="none" strike="noStrike">
                        <a:solidFill>
                          <a:srgbClr val="000000"/>
                        </a:solidFill>
                        <a:latin typeface="Calibri"/>
                        <a:ea typeface="Calibri"/>
                        <a:cs typeface="Calibri"/>
                        <a:sym typeface="Calibri"/>
                      </a:endParaRPr>
                    </a:p>
                  </a:txBody>
                  <a:tcPr marT="8925" marB="0" marR="8925" marL="8925" anchor="ctr"/>
                </a:tc>
              </a:tr>
              <a:tr h="266075">
                <a:tc>
                  <a:txBody>
                    <a:bodyPr/>
                    <a:lstStyle/>
                    <a:p>
                      <a:pPr indent="0" lvl="0" marL="0" marR="0" rtl="0" algn="l">
                        <a:spcBef>
                          <a:spcPts val="0"/>
                        </a:spcBef>
                        <a:spcAft>
                          <a:spcPts val="0"/>
                        </a:spcAft>
                        <a:buClr>
                          <a:schemeClr val="dk1"/>
                        </a:buClr>
                        <a:buSzPts val="1000"/>
                        <a:buFont typeface="Arial"/>
                        <a:buNone/>
                      </a:pPr>
                      <a:r>
                        <a:rPr lang="en-US" sz="1000" u="none" cap="none" strike="noStrike"/>
                        <a:t>dividends</a:t>
                      </a:r>
                      <a:endParaRPr b="0" i="0" sz="1000" u="none" cap="none" strike="noStrike">
                        <a:solidFill>
                          <a:srgbClr val="000000"/>
                        </a:solidFill>
                        <a:latin typeface="Calibri"/>
                        <a:ea typeface="Calibri"/>
                        <a:cs typeface="Calibri"/>
                        <a:sym typeface="Calibri"/>
                      </a:endParaRPr>
                    </a:p>
                  </a:txBody>
                  <a:tcPr marT="8925" marB="0" marR="8925" marL="8925" anchor="b">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2,04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2,15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2,26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2,37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2,49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2,62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2,76 </a:t>
                      </a:r>
                      <a:endParaRPr b="0" i="0" sz="1000" u="none" cap="none" strike="noStrike">
                        <a:solidFill>
                          <a:srgbClr val="000000"/>
                        </a:solidFill>
                        <a:latin typeface="Calibri"/>
                        <a:ea typeface="Calibri"/>
                        <a:cs typeface="Calibri"/>
                        <a:sym typeface="Calibri"/>
                      </a:endParaRPr>
                    </a:p>
                  </a:txBody>
                  <a:tcPr marT="8925" marB="0" marR="8925" marL="8925" anchor="ctr"/>
                </a:tc>
              </a:tr>
              <a:tr h="266075">
                <a:tc>
                  <a:txBody>
                    <a:bodyPr/>
                    <a:lstStyle/>
                    <a:p>
                      <a:pPr indent="0" lvl="0" marL="0" marR="0" rtl="0" algn="l">
                        <a:spcBef>
                          <a:spcPts val="0"/>
                        </a:spcBef>
                        <a:spcAft>
                          <a:spcPts val="0"/>
                        </a:spcAft>
                        <a:buClr>
                          <a:schemeClr val="dk1"/>
                        </a:buClr>
                        <a:buSzPts val="1000"/>
                        <a:buFont typeface="Arial"/>
                        <a:buNone/>
                      </a:pPr>
                      <a:r>
                        <a:rPr lang="en-US" sz="1000" u="none" cap="none" strike="noStrike"/>
                        <a:t>PV</a:t>
                      </a:r>
                      <a:endParaRPr b="0" i="0" sz="1000" u="none" cap="none" strike="noStrike">
                        <a:solidFill>
                          <a:srgbClr val="000000"/>
                        </a:solidFill>
                        <a:latin typeface="Calibri"/>
                        <a:ea typeface="Calibri"/>
                        <a:cs typeface="Calibri"/>
                        <a:sym typeface="Calibri"/>
                      </a:endParaRPr>
                    </a:p>
                  </a:txBody>
                  <a:tcPr marT="8925" marB="0" marR="8925" marL="8925" anchor="b"/>
                </a:tc>
                <a:tc>
                  <a:txBody>
                    <a:bodyPr/>
                    <a:lstStyle/>
                    <a:p>
                      <a:pPr indent="0" lvl="0" marL="0" marR="0" rtl="0" algn="r">
                        <a:spcBef>
                          <a:spcPts val="0"/>
                        </a:spcBef>
                        <a:spcAft>
                          <a:spcPts val="0"/>
                        </a:spcAft>
                        <a:buClr>
                          <a:schemeClr val="dk1"/>
                        </a:buClr>
                        <a:buSzPts val="1000"/>
                        <a:buFont typeface="Arial"/>
                        <a:buNone/>
                      </a:pPr>
                      <a:r>
                        <a:rPr lang="en-US" sz="1000" u="none" cap="none" strike="noStrike"/>
                        <a:t>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1,99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1,94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1,90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1,85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1,81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r">
                        <a:spcBef>
                          <a:spcPts val="0"/>
                        </a:spcBef>
                        <a:spcAft>
                          <a:spcPts val="0"/>
                        </a:spcAft>
                        <a:buClr>
                          <a:schemeClr val="dk1"/>
                        </a:buClr>
                        <a:buSzPts val="1000"/>
                        <a:buFont typeface="Arial"/>
                        <a:buNone/>
                      </a:pPr>
                      <a:r>
                        <a:rPr lang="en-US" sz="1000" u="none" cap="none" strike="noStrike"/>
                        <a:t>1,77 </a:t>
                      </a:r>
                      <a:endParaRPr b="0" i="0" sz="1000" u="none" cap="none" strike="noStrike">
                        <a:solidFill>
                          <a:srgbClr val="000000"/>
                        </a:solidFill>
                        <a:latin typeface="Calibri"/>
                        <a:ea typeface="Calibri"/>
                        <a:cs typeface="Calibri"/>
                        <a:sym typeface="Calibri"/>
                      </a:endParaRPr>
                    </a:p>
                  </a:txBody>
                  <a:tcPr marT="8925" marB="0" marR="8925" marL="8925" anchor="ctr"/>
                </a:tc>
              </a:tr>
            </a:tbl>
          </a:graphicData>
        </a:graphic>
      </p:graphicFrame>
      <p:pic>
        <p:nvPicPr>
          <p:cNvPr descr="Une image contenant texte, capture d’écran, Police, nombre&#10;&#10;Le contenu généré par l’IA peut être incorrect." id="1040" name="Google Shape;1040;p23"/>
          <p:cNvPicPr preferRelativeResize="0"/>
          <p:nvPr/>
        </p:nvPicPr>
        <p:blipFill rotWithShape="1">
          <a:blip r:embed="rId4">
            <a:alphaModFix/>
          </a:blip>
          <a:srcRect b="0" l="0" r="0" t="0"/>
          <a:stretch/>
        </p:blipFill>
        <p:spPr>
          <a:xfrm>
            <a:off x="1474833" y="4840006"/>
            <a:ext cx="6274594" cy="132159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grpSp>
        <p:nvGrpSpPr>
          <p:cNvPr id="1049" name="Google Shape;1049;p24"/>
          <p:cNvGrpSpPr/>
          <p:nvPr/>
        </p:nvGrpSpPr>
        <p:grpSpPr>
          <a:xfrm>
            <a:off x="-2192501" y="2633500"/>
            <a:ext cx="1970251" cy="496313"/>
            <a:chOff x="0" y="-28575"/>
            <a:chExt cx="2802135" cy="705866"/>
          </a:xfrm>
        </p:grpSpPr>
        <p:sp>
          <p:nvSpPr>
            <p:cNvPr id="1050" name="Google Shape;1050;p24"/>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51" name="Google Shape;1051;p24"/>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052" name="Google Shape;1052;p24"/>
          <p:cNvGrpSpPr/>
          <p:nvPr/>
        </p:nvGrpSpPr>
        <p:grpSpPr>
          <a:xfrm>
            <a:off x="-2186151" y="4816132"/>
            <a:ext cx="1957566" cy="486436"/>
            <a:chOff x="0" y="-28575"/>
            <a:chExt cx="2784094" cy="691820"/>
          </a:xfrm>
        </p:grpSpPr>
        <p:sp>
          <p:nvSpPr>
            <p:cNvPr id="1053" name="Google Shape;1053;p2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54" name="Google Shape;1054;p2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055" name="Google Shape;1055;p24"/>
          <p:cNvGrpSpPr/>
          <p:nvPr/>
        </p:nvGrpSpPr>
        <p:grpSpPr>
          <a:xfrm>
            <a:off x="-2186151" y="5542509"/>
            <a:ext cx="1957566" cy="486436"/>
            <a:chOff x="0" y="-28575"/>
            <a:chExt cx="2784094" cy="691820"/>
          </a:xfrm>
        </p:grpSpPr>
        <p:sp>
          <p:nvSpPr>
            <p:cNvPr id="1056" name="Google Shape;1056;p24"/>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57" name="Google Shape;1057;p24"/>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058" name="Google Shape;1058;p24"/>
          <p:cNvGrpSpPr/>
          <p:nvPr/>
        </p:nvGrpSpPr>
        <p:grpSpPr>
          <a:xfrm>
            <a:off x="-2186151" y="1916319"/>
            <a:ext cx="1957566" cy="483632"/>
            <a:chOff x="0" y="-28575"/>
            <a:chExt cx="2784094" cy="687832"/>
          </a:xfrm>
        </p:grpSpPr>
        <p:sp>
          <p:nvSpPr>
            <p:cNvPr id="1059" name="Google Shape;1059;p24"/>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60" name="Google Shape;1060;p24"/>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cxnSp>
        <p:nvCxnSpPr>
          <p:cNvPr id="1061" name="Google Shape;1061;p24"/>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062" name="Google Shape;1062;p24"/>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063" name="Google Shape;1063;p24"/>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1064" name="Google Shape;1064;p24"/>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65" name="Google Shape;1065;p24"/>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sp>
        <p:nvSpPr>
          <p:cNvPr id="1066" name="Google Shape;1066;p24"/>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sp>
        <p:nvSpPr>
          <p:cNvPr id="1067" name="Google Shape;1067;p24"/>
          <p:cNvSpPr txBox="1"/>
          <p:nvPr/>
        </p:nvSpPr>
        <p:spPr>
          <a:xfrm>
            <a:off x="64294" y="455032"/>
            <a:ext cx="398567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Comparables Analysis</a:t>
            </a:r>
            <a:endParaRPr sz="1688">
              <a:solidFill>
                <a:schemeClr val="dk1"/>
              </a:solidFill>
              <a:latin typeface="Arial"/>
              <a:ea typeface="Arial"/>
              <a:cs typeface="Arial"/>
              <a:sym typeface="Arial"/>
            </a:endParaRPr>
          </a:p>
        </p:txBody>
      </p:sp>
      <p:sp>
        <p:nvSpPr>
          <p:cNvPr id="1068" name="Google Shape;1068;p24"/>
          <p:cNvSpPr txBox="1"/>
          <p:nvPr/>
        </p:nvSpPr>
        <p:spPr>
          <a:xfrm>
            <a:off x="239485" y="1213069"/>
            <a:ext cx="2734181" cy="1402885"/>
          </a:xfrm>
          <a:prstGeom prst="rect">
            <a:avLst/>
          </a:prstGeom>
          <a:noFill/>
          <a:ln>
            <a:noFill/>
          </a:ln>
        </p:spPr>
        <p:txBody>
          <a:bodyPr anchorCtr="0" anchor="t" bIns="0" lIns="0" spcFirstLastPara="1" rIns="0" wrap="square" tIns="0">
            <a:spAutoFit/>
          </a:bodyPr>
          <a:lstStyle/>
          <a:p>
            <a:pPr indent="0" lvl="0" marL="0" marR="0" rtl="0" algn="just">
              <a:lnSpc>
                <a:spcPct val="119981"/>
              </a:lnSpc>
              <a:spcBef>
                <a:spcPts val="0"/>
              </a:spcBef>
              <a:spcAft>
                <a:spcPts val="0"/>
              </a:spcAft>
              <a:buNone/>
            </a:pPr>
            <a:r>
              <a:rPr b="1" lang="en-US" sz="844">
                <a:solidFill>
                  <a:srgbClr val="000000"/>
                </a:solidFill>
                <a:latin typeface="Arial"/>
                <a:ea typeface="Arial"/>
                <a:cs typeface="Arial"/>
                <a:sym typeface="Arial"/>
              </a:rPr>
              <a:t>Key similarities: </a:t>
            </a:r>
            <a:r>
              <a:rPr lang="en-US" sz="844">
                <a:solidFill>
                  <a:srgbClr val="000000"/>
                </a:solidFill>
                <a:latin typeface="Arial"/>
                <a:ea typeface="Arial"/>
                <a:cs typeface="Arial"/>
                <a:sym typeface="Arial"/>
              </a:rPr>
              <a:t>These firms manage diversified energy portfolios spanning oil, gas, and increasingly, renewable energy projects. TotalEnergies can remain competitive by accelerating its transition toward low-carbon energy while maintaining profitability in its traditional operations. Like Shell and BP, it invests heavily in renewables and LNG, but its balanced strategy between hydrocarbons and clean energy helps it sustain strong returns while preparing for long-term decarbonization.</a:t>
            </a:r>
            <a:endParaRPr sz="844">
              <a:solidFill>
                <a:schemeClr val="dk1"/>
              </a:solidFill>
              <a:latin typeface="Arial"/>
              <a:ea typeface="Arial"/>
              <a:cs typeface="Arial"/>
              <a:sym typeface="Arial"/>
            </a:endParaRPr>
          </a:p>
        </p:txBody>
      </p:sp>
      <p:pic>
        <p:nvPicPr>
          <p:cNvPr descr="Une image contenant texte, Police, nombre, capture d’écran&#10;&#10;Le contenu généré par l’IA peut être incorrect." id="1069" name="Google Shape;1069;p24"/>
          <p:cNvPicPr preferRelativeResize="0"/>
          <p:nvPr/>
        </p:nvPicPr>
        <p:blipFill rotWithShape="1">
          <a:blip r:embed="rId4">
            <a:alphaModFix/>
          </a:blip>
          <a:srcRect b="0" l="0" r="0" t="0"/>
          <a:stretch/>
        </p:blipFill>
        <p:spPr>
          <a:xfrm>
            <a:off x="239486" y="3402499"/>
            <a:ext cx="8643232" cy="2776311"/>
          </a:xfrm>
          <a:prstGeom prst="rect">
            <a:avLst/>
          </a:prstGeom>
          <a:noFill/>
          <a:ln>
            <a:noFill/>
          </a:ln>
        </p:spPr>
      </p:pic>
      <p:pic>
        <p:nvPicPr>
          <p:cNvPr descr="Une image contenant Tracé, ligne, capture d’écran, diagramme&#10;&#10;Le contenu généré par l’IA peut être incorrect." id="1070" name="Google Shape;1070;p24"/>
          <p:cNvPicPr preferRelativeResize="0"/>
          <p:nvPr/>
        </p:nvPicPr>
        <p:blipFill rotWithShape="1">
          <a:blip r:embed="rId5">
            <a:alphaModFix/>
          </a:blip>
          <a:srcRect b="0" l="0" r="0" t="0"/>
          <a:stretch/>
        </p:blipFill>
        <p:spPr>
          <a:xfrm>
            <a:off x="3905130" y="891520"/>
            <a:ext cx="4906016" cy="247699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grpSp>
        <p:nvGrpSpPr>
          <p:cNvPr id="1079" name="Google Shape;1079;p25"/>
          <p:cNvGrpSpPr/>
          <p:nvPr/>
        </p:nvGrpSpPr>
        <p:grpSpPr>
          <a:xfrm>
            <a:off x="-2192501" y="2633500"/>
            <a:ext cx="1970251" cy="496313"/>
            <a:chOff x="0" y="-28575"/>
            <a:chExt cx="2802135" cy="705866"/>
          </a:xfrm>
        </p:grpSpPr>
        <p:sp>
          <p:nvSpPr>
            <p:cNvPr id="1080" name="Google Shape;1080;p25"/>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81" name="Google Shape;1081;p25"/>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313">
                <a:solidFill>
                  <a:srgbClr val="000000"/>
                </a:solidFill>
                <a:latin typeface="Arial"/>
                <a:ea typeface="Arial"/>
                <a:cs typeface="Arial"/>
                <a:sym typeface="Arial"/>
              </a:endParaRPr>
            </a:p>
          </p:txBody>
        </p:sp>
      </p:grpSp>
      <p:grpSp>
        <p:nvGrpSpPr>
          <p:cNvPr id="1082" name="Google Shape;1082;p25"/>
          <p:cNvGrpSpPr/>
          <p:nvPr/>
        </p:nvGrpSpPr>
        <p:grpSpPr>
          <a:xfrm>
            <a:off x="-2186151" y="4816132"/>
            <a:ext cx="1957566" cy="486436"/>
            <a:chOff x="0" y="-28575"/>
            <a:chExt cx="2784094" cy="691820"/>
          </a:xfrm>
        </p:grpSpPr>
        <p:sp>
          <p:nvSpPr>
            <p:cNvPr id="1083" name="Google Shape;1083;p2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84" name="Google Shape;1084;p2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313">
                <a:solidFill>
                  <a:srgbClr val="000000"/>
                </a:solidFill>
                <a:latin typeface="Arial"/>
                <a:ea typeface="Arial"/>
                <a:cs typeface="Arial"/>
                <a:sym typeface="Arial"/>
              </a:endParaRPr>
            </a:p>
          </p:txBody>
        </p:sp>
      </p:grpSp>
      <p:grpSp>
        <p:nvGrpSpPr>
          <p:cNvPr id="1085" name="Google Shape;1085;p25"/>
          <p:cNvGrpSpPr/>
          <p:nvPr/>
        </p:nvGrpSpPr>
        <p:grpSpPr>
          <a:xfrm>
            <a:off x="-2186151" y="5542509"/>
            <a:ext cx="1957566" cy="486436"/>
            <a:chOff x="0" y="-28575"/>
            <a:chExt cx="2784094" cy="691820"/>
          </a:xfrm>
        </p:grpSpPr>
        <p:sp>
          <p:nvSpPr>
            <p:cNvPr id="1086" name="Google Shape;1086;p25"/>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87" name="Google Shape;1087;p25"/>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grpSp>
        <p:nvGrpSpPr>
          <p:cNvPr id="1088" name="Google Shape;1088;p25"/>
          <p:cNvGrpSpPr/>
          <p:nvPr/>
        </p:nvGrpSpPr>
        <p:grpSpPr>
          <a:xfrm>
            <a:off x="-2186151" y="1916319"/>
            <a:ext cx="1957566" cy="483632"/>
            <a:chOff x="0" y="-28575"/>
            <a:chExt cx="2784094" cy="687832"/>
          </a:xfrm>
        </p:grpSpPr>
        <p:sp>
          <p:nvSpPr>
            <p:cNvPr id="1089" name="Google Shape;1089;p25"/>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90" name="Google Shape;1090;p25"/>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313" u="none" cap="none" strike="noStrike">
                <a:solidFill>
                  <a:srgbClr val="000000"/>
                </a:solidFill>
                <a:latin typeface="Arial"/>
                <a:ea typeface="Arial"/>
                <a:cs typeface="Arial"/>
                <a:sym typeface="Arial"/>
              </a:endParaRPr>
            </a:p>
          </p:txBody>
        </p:sp>
      </p:grpSp>
      <p:cxnSp>
        <p:nvCxnSpPr>
          <p:cNvPr id="1091" name="Google Shape;1091;p25"/>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092" name="Google Shape;1092;p25"/>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93" name="Google Shape;1093;p25"/>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094" name="Google Shape;1094;p25"/>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313">
              <a:solidFill>
                <a:srgbClr val="000000"/>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313">
              <a:solidFill>
                <a:srgbClr val="000000"/>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313">
              <a:solidFill>
                <a:srgbClr val="000000"/>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313">
              <a:solidFill>
                <a:srgbClr val="000000"/>
              </a:solidFill>
              <a:latin typeface="Arial"/>
              <a:ea typeface="Arial"/>
              <a:cs typeface="Arial"/>
              <a:sym typeface="Arial"/>
            </a:endParaRPr>
          </a:p>
        </p:txBody>
      </p:sp>
      <p:sp>
        <p:nvSpPr>
          <p:cNvPr id="1095" name="Google Shape;1095;p25"/>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sp>
        <p:nvSpPr>
          <p:cNvPr id="1096" name="Google Shape;1096;p25"/>
          <p:cNvSpPr txBox="1"/>
          <p:nvPr/>
        </p:nvSpPr>
        <p:spPr>
          <a:xfrm>
            <a:off x="64294" y="455032"/>
            <a:ext cx="5708580"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Comparables Analysis: M&amp;A Transactions </a:t>
            </a:r>
            <a:endParaRPr sz="1313">
              <a:solidFill>
                <a:srgbClr val="000000"/>
              </a:solidFill>
              <a:latin typeface="Arial"/>
              <a:ea typeface="Arial"/>
              <a:cs typeface="Arial"/>
              <a:sym typeface="Arial"/>
            </a:endParaRPr>
          </a:p>
        </p:txBody>
      </p:sp>
      <p:graphicFrame>
        <p:nvGraphicFramePr>
          <p:cNvPr id="1097" name="Google Shape;1097;p25"/>
          <p:cNvGraphicFramePr/>
          <p:nvPr/>
        </p:nvGraphicFramePr>
        <p:xfrm>
          <a:off x="4926392" y="2524140"/>
          <a:ext cx="3000000" cy="3000000"/>
        </p:xfrm>
        <a:graphic>
          <a:graphicData uri="http://schemas.openxmlformats.org/drawingml/2006/table">
            <a:tbl>
              <a:tblPr>
                <a:noFill/>
                <a:tableStyleId>{9631001D-9986-4F02-BF56-0136913FF124}</a:tableStyleId>
              </a:tblPr>
              <a:tblGrid>
                <a:gridCol w="499150"/>
                <a:gridCol w="785350"/>
                <a:gridCol w="714475"/>
                <a:gridCol w="901900"/>
                <a:gridCol w="983875"/>
              </a:tblGrid>
              <a:tr h="177725">
                <a:tc>
                  <a:txBody>
                    <a:bodyPr/>
                    <a:lstStyle/>
                    <a:p>
                      <a:pPr indent="0" lvl="0" marL="0" marR="0" rtl="0" algn="l">
                        <a:spcBef>
                          <a:spcPts val="0"/>
                        </a:spcBef>
                        <a:spcAft>
                          <a:spcPts val="0"/>
                        </a:spcAft>
                        <a:buClr>
                          <a:schemeClr val="dk1"/>
                        </a:buClr>
                        <a:buSzPts val="1000"/>
                        <a:buFont typeface="Arial"/>
                        <a:buNone/>
                      </a:pPr>
                      <a:r>
                        <a:rPr lang="en-US" sz="1000" u="none" cap="none" strike="noStrike"/>
                        <a:t>Low</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57.12bn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14.37bn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3.2x</a:t>
                      </a:r>
                      <a:endParaRPr b="0" i="0" sz="10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13.4x</a:t>
                      </a:r>
                      <a:endParaRPr b="0" i="0" sz="10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38725">
                <a:tc>
                  <a:txBody>
                    <a:bodyPr/>
                    <a:lstStyle/>
                    <a:p>
                      <a:pPr indent="0" lvl="0" marL="0" marR="0" rtl="0" algn="l">
                        <a:spcBef>
                          <a:spcPts val="0"/>
                        </a:spcBef>
                        <a:spcAft>
                          <a:spcPts val="0"/>
                        </a:spcAft>
                        <a:buClr>
                          <a:schemeClr val="dk1"/>
                        </a:buClr>
                        <a:buSzPts val="1100"/>
                        <a:buFont typeface="Arial"/>
                        <a:buNone/>
                      </a:pPr>
                      <a:r>
                        <a:rPr b="1" lang="en-US" sz="1100" u="none" cap="none" strike="noStrike"/>
                        <a:t>Mean</a:t>
                      </a:r>
                      <a:endParaRPr b="1" i="0" sz="11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100"/>
                        <a:buFont typeface="Calibri"/>
                        <a:buNone/>
                      </a:pPr>
                      <a:r>
                        <a:rPr b="1" i="0" lang="en-US" sz="1100" u="none" cap="none" strike="noStrike">
                          <a:solidFill>
                            <a:srgbClr val="000000"/>
                          </a:solidFill>
                          <a:latin typeface="Calibri"/>
                          <a:ea typeface="Calibri"/>
                          <a:cs typeface="Calibri"/>
                          <a:sym typeface="Calibri"/>
                        </a:rPr>
                        <a:t>57.12bn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100"/>
                        <a:buFont typeface="Calibri"/>
                        <a:buNone/>
                      </a:pPr>
                      <a:r>
                        <a:rPr b="1" i="0" lang="en-US" sz="1100" u="none" cap="none" strike="noStrike">
                          <a:solidFill>
                            <a:srgbClr val="000000"/>
                          </a:solidFill>
                          <a:latin typeface="Calibri"/>
                          <a:ea typeface="Calibri"/>
                          <a:cs typeface="Calibri"/>
                          <a:sym typeface="Calibri"/>
                        </a:rPr>
                        <a:t>14.37bn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100"/>
                        <a:buFont typeface="Arial"/>
                        <a:buNone/>
                      </a:pPr>
                      <a:r>
                        <a:rPr b="1" lang="en-US" sz="1100" u="none" cap="none" strike="noStrike"/>
                        <a:t>3.2x</a:t>
                      </a:r>
                      <a:endParaRPr b="1" i="0" sz="11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100"/>
                        <a:buFont typeface="Arial"/>
                        <a:buNone/>
                      </a:pPr>
                      <a:r>
                        <a:rPr b="1" lang="en-US" sz="1100" u="none" cap="none" strike="noStrike"/>
                        <a:t>13.4x</a:t>
                      </a:r>
                      <a:endParaRPr b="1" i="0" sz="11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8975">
                <a:tc>
                  <a:txBody>
                    <a:bodyPr/>
                    <a:lstStyle/>
                    <a:p>
                      <a:pPr indent="0" lvl="0" marL="0" marR="0" rtl="0" algn="l">
                        <a:spcBef>
                          <a:spcPts val="0"/>
                        </a:spcBef>
                        <a:spcAft>
                          <a:spcPts val="0"/>
                        </a:spcAft>
                        <a:buClr>
                          <a:schemeClr val="dk1"/>
                        </a:buClr>
                        <a:buSzPts val="1000"/>
                        <a:buFont typeface="Arial"/>
                        <a:buNone/>
                      </a:pPr>
                      <a:r>
                        <a:rPr lang="en-US" sz="1000" u="none" cap="none" strike="noStrike"/>
                        <a:t>High</a:t>
                      </a:r>
                      <a:endParaRPr b="0" i="0" sz="10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57.12bn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14.37bn</a:t>
                      </a:r>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3.2x</a:t>
                      </a:r>
                      <a:endParaRPr b="0" i="0" sz="10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000"/>
                        <a:buFont typeface="Arial"/>
                        <a:buNone/>
                      </a:pPr>
                      <a:r>
                        <a:rPr lang="en-US" sz="1000" u="none" cap="none" strike="noStrike"/>
                        <a:t>13.4x</a:t>
                      </a:r>
                      <a:endParaRPr b="0" i="0" sz="1000" u="none" cap="none" strike="noStrike">
                        <a:solidFill>
                          <a:srgbClr val="000000"/>
                        </a:solidFill>
                        <a:latin typeface="Calibri"/>
                        <a:ea typeface="Calibri"/>
                        <a:cs typeface="Calibri"/>
                        <a:sym typeface="Calibri"/>
                      </a:endParaRPr>
                    </a:p>
                  </a:txBody>
                  <a:tcPr marT="8925" marB="0" marR="8925" marL="8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098" name="Google Shape;1098;p25"/>
          <p:cNvPicPr preferRelativeResize="0"/>
          <p:nvPr/>
        </p:nvPicPr>
        <p:blipFill rotWithShape="1">
          <a:blip r:embed="rId4">
            <a:alphaModFix/>
          </a:blip>
          <a:srcRect b="0" l="0" r="0" t="0"/>
          <a:stretch/>
        </p:blipFill>
        <p:spPr>
          <a:xfrm>
            <a:off x="155466" y="1780175"/>
            <a:ext cx="8655763" cy="6226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grpSp>
        <p:nvGrpSpPr>
          <p:cNvPr id="1107" name="Google Shape;1107;p26"/>
          <p:cNvGrpSpPr/>
          <p:nvPr/>
        </p:nvGrpSpPr>
        <p:grpSpPr>
          <a:xfrm>
            <a:off x="-2192501" y="2633500"/>
            <a:ext cx="1970251" cy="496313"/>
            <a:chOff x="0" y="-28575"/>
            <a:chExt cx="2802135" cy="705866"/>
          </a:xfrm>
        </p:grpSpPr>
        <p:sp>
          <p:nvSpPr>
            <p:cNvPr id="1108" name="Google Shape;1108;p26"/>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09" name="Google Shape;1109;p26"/>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313">
                <a:solidFill>
                  <a:srgbClr val="000000"/>
                </a:solidFill>
                <a:latin typeface="Arial"/>
                <a:ea typeface="Arial"/>
                <a:cs typeface="Arial"/>
                <a:sym typeface="Arial"/>
              </a:endParaRPr>
            </a:p>
          </p:txBody>
        </p:sp>
      </p:grpSp>
      <p:grpSp>
        <p:nvGrpSpPr>
          <p:cNvPr id="1110" name="Google Shape;1110;p26"/>
          <p:cNvGrpSpPr/>
          <p:nvPr/>
        </p:nvGrpSpPr>
        <p:grpSpPr>
          <a:xfrm>
            <a:off x="-2186151" y="4816132"/>
            <a:ext cx="1957566" cy="486436"/>
            <a:chOff x="0" y="-28575"/>
            <a:chExt cx="2784094" cy="691820"/>
          </a:xfrm>
        </p:grpSpPr>
        <p:sp>
          <p:nvSpPr>
            <p:cNvPr id="1111" name="Google Shape;1111;p2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12" name="Google Shape;1112;p2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313">
                <a:solidFill>
                  <a:srgbClr val="000000"/>
                </a:solidFill>
                <a:latin typeface="Arial"/>
                <a:ea typeface="Arial"/>
                <a:cs typeface="Arial"/>
                <a:sym typeface="Arial"/>
              </a:endParaRPr>
            </a:p>
          </p:txBody>
        </p:sp>
      </p:grpSp>
      <p:grpSp>
        <p:nvGrpSpPr>
          <p:cNvPr id="1113" name="Google Shape;1113;p26"/>
          <p:cNvGrpSpPr/>
          <p:nvPr/>
        </p:nvGrpSpPr>
        <p:grpSpPr>
          <a:xfrm>
            <a:off x="-2186151" y="5542509"/>
            <a:ext cx="1957566" cy="486436"/>
            <a:chOff x="0" y="-28575"/>
            <a:chExt cx="2784094" cy="691820"/>
          </a:xfrm>
        </p:grpSpPr>
        <p:sp>
          <p:nvSpPr>
            <p:cNvPr id="1114" name="Google Shape;1114;p26"/>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15" name="Google Shape;1115;p26"/>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grpSp>
        <p:nvGrpSpPr>
          <p:cNvPr id="1116" name="Google Shape;1116;p26"/>
          <p:cNvGrpSpPr/>
          <p:nvPr/>
        </p:nvGrpSpPr>
        <p:grpSpPr>
          <a:xfrm>
            <a:off x="-2186151" y="1916319"/>
            <a:ext cx="1957566" cy="483632"/>
            <a:chOff x="0" y="-28575"/>
            <a:chExt cx="2784094" cy="687832"/>
          </a:xfrm>
        </p:grpSpPr>
        <p:sp>
          <p:nvSpPr>
            <p:cNvPr id="1117" name="Google Shape;1117;p26"/>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18" name="Google Shape;1118;p26"/>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313" u="none" cap="none" strike="noStrike">
                <a:solidFill>
                  <a:srgbClr val="000000"/>
                </a:solidFill>
                <a:latin typeface="Arial"/>
                <a:ea typeface="Arial"/>
                <a:cs typeface="Arial"/>
                <a:sym typeface="Arial"/>
              </a:endParaRPr>
            </a:p>
          </p:txBody>
        </p:sp>
      </p:grpSp>
      <p:cxnSp>
        <p:nvCxnSpPr>
          <p:cNvPr id="1119" name="Google Shape;1119;p26"/>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120" name="Google Shape;1120;p26"/>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21" name="Google Shape;1121;p26"/>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22" name="Google Shape;1122;p26"/>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313">
              <a:solidFill>
                <a:srgbClr val="000000"/>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313">
              <a:solidFill>
                <a:srgbClr val="000000"/>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313">
              <a:solidFill>
                <a:srgbClr val="000000"/>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313">
              <a:solidFill>
                <a:srgbClr val="000000"/>
              </a:solidFill>
              <a:latin typeface="Arial"/>
              <a:ea typeface="Arial"/>
              <a:cs typeface="Arial"/>
              <a:sym typeface="Arial"/>
            </a:endParaRPr>
          </a:p>
        </p:txBody>
      </p:sp>
      <p:sp>
        <p:nvSpPr>
          <p:cNvPr id="1123" name="Google Shape;1123;p26"/>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sp>
        <p:nvSpPr>
          <p:cNvPr id="1124" name="Google Shape;1124;p26"/>
          <p:cNvSpPr txBox="1"/>
          <p:nvPr/>
        </p:nvSpPr>
        <p:spPr>
          <a:xfrm>
            <a:off x="64294" y="455032"/>
            <a:ext cx="6585186"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Comparables Analysis: Multiples Valuation</a:t>
            </a:r>
            <a:endParaRPr sz="1313">
              <a:solidFill>
                <a:srgbClr val="000000"/>
              </a:solidFill>
              <a:latin typeface="Arial"/>
              <a:ea typeface="Arial"/>
              <a:cs typeface="Arial"/>
              <a:sym typeface="Arial"/>
            </a:endParaRPr>
          </a:p>
        </p:txBody>
      </p:sp>
      <p:graphicFrame>
        <p:nvGraphicFramePr>
          <p:cNvPr id="1125" name="Google Shape;1125;p26"/>
          <p:cNvGraphicFramePr/>
          <p:nvPr/>
        </p:nvGraphicFramePr>
        <p:xfrm>
          <a:off x="1247263" y="2399911"/>
          <a:ext cx="3000000" cy="3000000"/>
        </p:xfrm>
        <a:graphic>
          <a:graphicData uri="http://schemas.openxmlformats.org/drawingml/2006/table">
            <a:tbl>
              <a:tblPr>
                <a:noFill/>
                <a:tableStyleId>{9631001D-9986-4F02-BF56-0136913FF124}</a:tableStyleId>
              </a:tblPr>
              <a:tblGrid>
                <a:gridCol w="2375075"/>
                <a:gridCol w="939250"/>
                <a:gridCol w="939250"/>
                <a:gridCol w="939250"/>
                <a:gridCol w="939250"/>
              </a:tblGrid>
              <a:tr h="711125">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b="0" i="0" sz="1000" u="none" cap="none" strike="noStrike">
                        <a:solidFill>
                          <a:srgbClr val="000000"/>
                        </a:solidFill>
                        <a:latin typeface="Calibri"/>
                        <a:ea typeface="Calibri"/>
                        <a:cs typeface="Calibri"/>
                        <a:sym typeface="Calibri"/>
                      </a:endParaRPr>
                    </a:p>
                  </a:txBody>
                  <a:tcPr marT="8925" marB="0" marR="8925" marL="8925" anchor="b">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000"/>
                        <a:buFont typeface="Arial"/>
                        <a:buNone/>
                      </a:pPr>
                      <a:r>
                        <a:rPr lang="en-US" sz="1000" u="none" cap="none" strike="noStrike"/>
                        <a:t>PE Ratio</a:t>
                      </a:r>
                      <a:endParaRPr b="0" i="0" sz="1000" u="none" cap="none" strike="noStrike">
                        <a:solidFill>
                          <a:srgbClr val="000000"/>
                        </a:solidFill>
                        <a:latin typeface="Calibri"/>
                        <a:ea typeface="Calibri"/>
                        <a:cs typeface="Calibri"/>
                        <a:sym typeface="Calibri"/>
                      </a:endParaRPr>
                    </a:p>
                  </a:txBody>
                  <a:tcPr marT="8925" marB="0" marR="8925" marL="8925" anchor="ctr">
                    <a:lnL cap="flat" cmpd="sng" w="12700">
                      <a:solidFill>
                        <a:schemeClr val="dk1"/>
                      </a:solidFill>
                      <a:prstDash val="solid"/>
                      <a:round/>
                      <a:headEnd len="sm" w="sm" type="none"/>
                      <a:tailEnd len="sm" w="sm" type="none"/>
                    </a:lnL>
                  </a:tcPr>
                </a:tc>
                <a:tc>
                  <a:txBody>
                    <a:bodyPr/>
                    <a:lstStyle/>
                    <a:p>
                      <a:pPr indent="0" lvl="0" marL="0" marR="0" rtl="0" algn="ctr">
                        <a:spcBef>
                          <a:spcPts val="0"/>
                        </a:spcBef>
                        <a:spcAft>
                          <a:spcPts val="0"/>
                        </a:spcAft>
                        <a:buClr>
                          <a:schemeClr val="dk1"/>
                        </a:buClr>
                        <a:buSzPts val="1000"/>
                        <a:buFont typeface="Arial"/>
                        <a:buNone/>
                      </a:pPr>
                      <a:r>
                        <a:rPr lang="en-US" sz="1000" u="none" cap="none" strike="noStrike"/>
                        <a:t>Forward PE</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EV/EBITDA</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Price/Sales</a:t>
                      </a:r>
                      <a:endParaRPr b="0" i="0" sz="1000" u="none" cap="none" strike="noStrike">
                        <a:solidFill>
                          <a:srgbClr val="000000"/>
                        </a:solidFill>
                        <a:latin typeface="Calibri"/>
                        <a:ea typeface="Calibri"/>
                        <a:cs typeface="Calibri"/>
                        <a:sym typeface="Calibri"/>
                      </a:endParaRPr>
                    </a:p>
                  </a:txBody>
                  <a:tcPr marT="8925" marB="0" marR="8925" marL="8925" anchor="ctr"/>
                </a:tc>
              </a:tr>
              <a:tr h="487525">
                <a:tc>
                  <a:txBody>
                    <a:bodyPr/>
                    <a:lstStyle/>
                    <a:p>
                      <a:pPr indent="0" lvl="0" marL="0" marR="0" rtl="0" algn="l">
                        <a:spcBef>
                          <a:spcPts val="0"/>
                        </a:spcBef>
                        <a:spcAft>
                          <a:spcPts val="0"/>
                        </a:spcAft>
                        <a:buClr>
                          <a:schemeClr val="dk1"/>
                        </a:buClr>
                        <a:buSzPts val="1000"/>
                        <a:buFont typeface="Arial"/>
                        <a:buNone/>
                      </a:pPr>
                      <a:r>
                        <a:rPr lang="en-US" sz="1000" u="none" cap="none" strike="noStrike"/>
                        <a:t>The Coca-Cola Company</a:t>
                      </a:r>
                      <a:endParaRPr b="0" i="0" sz="1000" u="none" cap="none" strike="noStrike">
                        <a:solidFill>
                          <a:srgbClr val="000000"/>
                        </a:solidFill>
                        <a:latin typeface="Calibri"/>
                        <a:ea typeface="Calibri"/>
                        <a:cs typeface="Calibri"/>
                        <a:sym typeface="Calibri"/>
                      </a:endParaRPr>
                    </a:p>
                  </a:txBody>
                  <a:tcPr marT="8925" marB="0" marR="8925" marL="8925"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25.21x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23.72x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20.07x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6.89x </a:t>
                      </a:r>
                      <a:endParaRPr b="0" i="0" sz="1000" u="none" cap="none" strike="noStrike">
                        <a:solidFill>
                          <a:srgbClr val="000000"/>
                        </a:solidFill>
                        <a:latin typeface="Calibri"/>
                        <a:ea typeface="Calibri"/>
                        <a:cs typeface="Calibri"/>
                        <a:sym typeface="Calibri"/>
                      </a:endParaRPr>
                    </a:p>
                  </a:txBody>
                  <a:tcPr marT="8925" marB="0" marR="8925" marL="8925" anchor="ctr"/>
                </a:tc>
              </a:tr>
              <a:tr h="457050">
                <a:tc>
                  <a:txBody>
                    <a:bodyPr/>
                    <a:lstStyle/>
                    <a:p>
                      <a:pPr indent="0" lvl="0" marL="0" marR="0" rtl="0" algn="l">
                        <a:spcBef>
                          <a:spcPts val="0"/>
                        </a:spcBef>
                        <a:spcAft>
                          <a:spcPts val="0"/>
                        </a:spcAft>
                        <a:buClr>
                          <a:schemeClr val="dk1"/>
                        </a:buClr>
                        <a:buSzPts val="1000"/>
                        <a:buFont typeface="Arial"/>
                        <a:buNone/>
                      </a:pPr>
                      <a:r>
                        <a:rPr lang="en-US" sz="1000" u="none" cap="none" strike="noStrike"/>
                        <a:t>Mean peers &amp; M&amp;A</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68.50x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19.70x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15.12x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2.88x </a:t>
                      </a:r>
                      <a:endParaRPr b="0" i="0" sz="1000" u="none" cap="none" strike="noStrike">
                        <a:solidFill>
                          <a:srgbClr val="000000"/>
                        </a:solidFill>
                        <a:latin typeface="Calibri"/>
                        <a:ea typeface="Calibri"/>
                        <a:cs typeface="Calibri"/>
                        <a:sym typeface="Calibri"/>
                      </a:endParaRPr>
                    </a:p>
                  </a:txBody>
                  <a:tcPr marT="8925" marB="0" marR="8925" marL="8925" anchor="ctr"/>
                </a:tc>
              </a:tr>
              <a:tr h="457050">
                <a:tc>
                  <a:txBody>
                    <a:bodyPr/>
                    <a:lstStyle/>
                    <a:p>
                      <a:pPr indent="0" lvl="0" marL="0" marR="0" rtl="0" algn="l">
                        <a:spcBef>
                          <a:spcPts val="0"/>
                        </a:spcBef>
                        <a:spcAft>
                          <a:spcPts val="0"/>
                        </a:spcAft>
                        <a:buClr>
                          <a:schemeClr val="dk1"/>
                        </a:buClr>
                        <a:buSzPts val="1000"/>
                        <a:buFont typeface="Arial"/>
                        <a:buNone/>
                      </a:pPr>
                      <a:r>
                        <a:rPr lang="en-US" sz="1000" u="none" cap="none" strike="noStrike"/>
                        <a:t>xValuation (bn)</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$897.27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$283.56</a:t>
                      </a:r>
                      <a:endParaRPr/>
                    </a:p>
                  </a:txBody>
                  <a:tcPr marT="8925" marB="0" marR="8925" marL="8925" anchor="ctr"/>
                </a:tc>
                <a:tc>
                  <a:txBody>
                    <a:bodyPr/>
                    <a:lstStyle/>
                    <a:p>
                      <a:pPr indent="0" lvl="0" marL="0" marR="0" rtl="0" algn="ctr">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$242.16</a:t>
                      </a:r>
                      <a:endParaRPr/>
                    </a:p>
                  </a:txBody>
                  <a:tcPr marT="8925" marB="0" marR="8925" marL="8925" anchor="ctr"/>
                </a:tc>
                <a:tc>
                  <a:txBody>
                    <a:bodyPr/>
                    <a:lstStyle/>
                    <a:p>
                      <a:pPr indent="0" lvl="0" marL="0" marR="0" rtl="0" algn="ctr">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$138.00</a:t>
                      </a:r>
                      <a:endParaRPr/>
                    </a:p>
                  </a:txBody>
                  <a:tcPr marT="8925" marB="0" marR="8925" marL="8925" anchor="ctr"/>
                </a:tc>
              </a:tr>
              <a:tr h="457050">
                <a:tc>
                  <a:txBody>
                    <a:bodyPr/>
                    <a:lstStyle/>
                    <a:p>
                      <a:pPr indent="0" lvl="0" marL="0" marR="0" rtl="0" algn="l">
                        <a:spcBef>
                          <a:spcPts val="0"/>
                        </a:spcBef>
                        <a:spcAft>
                          <a:spcPts val="0"/>
                        </a:spcAft>
                        <a:buClr>
                          <a:schemeClr val="dk1"/>
                        </a:buClr>
                        <a:buSzPts val="1000"/>
                        <a:buFont typeface="Arial"/>
                        <a:buNone/>
                      </a:pPr>
                      <a:r>
                        <a:rPr lang="en-US" sz="1000" u="none" cap="none" strike="noStrike"/>
                        <a:t>price / share</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$208.57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$65.91</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$56.29 </a:t>
                      </a:r>
                      <a:endParaRPr b="0" i="0" sz="1000" u="none" cap="none" strike="noStrike">
                        <a:solidFill>
                          <a:srgbClr val="000000"/>
                        </a:solidFill>
                        <a:latin typeface="Calibri"/>
                        <a:ea typeface="Calibri"/>
                        <a:cs typeface="Calibri"/>
                        <a:sym typeface="Calibri"/>
                      </a:endParaRPr>
                    </a:p>
                  </a:txBody>
                  <a:tcPr marT="8925" marB="0" marR="8925" marL="8925" anchor="ctr"/>
                </a:tc>
                <a:tc>
                  <a:txBody>
                    <a:bodyPr/>
                    <a:lstStyle/>
                    <a:p>
                      <a:pPr indent="0" lvl="0" marL="0" marR="0" rtl="0" algn="ctr">
                        <a:spcBef>
                          <a:spcPts val="0"/>
                        </a:spcBef>
                        <a:spcAft>
                          <a:spcPts val="0"/>
                        </a:spcAft>
                        <a:buClr>
                          <a:schemeClr val="dk1"/>
                        </a:buClr>
                        <a:buSzPts val="1000"/>
                        <a:buFont typeface="Arial"/>
                        <a:buNone/>
                      </a:pPr>
                      <a:r>
                        <a:rPr lang="en-US" sz="1000" u="none" cap="none" strike="noStrike"/>
                        <a:t>$32.08 </a:t>
                      </a:r>
                      <a:endParaRPr b="0" i="0" sz="1000" u="none" cap="none" strike="noStrike">
                        <a:solidFill>
                          <a:srgbClr val="000000"/>
                        </a:solidFill>
                        <a:latin typeface="Calibri"/>
                        <a:ea typeface="Calibri"/>
                        <a:cs typeface="Calibri"/>
                        <a:sym typeface="Calibri"/>
                      </a:endParaRPr>
                    </a:p>
                  </a:txBody>
                  <a:tcPr marT="8925" marB="0" marR="8925" marL="8925"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27"/>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1131" name="Google Shape;1131;p27"/>
          <p:cNvGrpSpPr/>
          <p:nvPr/>
        </p:nvGrpSpPr>
        <p:grpSpPr>
          <a:xfrm>
            <a:off x="-2192501" y="2633500"/>
            <a:ext cx="1970251" cy="496313"/>
            <a:chOff x="0" y="-28575"/>
            <a:chExt cx="2802135" cy="705866"/>
          </a:xfrm>
        </p:grpSpPr>
        <p:sp>
          <p:nvSpPr>
            <p:cNvPr id="1132" name="Google Shape;1132;p27"/>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33" name="Google Shape;1133;p27"/>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134" name="Google Shape;1134;p27"/>
          <p:cNvGrpSpPr/>
          <p:nvPr/>
        </p:nvGrpSpPr>
        <p:grpSpPr>
          <a:xfrm>
            <a:off x="-2186151" y="3363382"/>
            <a:ext cx="1957566" cy="486436"/>
            <a:chOff x="0" y="-28575"/>
            <a:chExt cx="2784094" cy="691820"/>
          </a:xfrm>
        </p:grpSpPr>
        <p:sp>
          <p:nvSpPr>
            <p:cNvPr id="1135" name="Google Shape;1135;p2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36" name="Google Shape;1136;p2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1137" name="Google Shape;1137;p27"/>
          <p:cNvGrpSpPr/>
          <p:nvPr/>
        </p:nvGrpSpPr>
        <p:grpSpPr>
          <a:xfrm>
            <a:off x="-2186151" y="4089757"/>
            <a:ext cx="1957566" cy="486436"/>
            <a:chOff x="0" y="-28575"/>
            <a:chExt cx="2784094" cy="691820"/>
          </a:xfrm>
        </p:grpSpPr>
        <p:sp>
          <p:nvSpPr>
            <p:cNvPr id="1138" name="Google Shape;1138;p2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39" name="Google Shape;1139;p2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1140" name="Google Shape;1140;p27"/>
          <p:cNvGrpSpPr/>
          <p:nvPr/>
        </p:nvGrpSpPr>
        <p:grpSpPr>
          <a:xfrm>
            <a:off x="-2186151" y="4816132"/>
            <a:ext cx="1957566" cy="486436"/>
            <a:chOff x="0" y="-28575"/>
            <a:chExt cx="2784094" cy="691820"/>
          </a:xfrm>
        </p:grpSpPr>
        <p:sp>
          <p:nvSpPr>
            <p:cNvPr id="1141" name="Google Shape;1141;p2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42" name="Google Shape;1142;p2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143" name="Google Shape;1143;p27"/>
          <p:cNvGrpSpPr/>
          <p:nvPr/>
        </p:nvGrpSpPr>
        <p:grpSpPr>
          <a:xfrm>
            <a:off x="-2186151" y="5542509"/>
            <a:ext cx="1957566" cy="486436"/>
            <a:chOff x="0" y="-28575"/>
            <a:chExt cx="2784094" cy="691820"/>
          </a:xfrm>
        </p:grpSpPr>
        <p:sp>
          <p:nvSpPr>
            <p:cNvPr id="1144" name="Google Shape;1144;p27"/>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45" name="Google Shape;1145;p27"/>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146" name="Google Shape;1146;p27"/>
          <p:cNvGrpSpPr/>
          <p:nvPr/>
        </p:nvGrpSpPr>
        <p:grpSpPr>
          <a:xfrm>
            <a:off x="-2186151" y="1916319"/>
            <a:ext cx="1957566" cy="483632"/>
            <a:chOff x="0" y="-28575"/>
            <a:chExt cx="2784094" cy="687832"/>
          </a:xfrm>
        </p:grpSpPr>
        <p:sp>
          <p:nvSpPr>
            <p:cNvPr id="1147" name="Google Shape;1147;p27"/>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48" name="Google Shape;1148;p27"/>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1149" name="Google Shape;1149;p27"/>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1150" name="Google Shape;1150;p27"/>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151" name="Google Shape;1151;p27"/>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152" name="Google Shape;1152;p27"/>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1153" name="Google Shape;1153;p27"/>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1154" name="Google Shape;1154;p27"/>
          <p:cNvGrpSpPr/>
          <p:nvPr/>
        </p:nvGrpSpPr>
        <p:grpSpPr>
          <a:xfrm>
            <a:off x="3270788" y="2902126"/>
            <a:ext cx="2647741" cy="2580970"/>
            <a:chOff x="3464687" y="2446304"/>
            <a:chExt cx="2824257" cy="2753035"/>
          </a:xfrm>
        </p:grpSpPr>
        <p:grpSp>
          <p:nvGrpSpPr>
            <p:cNvPr id="1155" name="Google Shape;1155;p27"/>
            <p:cNvGrpSpPr/>
            <p:nvPr/>
          </p:nvGrpSpPr>
          <p:grpSpPr>
            <a:xfrm>
              <a:off x="3464687" y="2448986"/>
              <a:ext cx="2824257" cy="339661"/>
              <a:chOff x="-1524" y="-1524"/>
              <a:chExt cx="3765677" cy="452882"/>
            </a:xfrm>
          </p:grpSpPr>
          <p:sp>
            <p:nvSpPr>
              <p:cNvPr id="1156" name="Google Shape;1156;p27"/>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57" name="Google Shape;1157;p27"/>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1158" name="Google Shape;1158;p27"/>
            <p:cNvSpPr txBox="1"/>
            <p:nvPr/>
          </p:nvSpPr>
          <p:spPr>
            <a:xfrm>
              <a:off x="3551406" y="2446304"/>
              <a:ext cx="115123"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nvGrpSpPr>
            <p:cNvPr id="1159" name="Google Shape;1159;p27"/>
            <p:cNvGrpSpPr/>
            <p:nvPr/>
          </p:nvGrpSpPr>
          <p:grpSpPr>
            <a:xfrm>
              <a:off x="3482837" y="3364869"/>
              <a:ext cx="339280" cy="365953"/>
              <a:chOff x="0" y="-38100"/>
              <a:chExt cx="452374" cy="487938"/>
            </a:xfrm>
          </p:grpSpPr>
          <p:sp>
            <p:nvSpPr>
              <p:cNvPr id="1160" name="Google Shape;1160;p2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61" name="Google Shape;1161;p2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1162" name="Google Shape;1162;p27"/>
            <p:cNvGrpSpPr/>
            <p:nvPr/>
          </p:nvGrpSpPr>
          <p:grpSpPr>
            <a:xfrm>
              <a:off x="3482837" y="3854375"/>
              <a:ext cx="339280" cy="365953"/>
              <a:chOff x="0" y="-38100"/>
              <a:chExt cx="452374" cy="487938"/>
            </a:xfrm>
          </p:grpSpPr>
          <p:sp>
            <p:nvSpPr>
              <p:cNvPr id="1163" name="Google Shape;1163;p2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64" name="Google Shape;1164;p2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1165" name="Google Shape;1165;p27"/>
            <p:cNvGrpSpPr/>
            <p:nvPr/>
          </p:nvGrpSpPr>
          <p:grpSpPr>
            <a:xfrm>
              <a:off x="3481693" y="4343880"/>
              <a:ext cx="405098" cy="367093"/>
              <a:chOff x="-1524" y="-38100"/>
              <a:chExt cx="540131" cy="489458"/>
            </a:xfrm>
          </p:grpSpPr>
          <p:sp>
            <p:nvSpPr>
              <p:cNvPr id="1166" name="Google Shape;1166;p27"/>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67" name="Google Shape;1167;p27"/>
              <p:cNvSpPr/>
              <p:nvPr/>
            </p:nvSpPr>
            <p:spPr>
              <a:xfrm>
                <a:off x="-1524" y="-1524"/>
                <a:ext cx="540131" cy="452882"/>
              </a:xfrm>
              <a:custGeom>
                <a:rect b="b" l="l" r="r" t="t"/>
                <a:pathLst>
                  <a:path extrusionOk="0" h="452882" w="540131">
                    <a:moveTo>
                      <a:pt x="1524" y="0"/>
                    </a:moveTo>
                    <a:lnTo>
                      <a:pt x="538607" y="0"/>
                    </a:lnTo>
                    <a:cubicBezTo>
                      <a:pt x="539496" y="0"/>
                      <a:pt x="540131" y="762"/>
                      <a:pt x="540131" y="1524"/>
                    </a:cubicBezTo>
                    <a:lnTo>
                      <a:pt x="540131" y="451358"/>
                    </a:lnTo>
                    <a:cubicBezTo>
                      <a:pt x="540131" y="452247"/>
                      <a:pt x="539369" y="452882"/>
                      <a:pt x="538607"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538607" y="449834"/>
                    </a:lnTo>
                    <a:lnTo>
                      <a:pt x="538607" y="451358"/>
                    </a:lnTo>
                    <a:lnTo>
                      <a:pt x="537083" y="451358"/>
                    </a:lnTo>
                    <a:lnTo>
                      <a:pt x="537083" y="1524"/>
                    </a:lnTo>
                    <a:lnTo>
                      <a:pt x="538607" y="1524"/>
                    </a:lnTo>
                    <a:lnTo>
                      <a:pt x="538607"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68" name="Google Shape;1168;p27"/>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sp>
          <p:nvSpPr>
            <p:cNvPr id="1169" name="Google Shape;1169;p27"/>
            <p:cNvSpPr txBox="1"/>
            <p:nvPr/>
          </p:nvSpPr>
          <p:spPr>
            <a:xfrm>
              <a:off x="3890662" y="2465354"/>
              <a:ext cx="2328540" cy="20682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nvGrpSpPr>
            <p:cNvPr id="1170" name="Google Shape;1170;p27"/>
            <p:cNvGrpSpPr/>
            <p:nvPr/>
          </p:nvGrpSpPr>
          <p:grpSpPr>
            <a:xfrm>
              <a:off x="3822093" y="3379157"/>
              <a:ext cx="2465678" cy="351665"/>
              <a:chOff x="0" y="-19050"/>
              <a:chExt cx="3287570" cy="468888"/>
            </a:xfrm>
          </p:grpSpPr>
          <p:sp>
            <p:nvSpPr>
              <p:cNvPr id="1171" name="Google Shape;1171;p2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72" name="Google Shape;1172;p2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1173" name="Google Shape;1173;p27"/>
            <p:cNvGrpSpPr/>
            <p:nvPr/>
          </p:nvGrpSpPr>
          <p:grpSpPr>
            <a:xfrm>
              <a:off x="3822093" y="3868663"/>
              <a:ext cx="2465678" cy="351665"/>
              <a:chOff x="0" y="-19050"/>
              <a:chExt cx="3287570" cy="468888"/>
            </a:xfrm>
          </p:grpSpPr>
          <p:sp>
            <p:nvSpPr>
              <p:cNvPr id="1174" name="Google Shape;1174;p2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75" name="Google Shape;1175;p2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1176" name="Google Shape;1176;p27"/>
            <p:cNvGrpSpPr/>
            <p:nvPr/>
          </p:nvGrpSpPr>
          <p:grpSpPr>
            <a:xfrm>
              <a:off x="3820950" y="4358168"/>
              <a:ext cx="2467928" cy="352805"/>
              <a:chOff x="-1524" y="-19050"/>
              <a:chExt cx="3290570" cy="470408"/>
            </a:xfrm>
          </p:grpSpPr>
          <p:sp>
            <p:nvSpPr>
              <p:cNvPr id="1177" name="Google Shape;1177;p2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78" name="Google Shape;1178;p27"/>
              <p:cNvSpPr/>
              <p:nvPr/>
            </p:nvSpPr>
            <p:spPr>
              <a:xfrm>
                <a:off x="-1524" y="-1524"/>
                <a:ext cx="3290570" cy="452882"/>
              </a:xfrm>
              <a:custGeom>
                <a:rect b="b" l="l" r="r" t="t"/>
                <a:pathLst>
                  <a:path extrusionOk="0" h="452882" w="329057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79" name="Google Shape;1179;p2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1180" name="Google Shape;1180;p27"/>
            <p:cNvGrpSpPr/>
            <p:nvPr/>
          </p:nvGrpSpPr>
          <p:grpSpPr>
            <a:xfrm>
              <a:off x="3482837" y="4833386"/>
              <a:ext cx="339280" cy="365953"/>
              <a:chOff x="0" y="-38100"/>
              <a:chExt cx="452374" cy="487938"/>
            </a:xfrm>
          </p:grpSpPr>
          <p:sp>
            <p:nvSpPr>
              <p:cNvPr id="1181" name="Google Shape;1181;p27"/>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82" name="Google Shape;1182;p27"/>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1183" name="Google Shape;1183;p27"/>
            <p:cNvGrpSpPr/>
            <p:nvPr/>
          </p:nvGrpSpPr>
          <p:grpSpPr>
            <a:xfrm>
              <a:off x="3822093" y="4847674"/>
              <a:ext cx="2465678" cy="351665"/>
              <a:chOff x="0" y="-19050"/>
              <a:chExt cx="3287570" cy="468888"/>
            </a:xfrm>
          </p:grpSpPr>
          <p:sp>
            <p:nvSpPr>
              <p:cNvPr id="1184" name="Google Shape;1184;p27"/>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85" name="Google Shape;1185;p27"/>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1186" name="Google Shape;1186;p27"/>
            <p:cNvGrpSpPr/>
            <p:nvPr/>
          </p:nvGrpSpPr>
          <p:grpSpPr>
            <a:xfrm>
              <a:off x="3465829" y="2893212"/>
              <a:ext cx="341596" cy="365953"/>
              <a:chOff x="0" y="-38100"/>
              <a:chExt cx="455461" cy="487938"/>
            </a:xfrm>
          </p:grpSpPr>
          <p:sp>
            <p:nvSpPr>
              <p:cNvPr id="1187" name="Google Shape;1187;p27"/>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88" name="Google Shape;1188;p27"/>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1189" name="Google Shape;1189;p27"/>
            <p:cNvGrpSpPr/>
            <p:nvPr/>
          </p:nvGrpSpPr>
          <p:grpSpPr>
            <a:xfrm>
              <a:off x="3805085" y="2907500"/>
              <a:ext cx="2482692" cy="351665"/>
              <a:chOff x="0" y="-19050"/>
              <a:chExt cx="3310255" cy="468888"/>
            </a:xfrm>
          </p:grpSpPr>
          <p:sp>
            <p:nvSpPr>
              <p:cNvPr id="1190" name="Google Shape;1190;p27"/>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191" name="Google Shape;1191;p27"/>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Thesis</a:t>
                </a:r>
                <a:endParaRPr sz="1688">
                  <a:solidFill>
                    <a:schemeClr val="dk1"/>
                  </a:solidFill>
                  <a:latin typeface="Arial"/>
                  <a:ea typeface="Arial"/>
                  <a:cs typeface="Arial"/>
                  <a:sym typeface="Arial"/>
                </a:endParaRPr>
              </a:p>
            </p:txBody>
          </p:sp>
        </p:grpSp>
      </p:grpSp>
      <p:cxnSp>
        <p:nvCxnSpPr>
          <p:cNvPr id="1192" name="Google Shape;1192;p27"/>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sp>
        <p:nvSpPr>
          <p:cNvPr id="1193" name="Google Shape;1193;p27"/>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pic>
        <p:nvPicPr>
          <p:cNvPr descr="Une image contenant Police, Graphique, calligraphie, typographie&#10;&#10;Le contenu généré par l’IA peut être incorrect." id="1194" name="Google Shape;1194;p27"/>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28"/>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313">
              <a:solidFill>
                <a:srgbClr val="000000"/>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313">
              <a:solidFill>
                <a:srgbClr val="000000"/>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313">
              <a:solidFill>
                <a:srgbClr val="000000"/>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313">
              <a:solidFill>
                <a:srgbClr val="000000"/>
              </a:solidFill>
              <a:latin typeface="Arial"/>
              <a:ea typeface="Arial"/>
              <a:cs typeface="Arial"/>
              <a:sym typeface="Arial"/>
            </a:endParaRPr>
          </a:p>
        </p:txBody>
      </p:sp>
      <p:grpSp>
        <p:nvGrpSpPr>
          <p:cNvPr id="1200" name="Google Shape;1200;p28"/>
          <p:cNvGrpSpPr/>
          <p:nvPr/>
        </p:nvGrpSpPr>
        <p:grpSpPr>
          <a:xfrm>
            <a:off x="-2192501" y="2633500"/>
            <a:ext cx="1970251" cy="496313"/>
            <a:chOff x="0" y="-28575"/>
            <a:chExt cx="2802135" cy="705866"/>
          </a:xfrm>
        </p:grpSpPr>
        <p:sp>
          <p:nvSpPr>
            <p:cNvPr id="1201" name="Google Shape;1201;p28"/>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02" name="Google Shape;1202;p28"/>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313">
                <a:solidFill>
                  <a:srgbClr val="000000"/>
                </a:solidFill>
                <a:latin typeface="Arial"/>
                <a:ea typeface="Arial"/>
                <a:cs typeface="Arial"/>
                <a:sym typeface="Arial"/>
              </a:endParaRPr>
            </a:p>
          </p:txBody>
        </p:sp>
      </p:grpSp>
      <p:grpSp>
        <p:nvGrpSpPr>
          <p:cNvPr id="1203" name="Google Shape;1203;p28"/>
          <p:cNvGrpSpPr/>
          <p:nvPr/>
        </p:nvGrpSpPr>
        <p:grpSpPr>
          <a:xfrm>
            <a:off x="-2186151" y="3363382"/>
            <a:ext cx="1957566" cy="486436"/>
            <a:chOff x="0" y="-28575"/>
            <a:chExt cx="2784094" cy="691820"/>
          </a:xfrm>
        </p:grpSpPr>
        <p:sp>
          <p:nvSpPr>
            <p:cNvPr id="1204" name="Google Shape;1204;p2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05" name="Google Shape;1205;p2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313">
                <a:solidFill>
                  <a:srgbClr val="000000"/>
                </a:solidFill>
                <a:latin typeface="Arial"/>
                <a:ea typeface="Arial"/>
                <a:cs typeface="Arial"/>
                <a:sym typeface="Arial"/>
              </a:endParaRPr>
            </a:p>
          </p:txBody>
        </p:sp>
      </p:grpSp>
      <p:grpSp>
        <p:nvGrpSpPr>
          <p:cNvPr id="1206" name="Google Shape;1206;p28"/>
          <p:cNvGrpSpPr/>
          <p:nvPr/>
        </p:nvGrpSpPr>
        <p:grpSpPr>
          <a:xfrm>
            <a:off x="-2186151" y="4089757"/>
            <a:ext cx="1957566" cy="486436"/>
            <a:chOff x="0" y="-28575"/>
            <a:chExt cx="2784094" cy="691820"/>
          </a:xfrm>
        </p:grpSpPr>
        <p:sp>
          <p:nvSpPr>
            <p:cNvPr id="1207" name="Google Shape;1207;p2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08" name="Google Shape;1208;p2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313">
                <a:solidFill>
                  <a:srgbClr val="000000"/>
                </a:solidFill>
                <a:latin typeface="Arial"/>
                <a:ea typeface="Arial"/>
                <a:cs typeface="Arial"/>
                <a:sym typeface="Arial"/>
              </a:endParaRPr>
            </a:p>
          </p:txBody>
        </p:sp>
      </p:grpSp>
      <p:grpSp>
        <p:nvGrpSpPr>
          <p:cNvPr id="1209" name="Google Shape;1209;p28"/>
          <p:cNvGrpSpPr/>
          <p:nvPr/>
        </p:nvGrpSpPr>
        <p:grpSpPr>
          <a:xfrm>
            <a:off x="-2186151" y="4816132"/>
            <a:ext cx="1957566" cy="486436"/>
            <a:chOff x="0" y="-28575"/>
            <a:chExt cx="2784094" cy="691820"/>
          </a:xfrm>
        </p:grpSpPr>
        <p:sp>
          <p:nvSpPr>
            <p:cNvPr id="1210" name="Google Shape;1210;p2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11" name="Google Shape;1211;p2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313">
                <a:solidFill>
                  <a:srgbClr val="000000"/>
                </a:solidFill>
                <a:latin typeface="Arial"/>
                <a:ea typeface="Arial"/>
                <a:cs typeface="Arial"/>
                <a:sym typeface="Arial"/>
              </a:endParaRPr>
            </a:p>
          </p:txBody>
        </p:sp>
      </p:grpSp>
      <p:grpSp>
        <p:nvGrpSpPr>
          <p:cNvPr id="1212" name="Google Shape;1212;p28"/>
          <p:cNvGrpSpPr/>
          <p:nvPr/>
        </p:nvGrpSpPr>
        <p:grpSpPr>
          <a:xfrm>
            <a:off x="-2186151" y="5542509"/>
            <a:ext cx="1957566" cy="486436"/>
            <a:chOff x="0" y="-28575"/>
            <a:chExt cx="2784094" cy="691820"/>
          </a:xfrm>
        </p:grpSpPr>
        <p:sp>
          <p:nvSpPr>
            <p:cNvPr id="1213" name="Google Shape;1213;p28"/>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14" name="Google Shape;1214;p28"/>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313">
                <a:solidFill>
                  <a:srgbClr val="000000"/>
                </a:solidFill>
                <a:latin typeface="Arial"/>
                <a:ea typeface="Arial"/>
                <a:cs typeface="Arial"/>
                <a:sym typeface="Arial"/>
              </a:endParaRPr>
            </a:p>
          </p:txBody>
        </p:sp>
      </p:grpSp>
      <p:grpSp>
        <p:nvGrpSpPr>
          <p:cNvPr id="1215" name="Google Shape;1215;p28"/>
          <p:cNvGrpSpPr/>
          <p:nvPr/>
        </p:nvGrpSpPr>
        <p:grpSpPr>
          <a:xfrm>
            <a:off x="-2186151" y="1916319"/>
            <a:ext cx="1957566" cy="483632"/>
            <a:chOff x="0" y="-28575"/>
            <a:chExt cx="2784094" cy="687832"/>
          </a:xfrm>
        </p:grpSpPr>
        <p:sp>
          <p:nvSpPr>
            <p:cNvPr id="1216" name="Google Shape;1216;p28"/>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17" name="Google Shape;1217;p28"/>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313" u="none" cap="none" strike="noStrike">
                <a:solidFill>
                  <a:srgbClr val="000000"/>
                </a:solidFill>
                <a:latin typeface="Arial"/>
                <a:ea typeface="Arial"/>
                <a:cs typeface="Arial"/>
                <a:sym typeface="Arial"/>
              </a:endParaRPr>
            </a:p>
          </p:txBody>
        </p:sp>
      </p:grpSp>
      <p:sp>
        <p:nvSpPr>
          <p:cNvPr id="1218" name="Google Shape;1218;p28"/>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313">
              <a:solidFill>
                <a:srgbClr val="000000"/>
              </a:solidFill>
              <a:latin typeface="Arial"/>
              <a:ea typeface="Arial"/>
              <a:cs typeface="Arial"/>
              <a:sym typeface="Arial"/>
            </a:endParaRPr>
          </a:p>
        </p:txBody>
      </p:sp>
      <p:cxnSp>
        <p:nvCxnSpPr>
          <p:cNvPr id="1219" name="Google Shape;1219;p28"/>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220" name="Google Shape;1220;p28"/>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21" name="Google Shape;1221;p28"/>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7" l="0" r="0" t="-137"/>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22" name="Google Shape;1222;p28"/>
          <p:cNvSpPr txBox="1"/>
          <p:nvPr/>
        </p:nvSpPr>
        <p:spPr>
          <a:xfrm>
            <a:off x="64294" y="455032"/>
            <a:ext cx="530708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Risk Considerations</a:t>
            </a:r>
            <a:endParaRPr sz="1313">
              <a:solidFill>
                <a:srgbClr val="000000"/>
              </a:solidFill>
              <a:latin typeface="Arial"/>
              <a:ea typeface="Arial"/>
              <a:cs typeface="Arial"/>
              <a:sym typeface="Arial"/>
            </a:endParaRPr>
          </a:p>
        </p:txBody>
      </p:sp>
      <p:grpSp>
        <p:nvGrpSpPr>
          <p:cNvPr id="1223" name="Google Shape;1223;p28"/>
          <p:cNvGrpSpPr/>
          <p:nvPr/>
        </p:nvGrpSpPr>
        <p:grpSpPr>
          <a:xfrm>
            <a:off x="572622" y="5790155"/>
            <a:ext cx="7998768" cy="241911"/>
            <a:chOff x="0" y="-28575"/>
            <a:chExt cx="11376025" cy="344051"/>
          </a:xfrm>
        </p:grpSpPr>
        <p:sp>
          <p:nvSpPr>
            <p:cNvPr id="1224" name="Google Shape;1224;p28"/>
            <p:cNvSpPr/>
            <p:nvPr/>
          </p:nvSpPr>
          <p:spPr>
            <a:xfrm>
              <a:off x="0" y="0"/>
              <a:ext cx="11376025" cy="315468"/>
            </a:xfrm>
            <a:custGeom>
              <a:rect b="b" l="l" r="r" t="t"/>
              <a:pathLst>
                <a:path extrusionOk="0" h="315468" w="11376025">
                  <a:moveTo>
                    <a:pt x="0" y="0"/>
                  </a:moveTo>
                  <a:lnTo>
                    <a:pt x="11376025" y="0"/>
                  </a:lnTo>
                  <a:lnTo>
                    <a:pt x="11376025" y="315468"/>
                  </a:lnTo>
                  <a:lnTo>
                    <a:pt x="0" y="315468"/>
                  </a:lnTo>
                  <a:close/>
                </a:path>
              </a:pathLst>
            </a:custGeom>
            <a:solidFill>
              <a:srgbClr val="333F4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25" name="Google Shape;1225;p28"/>
            <p:cNvSpPr txBox="1"/>
            <p:nvPr/>
          </p:nvSpPr>
          <p:spPr>
            <a:xfrm>
              <a:off x="0" y="-28575"/>
              <a:ext cx="11376011" cy="344051"/>
            </a:xfrm>
            <a:prstGeom prst="rect">
              <a:avLst/>
            </a:prstGeom>
            <a:noFill/>
            <a:ln>
              <a:noFill/>
            </a:ln>
          </p:spPr>
          <p:txBody>
            <a:bodyPr anchorCtr="0" anchor="ctr" bIns="47625" lIns="47625" spcFirstLastPara="1" rIns="47625" wrap="square" tIns="47625">
              <a:noAutofit/>
            </a:bodyPr>
            <a:lstStyle/>
            <a:p>
              <a:pPr indent="0" lvl="0" marL="0" marR="0" rtl="0" algn="l">
                <a:lnSpc>
                  <a:spcPct val="120016"/>
                </a:lnSpc>
                <a:spcBef>
                  <a:spcPts val="0"/>
                </a:spcBef>
                <a:spcAft>
                  <a:spcPts val="0"/>
                </a:spcAft>
                <a:buNone/>
              </a:pPr>
              <a:r>
                <a:rPr b="1" lang="en-US" sz="1199">
                  <a:solidFill>
                    <a:srgbClr val="FFFFFF"/>
                  </a:solidFill>
                  <a:latin typeface="Arial"/>
                  <a:ea typeface="Arial"/>
                  <a:cs typeface="Arial"/>
                  <a:sym typeface="Arial"/>
                </a:rPr>
                <a:t>Low		 		Probability		         		   High</a:t>
              </a:r>
              <a:endParaRPr/>
            </a:p>
          </p:txBody>
        </p:sp>
      </p:grpSp>
      <p:cxnSp>
        <p:nvCxnSpPr>
          <p:cNvPr id="1226" name="Google Shape;1226;p28"/>
          <p:cNvCxnSpPr/>
          <p:nvPr/>
        </p:nvCxnSpPr>
        <p:spPr>
          <a:xfrm rot="4088">
            <a:off x="567856" y="5810246"/>
            <a:ext cx="8008289" cy="0"/>
          </a:xfrm>
          <a:prstGeom prst="straightConnector1">
            <a:avLst/>
          </a:prstGeom>
          <a:noFill/>
          <a:ln cap="rnd" cmpd="sng" w="9525">
            <a:solidFill>
              <a:srgbClr val="000000"/>
            </a:solidFill>
            <a:prstDash val="solid"/>
            <a:round/>
            <a:headEnd len="sm" w="sm" type="none"/>
            <a:tailEnd len="sm" w="sm" type="none"/>
          </a:ln>
        </p:spPr>
      </p:cxnSp>
      <p:grpSp>
        <p:nvGrpSpPr>
          <p:cNvPr id="1227" name="Google Shape;1227;p28"/>
          <p:cNvGrpSpPr/>
          <p:nvPr/>
        </p:nvGrpSpPr>
        <p:grpSpPr>
          <a:xfrm rot="-5400000">
            <a:off x="-1811883" y="3425708"/>
            <a:ext cx="4526280" cy="242798"/>
            <a:chOff x="0" y="-28575"/>
            <a:chExt cx="6437376" cy="345313"/>
          </a:xfrm>
        </p:grpSpPr>
        <p:sp>
          <p:nvSpPr>
            <p:cNvPr id="1228" name="Google Shape;1228;p28"/>
            <p:cNvSpPr/>
            <p:nvPr/>
          </p:nvSpPr>
          <p:spPr>
            <a:xfrm>
              <a:off x="0" y="0"/>
              <a:ext cx="6437376" cy="316738"/>
            </a:xfrm>
            <a:custGeom>
              <a:rect b="b" l="l" r="r" t="t"/>
              <a:pathLst>
                <a:path extrusionOk="0" h="316738" w="6437376">
                  <a:moveTo>
                    <a:pt x="0" y="0"/>
                  </a:moveTo>
                  <a:lnTo>
                    <a:pt x="6437376" y="0"/>
                  </a:lnTo>
                  <a:lnTo>
                    <a:pt x="6437376" y="316738"/>
                  </a:lnTo>
                  <a:lnTo>
                    <a:pt x="0" y="316738"/>
                  </a:lnTo>
                  <a:close/>
                </a:path>
              </a:pathLst>
            </a:custGeom>
            <a:solidFill>
              <a:srgbClr val="333F4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29" name="Google Shape;1229;p28"/>
            <p:cNvSpPr txBox="1"/>
            <p:nvPr/>
          </p:nvSpPr>
          <p:spPr>
            <a:xfrm>
              <a:off x="0" y="-28575"/>
              <a:ext cx="6437376" cy="345263"/>
            </a:xfrm>
            <a:prstGeom prst="rect">
              <a:avLst/>
            </a:prstGeom>
            <a:noFill/>
            <a:ln>
              <a:noFill/>
            </a:ln>
          </p:spPr>
          <p:txBody>
            <a:bodyPr anchorCtr="0" anchor="ctr" bIns="47625" lIns="47625" spcFirstLastPara="1" rIns="47625" wrap="square" tIns="47625">
              <a:noAutofit/>
            </a:bodyPr>
            <a:lstStyle/>
            <a:p>
              <a:pPr indent="0" lvl="0" marL="0" marR="0" rtl="0" algn="l">
                <a:lnSpc>
                  <a:spcPct val="120016"/>
                </a:lnSpc>
                <a:spcBef>
                  <a:spcPts val="0"/>
                </a:spcBef>
                <a:spcAft>
                  <a:spcPts val="0"/>
                </a:spcAft>
                <a:buNone/>
              </a:pPr>
              <a:r>
                <a:rPr b="1" lang="en-US" sz="1199">
                  <a:solidFill>
                    <a:srgbClr val="FFFFFF"/>
                  </a:solidFill>
                  <a:latin typeface="Arial"/>
                  <a:ea typeface="Arial"/>
                  <a:cs typeface="Arial"/>
                  <a:sym typeface="Arial"/>
                </a:rPr>
                <a:t> Low		  Impact      		        High</a:t>
              </a:r>
              <a:endParaRPr/>
            </a:p>
          </p:txBody>
        </p:sp>
      </p:grpSp>
      <p:sp>
        <p:nvSpPr>
          <p:cNvPr id="1230" name="Google Shape;1230;p28"/>
          <p:cNvSpPr/>
          <p:nvPr/>
        </p:nvSpPr>
        <p:spPr>
          <a:xfrm rot="-5400000">
            <a:off x="349681" y="5809091"/>
            <a:ext cx="223242" cy="222706"/>
          </a:xfrm>
          <a:custGeom>
            <a:rect b="b" l="l" r="r" t="t"/>
            <a:pathLst>
              <a:path extrusionOk="0" h="316738" w="317500">
                <a:moveTo>
                  <a:pt x="0" y="0"/>
                </a:moveTo>
                <a:lnTo>
                  <a:pt x="317500" y="0"/>
                </a:lnTo>
                <a:lnTo>
                  <a:pt x="317500" y="316738"/>
                </a:lnTo>
                <a:lnTo>
                  <a:pt x="0" y="316738"/>
                </a:ln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cxnSp>
        <p:nvCxnSpPr>
          <p:cNvPr id="1231" name="Google Shape;1231;p28"/>
          <p:cNvCxnSpPr/>
          <p:nvPr/>
        </p:nvCxnSpPr>
        <p:spPr>
          <a:xfrm rot="8096081">
            <a:off x="296910" y="5920464"/>
            <a:ext cx="328749" cy="0"/>
          </a:xfrm>
          <a:prstGeom prst="straightConnector1">
            <a:avLst/>
          </a:prstGeom>
          <a:noFill/>
          <a:ln cap="rnd" cmpd="sng" w="9525">
            <a:solidFill>
              <a:srgbClr val="BFBFBF"/>
            </a:solidFill>
            <a:prstDash val="solid"/>
            <a:round/>
            <a:headEnd len="sm" w="sm" type="none"/>
            <a:tailEnd len="sm" w="sm" type="none"/>
          </a:ln>
        </p:spPr>
      </p:cxnSp>
      <p:grpSp>
        <p:nvGrpSpPr>
          <p:cNvPr id="1232" name="Google Shape;1232;p28"/>
          <p:cNvGrpSpPr/>
          <p:nvPr/>
        </p:nvGrpSpPr>
        <p:grpSpPr>
          <a:xfrm>
            <a:off x="2569082" y="4420155"/>
            <a:ext cx="2157833" cy="507034"/>
            <a:chOff x="0" y="-28575"/>
            <a:chExt cx="3068918" cy="721116"/>
          </a:xfrm>
        </p:grpSpPr>
        <p:sp>
          <p:nvSpPr>
            <p:cNvPr id="1233" name="Google Shape;1233;p28"/>
            <p:cNvSpPr/>
            <p:nvPr/>
          </p:nvSpPr>
          <p:spPr>
            <a:xfrm>
              <a:off x="6731" y="6957"/>
              <a:ext cx="3055366" cy="678600"/>
            </a:xfrm>
            <a:custGeom>
              <a:rect b="b" l="l" r="r" t="t"/>
              <a:pathLst>
                <a:path extrusionOk="0" h="678600" w="3055366">
                  <a:moveTo>
                    <a:pt x="0" y="0"/>
                  </a:moveTo>
                  <a:lnTo>
                    <a:pt x="3055366" y="0"/>
                  </a:lnTo>
                  <a:lnTo>
                    <a:pt x="3055366" y="678599"/>
                  </a:lnTo>
                  <a:lnTo>
                    <a:pt x="0" y="678599"/>
                  </a:lnTo>
                  <a:close/>
                </a:path>
              </a:pathLst>
            </a:custGeom>
            <a:solidFill>
              <a:srgbClr val="E8FE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34" name="Google Shape;1234;p28"/>
            <p:cNvSpPr/>
            <p:nvPr/>
          </p:nvSpPr>
          <p:spPr>
            <a:xfrm>
              <a:off x="0" y="0"/>
              <a:ext cx="3068828" cy="692513"/>
            </a:xfrm>
            <a:custGeom>
              <a:rect b="b" l="l" r="r" t="t"/>
              <a:pathLst>
                <a:path extrusionOk="0" h="692513" w="3068828">
                  <a:moveTo>
                    <a:pt x="6731" y="0"/>
                  </a:moveTo>
                  <a:lnTo>
                    <a:pt x="3062097" y="0"/>
                  </a:lnTo>
                  <a:cubicBezTo>
                    <a:pt x="3065780" y="0"/>
                    <a:pt x="3068828" y="3150"/>
                    <a:pt x="3068828" y="6957"/>
                  </a:cubicBezTo>
                  <a:lnTo>
                    <a:pt x="3068828" y="685556"/>
                  </a:lnTo>
                  <a:cubicBezTo>
                    <a:pt x="3068828" y="689363"/>
                    <a:pt x="3065780" y="692513"/>
                    <a:pt x="3062097" y="692513"/>
                  </a:cubicBezTo>
                  <a:lnTo>
                    <a:pt x="6731" y="692513"/>
                  </a:lnTo>
                  <a:cubicBezTo>
                    <a:pt x="3048" y="692513"/>
                    <a:pt x="0" y="689363"/>
                    <a:pt x="0" y="685556"/>
                  </a:cubicBezTo>
                  <a:lnTo>
                    <a:pt x="0" y="6957"/>
                  </a:lnTo>
                  <a:cubicBezTo>
                    <a:pt x="0" y="3150"/>
                    <a:pt x="3048" y="0"/>
                    <a:pt x="6731" y="0"/>
                  </a:cubicBezTo>
                  <a:moveTo>
                    <a:pt x="6731" y="14045"/>
                  </a:moveTo>
                  <a:lnTo>
                    <a:pt x="6731" y="6957"/>
                  </a:lnTo>
                  <a:lnTo>
                    <a:pt x="13462" y="6957"/>
                  </a:lnTo>
                  <a:lnTo>
                    <a:pt x="13462" y="685556"/>
                  </a:lnTo>
                  <a:lnTo>
                    <a:pt x="6731" y="685556"/>
                  </a:lnTo>
                  <a:lnTo>
                    <a:pt x="6731" y="678600"/>
                  </a:lnTo>
                  <a:lnTo>
                    <a:pt x="3062097" y="678600"/>
                  </a:lnTo>
                  <a:lnTo>
                    <a:pt x="3062097" y="685556"/>
                  </a:lnTo>
                  <a:lnTo>
                    <a:pt x="3055366" y="685556"/>
                  </a:lnTo>
                  <a:lnTo>
                    <a:pt x="3055366" y="6957"/>
                  </a:lnTo>
                  <a:lnTo>
                    <a:pt x="3062097" y="6957"/>
                  </a:lnTo>
                  <a:lnTo>
                    <a:pt x="3062097" y="13913"/>
                  </a:lnTo>
                  <a:lnTo>
                    <a:pt x="6731" y="13913"/>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35" name="Google Shape;1235;p28"/>
            <p:cNvSpPr txBox="1"/>
            <p:nvPr/>
          </p:nvSpPr>
          <p:spPr>
            <a:xfrm>
              <a:off x="0" y="-28575"/>
              <a:ext cx="3068918" cy="721116"/>
            </a:xfrm>
            <a:prstGeom prst="rect">
              <a:avLst/>
            </a:prstGeom>
            <a:noFill/>
            <a:ln>
              <a:noFill/>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Political instability and volatility in currencies</a:t>
              </a:r>
              <a:endParaRPr/>
            </a:p>
          </p:txBody>
        </p:sp>
      </p:grpSp>
      <p:sp>
        <p:nvSpPr>
          <p:cNvPr id="1236" name="Google Shape;1236;p28"/>
          <p:cNvSpPr txBox="1"/>
          <p:nvPr/>
        </p:nvSpPr>
        <p:spPr>
          <a:xfrm>
            <a:off x="808126" y="2101868"/>
            <a:ext cx="2003713" cy="467518"/>
          </a:xfrm>
          <a:prstGeom prst="rect">
            <a:avLst/>
          </a:prstGeom>
          <a:solidFill>
            <a:srgbClr val="E8FFCD"/>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Threats to margins related to raw materials and tariffs</a:t>
            </a:r>
            <a:endParaRPr b="1" sz="1199">
              <a:solidFill>
                <a:srgbClr val="000000"/>
              </a:solidFill>
              <a:latin typeface="Arial"/>
              <a:ea typeface="Arial"/>
              <a:cs typeface="Arial"/>
              <a:sym typeface="Arial"/>
            </a:endParaRPr>
          </a:p>
        </p:txBody>
      </p:sp>
      <p:grpSp>
        <p:nvGrpSpPr>
          <p:cNvPr id="1237" name="Google Shape;1237;p28"/>
          <p:cNvGrpSpPr/>
          <p:nvPr/>
        </p:nvGrpSpPr>
        <p:grpSpPr>
          <a:xfrm>
            <a:off x="6214719" y="1484747"/>
            <a:ext cx="2478556" cy="666935"/>
            <a:chOff x="0" y="-28575"/>
            <a:chExt cx="3525057" cy="948529"/>
          </a:xfrm>
        </p:grpSpPr>
        <p:sp>
          <p:nvSpPr>
            <p:cNvPr id="1238" name="Google Shape;1238;p28"/>
            <p:cNvSpPr/>
            <p:nvPr/>
          </p:nvSpPr>
          <p:spPr>
            <a:xfrm>
              <a:off x="6731" y="9241"/>
              <a:ext cx="3511550" cy="901436"/>
            </a:xfrm>
            <a:custGeom>
              <a:rect b="b" l="l" r="r" t="t"/>
              <a:pathLst>
                <a:path extrusionOk="0" h="901436" w="3511550">
                  <a:moveTo>
                    <a:pt x="0" y="0"/>
                  </a:moveTo>
                  <a:lnTo>
                    <a:pt x="3511550" y="0"/>
                  </a:lnTo>
                  <a:lnTo>
                    <a:pt x="3511550" y="901436"/>
                  </a:lnTo>
                  <a:lnTo>
                    <a:pt x="0" y="901436"/>
                  </a:lnTo>
                  <a:close/>
                </a:path>
              </a:pathLst>
            </a:custGeom>
            <a:solidFill>
              <a:srgbClr val="FEF7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39" name="Google Shape;1239;p28"/>
            <p:cNvSpPr/>
            <p:nvPr/>
          </p:nvSpPr>
          <p:spPr>
            <a:xfrm>
              <a:off x="0" y="0"/>
              <a:ext cx="3525012" cy="919918"/>
            </a:xfrm>
            <a:custGeom>
              <a:rect b="b" l="l" r="r" t="t"/>
              <a:pathLst>
                <a:path extrusionOk="0" h="919918" w="3525012">
                  <a:moveTo>
                    <a:pt x="6731" y="0"/>
                  </a:moveTo>
                  <a:lnTo>
                    <a:pt x="3518281" y="0"/>
                  </a:lnTo>
                  <a:cubicBezTo>
                    <a:pt x="3521964" y="0"/>
                    <a:pt x="3525012" y="4185"/>
                    <a:pt x="3525012" y="9241"/>
                  </a:cubicBezTo>
                  <a:lnTo>
                    <a:pt x="3525012" y="910677"/>
                  </a:lnTo>
                  <a:cubicBezTo>
                    <a:pt x="3525012" y="915733"/>
                    <a:pt x="3521964" y="919918"/>
                    <a:pt x="3518281" y="919918"/>
                  </a:cubicBezTo>
                  <a:lnTo>
                    <a:pt x="6731" y="919918"/>
                  </a:lnTo>
                  <a:cubicBezTo>
                    <a:pt x="3048" y="919918"/>
                    <a:pt x="0" y="915733"/>
                    <a:pt x="0" y="910677"/>
                  </a:cubicBezTo>
                  <a:lnTo>
                    <a:pt x="0" y="9241"/>
                  </a:lnTo>
                  <a:cubicBezTo>
                    <a:pt x="0" y="4185"/>
                    <a:pt x="3048" y="0"/>
                    <a:pt x="6731" y="0"/>
                  </a:cubicBezTo>
                  <a:moveTo>
                    <a:pt x="6731" y="18656"/>
                  </a:moveTo>
                  <a:lnTo>
                    <a:pt x="6731" y="9241"/>
                  </a:lnTo>
                  <a:lnTo>
                    <a:pt x="13462" y="9241"/>
                  </a:lnTo>
                  <a:lnTo>
                    <a:pt x="13462" y="910677"/>
                  </a:lnTo>
                  <a:lnTo>
                    <a:pt x="6731" y="910677"/>
                  </a:lnTo>
                  <a:lnTo>
                    <a:pt x="6731" y="901436"/>
                  </a:lnTo>
                  <a:lnTo>
                    <a:pt x="3518281" y="901436"/>
                  </a:lnTo>
                  <a:lnTo>
                    <a:pt x="3518281" y="910677"/>
                  </a:lnTo>
                  <a:lnTo>
                    <a:pt x="3511550" y="910677"/>
                  </a:lnTo>
                  <a:lnTo>
                    <a:pt x="3511550" y="9241"/>
                  </a:lnTo>
                  <a:lnTo>
                    <a:pt x="3518281" y="9241"/>
                  </a:lnTo>
                  <a:lnTo>
                    <a:pt x="3518281" y="18482"/>
                  </a:lnTo>
                  <a:lnTo>
                    <a:pt x="6731" y="1848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40" name="Google Shape;1240;p28"/>
            <p:cNvSpPr txBox="1"/>
            <p:nvPr/>
          </p:nvSpPr>
          <p:spPr>
            <a:xfrm>
              <a:off x="0" y="-28575"/>
              <a:ext cx="3525057" cy="948529"/>
            </a:xfrm>
            <a:prstGeom prst="rect">
              <a:avLst/>
            </a:prstGeom>
            <a:solidFill>
              <a:srgbClr val="E8FECC"/>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short-term slowdown in profitability</a:t>
              </a:r>
              <a:endParaRPr b="1" sz="1199">
                <a:solidFill>
                  <a:srgbClr val="000000"/>
                </a:solidFill>
                <a:latin typeface="Arial"/>
                <a:ea typeface="Arial"/>
                <a:cs typeface="Arial"/>
                <a:sym typeface="Arial"/>
              </a:endParaRPr>
            </a:p>
          </p:txBody>
        </p:sp>
      </p:grpSp>
      <p:sp>
        <p:nvSpPr>
          <p:cNvPr id="1241" name="Google Shape;1241;p28"/>
          <p:cNvSpPr txBox="1"/>
          <p:nvPr/>
        </p:nvSpPr>
        <p:spPr>
          <a:xfrm>
            <a:off x="3692085" y="3284212"/>
            <a:ext cx="2796624" cy="533360"/>
          </a:xfrm>
          <a:prstGeom prst="rect">
            <a:avLst/>
          </a:prstGeom>
          <a:solidFill>
            <a:srgbClr val="FFF7F4"/>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200">
                <a:solidFill>
                  <a:schemeClr val="dk1"/>
                </a:solidFill>
                <a:latin typeface="Arial"/>
                <a:ea typeface="Arial"/>
                <a:cs typeface="Arial"/>
                <a:sym typeface="Arial"/>
              </a:rPr>
              <a:t>BodyArmor competitiveness with regards to Gatorade, prime, …</a:t>
            </a:r>
            <a:endParaRPr b="1" sz="1199">
              <a:solidFill>
                <a:srgbClr val="000000"/>
              </a:solidFill>
              <a:latin typeface="Arial"/>
              <a:ea typeface="Arial"/>
              <a:cs typeface="Arial"/>
              <a:sym typeface="Arial"/>
            </a:endParaRPr>
          </a:p>
        </p:txBody>
      </p:sp>
      <p:grpSp>
        <p:nvGrpSpPr>
          <p:cNvPr id="1242" name="Google Shape;1242;p28"/>
          <p:cNvGrpSpPr/>
          <p:nvPr/>
        </p:nvGrpSpPr>
        <p:grpSpPr>
          <a:xfrm>
            <a:off x="1439573" y="1138239"/>
            <a:ext cx="245923" cy="145732"/>
            <a:chOff x="0" y="0"/>
            <a:chExt cx="349758" cy="207264"/>
          </a:xfrm>
        </p:grpSpPr>
        <p:sp>
          <p:nvSpPr>
            <p:cNvPr id="1243" name="Google Shape;1243;p28"/>
            <p:cNvSpPr/>
            <p:nvPr/>
          </p:nvSpPr>
          <p:spPr>
            <a:xfrm>
              <a:off x="6731" y="6731"/>
              <a:ext cx="336296" cy="193802"/>
            </a:xfrm>
            <a:custGeom>
              <a:rect b="b" l="l" r="r" t="t"/>
              <a:pathLst>
                <a:path extrusionOk="0" h="193802" w="336296">
                  <a:moveTo>
                    <a:pt x="0" y="0"/>
                  </a:moveTo>
                  <a:lnTo>
                    <a:pt x="336296" y="0"/>
                  </a:lnTo>
                  <a:lnTo>
                    <a:pt x="336296" y="193802"/>
                  </a:lnTo>
                  <a:lnTo>
                    <a:pt x="0" y="193802"/>
                  </a:lnTo>
                  <a:close/>
                </a:path>
              </a:pathLst>
            </a:custGeom>
            <a:solidFill>
              <a:srgbClr val="E6B9B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44" name="Google Shape;1244;p28"/>
            <p:cNvSpPr/>
            <p:nvPr/>
          </p:nvSpPr>
          <p:spPr>
            <a:xfrm>
              <a:off x="0" y="0"/>
              <a:ext cx="349758" cy="207264"/>
            </a:xfrm>
            <a:custGeom>
              <a:rect b="b" l="l" r="r" t="t"/>
              <a:pathLst>
                <a:path extrusionOk="0" h="207264" w="349758">
                  <a:moveTo>
                    <a:pt x="6731" y="0"/>
                  </a:moveTo>
                  <a:lnTo>
                    <a:pt x="343027" y="0"/>
                  </a:lnTo>
                  <a:cubicBezTo>
                    <a:pt x="346710" y="0"/>
                    <a:pt x="349758" y="3048"/>
                    <a:pt x="349758" y="6731"/>
                  </a:cubicBezTo>
                  <a:lnTo>
                    <a:pt x="349758" y="200533"/>
                  </a:lnTo>
                  <a:cubicBezTo>
                    <a:pt x="349758" y="204216"/>
                    <a:pt x="346710" y="207264"/>
                    <a:pt x="343027" y="207264"/>
                  </a:cubicBezTo>
                  <a:lnTo>
                    <a:pt x="6731" y="207264"/>
                  </a:lnTo>
                  <a:cubicBezTo>
                    <a:pt x="3048" y="207264"/>
                    <a:pt x="0" y="204216"/>
                    <a:pt x="0" y="200533"/>
                  </a:cubicBezTo>
                  <a:lnTo>
                    <a:pt x="0" y="6731"/>
                  </a:lnTo>
                  <a:cubicBezTo>
                    <a:pt x="0" y="3048"/>
                    <a:pt x="3048" y="0"/>
                    <a:pt x="6731" y="0"/>
                  </a:cubicBezTo>
                  <a:moveTo>
                    <a:pt x="6731" y="13589"/>
                  </a:moveTo>
                  <a:lnTo>
                    <a:pt x="6731" y="6731"/>
                  </a:lnTo>
                  <a:lnTo>
                    <a:pt x="13462" y="6731"/>
                  </a:lnTo>
                  <a:lnTo>
                    <a:pt x="13462" y="200533"/>
                  </a:lnTo>
                  <a:lnTo>
                    <a:pt x="6731" y="200533"/>
                  </a:lnTo>
                  <a:lnTo>
                    <a:pt x="6731" y="193802"/>
                  </a:lnTo>
                  <a:lnTo>
                    <a:pt x="343027" y="193802"/>
                  </a:lnTo>
                  <a:lnTo>
                    <a:pt x="343027" y="200533"/>
                  </a:lnTo>
                  <a:lnTo>
                    <a:pt x="336296" y="200533"/>
                  </a:lnTo>
                  <a:lnTo>
                    <a:pt x="336296" y="6731"/>
                  </a:lnTo>
                  <a:lnTo>
                    <a:pt x="343027" y="6731"/>
                  </a:lnTo>
                  <a:lnTo>
                    <a:pt x="343027" y="13462"/>
                  </a:lnTo>
                  <a:lnTo>
                    <a:pt x="6731" y="1346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sp>
        <p:nvSpPr>
          <p:cNvPr id="1245" name="Google Shape;1245;p28"/>
          <p:cNvSpPr txBox="1"/>
          <p:nvPr/>
        </p:nvSpPr>
        <p:spPr>
          <a:xfrm>
            <a:off x="1766465" y="1127227"/>
            <a:ext cx="561443"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High Risk</a:t>
            </a:r>
            <a:endParaRPr/>
          </a:p>
        </p:txBody>
      </p:sp>
      <p:sp>
        <p:nvSpPr>
          <p:cNvPr id="1246" name="Google Shape;1246;p28"/>
          <p:cNvSpPr/>
          <p:nvPr/>
        </p:nvSpPr>
        <p:spPr>
          <a:xfrm>
            <a:off x="3730161" y="1157230"/>
            <a:ext cx="205679" cy="148281"/>
          </a:xfrm>
          <a:custGeom>
            <a:rect b="b" l="l" r="r" t="t"/>
            <a:pathLst>
              <a:path extrusionOk="0" h="158166" w="219391">
                <a:moveTo>
                  <a:pt x="0" y="0"/>
                </a:moveTo>
                <a:lnTo>
                  <a:pt x="219391" y="0"/>
                </a:lnTo>
                <a:lnTo>
                  <a:pt x="219391" y="158167"/>
                </a:lnTo>
                <a:lnTo>
                  <a:pt x="0" y="15816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47" name="Google Shape;1247;p28"/>
          <p:cNvSpPr txBox="1"/>
          <p:nvPr/>
        </p:nvSpPr>
        <p:spPr>
          <a:xfrm>
            <a:off x="2811840" y="1124334"/>
            <a:ext cx="753803"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Medium Risk</a:t>
            </a:r>
            <a:endParaRPr/>
          </a:p>
        </p:txBody>
      </p:sp>
      <p:grpSp>
        <p:nvGrpSpPr>
          <p:cNvPr id="1248" name="Google Shape;1248;p28"/>
          <p:cNvGrpSpPr/>
          <p:nvPr/>
        </p:nvGrpSpPr>
        <p:grpSpPr>
          <a:xfrm>
            <a:off x="2477470" y="1174357"/>
            <a:ext cx="277981" cy="103763"/>
            <a:chOff x="0" y="0"/>
            <a:chExt cx="395351" cy="147574"/>
          </a:xfrm>
        </p:grpSpPr>
        <p:sp>
          <p:nvSpPr>
            <p:cNvPr id="1249" name="Google Shape;1249;p28"/>
            <p:cNvSpPr/>
            <p:nvPr/>
          </p:nvSpPr>
          <p:spPr>
            <a:xfrm>
              <a:off x="6731" y="6731"/>
              <a:ext cx="381889" cy="134112"/>
            </a:xfrm>
            <a:custGeom>
              <a:rect b="b" l="l" r="r" t="t"/>
              <a:pathLst>
                <a:path extrusionOk="0" h="134112" w="381889">
                  <a:moveTo>
                    <a:pt x="0" y="0"/>
                  </a:moveTo>
                  <a:lnTo>
                    <a:pt x="381889" y="0"/>
                  </a:lnTo>
                  <a:lnTo>
                    <a:pt x="381889" y="134112"/>
                  </a:lnTo>
                  <a:lnTo>
                    <a:pt x="0" y="134112"/>
                  </a:lnTo>
                  <a:close/>
                </a:path>
              </a:pathLst>
            </a:custGeom>
            <a:solidFill>
              <a:srgbClr val="FEF7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50" name="Google Shape;1250;p28"/>
            <p:cNvSpPr/>
            <p:nvPr/>
          </p:nvSpPr>
          <p:spPr>
            <a:xfrm>
              <a:off x="0" y="0"/>
              <a:ext cx="395351" cy="147574"/>
            </a:xfrm>
            <a:custGeom>
              <a:rect b="b" l="l" r="r" t="t"/>
              <a:pathLst>
                <a:path extrusionOk="0" h="147574" w="395351">
                  <a:moveTo>
                    <a:pt x="6731" y="0"/>
                  </a:moveTo>
                  <a:lnTo>
                    <a:pt x="388620" y="0"/>
                  </a:lnTo>
                  <a:cubicBezTo>
                    <a:pt x="392303" y="0"/>
                    <a:pt x="395351" y="3048"/>
                    <a:pt x="395351" y="6731"/>
                  </a:cubicBezTo>
                  <a:lnTo>
                    <a:pt x="395351" y="140843"/>
                  </a:lnTo>
                  <a:cubicBezTo>
                    <a:pt x="395351" y="144526"/>
                    <a:pt x="392303" y="147574"/>
                    <a:pt x="388620" y="147574"/>
                  </a:cubicBezTo>
                  <a:lnTo>
                    <a:pt x="6731" y="147574"/>
                  </a:lnTo>
                  <a:cubicBezTo>
                    <a:pt x="3048" y="147574"/>
                    <a:pt x="0" y="144526"/>
                    <a:pt x="0" y="140843"/>
                  </a:cubicBezTo>
                  <a:lnTo>
                    <a:pt x="0" y="6731"/>
                  </a:lnTo>
                  <a:cubicBezTo>
                    <a:pt x="0" y="3048"/>
                    <a:pt x="3048" y="0"/>
                    <a:pt x="6731" y="0"/>
                  </a:cubicBezTo>
                  <a:moveTo>
                    <a:pt x="6731" y="13589"/>
                  </a:moveTo>
                  <a:lnTo>
                    <a:pt x="6731" y="6731"/>
                  </a:lnTo>
                  <a:lnTo>
                    <a:pt x="13462" y="6731"/>
                  </a:lnTo>
                  <a:lnTo>
                    <a:pt x="13462" y="140843"/>
                  </a:lnTo>
                  <a:lnTo>
                    <a:pt x="6731" y="140843"/>
                  </a:lnTo>
                  <a:lnTo>
                    <a:pt x="6731" y="134112"/>
                  </a:lnTo>
                  <a:lnTo>
                    <a:pt x="388620" y="134112"/>
                  </a:lnTo>
                  <a:lnTo>
                    <a:pt x="388620" y="140843"/>
                  </a:lnTo>
                  <a:lnTo>
                    <a:pt x="381889" y="140843"/>
                  </a:lnTo>
                  <a:lnTo>
                    <a:pt x="381889" y="6731"/>
                  </a:lnTo>
                  <a:lnTo>
                    <a:pt x="388620" y="6731"/>
                  </a:lnTo>
                  <a:lnTo>
                    <a:pt x="388620" y="13462"/>
                  </a:lnTo>
                  <a:lnTo>
                    <a:pt x="6731" y="13462"/>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sp>
        <p:nvSpPr>
          <p:cNvPr id="1251" name="Google Shape;1251;p28"/>
          <p:cNvSpPr txBox="1"/>
          <p:nvPr/>
        </p:nvSpPr>
        <p:spPr>
          <a:xfrm>
            <a:off x="4012949" y="1132174"/>
            <a:ext cx="532589" cy="149272"/>
          </a:xfrm>
          <a:prstGeom prst="rect">
            <a:avLst/>
          </a:prstGeom>
          <a:noFill/>
          <a:ln>
            <a:noFill/>
          </a:ln>
        </p:spPr>
        <p:txBody>
          <a:bodyPr anchorCtr="0" anchor="t" bIns="0" lIns="0" spcFirstLastPara="1" rIns="0" wrap="square" tIns="0">
            <a:spAutoFit/>
          </a:bodyPr>
          <a:lstStyle/>
          <a:p>
            <a:pPr indent="0" lvl="0" marL="0" marR="0" rtl="0" algn="l">
              <a:lnSpc>
                <a:spcPct val="120120"/>
              </a:lnSpc>
              <a:spcBef>
                <a:spcPts val="0"/>
              </a:spcBef>
              <a:spcAft>
                <a:spcPts val="0"/>
              </a:spcAft>
              <a:buNone/>
            </a:pPr>
            <a:r>
              <a:rPr lang="en-US" sz="999">
                <a:solidFill>
                  <a:srgbClr val="000000"/>
                </a:solidFill>
                <a:latin typeface="Arial"/>
                <a:ea typeface="Arial"/>
                <a:cs typeface="Arial"/>
                <a:sym typeface="Arial"/>
              </a:rPr>
              <a:t>Low Risk</a:t>
            </a:r>
            <a:endParaRPr/>
          </a:p>
        </p:txBody>
      </p:sp>
      <p:sp>
        <p:nvSpPr>
          <p:cNvPr id="1252" name="Google Shape;1252;p28"/>
          <p:cNvSpPr/>
          <p:nvPr/>
        </p:nvSpPr>
        <p:spPr>
          <a:xfrm>
            <a:off x="1181389" y="1044578"/>
            <a:ext cx="3565803" cy="388263"/>
          </a:xfrm>
          <a:custGeom>
            <a:rect b="b" l="l" r="r" t="t"/>
            <a:pathLst>
              <a:path extrusionOk="0" h="552196" w="5071364">
                <a:moveTo>
                  <a:pt x="4572" y="0"/>
                </a:moveTo>
                <a:lnTo>
                  <a:pt x="5066792" y="0"/>
                </a:lnTo>
                <a:cubicBezTo>
                  <a:pt x="5069332" y="0"/>
                  <a:pt x="5071364" y="2032"/>
                  <a:pt x="5071364" y="4572"/>
                </a:cubicBezTo>
                <a:lnTo>
                  <a:pt x="5071364" y="547624"/>
                </a:lnTo>
                <a:cubicBezTo>
                  <a:pt x="5071364" y="550164"/>
                  <a:pt x="5069332" y="552196"/>
                  <a:pt x="5066792" y="552196"/>
                </a:cubicBezTo>
                <a:lnTo>
                  <a:pt x="4572" y="552196"/>
                </a:lnTo>
                <a:cubicBezTo>
                  <a:pt x="2032" y="552196"/>
                  <a:pt x="0" y="550164"/>
                  <a:pt x="0" y="547624"/>
                </a:cubicBezTo>
                <a:lnTo>
                  <a:pt x="0" y="4572"/>
                </a:lnTo>
                <a:cubicBezTo>
                  <a:pt x="0" y="2032"/>
                  <a:pt x="2032" y="0"/>
                  <a:pt x="4572" y="0"/>
                </a:cubicBezTo>
                <a:moveTo>
                  <a:pt x="4572" y="9017"/>
                </a:moveTo>
                <a:lnTo>
                  <a:pt x="4572" y="4572"/>
                </a:lnTo>
                <a:lnTo>
                  <a:pt x="9017" y="4572"/>
                </a:lnTo>
                <a:lnTo>
                  <a:pt x="9017" y="547624"/>
                </a:lnTo>
                <a:lnTo>
                  <a:pt x="4572" y="547624"/>
                </a:lnTo>
                <a:lnTo>
                  <a:pt x="4572" y="543052"/>
                </a:lnTo>
                <a:lnTo>
                  <a:pt x="5066792" y="543052"/>
                </a:lnTo>
                <a:lnTo>
                  <a:pt x="5066792" y="547624"/>
                </a:lnTo>
                <a:lnTo>
                  <a:pt x="5062220" y="547624"/>
                </a:lnTo>
                <a:lnTo>
                  <a:pt x="5062220" y="4572"/>
                </a:lnTo>
                <a:lnTo>
                  <a:pt x="5066792" y="4572"/>
                </a:lnTo>
                <a:lnTo>
                  <a:pt x="5066792" y="9017"/>
                </a:lnTo>
                <a:lnTo>
                  <a:pt x="4572" y="9017"/>
                </a:lnTo>
                <a:close/>
              </a:path>
            </a:pathLst>
          </a:cu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grpSp>
        <p:nvGrpSpPr>
          <p:cNvPr id="1253" name="Google Shape;1253;p28"/>
          <p:cNvGrpSpPr/>
          <p:nvPr/>
        </p:nvGrpSpPr>
        <p:grpSpPr>
          <a:xfrm>
            <a:off x="5009502" y="2602201"/>
            <a:ext cx="1876735" cy="451718"/>
            <a:chOff x="0" y="-28575"/>
            <a:chExt cx="2669135" cy="642443"/>
          </a:xfrm>
        </p:grpSpPr>
        <p:sp>
          <p:nvSpPr>
            <p:cNvPr id="1254" name="Google Shape;1254;p28"/>
            <p:cNvSpPr/>
            <p:nvPr/>
          </p:nvSpPr>
          <p:spPr>
            <a:xfrm>
              <a:off x="5097" y="5097"/>
              <a:ext cx="2658907" cy="497163"/>
            </a:xfrm>
            <a:custGeom>
              <a:rect b="b" l="l" r="r" t="t"/>
              <a:pathLst>
                <a:path extrusionOk="0" h="497163" w="2658907">
                  <a:moveTo>
                    <a:pt x="0" y="0"/>
                  </a:moveTo>
                  <a:lnTo>
                    <a:pt x="2658907" y="0"/>
                  </a:lnTo>
                  <a:lnTo>
                    <a:pt x="2658907" y="497162"/>
                  </a:lnTo>
                  <a:lnTo>
                    <a:pt x="0" y="497162"/>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55" name="Google Shape;1255;p28"/>
            <p:cNvSpPr/>
            <p:nvPr/>
          </p:nvSpPr>
          <p:spPr>
            <a:xfrm>
              <a:off x="0" y="0"/>
              <a:ext cx="2669100" cy="507356"/>
            </a:xfrm>
            <a:custGeom>
              <a:rect b="b" l="l" r="r" t="t"/>
              <a:pathLst>
                <a:path extrusionOk="0" h="507356" w="2669100">
                  <a:moveTo>
                    <a:pt x="5097" y="0"/>
                  </a:moveTo>
                  <a:lnTo>
                    <a:pt x="2664004" y="0"/>
                  </a:lnTo>
                  <a:cubicBezTo>
                    <a:pt x="2666792" y="0"/>
                    <a:pt x="2669100" y="2308"/>
                    <a:pt x="2669100" y="5097"/>
                  </a:cubicBezTo>
                  <a:lnTo>
                    <a:pt x="2669100" y="502259"/>
                  </a:lnTo>
                  <a:cubicBezTo>
                    <a:pt x="2669100" y="505048"/>
                    <a:pt x="2666792" y="507356"/>
                    <a:pt x="2664004" y="507356"/>
                  </a:cubicBezTo>
                  <a:lnTo>
                    <a:pt x="5097" y="507356"/>
                  </a:lnTo>
                  <a:cubicBezTo>
                    <a:pt x="2308" y="507356"/>
                    <a:pt x="0" y="505048"/>
                    <a:pt x="0" y="502259"/>
                  </a:cubicBezTo>
                  <a:lnTo>
                    <a:pt x="0" y="5097"/>
                  </a:lnTo>
                  <a:cubicBezTo>
                    <a:pt x="0" y="2308"/>
                    <a:pt x="2308" y="0"/>
                    <a:pt x="5097" y="0"/>
                  </a:cubicBezTo>
                  <a:moveTo>
                    <a:pt x="5097" y="10289"/>
                  </a:moveTo>
                  <a:lnTo>
                    <a:pt x="5097" y="5097"/>
                  </a:lnTo>
                  <a:lnTo>
                    <a:pt x="10193" y="5097"/>
                  </a:lnTo>
                  <a:lnTo>
                    <a:pt x="10193" y="502259"/>
                  </a:lnTo>
                  <a:lnTo>
                    <a:pt x="5097" y="502259"/>
                  </a:lnTo>
                  <a:lnTo>
                    <a:pt x="5097" y="497163"/>
                  </a:lnTo>
                  <a:lnTo>
                    <a:pt x="2664004" y="497163"/>
                  </a:lnTo>
                  <a:lnTo>
                    <a:pt x="2664004" y="502259"/>
                  </a:lnTo>
                  <a:lnTo>
                    <a:pt x="2658907" y="502259"/>
                  </a:lnTo>
                  <a:lnTo>
                    <a:pt x="2658907" y="5097"/>
                  </a:lnTo>
                  <a:lnTo>
                    <a:pt x="2664004" y="5097"/>
                  </a:lnTo>
                  <a:lnTo>
                    <a:pt x="2664004" y="10193"/>
                  </a:lnTo>
                  <a:lnTo>
                    <a:pt x="5097" y="10193"/>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56" name="Google Shape;1256;p28"/>
            <p:cNvSpPr txBox="1"/>
            <p:nvPr/>
          </p:nvSpPr>
          <p:spPr>
            <a:xfrm>
              <a:off x="0" y="-28575"/>
              <a:ext cx="2669135" cy="642443"/>
            </a:xfrm>
            <a:prstGeom prst="rect">
              <a:avLst/>
            </a:prstGeom>
            <a:solidFill>
              <a:srgbClr val="E6BAB8"/>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Coca-Cola’s tax dispute with the IRS</a:t>
              </a:r>
              <a:endParaRPr b="1" sz="1199">
                <a:solidFill>
                  <a:srgbClr val="000000"/>
                </a:solidFill>
                <a:latin typeface="Arial"/>
                <a:ea typeface="Arial"/>
                <a:cs typeface="Arial"/>
                <a:sym typeface="Arial"/>
              </a:endParaRPr>
            </a:p>
          </p:txBody>
        </p:sp>
      </p:grpSp>
      <p:grpSp>
        <p:nvGrpSpPr>
          <p:cNvPr id="1257" name="Google Shape;1257;p28"/>
          <p:cNvGrpSpPr/>
          <p:nvPr/>
        </p:nvGrpSpPr>
        <p:grpSpPr>
          <a:xfrm>
            <a:off x="3412775" y="1744231"/>
            <a:ext cx="2139207" cy="486923"/>
            <a:chOff x="-373293" y="-28575"/>
            <a:chExt cx="3042428" cy="692512"/>
          </a:xfrm>
        </p:grpSpPr>
        <p:sp>
          <p:nvSpPr>
            <p:cNvPr id="1258" name="Google Shape;1258;p28"/>
            <p:cNvSpPr/>
            <p:nvPr/>
          </p:nvSpPr>
          <p:spPr>
            <a:xfrm>
              <a:off x="5097" y="5097"/>
              <a:ext cx="2658907" cy="497163"/>
            </a:xfrm>
            <a:custGeom>
              <a:rect b="b" l="l" r="r" t="t"/>
              <a:pathLst>
                <a:path extrusionOk="0" h="497163" w="2658907">
                  <a:moveTo>
                    <a:pt x="0" y="0"/>
                  </a:moveTo>
                  <a:lnTo>
                    <a:pt x="2658907" y="0"/>
                  </a:lnTo>
                  <a:lnTo>
                    <a:pt x="2658907" y="497162"/>
                  </a:lnTo>
                  <a:lnTo>
                    <a:pt x="0" y="497162"/>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59" name="Google Shape;1259;p28"/>
            <p:cNvSpPr/>
            <p:nvPr/>
          </p:nvSpPr>
          <p:spPr>
            <a:xfrm>
              <a:off x="0" y="0"/>
              <a:ext cx="2669100" cy="507356"/>
            </a:xfrm>
            <a:custGeom>
              <a:rect b="b" l="l" r="r" t="t"/>
              <a:pathLst>
                <a:path extrusionOk="0" h="507356" w="2669100">
                  <a:moveTo>
                    <a:pt x="5097" y="0"/>
                  </a:moveTo>
                  <a:lnTo>
                    <a:pt x="2664004" y="0"/>
                  </a:lnTo>
                  <a:cubicBezTo>
                    <a:pt x="2666792" y="0"/>
                    <a:pt x="2669100" y="2308"/>
                    <a:pt x="2669100" y="5097"/>
                  </a:cubicBezTo>
                  <a:lnTo>
                    <a:pt x="2669100" y="502259"/>
                  </a:lnTo>
                  <a:cubicBezTo>
                    <a:pt x="2669100" y="505048"/>
                    <a:pt x="2666792" y="507356"/>
                    <a:pt x="2664004" y="507356"/>
                  </a:cubicBezTo>
                  <a:lnTo>
                    <a:pt x="5097" y="507356"/>
                  </a:lnTo>
                  <a:cubicBezTo>
                    <a:pt x="2308" y="507356"/>
                    <a:pt x="0" y="505048"/>
                    <a:pt x="0" y="502259"/>
                  </a:cubicBezTo>
                  <a:lnTo>
                    <a:pt x="0" y="5097"/>
                  </a:lnTo>
                  <a:cubicBezTo>
                    <a:pt x="0" y="2308"/>
                    <a:pt x="2308" y="0"/>
                    <a:pt x="5097" y="0"/>
                  </a:cubicBezTo>
                  <a:moveTo>
                    <a:pt x="5097" y="10289"/>
                  </a:moveTo>
                  <a:lnTo>
                    <a:pt x="5097" y="5097"/>
                  </a:lnTo>
                  <a:lnTo>
                    <a:pt x="10193" y="5097"/>
                  </a:lnTo>
                  <a:lnTo>
                    <a:pt x="10193" y="502259"/>
                  </a:lnTo>
                  <a:lnTo>
                    <a:pt x="5097" y="502259"/>
                  </a:lnTo>
                  <a:lnTo>
                    <a:pt x="5097" y="497163"/>
                  </a:lnTo>
                  <a:lnTo>
                    <a:pt x="2664004" y="497163"/>
                  </a:lnTo>
                  <a:lnTo>
                    <a:pt x="2664004" y="502259"/>
                  </a:lnTo>
                  <a:lnTo>
                    <a:pt x="2658907" y="502259"/>
                  </a:lnTo>
                  <a:lnTo>
                    <a:pt x="2658907" y="5097"/>
                  </a:lnTo>
                  <a:lnTo>
                    <a:pt x="2664004" y="5097"/>
                  </a:lnTo>
                  <a:lnTo>
                    <a:pt x="2664004" y="10193"/>
                  </a:lnTo>
                  <a:lnTo>
                    <a:pt x="5097" y="10193"/>
                  </a:lnTo>
                  <a:close/>
                </a:path>
              </a:pathLst>
            </a:custGeom>
            <a:solidFill>
              <a:srgbClr val="E6BAB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60" name="Google Shape;1260;p28"/>
            <p:cNvSpPr txBox="1"/>
            <p:nvPr/>
          </p:nvSpPr>
          <p:spPr>
            <a:xfrm>
              <a:off x="-373293" y="-28575"/>
              <a:ext cx="3042428" cy="692512"/>
            </a:xfrm>
            <a:prstGeom prst="rect">
              <a:avLst/>
            </a:prstGeom>
            <a:solidFill>
              <a:srgbClr val="E6BAB8"/>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16"/>
                </a:lnSpc>
                <a:spcBef>
                  <a:spcPts val="0"/>
                </a:spcBef>
                <a:spcAft>
                  <a:spcPts val="0"/>
                </a:spcAft>
                <a:buNone/>
              </a:pPr>
              <a:r>
                <a:rPr b="1" lang="en-US" sz="1199">
                  <a:solidFill>
                    <a:schemeClr val="dk1"/>
                  </a:solidFill>
                  <a:latin typeface="Arial"/>
                  <a:ea typeface="Arial"/>
                  <a:cs typeface="Arial"/>
                  <a:sym typeface="Arial"/>
                </a:rPr>
                <a:t>Water security and environmental stress</a:t>
              </a:r>
              <a:endParaRPr b="1" sz="1199">
                <a:solidFill>
                  <a:srgbClr val="000000"/>
                </a:solidFill>
                <a:latin typeface="Arial"/>
                <a:ea typeface="Arial"/>
                <a:cs typeface="Arial"/>
                <a:sym typeface="Arial"/>
              </a:endParaRPr>
            </a:p>
          </p:txBody>
        </p:sp>
      </p:grpSp>
      <p:grpSp>
        <p:nvGrpSpPr>
          <p:cNvPr id="1261" name="Google Shape;1261;p28"/>
          <p:cNvGrpSpPr/>
          <p:nvPr/>
        </p:nvGrpSpPr>
        <p:grpSpPr>
          <a:xfrm>
            <a:off x="5457961" y="3962413"/>
            <a:ext cx="2360856" cy="533360"/>
            <a:chOff x="0" y="-1"/>
            <a:chExt cx="3357662" cy="758556"/>
          </a:xfrm>
        </p:grpSpPr>
        <p:sp>
          <p:nvSpPr>
            <p:cNvPr id="1262" name="Google Shape;1262;p28"/>
            <p:cNvSpPr/>
            <p:nvPr/>
          </p:nvSpPr>
          <p:spPr>
            <a:xfrm>
              <a:off x="6731" y="7620"/>
              <a:ext cx="3344164" cy="743286"/>
            </a:xfrm>
            <a:custGeom>
              <a:rect b="b" l="l" r="r" t="t"/>
              <a:pathLst>
                <a:path extrusionOk="0" h="743286" w="3344164">
                  <a:moveTo>
                    <a:pt x="0" y="0"/>
                  </a:moveTo>
                  <a:lnTo>
                    <a:pt x="3344164" y="0"/>
                  </a:lnTo>
                  <a:lnTo>
                    <a:pt x="3344164" y="743286"/>
                  </a:lnTo>
                  <a:lnTo>
                    <a:pt x="0" y="743286"/>
                  </a:lnTo>
                  <a:close/>
                </a:path>
              </a:pathLst>
            </a:custGeom>
            <a:solidFill>
              <a:srgbClr val="FFF7F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63" name="Google Shape;1263;p28"/>
            <p:cNvSpPr/>
            <p:nvPr/>
          </p:nvSpPr>
          <p:spPr>
            <a:xfrm>
              <a:off x="0" y="0"/>
              <a:ext cx="3357626" cy="758526"/>
            </a:xfrm>
            <a:custGeom>
              <a:rect b="b" l="l" r="r" t="t"/>
              <a:pathLst>
                <a:path extrusionOk="0" h="758526" w="3357626">
                  <a:moveTo>
                    <a:pt x="6731" y="0"/>
                  </a:moveTo>
                  <a:lnTo>
                    <a:pt x="3350895" y="0"/>
                  </a:lnTo>
                  <a:cubicBezTo>
                    <a:pt x="3354578" y="0"/>
                    <a:pt x="3357626" y="3450"/>
                    <a:pt x="3357626" y="7620"/>
                  </a:cubicBezTo>
                  <a:lnTo>
                    <a:pt x="3357626" y="750906"/>
                  </a:lnTo>
                  <a:cubicBezTo>
                    <a:pt x="3357626" y="755075"/>
                    <a:pt x="3354578" y="758526"/>
                    <a:pt x="3350895" y="758526"/>
                  </a:cubicBezTo>
                  <a:lnTo>
                    <a:pt x="6731" y="758526"/>
                  </a:lnTo>
                  <a:cubicBezTo>
                    <a:pt x="3048" y="758526"/>
                    <a:pt x="0" y="755075"/>
                    <a:pt x="0" y="750906"/>
                  </a:cubicBezTo>
                  <a:lnTo>
                    <a:pt x="0" y="7620"/>
                  </a:lnTo>
                  <a:cubicBezTo>
                    <a:pt x="0" y="3450"/>
                    <a:pt x="3048" y="0"/>
                    <a:pt x="6731" y="0"/>
                  </a:cubicBezTo>
                  <a:moveTo>
                    <a:pt x="6731" y="15383"/>
                  </a:moveTo>
                  <a:lnTo>
                    <a:pt x="6731" y="7620"/>
                  </a:lnTo>
                  <a:lnTo>
                    <a:pt x="13462" y="7620"/>
                  </a:lnTo>
                  <a:lnTo>
                    <a:pt x="13462" y="750906"/>
                  </a:lnTo>
                  <a:lnTo>
                    <a:pt x="6731" y="750906"/>
                  </a:lnTo>
                  <a:lnTo>
                    <a:pt x="6731" y="743286"/>
                  </a:lnTo>
                  <a:lnTo>
                    <a:pt x="3350895" y="743286"/>
                  </a:lnTo>
                  <a:lnTo>
                    <a:pt x="3350895" y="750906"/>
                  </a:lnTo>
                  <a:lnTo>
                    <a:pt x="3344164" y="750906"/>
                  </a:lnTo>
                  <a:lnTo>
                    <a:pt x="3344164" y="7620"/>
                  </a:lnTo>
                  <a:lnTo>
                    <a:pt x="3350895" y="7620"/>
                  </a:lnTo>
                  <a:lnTo>
                    <a:pt x="3350895" y="15240"/>
                  </a:lnTo>
                  <a:lnTo>
                    <a:pt x="6731" y="15240"/>
                  </a:lnTo>
                  <a:close/>
                </a:path>
              </a:pathLst>
            </a:custGeom>
            <a:solidFill>
              <a:srgbClr val="FFF7F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8">
                <a:solidFill>
                  <a:schemeClr val="dk1"/>
                </a:solidFill>
                <a:latin typeface="Arial"/>
                <a:ea typeface="Arial"/>
                <a:cs typeface="Arial"/>
                <a:sym typeface="Arial"/>
              </a:endParaRPr>
            </a:p>
          </p:txBody>
        </p:sp>
        <p:sp>
          <p:nvSpPr>
            <p:cNvPr id="1264" name="Google Shape;1264;p28"/>
            <p:cNvSpPr txBox="1"/>
            <p:nvPr/>
          </p:nvSpPr>
          <p:spPr>
            <a:xfrm>
              <a:off x="0" y="-1"/>
              <a:ext cx="3357662" cy="758556"/>
            </a:xfrm>
            <a:prstGeom prst="rect">
              <a:avLst/>
            </a:prstGeom>
            <a:solidFill>
              <a:srgbClr val="FFF7F4"/>
            </a:solidFill>
            <a:ln cap="flat" cmpd="sng" w="9525">
              <a:solidFill>
                <a:schemeClr val="dk1"/>
              </a:solidFill>
              <a:prstDash val="solid"/>
              <a:round/>
              <a:headEnd len="sm" w="sm" type="none"/>
              <a:tailEnd len="sm" w="sm" type="none"/>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200">
                  <a:solidFill>
                    <a:srgbClr val="000000"/>
                  </a:solidFill>
                  <a:latin typeface="Arial"/>
                  <a:ea typeface="Arial"/>
                  <a:cs typeface="Arial"/>
                  <a:sym typeface="Arial"/>
                </a:rPr>
                <a:t>Managerial transition with a new CEO</a:t>
              </a:r>
              <a:endParaRPr b="1" sz="1199">
                <a:solidFill>
                  <a:srgbClr val="000000"/>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29"/>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1270" name="Google Shape;1270;p29"/>
          <p:cNvGrpSpPr/>
          <p:nvPr/>
        </p:nvGrpSpPr>
        <p:grpSpPr>
          <a:xfrm>
            <a:off x="-2192501" y="2633500"/>
            <a:ext cx="1970251" cy="496313"/>
            <a:chOff x="0" y="-28575"/>
            <a:chExt cx="2802135" cy="705866"/>
          </a:xfrm>
        </p:grpSpPr>
        <p:sp>
          <p:nvSpPr>
            <p:cNvPr id="1271" name="Google Shape;1271;p29"/>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72" name="Google Shape;1272;p29"/>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273" name="Google Shape;1273;p29"/>
          <p:cNvGrpSpPr/>
          <p:nvPr/>
        </p:nvGrpSpPr>
        <p:grpSpPr>
          <a:xfrm>
            <a:off x="-2186151" y="3363382"/>
            <a:ext cx="1957566" cy="486436"/>
            <a:chOff x="0" y="-28575"/>
            <a:chExt cx="2784094" cy="691820"/>
          </a:xfrm>
        </p:grpSpPr>
        <p:sp>
          <p:nvSpPr>
            <p:cNvPr id="1274" name="Google Shape;1274;p2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75" name="Google Shape;1275;p2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1276" name="Google Shape;1276;p29"/>
          <p:cNvGrpSpPr/>
          <p:nvPr/>
        </p:nvGrpSpPr>
        <p:grpSpPr>
          <a:xfrm>
            <a:off x="-2186151" y="4089757"/>
            <a:ext cx="1957566" cy="486436"/>
            <a:chOff x="0" y="-28575"/>
            <a:chExt cx="2784094" cy="691820"/>
          </a:xfrm>
        </p:grpSpPr>
        <p:sp>
          <p:nvSpPr>
            <p:cNvPr id="1277" name="Google Shape;1277;p2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78" name="Google Shape;1278;p2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1279" name="Google Shape;1279;p29"/>
          <p:cNvGrpSpPr/>
          <p:nvPr/>
        </p:nvGrpSpPr>
        <p:grpSpPr>
          <a:xfrm>
            <a:off x="-2186151" y="4816132"/>
            <a:ext cx="1957566" cy="486436"/>
            <a:chOff x="0" y="-28575"/>
            <a:chExt cx="2784094" cy="691820"/>
          </a:xfrm>
        </p:grpSpPr>
        <p:sp>
          <p:nvSpPr>
            <p:cNvPr id="1280" name="Google Shape;1280;p2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81" name="Google Shape;1281;p2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282" name="Google Shape;1282;p29"/>
          <p:cNvGrpSpPr/>
          <p:nvPr/>
        </p:nvGrpSpPr>
        <p:grpSpPr>
          <a:xfrm>
            <a:off x="-2186151" y="5542509"/>
            <a:ext cx="1957566" cy="486436"/>
            <a:chOff x="0" y="-28575"/>
            <a:chExt cx="2784094" cy="691820"/>
          </a:xfrm>
        </p:grpSpPr>
        <p:sp>
          <p:nvSpPr>
            <p:cNvPr id="1283" name="Google Shape;1283;p29"/>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84" name="Google Shape;1284;p29"/>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285" name="Google Shape;1285;p29"/>
          <p:cNvGrpSpPr/>
          <p:nvPr/>
        </p:nvGrpSpPr>
        <p:grpSpPr>
          <a:xfrm>
            <a:off x="-2186151" y="1916319"/>
            <a:ext cx="1957566" cy="483632"/>
            <a:chOff x="0" y="-28575"/>
            <a:chExt cx="2784094" cy="687832"/>
          </a:xfrm>
        </p:grpSpPr>
        <p:sp>
          <p:nvSpPr>
            <p:cNvPr id="1286" name="Google Shape;1286;p29"/>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87" name="Google Shape;1287;p29"/>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1288" name="Google Shape;1288;p29"/>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1289" name="Google Shape;1289;p29"/>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290" name="Google Shape;1290;p29"/>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291" name="Google Shape;1291;p29"/>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1292" name="Google Shape;1292;p29"/>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nvGrpSpPr>
          <p:cNvPr id="1293" name="Google Shape;1293;p29"/>
          <p:cNvGrpSpPr/>
          <p:nvPr/>
        </p:nvGrpSpPr>
        <p:grpSpPr>
          <a:xfrm>
            <a:off x="3246975" y="2850825"/>
            <a:ext cx="2647741" cy="2582039"/>
            <a:chOff x="3464687" y="2446304"/>
            <a:chExt cx="2824257" cy="2754175"/>
          </a:xfrm>
        </p:grpSpPr>
        <p:grpSp>
          <p:nvGrpSpPr>
            <p:cNvPr id="1294" name="Google Shape;1294;p29"/>
            <p:cNvGrpSpPr/>
            <p:nvPr/>
          </p:nvGrpSpPr>
          <p:grpSpPr>
            <a:xfrm>
              <a:off x="3464687" y="2448986"/>
              <a:ext cx="2824257" cy="339661"/>
              <a:chOff x="-1524" y="-1524"/>
              <a:chExt cx="3765677" cy="452882"/>
            </a:xfrm>
          </p:grpSpPr>
          <p:sp>
            <p:nvSpPr>
              <p:cNvPr id="1295" name="Google Shape;1295;p29"/>
              <p:cNvSpPr/>
              <p:nvPr/>
            </p:nvSpPr>
            <p:spPr>
              <a:xfrm>
                <a:off x="0" y="0"/>
                <a:ext cx="3762629" cy="449834"/>
              </a:xfrm>
              <a:custGeom>
                <a:rect b="b" l="l" r="r" t="t"/>
                <a:pathLst>
                  <a:path extrusionOk="0" h="449834" w="3762629">
                    <a:moveTo>
                      <a:pt x="0" y="0"/>
                    </a:moveTo>
                    <a:lnTo>
                      <a:pt x="3762629" y="0"/>
                    </a:lnTo>
                    <a:lnTo>
                      <a:pt x="3762629"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296" name="Google Shape;1296;p29"/>
              <p:cNvSpPr/>
              <p:nvPr/>
            </p:nvSpPr>
            <p:spPr>
              <a:xfrm>
                <a:off x="-1524" y="-1524"/>
                <a:ext cx="3765677" cy="452882"/>
              </a:xfrm>
              <a:custGeom>
                <a:rect b="b" l="l" r="r" t="t"/>
                <a:pathLst>
                  <a:path extrusionOk="0" h="452882" w="3765677">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pSp>
        <p:sp>
          <p:nvSpPr>
            <p:cNvPr id="1297" name="Google Shape;1297;p29"/>
            <p:cNvSpPr txBox="1"/>
            <p:nvPr/>
          </p:nvSpPr>
          <p:spPr>
            <a:xfrm>
              <a:off x="3551406" y="2446304"/>
              <a:ext cx="115123"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1</a:t>
              </a:r>
              <a:endParaRPr sz="1688">
                <a:solidFill>
                  <a:schemeClr val="dk1"/>
                </a:solidFill>
                <a:latin typeface="Arial"/>
                <a:ea typeface="Arial"/>
                <a:cs typeface="Arial"/>
                <a:sym typeface="Arial"/>
              </a:endParaRPr>
            </a:p>
          </p:txBody>
        </p:sp>
        <p:grpSp>
          <p:nvGrpSpPr>
            <p:cNvPr id="1298" name="Google Shape;1298;p29"/>
            <p:cNvGrpSpPr/>
            <p:nvPr/>
          </p:nvGrpSpPr>
          <p:grpSpPr>
            <a:xfrm>
              <a:off x="3482837" y="3364869"/>
              <a:ext cx="339280" cy="365953"/>
              <a:chOff x="0" y="-38100"/>
              <a:chExt cx="452374" cy="487938"/>
            </a:xfrm>
          </p:grpSpPr>
          <p:sp>
            <p:nvSpPr>
              <p:cNvPr id="1299" name="Google Shape;1299;p2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00" name="Google Shape;1300;p2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3</a:t>
                </a:r>
                <a:endParaRPr sz="1688">
                  <a:solidFill>
                    <a:schemeClr val="dk1"/>
                  </a:solidFill>
                  <a:latin typeface="Arial"/>
                  <a:ea typeface="Arial"/>
                  <a:cs typeface="Arial"/>
                  <a:sym typeface="Arial"/>
                </a:endParaRPr>
              </a:p>
            </p:txBody>
          </p:sp>
        </p:grpSp>
        <p:grpSp>
          <p:nvGrpSpPr>
            <p:cNvPr id="1301" name="Google Shape;1301;p29"/>
            <p:cNvGrpSpPr/>
            <p:nvPr/>
          </p:nvGrpSpPr>
          <p:grpSpPr>
            <a:xfrm>
              <a:off x="3482837" y="3854375"/>
              <a:ext cx="339280" cy="365953"/>
              <a:chOff x="0" y="-38100"/>
              <a:chExt cx="452374" cy="487938"/>
            </a:xfrm>
          </p:grpSpPr>
          <p:sp>
            <p:nvSpPr>
              <p:cNvPr id="1302" name="Google Shape;1302;p2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03" name="Google Shape;1303;p2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4</a:t>
                </a:r>
                <a:endParaRPr sz="1688">
                  <a:solidFill>
                    <a:schemeClr val="dk1"/>
                  </a:solidFill>
                  <a:latin typeface="Arial"/>
                  <a:ea typeface="Arial"/>
                  <a:cs typeface="Arial"/>
                  <a:sym typeface="Arial"/>
                </a:endParaRPr>
              </a:p>
            </p:txBody>
          </p:sp>
        </p:grpSp>
        <p:grpSp>
          <p:nvGrpSpPr>
            <p:cNvPr id="1304" name="Google Shape;1304;p29"/>
            <p:cNvGrpSpPr/>
            <p:nvPr/>
          </p:nvGrpSpPr>
          <p:grpSpPr>
            <a:xfrm>
              <a:off x="3482836" y="4343880"/>
              <a:ext cx="402812" cy="365953"/>
              <a:chOff x="0" y="-38100"/>
              <a:chExt cx="537083" cy="487938"/>
            </a:xfrm>
          </p:grpSpPr>
          <p:sp>
            <p:nvSpPr>
              <p:cNvPr id="1305" name="Google Shape;1305;p29"/>
              <p:cNvSpPr/>
              <p:nvPr/>
            </p:nvSpPr>
            <p:spPr>
              <a:xfrm>
                <a:off x="0" y="0"/>
                <a:ext cx="537083" cy="449834"/>
              </a:xfrm>
              <a:custGeom>
                <a:rect b="b" l="l" r="r" t="t"/>
                <a:pathLst>
                  <a:path extrusionOk="0" h="449834" w="537083">
                    <a:moveTo>
                      <a:pt x="0" y="0"/>
                    </a:moveTo>
                    <a:lnTo>
                      <a:pt x="537083" y="0"/>
                    </a:lnTo>
                    <a:lnTo>
                      <a:pt x="537083"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06" name="Google Shape;1306;p29"/>
              <p:cNvSpPr txBox="1"/>
              <p:nvPr/>
            </p:nvSpPr>
            <p:spPr>
              <a:xfrm>
                <a:off x="0" y="-38100"/>
                <a:ext cx="537027"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5</a:t>
                </a:r>
                <a:endParaRPr sz="1688">
                  <a:solidFill>
                    <a:schemeClr val="dk1"/>
                  </a:solidFill>
                  <a:latin typeface="Arial"/>
                  <a:ea typeface="Arial"/>
                  <a:cs typeface="Arial"/>
                  <a:sym typeface="Arial"/>
                </a:endParaRPr>
              </a:p>
            </p:txBody>
          </p:sp>
        </p:grpSp>
        <p:sp>
          <p:nvSpPr>
            <p:cNvPr id="1307" name="Google Shape;1307;p29"/>
            <p:cNvSpPr txBox="1"/>
            <p:nvPr/>
          </p:nvSpPr>
          <p:spPr>
            <a:xfrm>
              <a:off x="3890662" y="2465354"/>
              <a:ext cx="2328540" cy="20682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Company Overview</a:t>
              </a:r>
              <a:endParaRPr sz="1688">
                <a:solidFill>
                  <a:schemeClr val="dk1"/>
                </a:solidFill>
                <a:latin typeface="Arial"/>
                <a:ea typeface="Arial"/>
                <a:cs typeface="Arial"/>
                <a:sym typeface="Arial"/>
              </a:endParaRPr>
            </a:p>
          </p:txBody>
        </p:sp>
        <p:grpSp>
          <p:nvGrpSpPr>
            <p:cNvPr id="1308" name="Google Shape;1308;p29"/>
            <p:cNvGrpSpPr/>
            <p:nvPr/>
          </p:nvGrpSpPr>
          <p:grpSpPr>
            <a:xfrm>
              <a:off x="3822093" y="3379157"/>
              <a:ext cx="2465678" cy="351665"/>
              <a:chOff x="0" y="-19050"/>
              <a:chExt cx="3287570" cy="468888"/>
            </a:xfrm>
          </p:grpSpPr>
          <p:sp>
            <p:nvSpPr>
              <p:cNvPr id="1309" name="Google Shape;1309;p2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10" name="Google Shape;1310;p2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 Thesis</a:t>
                </a:r>
                <a:endParaRPr sz="1688">
                  <a:solidFill>
                    <a:schemeClr val="dk1"/>
                  </a:solidFill>
                  <a:latin typeface="Arial"/>
                  <a:ea typeface="Arial"/>
                  <a:cs typeface="Arial"/>
                  <a:sym typeface="Arial"/>
                </a:endParaRPr>
              </a:p>
            </p:txBody>
          </p:sp>
        </p:grpSp>
        <p:grpSp>
          <p:nvGrpSpPr>
            <p:cNvPr id="1311" name="Google Shape;1311;p29"/>
            <p:cNvGrpSpPr/>
            <p:nvPr/>
          </p:nvGrpSpPr>
          <p:grpSpPr>
            <a:xfrm>
              <a:off x="3822093" y="3868663"/>
              <a:ext cx="2465678" cy="351665"/>
              <a:chOff x="0" y="-19050"/>
              <a:chExt cx="3287570" cy="468888"/>
            </a:xfrm>
          </p:grpSpPr>
          <p:sp>
            <p:nvSpPr>
              <p:cNvPr id="1312" name="Google Shape;1312;p2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13" name="Google Shape;1313;p2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Valuation</a:t>
                </a:r>
                <a:endParaRPr sz="1688">
                  <a:solidFill>
                    <a:schemeClr val="dk1"/>
                  </a:solidFill>
                  <a:latin typeface="Arial"/>
                  <a:ea typeface="Arial"/>
                  <a:cs typeface="Arial"/>
                  <a:sym typeface="Arial"/>
                </a:endParaRPr>
              </a:p>
            </p:txBody>
          </p:sp>
        </p:grpSp>
        <p:grpSp>
          <p:nvGrpSpPr>
            <p:cNvPr id="1314" name="Google Shape;1314;p29"/>
            <p:cNvGrpSpPr/>
            <p:nvPr/>
          </p:nvGrpSpPr>
          <p:grpSpPr>
            <a:xfrm>
              <a:off x="3822093" y="4358168"/>
              <a:ext cx="2465678" cy="351665"/>
              <a:chOff x="0" y="-19050"/>
              <a:chExt cx="3287570" cy="468888"/>
            </a:xfrm>
          </p:grpSpPr>
          <p:sp>
            <p:nvSpPr>
              <p:cNvPr id="1315" name="Google Shape;1315;p2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16" name="Google Shape;1316;p2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Catalysts and Risks</a:t>
                </a:r>
                <a:endParaRPr sz="1688">
                  <a:solidFill>
                    <a:schemeClr val="dk1"/>
                  </a:solidFill>
                  <a:latin typeface="Arial"/>
                  <a:ea typeface="Arial"/>
                  <a:cs typeface="Arial"/>
                  <a:sym typeface="Arial"/>
                </a:endParaRPr>
              </a:p>
            </p:txBody>
          </p:sp>
        </p:grpSp>
        <p:grpSp>
          <p:nvGrpSpPr>
            <p:cNvPr id="1317" name="Google Shape;1317;p29"/>
            <p:cNvGrpSpPr/>
            <p:nvPr/>
          </p:nvGrpSpPr>
          <p:grpSpPr>
            <a:xfrm>
              <a:off x="3481694" y="4833386"/>
              <a:ext cx="341566" cy="367093"/>
              <a:chOff x="-1524" y="-38100"/>
              <a:chExt cx="455422" cy="489458"/>
            </a:xfrm>
          </p:grpSpPr>
          <p:sp>
            <p:nvSpPr>
              <p:cNvPr id="1318" name="Google Shape;1318;p29"/>
              <p:cNvSpPr/>
              <p:nvPr/>
            </p:nvSpPr>
            <p:spPr>
              <a:xfrm>
                <a:off x="0" y="0"/>
                <a:ext cx="452374" cy="449834"/>
              </a:xfrm>
              <a:custGeom>
                <a:rect b="b" l="l" r="r" t="t"/>
                <a:pathLst>
                  <a:path extrusionOk="0" h="449834" w="452374">
                    <a:moveTo>
                      <a:pt x="0" y="0"/>
                    </a:moveTo>
                    <a:lnTo>
                      <a:pt x="452374" y="0"/>
                    </a:lnTo>
                    <a:lnTo>
                      <a:pt x="452374"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19" name="Google Shape;1319;p29"/>
              <p:cNvSpPr/>
              <p:nvPr/>
            </p:nvSpPr>
            <p:spPr>
              <a:xfrm>
                <a:off x="-1524" y="-1524"/>
                <a:ext cx="455422" cy="452882"/>
              </a:xfrm>
              <a:custGeom>
                <a:rect b="b" l="l" r="r" t="t"/>
                <a:pathLst>
                  <a:path extrusionOk="0" h="452882" w="455422">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20" name="Google Shape;1320;p29"/>
              <p:cNvSpPr txBox="1"/>
              <p:nvPr/>
            </p:nvSpPr>
            <p:spPr>
              <a:xfrm>
                <a:off x="0" y="-38100"/>
                <a:ext cx="45234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6</a:t>
                </a:r>
                <a:endParaRPr sz="1688">
                  <a:solidFill>
                    <a:schemeClr val="dk1"/>
                  </a:solidFill>
                  <a:latin typeface="Arial"/>
                  <a:ea typeface="Arial"/>
                  <a:cs typeface="Arial"/>
                  <a:sym typeface="Arial"/>
                </a:endParaRPr>
              </a:p>
            </p:txBody>
          </p:sp>
        </p:grpSp>
        <p:grpSp>
          <p:nvGrpSpPr>
            <p:cNvPr id="1321" name="Google Shape;1321;p29"/>
            <p:cNvGrpSpPr/>
            <p:nvPr/>
          </p:nvGrpSpPr>
          <p:grpSpPr>
            <a:xfrm>
              <a:off x="3820950" y="4847674"/>
              <a:ext cx="2467928" cy="352805"/>
              <a:chOff x="-1524" y="-19050"/>
              <a:chExt cx="3290570" cy="470408"/>
            </a:xfrm>
          </p:grpSpPr>
          <p:sp>
            <p:nvSpPr>
              <p:cNvPr id="1322" name="Google Shape;1322;p29"/>
              <p:cNvSpPr/>
              <p:nvPr/>
            </p:nvSpPr>
            <p:spPr>
              <a:xfrm>
                <a:off x="0" y="0"/>
                <a:ext cx="3287522" cy="449834"/>
              </a:xfrm>
              <a:custGeom>
                <a:rect b="b" l="l" r="r" t="t"/>
                <a:pathLst>
                  <a:path extrusionOk="0" h="449834" w="3287522">
                    <a:moveTo>
                      <a:pt x="0" y="0"/>
                    </a:moveTo>
                    <a:lnTo>
                      <a:pt x="3287522" y="0"/>
                    </a:lnTo>
                    <a:lnTo>
                      <a:pt x="3287522" y="449834"/>
                    </a:lnTo>
                    <a:lnTo>
                      <a:pt x="0" y="449834"/>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23" name="Google Shape;1323;p29"/>
              <p:cNvSpPr/>
              <p:nvPr/>
            </p:nvSpPr>
            <p:spPr>
              <a:xfrm>
                <a:off x="-1524" y="-1524"/>
                <a:ext cx="3290570" cy="452882"/>
              </a:xfrm>
              <a:custGeom>
                <a:rect b="b" l="l" r="r" t="t"/>
                <a:pathLst>
                  <a:path extrusionOk="0" h="452882" w="329057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24" name="Google Shape;1324;p29"/>
              <p:cNvSpPr txBox="1"/>
              <p:nvPr/>
            </p:nvSpPr>
            <p:spPr>
              <a:xfrm>
                <a:off x="0" y="-19050"/>
                <a:ext cx="3287570"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Recommendation</a:t>
                </a:r>
                <a:endParaRPr sz="1688">
                  <a:solidFill>
                    <a:schemeClr val="dk1"/>
                  </a:solidFill>
                  <a:latin typeface="Arial"/>
                  <a:ea typeface="Arial"/>
                  <a:cs typeface="Arial"/>
                  <a:sym typeface="Arial"/>
                </a:endParaRPr>
              </a:p>
            </p:txBody>
          </p:sp>
        </p:grpSp>
        <p:grpSp>
          <p:nvGrpSpPr>
            <p:cNvPr id="1325" name="Google Shape;1325;p29"/>
            <p:cNvGrpSpPr/>
            <p:nvPr/>
          </p:nvGrpSpPr>
          <p:grpSpPr>
            <a:xfrm>
              <a:off x="3465829" y="2893212"/>
              <a:ext cx="341596" cy="365953"/>
              <a:chOff x="0" y="-38100"/>
              <a:chExt cx="455461" cy="487938"/>
            </a:xfrm>
          </p:grpSpPr>
          <p:sp>
            <p:nvSpPr>
              <p:cNvPr id="1326" name="Google Shape;1326;p29"/>
              <p:cNvSpPr/>
              <p:nvPr/>
            </p:nvSpPr>
            <p:spPr>
              <a:xfrm>
                <a:off x="0" y="0"/>
                <a:ext cx="455422" cy="449834"/>
              </a:xfrm>
              <a:custGeom>
                <a:rect b="b" l="l" r="r" t="t"/>
                <a:pathLst>
                  <a:path extrusionOk="0" h="449834" w="455422">
                    <a:moveTo>
                      <a:pt x="0" y="0"/>
                    </a:moveTo>
                    <a:lnTo>
                      <a:pt x="455422" y="0"/>
                    </a:lnTo>
                    <a:lnTo>
                      <a:pt x="455422"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27" name="Google Shape;1327;p29"/>
              <p:cNvSpPr txBox="1"/>
              <p:nvPr/>
            </p:nvSpPr>
            <p:spPr>
              <a:xfrm>
                <a:off x="0" y="-38100"/>
                <a:ext cx="455461" cy="487938"/>
              </a:xfrm>
              <a:prstGeom prst="rect">
                <a:avLst/>
              </a:prstGeom>
              <a:noFill/>
              <a:ln>
                <a:noFill/>
              </a:ln>
            </p:spPr>
            <p:txBody>
              <a:bodyPr anchorCtr="0" anchor="ctr" bIns="47625" lIns="47625" spcFirstLastPara="1" rIns="47625" wrap="square" tIns="47625">
                <a:noAutofit/>
              </a:bodyPr>
              <a:lstStyle/>
              <a:p>
                <a:pPr indent="0" lvl="0" marL="0" marR="0" rtl="0" algn="ctr">
                  <a:lnSpc>
                    <a:spcPct val="120000"/>
                  </a:lnSpc>
                  <a:spcBef>
                    <a:spcPts val="0"/>
                  </a:spcBef>
                  <a:spcAft>
                    <a:spcPts val="0"/>
                  </a:spcAft>
                  <a:buNone/>
                </a:pPr>
                <a:r>
                  <a:rPr b="1" lang="en-US" sz="1500">
                    <a:solidFill>
                      <a:srgbClr val="FFFFFF"/>
                    </a:solidFill>
                    <a:latin typeface="Arial"/>
                    <a:ea typeface="Arial"/>
                    <a:cs typeface="Arial"/>
                    <a:sym typeface="Arial"/>
                  </a:rPr>
                  <a:t>2</a:t>
                </a:r>
                <a:endParaRPr sz="1688">
                  <a:solidFill>
                    <a:schemeClr val="dk1"/>
                  </a:solidFill>
                  <a:latin typeface="Arial"/>
                  <a:ea typeface="Arial"/>
                  <a:cs typeface="Arial"/>
                  <a:sym typeface="Arial"/>
                </a:endParaRPr>
              </a:p>
            </p:txBody>
          </p:sp>
        </p:grpSp>
        <p:grpSp>
          <p:nvGrpSpPr>
            <p:cNvPr id="1328" name="Google Shape;1328;p29"/>
            <p:cNvGrpSpPr/>
            <p:nvPr/>
          </p:nvGrpSpPr>
          <p:grpSpPr>
            <a:xfrm>
              <a:off x="3805085" y="2907500"/>
              <a:ext cx="2482692" cy="351665"/>
              <a:chOff x="0" y="-19050"/>
              <a:chExt cx="3310255" cy="468888"/>
            </a:xfrm>
          </p:grpSpPr>
          <p:sp>
            <p:nvSpPr>
              <p:cNvPr id="1329" name="Google Shape;1329;p29"/>
              <p:cNvSpPr/>
              <p:nvPr/>
            </p:nvSpPr>
            <p:spPr>
              <a:xfrm>
                <a:off x="0" y="0"/>
                <a:ext cx="3310255" cy="449834"/>
              </a:xfrm>
              <a:custGeom>
                <a:rect b="b" l="l" r="r" t="t"/>
                <a:pathLst>
                  <a:path extrusionOk="0" h="449834" w="3310255">
                    <a:moveTo>
                      <a:pt x="0" y="0"/>
                    </a:moveTo>
                    <a:lnTo>
                      <a:pt x="3310255" y="0"/>
                    </a:lnTo>
                    <a:lnTo>
                      <a:pt x="3310255" y="449834"/>
                    </a:lnTo>
                    <a:lnTo>
                      <a:pt x="0" y="449834"/>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30" name="Google Shape;1330;p29"/>
              <p:cNvSpPr txBox="1"/>
              <p:nvPr/>
            </p:nvSpPr>
            <p:spPr>
              <a:xfrm>
                <a:off x="0" y="-19050"/>
                <a:ext cx="3310246" cy="468888"/>
              </a:xfrm>
              <a:prstGeom prst="rect">
                <a:avLst/>
              </a:prstGeom>
              <a:noFill/>
              <a:ln>
                <a:noFill/>
              </a:ln>
            </p:spPr>
            <p:txBody>
              <a:bodyPr anchorCtr="0" anchor="ctr" bIns="47625" lIns="47625" spcFirstLastPara="1" rIns="47625" wrap="square" tIns="47625">
                <a:noAutofit/>
              </a:bodyPr>
              <a:lstStyle/>
              <a:p>
                <a:pPr indent="0" lvl="0" marL="0" marR="0" rtl="0" algn="l">
                  <a:lnSpc>
                    <a:spcPct val="120000"/>
                  </a:lnSpc>
                  <a:spcBef>
                    <a:spcPts val="0"/>
                  </a:spcBef>
                  <a:spcAft>
                    <a:spcPts val="0"/>
                  </a:spcAft>
                  <a:buNone/>
                </a:pPr>
                <a:r>
                  <a:rPr lang="en-US" sz="1050">
                    <a:solidFill>
                      <a:srgbClr val="FFFFFF"/>
                    </a:solidFill>
                    <a:latin typeface="Arial"/>
                    <a:ea typeface="Arial"/>
                    <a:cs typeface="Arial"/>
                    <a:sym typeface="Arial"/>
                  </a:rPr>
                  <a:t>Investment</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Thesis</a:t>
                </a:r>
                <a:endParaRPr sz="1688">
                  <a:solidFill>
                    <a:schemeClr val="dk1"/>
                  </a:solidFill>
                  <a:latin typeface="Arial"/>
                  <a:ea typeface="Arial"/>
                  <a:cs typeface="Arial"/>
                  <a:sym typeface="Arial"/>
                </a:endParaRPr>
              </a:p>
            </p:txBody>
          </p:sp>
        </p:grpSp>
      </p:grpSp>
      <p:cxnSp>
        <p:nvCxnSpPr>
          <p:cNvPr id="1331" name="Google Shape;1331;p29"/>
          <p:cNvCxnSpPr/>
          <p:nvPr/>
        </p:nvCxnSpPr>
        <p:spPr>
          <a:xfrm rot="39499">
            <a:off x="-9578" y="2182319"/>
            <a:ext cx="1658019" cy="0"/>
          </a:xfrm>
          <a:prstGeom prst="straightConnector1">
            <a:avLst/>
          </a:prstGeom>
          <a:noFill/>
          <a:ln cap="rnd" cmpd="sng" w="19050">
            <a:solidFill>
              <a:srgbClr val="39598F"/>
            </a:solidFill>
            <a:prstDash val="solid"/>
            <a:round/>
            <a:headEnd len="sm" w="sm" type="none"/>
            <a:tailEnd len="sm" w="sm" type="none"/>
          </a:ln>
        </p:spPr>
      </p:cxnSp>
      <p:sp>
        <p:nvSpPr>
          <p:cNvPr id="1332" name="Google Shape;1332;p29"/>
          <p:cNvSpPr txBox="1"/>
          <p:nvPr/>
        </p:nvSpPr>
        <p:spPr>
          <a:xfrm>
            <a:off x="529564" y="1678468"/>
            <a:ext cx="2328863"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Agenda</a:t>
            </a:r>
            <a:endParaRPr sz="1688">
              <a:solidFill>
                <a:schemeClr val="dk1"/>
              </a:solidFill>
              <a:latin typeface="Arial"/>
              <a:ea typeface="Arial"/>
              <a:cs typeface="Arial"/>
              <a:sym typeface="Arial"/>
            </a:endParaRPr>
          </a:p>
        </p:txBody>
      </p:sp>
      <p:pic>
        <p:nvPicPr>
          <p:cNvPr descr="Une image contenant Police, Graphique, calligraphie, typographie&#10;&#10;Le contenu généré par l’IA peut être incorrect." id="1333" name="Google Shape;1333;p29"/>
          <p:cNvPicPr preferRelativeResize="0"/>
          <p:nvPr/>
        </p:nvPicPr>
        <p:blipFill rotWithShape="1">
          <a:blip r:embed="rId4">
            <a:alphaModFix/>
          </a:blip>
          <a:srcRect b="0" l="0" r="0" t="0"/>
          <a:stretch/>
        </p:blipFill>
        <p:spPr>
          <a:xfrm>
            <a:off x="2838522" y="1490816"/>
            <a:ext cx="3466956" cy="108703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30"/>
          <p:cNvSpPr txBox="1"/>
          <p:nvPr/>
        </p:nvSpPr>
        <p:spPr>
          <a:xfrm>
            <a:off x="-3429000" y="342186"/>
            <a:ext cx="3200400" cy="1107611"/>
          </a:xfrm>
          <a:prstGeom prst="rect">
            <a:avLst/>
          </a:prstGeom>
          <a:noFill/>
          <a:ln>
            <a:noFill/>
          </a:ln>
        </p:spPr>
        <p:txBody>
          <a:bodyPr anchorCtr="0" anchor="t" bIns="0" lIns="0" spcFirstLastPara="1" rIns="0" wrap="square" tIns="0">
            <a:spAutoFit/>
          </a:bodyPr>
          <a:lstStyle/>
          <a:p>
            <a:pPr indent="0" lvl="0" marL="0" marR="0" rtl="0" algn="r">
              <a:lnSpc>
                <a:spcPct val="120007"/>
              </a:lnSpc>
              <a:spcBef>
                <a:spcPts val="0"/>
              </a:spcBef>
              <a:spcAft>
                <a:spcPts val="0"/>
              </a:spcAft>
              <a:buNone/>
            </a:pPr>
            <a:r>
              <a:rPr b="1" lang="en-US" sz="2399">
                <a:solidFill>
                  <a:srgbClr val="000000"/>
                </a:solidFill>
                <a:latin typeface="Arial"/>
                <a:ea typeface="Arial"/>
                <a:cs typeface="Arial"/>
                <a:sym typeface="Arial"/>
              </a:rPr>
              <a:t>Arial Slide Title – 24</a:t>
            </a:r>
            <a:endParaRPr sz="1688">
              <a:solidFill>
                <a:schemeClr val="dk1"/>
              </a:solidFill>
              <a:latin typeface="Arial"/>
              <a:ea typeface="Arial"/>
              <a:cs typeface="Arial"/>
              <a:sym typeface="Arial"/>
            </a:endParaRPr>
          </a:p>
          <a:p>
            <a:pPr indent="0" lvl="0" marL="0" marR="0" rtl="0" algn="r">
              <a:lnSpc>
                <a:spcPct val="119959"/>
              </a:lnSpc>
              <a:spcBef>
                <a:spcPts val="0"/>
              </a:spcBef>
              <a:spcAft>
                <a:spcPts val="0"/>
              </a:spcAft>
              <a:buNone/>
            </a:pPr>
            <a:r>
              <a:rPr lang="en-US" sz="1400">
                <a:solidFill>
                  <a:srgbClr val="000000"/>
                </a:solidFill>
                <a:latin typeface="Arial"/>
                <a:ea typeface="Arial"/>
                <a:cs typeface="Arial"/>
                <a:sym typeface="Arial"/>
              </a:rPr>
              <a:t>Content/Section Title Text – 14</a:t>
            </a:r>
            <a:endParaRPr sz="1688">
              <a:solidFill>
                <a:schemeClr val="dk1"/>
              </a:solidFill>
              <a:latin typeface="Arial"/>
              <a:ea typeface="Arial"/>
              <a:cs typeface="Arial"/>
              <a:sym typeface="Arial"/>
            </a:endParaRPr>
          </a:p>
          <a:p>
            <a:pPr indent="0" lvl="0" marL="0" marR="0" rtl="0" algn="r">
              <a:lnSpc>
                <a:spcPct val="120015"/>
              </a:lnSpc>
              <a:spcBef>
                <a:spcPts val="0"/>
              </a:spcBef>
              <a:spcAft>
                <a:spcPts val="0"/>
              </a:spcAft>
              <a:buNone/>
            </a:pPr>
            <a:r>
              <a:rPr lang="en-US" sz="1199">
                <a:solidFill>
                  <a:srgbClr val="000000"/>
                </a:solidFill>
                <a:latin typeface="Arial"/>
                <a:ea typeface="Arial"/>
                <a:cs typeface="Arial"/>
                <a:sym typeface="Arial"/>
              </a:rPr>
              <a:t>Bullet and Subtitle Text – 12</a:t>
            </a:r>
            <a:endParaRPr sz="1688">
              <a:solidFill>
                <a:schemeClr val="dk1"/>
              </a:solidFill>
              <a:latin typeface="Arial"/>
              <a:ea typeface="Arial"/>
              <a:cs typeface="Arial"/>
              <a:sym typeface="Arial"/>
            </a:endParaRPr>
          </a:p>
          <a:p>
            <a:pPr indent="0" lvl="0" marL="0" marR="0" rtl="0" algn="r">
              <a:lnSpc>
                <a:spcPct val="120075"/>
              </a:lnSpc>
              <a:spcBef>
                <a:spcPts val="0"/>
              </a:spcBef>
              <a:spcAft>
                <a:spcPts val="0"/>
              </a:spcAft>
              <a:buNone/>
            </a:pPr>
            <a:r>
              <a:rPr lang="en-US" sz="999">
                <a:solidFill>
                  <a:srgbClr val="000000"/>
                </a:solidFill>
                <a:latin typeface="Arial"/>
                <a:ea typeface="Arial"/>
                <a:cs typeface="Arial"/>
                <a:sym typeface="Arial"/>
              </a:rPr>
              <a:t>Chart, Profile, and Currency Text – 10</a:t>
            </a:r>
            <a:endParaRPr sz="1688">
              <a:solidFill>
                <a:schemeClr val="dk1"/>
              </a:solidFill>
              <a:latin typeface="Arial"/>
              <a:ea typeface="Arial"/>
              <a:cs typeface="Arial"/>
              <a:sym typeface="Arial"/>
            </a:endParaRPr>
          </a:p>
        </p:txBody>
      </p:sp>
      <p:grpSp>
        <p:nvGrpSpPr>
          <p:cNvPr id="1343" name="Google Shape;1343;p30"/>
          <p:cNvGrpSpPr/>
          <p:nvPr/>
        </p:nvGrpSpPr>
        <p:grpSpPr>
          <a:xfrm>
            <a:off x="-2192501" y="2633500"/>
            <a:ext cx="1970251" cy="496313"/>
            <a:chOff x="0" y="-28575"/>
            <a:chExt cx="2802135" cy="705866"/>
          </a:xfrm>
        </p:grpSpPr>
        <p:sp>
          <p:nvSpPr>
            <p:cNvPr id="1344" name="Google Shape;1344;p30"/>
            <p:cNvSpPr/>
            <p:nvPr/>
          </p:nvSpPr>
          <p:spPr>
            <a:xfrm>
              <a:off x="0" y="0"/>
              <a:ext cx="2802128" cy="677291"/>
            </a:xfrm>
            <a:custGeom>
              <a:rect b="b" l="l" r="r" t="t"/>
              <a:pathLst>
                <a:path extrusionOk="0" h="677291" w="2802128">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45" name="Google Shape;1345;p30"/>
            <p:cNvSpPr txBox="1"/>
            <p:nvPr/>
          </p:nvSpPr>
          <p:spPr>
            <a:xfrm>
              <a:off x="0" y="-28575"/>
              <a:ext cx="2802135" cy="705837"/>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Outline: black, ½ pt.</a:t>
              </a:r>
              <a:endParaRPr sz="1688">
                <a:solidFill>
                  <a:schemeClr val="dk1"/>
                </a:solidFill>
                <a:latin typeface="Arial"/>
                <a:ea typeface="Arial"/>
                <a:cs typeface="Arial"/>
                <a:sym typeface="Arial"/>
              </a:endParaRPr>
            </a:p>
          </p:txBody>
        </p:sp>
      </p:grpSp>
      <p:grpSp>
        <p:nvGrpSpPr>
          <p:cNvPr id="1346" name="Google Shape;1346;p30"/>
          <p:cNvGrpSpPr/>
          <p:nvPr/>
        </p:nvGrpSpPr>
        <p:grpSpPr>
          <a:xfrm>
            <a:off x="-2186151" y="3363382"/>
            <a:ext cx="1957566" cy="486436"/>
            <a:chOff x="0" y="-28575"/>
            <a:chExt cx="2784094" cy="691820"/>
          </a:xfrm>
        </p:grpSpPr>
        <p:sp>
          <p:nvSpPr>
            <p:cNvPr id="1347" name="Google Shape;1347;p3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CCD1D7"/>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48" name="Google Shape;1348;p3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000000"/>
                  </a:solidFill>
                  <a:latin typeface="Arial"/>
                  <a:ea typeface="Arial"/>
                  <a:cs typeface="Arial"/>
                  <a:sym typeface="Arial"/>
                </a:rPr>
                <a:t>204 – 209 – 215</a:t>
              </a:r>
              <a:endParaRPr sz="1688">
                <a:solidFill>
                  <a:schemeClr val="dk1"/>
                </a:solidFill>
                <a:latin typeface="Arial"/>
                <a:ea typeface="Arial"/>
                <a:cs typeface="Arial"/>
                <a:sym typeface="Arial"/>
              </a:endParaRPr>
            </a:p>
          </p:txBody>
        </p:sp>
      </p:grpSp>
      <p:grpSp>
        <p:nvGrpSpPr>
          <p:cNvPr id="1349" name="Google Shape;1349;p30"/>
          <p:cNvGrpSpPr/>
          <p:nvPr/>
        </p:nvGrpSpPr>
        <p:grpSpPr>
          <a:xfrm>
            <a:off x="-2186151" y="4089757"/>
            <a:ext cx="1957566" cy="486436"/>
            <a:chOff x="0" y="-28575"/>
            <a:chExt cx="2784094" cy="691820"/>
          </a:xfrm>
        </p:grpSpPr>
        <p:sp>
          <p:nvSpPr>
            <p:cNvPr id="1350" name="Google Shape;1350;p3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485059"/>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51" name="Google Shape;1351;p3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72 – 80 – 89 </a:t>
              </a:r>
              <a:endParaRPr sz="1688">
                <a:solidFill>
                  <a:schemeClr val="dk1"/>
                </a:solidFill>
                <a:latin typeface="Arial"/>
                <a:ea typeface="Arial"/>
                <a:cs typeface="Arial"/>
                <a:sym typeface="Arial"/>
              </a:endParaRPr>
            </a:p>
          </p:txBody>
        </p:sp>
      </p:grpSp>
      <p:grpSp>
        <p:nvGrpSpPr>
          <p:cNvPr id="1352" name="Google Shape;1352;p30"/>
          <p:cNvGrpSpPr/>
          <p:nvPr/>
        </p:nvGrpSpPr>
        <p:grpSpPr>
          <a:xfrm>
            <a:off x="-2186151" y="4816132"/>
            <a:ext cx="1957566" cy="486436"/>
            <a:chOff x="0" y="-28575"/>
            <a:chExt cx="2784094" cy="691820"/>
          </a:xfrm>
        </p:grpSpPr>
        <p:sp>
          <p:nvSpPr>
            <p:cNvPr id="1353" name="Google Shape;1353;p3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5E7C9E"/>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54" name="Google Shape;1354;p3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94 – 124 – 158</a:t>
              </a:r>
              <a:endParaRPr sz="1688">
                <a:solidFill>
                  <a:schemeClr val="dk1"/>
                </a:solidFill>
                <a:latin typeface="Arial"/>
                <a:ea typeface="Arial"/>
                <a:cs typeface="Arial"/>
                <a:sym typeface="Arial"/>
              </a:endParaRPr>
            </a:p>
          </p:txBody>
        </p:sp>
      </p:grpSp>
      <p:grpSp>
        <p:nvGrpSpPr>
          <p:cNvPr id="1355" name="Google Shape;1355;p30"/>
          <p:cNvGrpSpPr/>
          <p:nvPr/>
        </p:nvGrpSpPr>
        <p:grpSpPr>
          <a:xfrm>
            <a:off x="-2186151" y="5542509"/>
            <a:ext cx="1957566" cy="486436"/>
            <a:chOff x="0" y="-28575"/>
            <a:chExt cx="2784094" cy="691820"/>
          </a:xfrm>
        </p:grpSpPr>
        <p:sp>
          <p:nvSpPr>
            <p:cNvPr id="1356" name="Google Shape;1356;p30"/>
            <p:cNvSpPr/>
            <p:nvPr/>
          </p:nvSpPr>
          <p:spPr>
            <a:xfrm>
              <a:off x="0" y="0"/>
              <a:ext cx="2784094" cy="663194"/>
            </a:xfrm>
            <a:custGeom>
              <a:rect b="b" l="l" r="r" t="t"/>
              <a:pathLst>
                <a:path extrusionOk="0" h="663194" w="2784094">
                  <a:moveTo>
                    <a:pt x="0" y="0"/>
                  </a:moveTo>
                  <a:lnTo>
                    <a:pt x="2784094" y="0"/>
                  </a:lnTo>
                  <a:lnTo>
                    <a:pt x="2784094" y="663194"/>
                  </a:lnTo>
                  <a:lnTo>
                    <a:pt x="0" y="663194"/>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57" name="Google Shape;1357;p30"/>
            <p:cNvSpPr txBox="1"/>
            <p:nvPr/>
          </p:nvSpPr>
          <p:spPr>
            <a:xfrm>
              <a:off x="0" y="-28575"/>
              <a:ext cx="2784073" cy="691820"/>
            </a:xfrm>
            <a:prstGeom prst="rect">
              <a:avLst/>
            </a:prstGeom>
            <a:noFill/>
            <a:ln>
              <a:noFill/>
            </a:ln>
          </p:spPr>
          <p:txBody>
            <a:bodyPr anchorCtr="0" anchor="ctr" bIns="47625" lIns="47625" spcFirstLastPara="1" rIns="47625" wrap="square" tIns="47625">
              <a:noAutofit/>
            </a:bodyPr>
            <a:lstStyle/>
            <a:p>
              <a:pPr indent="0" lvl="0" marL="0" marR="0" rtl="0" algn="ctr">
                <a:lnSpc>
                  <a:spcPct val="120015"/>
                </a:lnSpc>
                <a:spcBef>
                  <a:spcPts val="0"/>
                </a:spcBef>
                <a:spcAft>
                  <a:spcPts val="0"/>
                </a:spcAft>
                <a:buNone/>
              </a:pPr>
              <a:r>
                <a:rPr lang="en-US" sz="1199">
                  <a:solidFill>
                    <a:srgbClr val="FFFFFF"/>
                  </a:solidFill>
                  <a:latin typeface="Arial"/>
                  <a:ea typeface="Arial"/>
                  <a:cs typeface="Arial"/>
                  <a:sym typeface="Arial"/>
                </a:rPr>
                <a:t>17 – 61 – 99</a:t>
              </a:r>
              <a:endParaRPr sz="1688">
                <a:solidFill>
                  <a:schemeClr val="dk1"/>
                </a:solidFill>
                <a:latin typeface="Arial"/>
                <a:ea typeface="Arial"/>
                <a:cs typeface="Arial"/>
                <a:sym typeface="Arial"/>
              </a:endParaRPr>
            </a:p>
          </p:txBody>
        </p:sp>
      </p:grpSp>
      <p:grpSp>
        <p:nvGrpSpPr>
          <p:cNvPr id="1358" name="Google Shape;1358;p30"/>
          <p:cNvGrpSpPr/>
          <p:nvPr/>
        </p:nvGrpSpPr>
        <p:grpSpPr>
          <a:xfrm>
            <a:off x="-2186151" y="1916319"/>
            <a:ext cx="1957566" cy="483632"/>
            <a:chOff x="0" y="-28575"/>
            <a:chExt cx="2784094" cy="687832"/>
          </a:xfrm>
        </p:grpSpPr>
        <p:sp>
          <p:nvSpPr>
            <p:cNvPr id="1359" name="Google Shape;1359;p30"/>
            <p:cNvSpPr/>
            <p:nvPr/>
          </p:nvSpPr>
          <p:spPr>
            <a:xfrm>
              <a:off x="0" y="0"/>
              <a:ext cx="2784094" cy="659257"/>
            </a:xfrm>
            <a:custGeom>
              <a:rect b="b" l="l" r="r" t="t"/>
              <a:pathLst>
                <a:path extrusionOk="0" h="659257" w="2784094">
                  <a:moveTo>
                    <a:pt x="0" y="0"/>
                  </a:moveTo>
                  <a:lnTo>
                    <a:pt x="2784094" y="0"/>
                  </a:lnTo>
                  <a:lnTo>
                    <a:pt x="2784094" y="659257"/>
                  </a:lnTo>
                  <a:lnTo>
                    <a:pt x="0" y="659257"/>
                  </a:lnTo>
                  <a:close/>
                </a:path>
              </a:pathLst>
            </a:custGeom>
            <a:solidFill>
              <a:srgbClr val="113D63"/>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60" name="Google Shape;1360;p30"/>
            <p:cNvSpPr txBox="1"/>
            <p:nvPr/>
          </p:nvSpPr>
          <p:spPr>
            <a:xfrm>
              <a:off x="0" y="-28575"/>
              <a:ext cx="2784073" cy="687775"/>
            </a:xfrm>
            <a:prstGeom prst="rect">
              <a:avLst/>
            </a:prstGeom>
            <a:noFill/>
            <a:ln>
              <a:noFill/>
            </a:ln>
          </p:spPr>
          <p:txBody>
            <a:bodyPr anchorCtr="0" anchor="ctr" bIns="47625" lIns="47625" spcFirstLastPara="1" rIns="47625" wrap="square" tIns="47625">
              <a:noAutofit/>
            </a:bodyPr>
            <a:lstStyle/>
            <a:p>
              <a:pPr indent="-81217" lvl="1" marL="154432" marR="0" rtl="0" algn="l">
                <a:lnSpc>
                  <a:spcPct val="120015"/>
                </a:lnSpc>
                <a:spcBef>
                  <a:spcPts val="0"/>
                </a:spcBef>
                <a:spcAft>
                  <a:spcPts val="0"/>
                </a:spcAft>
                <a:buClr>
                  <a:srgbClr val="FFFFFF"/>
                </a:buClr>
                <a:buSzPts val="1279"/>
                <a:buFont typeface="Arial"/>
                <a:buChar char="•"/>
              </a:pPr>
              <a:r>
                <a:rPr b="0" i="0" lang="en-US" sz="1199" u="none" cap="none" strike="noStrike">
                  <a:solidFill>
                    <a:srgbClr val="FFFFFF"/>
                  </a:solidFill>
                  <a:latin typeface="Arial"/>
                  <a:ea typeface="Arial"/>
                  <a:cs typeface="Arial"/>
                  <a:sym typeface="Arial"/>
                </a:rPr>
                <a:t>Normal shapes w/ text</a:t>
              </a:r>
              <a:endParaRPr b="0" i="0" sz="1688" u="none" cap="none" strike="noStrike">
                <a:solidFill>
                  <a:schemeClr val="dk1"/>
                </a:solidFill>
                <a:latin typeface="Arial"/>
                <a:ea typeface="Arial"/>
                <a:cs typeface="Arial"/>
                <a:sym typeface="Arial"/>
              </a:endParaRPr>
            </a:p>
          </p:txBody>
        </p:sp>
      </p:grpSp>
      <p:sp>
        <p:nvSpPr>
          <p:cNvPr id="1361" name="Google Shape;1361;p30"/>
          <p:cNvSpPr txBox="1"/>
          <p:nvPr/>
        </p:nvSpPr>
        <p:spPr>
          <a:xfrm>
            <a:off x="239485" y="6382553"/>
            <a:ext cx="3537857"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00">
                <a:solidFill>
                  <a:srgbClr val="2A90BC"/>
                </a:solidFill>
                <a:latin typeface="Arimo"/>
                <a:ea typeface="Arimo"/>
                <a:cs typeface="Arimo"/>
                <a:sym typeface="Arimo"/>
              </a:rPr>
              <a:t>ESSEC Capital Investments Club</a:t>
            </a:r>
            <a:endParaRPr sz="1688">
              <a:solidFill>
                <a:schemeClr val="dk1"/>
              </a:solidFill>
              <a:latin typeface="Arial"/>
              <a:ea typeface="Arial"/>
              <a:cs typeface="Arial"/>
              <a:sym typeface="Arial"/>
            </a:endParaRPr>
          </a:p>
        </p:txBody>
      </p:sp>
      <p:cxnSp>
        <p:nvCxnSpPr>
          <p:cNvPr id="1362" name="Google Shape;1362;p30"/>
          <p:cNvCxnSpPr/>
          <p:nvPr/>
        </p:nvCxnSpPr>
        <p:spPr>
          <a:xfrm rot="8930">
            <a:off x="-11128" y="830064"/>
            <a:ext cx="9166256" cy="0"/>
          </a:xfrm>
          <a:prstGeom prst="straightConnector1">
            <a:avLst/>
          </a:prstGeom>
          <a:noFill/>
          <a:ln cap="rnd" cmpd="sng" w="19050">
            <a:solidFill>
              <a:srgbClr val="39598F"/>
            </a:solidFill>
            <a:prstDash val="solid"/>
            <a:round/>
            <a:headEnd len="sm" w="sm" type="none"/>
            <a:tailEnd len="sm" w="sm" type="none"/>
          </a:ln>
        </p:spPr>
      </p:cxnSp>
      <p:sp>
        <p:nvSpPr>
          <p:cNvPr id="1363" name="Google Shape;1363;p30"/>
          <p:cNvSpPr/>
          <p:nvPr/>
        </p:nvSpPr>
        <p:spPr>
          <a:xfrm>
            <a:off x="0" y="838200"/>
            <a:ext cx="155466" cy="374869"/>
          </a:xfrm>
          <a:custGeom>
            <a:rect b="b" l="l" r="r" t="t"/>
            <a:pathLst>
              <a:path extrusionOk="0" h="533146" w="221107">
                <a:moveTo>
                  <a:pt x="0" y="0"/>
                </a:moveTo>
                <a:lnTo>
                  <a:pt x="221107" y="0"/>
                </a:lnTo>
                <a:lnTo>
                  <a:pt x="221107" y="533146"/>
                </a:lnTo>
                <a:lnTo>
                  <a:pt x="0" y="533146"/>
                </a:lnTo>
                <a:close/>
              </a:path>
            </a:pathLst>
          </a:custGeom>
          <a:solidFill>
            <a:srgbClr val="39598F"/>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cxnSp>
        <p:nvCxnSpPr>
          <p:cNvPr id="1364" name="Google Shape;1364;p30"/>
          <p:cNvCxnSpPr/>
          <p:nvPr/>
        </p:nvCxnSpPr>
        <p:spPr>
          <a:xfrm rot="8930">
            <a:off x="-11128" y="6240264"/>
            <a:ext cx="9166256" cy="0"/>
          </a:xfrm>
          <a:prstGeom prst="straightConnector1">
            <a:avLst/>
          </a:prstGeom>
          <a:noFill/>
          <a:ln cap="rnd" cmpd="sng" w="19050">
            <a:solidFill>
              <a:srgbClr val="39598F"/>
            </a:solidFill>
            <a:prstDash val="solid"/>
            <a:round/>
            <a:headEnd len="sm" w="sm" type="none"/>
            <a:tailEnd len="sm" w="sm" type="none"/>
          </a:ln>
        </p:spPr>
      </p:cxnSp>
      <p:sp>
        <p:nvSpPr>
          <p:cNvPr id="1365" name="Google Shape;1365;p30"/>
          <p:cNvSpPr/>
          <p:nvPr/>
        </p:nvSpPr>
        <p:spPr>
          <a:xfrm>
            <a:off x="8554278" y="121136"/>
            <a:ext cx="513737" cy="671284"/>
          </a:xfrm>
          <a:custGeom>
            <a:rect b="b" l="l" r="r" t="t"/>
            <a:pathLst>
              <a:path extrusionOk="0" h="716036" w="547986">
                <a:moveTo>
                  <a:pt x="0" y="0"/>
                </a:moveTo>
                <a:lnTo>
                  <a:pt x="547986" y="0"/>
                </a:lnTo>
                <a:lnTo>
                  <a:pt x="547986" y="716036"/>
                </a:lnTo>
                <a:lnTo>
                  <a:pt x="0" y="716036"/>
                </a:lnTo>
                <a:lnTo>
                  <a:pt x="0" y="0"/>
                </a:lnTo>
                <a:close/>
              </a:path>
            </a:pathLst>
          </a:custGeom>
          <a:blipFill rotWithShape="1">
            <a:blip r:embed="rId3">
              <a:alphaModFix/>
            </a:blip>
            <a:stretch>
              <a:fillRect b="-138" l="0" r="0" t="-139"/>
            </a:stretch>
          </a:blip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graphicFrame>
        <p:nvGraphicFramePr>
          <p:cNvPr id="1366" name="Google Shape;1366;p30"/>
          <p:cNvGraphicFramePr/>
          <p:nvPr/>
        </p:nvGraphicFramePr>
        <p:xfrm>
          <a:off x="450814" y="2396854"/>
          <a:ext cx="3000000" cy="3000000"/>
        </p:xfrm>
        <a:graphic>
          <a:graphicData uri="http://schemas.openxmlformats.org/drawingml/2006/table">
            <a:tbl>
              <a:tblPr>
                <a:noFill/>
                <a:tableStyleId>{9631001D-9986-4F02-BF56-0136913FF124}</a:tableStyleId>
              </a:tblPr>
              <a:tblGrid>
                <a:gridCol w="1371600"/>
                <a:gridCol w="1371600"/>
                <a:gridCol w="1371600"/>
              </a:tblGrid>
              <a:tr h="366850">
                <a:tc>
                  <a:txBody>
                    <a:bodyPr/>
                    <a:lstStyle/>
                    <a:p>
                      <a:pPr indent="0" lvl="0" marL="0" marR="0" rtl="0" algn="ctr">
                        <a:lnSpc>
                          <a:spcPct val="120000"/>
                        </a:lnSpc>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Analysis</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marR="0" rtl="0" algn="ctr">
                        <a:lnSpc>
                          <a:spcPct val="120000"/>
                        </a:lnSpc>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Price</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marR="0" rtl="0" algn="ctr">
                        <a:lnSpc>
                          <a:spcPct val="120000"/>
                        </a:lnSpc>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Weight</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66850">
                <a:tc>
                  <a:txBody>
                    <a:bodyPr/>
                    <a:lstStyle/>
                    <a:p>
                      <a:pPr indent="0" lvl="0" marL="0" marR="0" rtl="0" algn="l">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Current price</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$76.81</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r>
              <a:tr h="366850">
                <a:tc>
                  <a:txBody>
                    <a:bodyPr/>
                    <a:lstStyle/>
                    <a:p>
                      <a:pPr indent="0" lvl="0" marL="0" marR="0" rtl="0" algn="l">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Brokers</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$81.93</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r>
              <a:tr h="366850">
                <a:tc>
                  <a:txBody>
                    <a:bodyPr/>
                    <a:lstStyle/>
                    <a:p>
                      <a:pPr indent="0" lvl="0" marL="0" marR="0" rtl="0" algn="l">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Comparables</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$90.71</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c>
                  <a:txBody>
                    <a:bodyPr/>
                    <a:lstStyle/>
                    <a:p>
                      <a:pPr indent="0" lvl="0" marL="0" marR="0" rtl="0" algn="ctr">
                        <a:lnSpc>
                          <a:spcPct val="120017"/>
                        </a:lnSpc>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20%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8E8"/>
                    </a:solidFill>
                  </a:tcPr>
                </a:tc>
              </a:tr>
              <a:tr h="366850">
                <a:tc>
                  <a:txBody>
                    <a:bodyPr/>
                    <a:lstStyle/>
                    <a:p>
                      <a:pPr indent="0" lvl="0" marL="0" marR="0" rtl="0" algn="l">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DCF</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$62.61</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r>
              <a:tr h="366850">
                <a:tc>
                  <a:txBody>
                    <a:bodyPr/>
                    <a:lstStyle/>
                    <a:p>
                      <a:pPr indent="0" lvl="0" marL="0" marR="0" rtl="0" algn="l">
                        <a:lnSpc>
                          <a:spcPct val="120000"/>
                        </a:lnSpc>
                        <a:spcBef>
                          <a:spcPts val="0"/>
                        </a:spcBef>
                        <a:spcAft>
                          <a:spcPts val="0"/>
                        </a:spcAft>
                        <a:buClr>
                          <a:schemeClr val="dk1"/>
                        </a:buClr>
                        <a:buSzPts val="1000"/>
                        <a:buFont typeface="Arial"/>
                        <a:buNone/>
                      </a:pPr>
                      <a:r>
                        <a:rPr lang="en-US" sz="1000" u="none" cap="none" strike="noStrike"/>
                        <a:t>DDM</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chemeClr val="dk1"/>
                        </a:buClr>
                        <a:buSzPts val="1000"/>
                        <a:buFont typeface="Arial"/>
                        <a:buNone/>
                      </a:pPr>
                      <a:r>
                        <a:rPr lang="en-US" sz="1000" u="none" cap="none" strike="noStrike"/>
                        <a:t>$118.02</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c>
                  <a:txBody>
                    <a:bodyPr/>
                    <a:lstStyle/>
                    <a:p>
                      <a:pPr indent="0" lvl="0" marL="0" marR="0" rtl="0" algn="ctr">
                        <a:lnSpc>
                          <a:spcPct val="120000"/>
                        </a:lnSpc>
                        <a:spcBef>
                          <a:spcPts val="0"/>
                        </a:spcBef>
                        <a:spcAft>
                          <a:spcPts val="0"/>
                        </a:spcAft>
                        <a:buClr>
                          <a:schemeClr val="dk1"/>
                        </a:buClr>
                        <a:buSzPts val="1000"/>
                        <a:buFont typeface="Arial"/>
                        <a:buNone/>
                      </a:pPr>
                      <a:r>
                        <a:rPr lang="en-US" sz="1000" u="none" cap="none" strike="noStrike"/>
                        <a:t>30%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DF4"/>
                    </a:solidFill>
                  </a:tcPr>
                </a:tc>
              </a:tr>
              <a:tr h="402625">
                <a:tc>
                  <a:txBody>
                    <a:bodyPr/>
                    <a:lstStyle/>
                    <a:p>
                      <a:pPr indent="0" lvl="0" marL="0" marR="0" rtl="0" algn="l">
                        <a:lnSpc>
                          <a:spcPct val="120000"/>
                        </a:lnSpc>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Target Price</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20015"/>
                        </a:lnSpc>
                        <a:spcBef>
                          <a:spcPts val="0"/>
                        </a:spcBef>
                        <a:spcAft>
                          <a:spcPts val="0"/>
                        </a:spcAft>
                        <a:buClr>
                          <a:srgbClr val="00B050"/>
                        </a:buClr>
                        <a:buSzPts val="1200"/>
                        <a:buFont typeface="Arial"/>
                        <a:buNone/>
                      </a:pPr>
                      <a:r>
                        <a:rPr b="1" lang="en-US" sz="1200" u="none" cap="none" strike="noStrike">
                          <a:solidFill>
                            <a:srgbClr val="00B050"/>
                          </a:solidFill>
                          <a:latin typeface="Arial"/>
                          <a:ea typeface="Arial"/>
                          <a:cs typeface="Arial"/>
                          <a:sym typeface="Arial"/>
                        </a:rPr>
                        <a:t>$90.14</a:t>
                      </a:r>
                      <a:endParaRPr sz="1000" u="none" cap="none" strike="noStrike">
                        <a:solidFill>
                          <a:srgbClr val="00B050"/>
                        </a:solidFill>
                      </a:endParaRPr>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100%</a:t>
                      </a:r>
                      <a:endParaRPr sz="1000" u="none" cap="none" strike="noStrike"/>
                    </a:p>
                  </a:txBody>
                  <a:tcPr marT="85725" marB="85725"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bl>
          </a:graphicData>
        </a:graphic>
      </p:graphicFrame>
      <p:sp>
        <p:nvSpPr>
          <p:cNvPr id="1367" name="Google Shape;1367;p30"/>
          <p:cNvSpPr txBox="1"/>
          <p:nvPr/>
        </p:nvSpPr>
        <p:spPr>
          <a:xfrm>
            <a:off x="64294" y="455032"/>
            <a:ext cx="4733492" cy="398764"/>
          </a:xfrm>
          <a:prstGeom prst="rect">
            <a:avLst/>
          </a:prstGeom>
          <a:noFill/>
          <a:ln>
            <a:noFill/>
          </a:ln>
        </p:spPr>
        <p:txBody>
          <a:bodyPr anchorCtr="0" anchor="t" bIns="0" lIns="0" spcFirstLastPara="1" rIns="0" wrap="square" tIns="0">
            <a:spAutoFit/>
          </a:bodyPr>
          <a:lstStyle/>
          <a:p>
            <a:pPr indent="0" lvl="0" marL="0" marR="0" rtl="0" algn="l">
              <a:lnSpc>
                <a:spcPct val="108010"/>
              </a:lnSpc>
              <a:spcBef>
                <a:spcPts val="0"/>
              </a:spcBef>
              <a:spcAft>
                <a:spcPts val="0"/>
              </a:spcAft>
              <a:buNone/>
            </a:pPr>
            <a:r>
              <a:rPr lang="en-US" sz="2399">
                <a:solidFill>
                  <a:srgbClr val="333F44"/>
                </a:solidFill>
                <a:latin typeface="Open Sans Light"/>
                <a:ea typeface="Open Sans Light"/>
                <a:cs typeface="Open Sans Light"/>
                <a:sym typeface="Open Sans Light"/>
              </a:rPr>
              <a:t>Price Target &amp; Recommendation</a:t>
            </a:r>
            <a:endParaRPr sz="1688">
              <a:solidFill>
                <a:schemeClr val="dk1"/>
              </a:solidFill>
              <a:latin typeface="Arial"/>
              <a:ea typeface="Arial"/>
              <a:cs typeface="Arial"/>
              <a:sym typeface="Arial"/>
            </a:endParaRPr>
          </a:p>
        </p:txBody>
      </p:sp>
      <p:grpSp>
        <p:nvGrpSpPr>
          <p:cNvPr id="1368" name="Google Shape;1368;p30"/>
          <p:cNvGrpSpPr/>
          <p:nvPr/>
        </p:nvGrpSpPr>
        <p:grpSpPr>
          <a:xfrm>
            <a:off x="450814" y="1765131"/>
            <a:ext cx="4120978" cy="305329"/>
            <a:chOff x="0" y="-9525"/>
            <a:chExt cx="5860946" cy="434245"/>
          </a:xfrm>
        </p:grpSpPr>
        <p:sp>
          <p:nvSpPr>
            <p:cNvPr id="1369" name="Google Shape;1369;p30"/>
            <p:cNvSpPr/>
            <p:nvPr/>
          </p:nvSpPr>
          <p:spPr>
            <a:xfrm>
              <a:off x="0" y="0"/>
              <a:ext cx="5860923" cy="424688"/>
            </a:xfrm>
            <a:custGeom>
              <a:rect b="b" l="l" r="r" t="t"/>
              <a:pathLst>
                <a:path extrusionOk="0" h="424688" w="5860923">
                  <a:moveTo>
                    <a:pt x="0" y="0"/>
                  </a:moveTo>
                  <a:lnTo>
                    <a:pt x="5860923" y="0"/>
                  </a:lnTo>
                  <a:lnTo>
                    <a:pt x="5860923" y="424688"/>
                  </a:lnTo>
                  <a:lnTo>
                    <a:pt x="0" y="42468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70" name="Google Shape;1370;p30"/>
            <p:cNvSpPr txBox="1"/>
            <p:nvPr/>
          </p:nvSpPr>
          <p:spPr>
            <a:xfrm>
              <a:off x="0" y="-9525"/>
              <a:ext cx="5860946" cy="434245"/>
            </a:xfrm>
            <a:prstGeom prst="rect">
              <a:avLst/>
            </a:prstGeom>
            <a:noFill/>
            <a:ln>
              <a:noFill/>
            </a:ln>
          </p:spPr>
          <p:txBody>
            <a:bodyPr anchorCtr="0" anchor="b" bIns="47625" lIns="47625" spcFirstLastPara="1" rIns="47625" wrap="square" tIns="47625">
              <a:noAutofit/>
            </a:bodyPr>
            <a:lstStyle/>
            <a:p>
              <a:pPr indent="0" lvl="0" marL="0" marR="0" rtl="0" algn="l">
                <a:lnSpc>
                  <a:spcPct val="108053"/>
                </a:lnSpc>
                <a:spcBef>
                  <a:spcPts val="0"/>
                </a:spcBef>
                <a:spcAft>
                  <a:spcPts val="0"/>
                </a:spcAft>
                <a:buNone/>
              </a:pPr>
              <a:r>
                <a:rPr b="1" lang="en-US" sz="1199">
                  <a:solidFill>
                    <a:srgbClr val="FFFFFF"/>
                  </a:solidFill>
                  <a:latin typeface="Arial"/>
                  <a:ea typeface="Arial"/>
                  <a:cs typeface="Arial"/>
                  <a:sym typeface="Arial"/>
                </a:rPr>
                <a:t>Price Target</a:t>
              </a:r>
              <a:endParaRPr sz="1688">
                <a:solidFill>
                  <a:schemeClr val="dk1"/>
                </a:solidFill>
                <a:latin typeface="Arial"/>
                <a:ea typeface="Arial"/>
                <a:cs typeface="Arial"/>
                <a:sym typeface="Arial"/>
              </a:endParaRPr>
            </a:p>
          </p:txBody>
        </p:sp>
      </p:grpSp>
      <p:sp>
        <p:nvSpPr>
          <p:cNvPr id="1371" name="Google Shape;1371;p30"/>
          <p:cNvSpPr txBox="1"/>
          <p:nvPr/>
        </p:nvSpPr>
        <p:spPr>
          <a:xfrm>
            <a:off x="4797786" y="1877914"/>
            <a:ext cx="4114827" cy="3310330"/>
          </a:xfrm>
          <a:prstGeom prst="rect">
            <a:avLst/>
          </a:prstGeom>
          <a:noFill/>
          <a:ln>
            <a:noFill/>
          </a:ln>
        </p:spPr>
        <p:txBody>
          <a:bodyPr anchorCtr="0" anchor="t" bIns="0" lIns="0" spcFirstLastPara="1" rIns="0" wrap="square" tIns="0">
            <a:spAutoFit/>
          </a:bodyPr>
          <a:lstStyle/>
          <a:p>
            <a:pPr indent="0" lvl="0" marL="0" marR="0" rtl="0" algn="ctr">
              <a:lnSpc>
                <a:spcPct val="120013"/>
              </a:lnSpc>
              <a:spcBef>
                <a:spcPts val="0"/>
              </a:spcBef>
              <a:spcAft>
                <a:spcPts val="0"/>
              </a:spcAft>
              <a:buNone/>
            </a:pPr>
            <a:r>
              <a:rPr b="1" lang="en-US" sz="1429">
                <a:solidFill>
                  <a:schemeClr val="dk1"/>
                </a:solidFill>
                <a:latin typeface="Arial"/>
                <a:ea typeface="Arial"/>
                <a:cs typeface="Arial"/>
                <a:sym typeface="Arial"/>
              </a:rPr>
              <a:t>We believe that under $80, KO is a low-risk play and therefore a buy for our core portfolio.</a:t>
            </a:r>
            <a:endParaRPr sz="1688">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t/>
            </a:r>
            <a:endParaRPr b="1" sz="1429">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rPr b="1" lang="en-US" sz="1429">
                <a:solidFill>
                  <a:schemeClr val="dk1"/>
                </a:solidFill>
                <a:latin typeface="Arial"/>
                <a:ea typeface="Arial"/>
                <a:cs typeface="Arial"/>
                <a:sym typeface="Arial"/>
              </a:rPr>
              <a:t>Our price target is $90, giving us a 17% upside, but this is a short to medium-term play.  </a:t>
            </a:r>
            <a:endParaRPr/>
          </a:p>
          <a:p>
            <a:pPr indent="0" lvl="0" marL="0" marR="0" rtl="0" algn="ctr">
              <a:lnSpc>
                <a:spcPct val="120013"/>
              </a:lnSpc>
              <a:spcBef>
                <a:spcPts val="0"/>
              </a:spcBef>
              <a:spcAft>
                <a:spcPts val="0"/>
              </a:spcAft>
              <a:buNone/>
            </a:pPr>
            <a:r>
              <a:t/>
            </a:r>
            <a:endParaRPr b="1" sz="1429">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rPr b="1" lang="en-US" sz="1688">
                <a:solidFill>
                  <a:schemeClr val="dk1"/>
                </a:solidFill>
                <a:latin typeface="Arial"/>
                <a:ea typeface="Arial"/>
                <a:cs typeface="Arial"/>
                <a:sym typeface="Arial"/>
              </a:rPr>
              <a:t>A stop in the 64-year continuous increase in dividends is where we could consider selling before our price target. </a:t>
            </a:r>
            <a:endParaRPr sz="1688">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t/>
            </a:r>
            <a:endParaRPr b="1" sz="1429">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rPr b="1" lang="en-US" sz="1429">
                <a:solidFill>
                  <a:schemeClr val="dk1"/>
                </a:solidFill>
                <a:latin typeface="Arial"/>
                <a:ea typeface="Arial"/>
                <a:cs typeface="Arial"/>
                <a:sym typeface="Arial"/>
              </a:rPr>
              <a:t>We put a stop loss at $65.</a:t>
            </a:r>
            <a:endParaRPr sz="1688">
              <a:solidFill>
                <a:schemeClr val="dk1"/>
              </a:solidFill>
              <a:latin typeface="Arial"/>
              <a:ea typeface="Arial"/>
              <a:cs typeface="Arial"/>
              <a:sym typeface="Arial"/>
            </a:endParaRPr>
          </a:p>
          <a:p>
            <a:pPr indent="0" lvl="0" marL="0" marR="0" rtl="0" algn="ctr">
              <a:lnSpc>
                <a:spcPct val="120013"/>
              </a:lnSpc>
              <a:spcBef>
                <a:spcPts val="0"/>
              </a:spcBef>
              <a:spcAft>
                <a:spcPts val="0"/>
              </a:spcAft>
              <a:buNone/>
            </a:pPr>
            <a:r>
              <a:t/>
            </a:r>
            <a:endParaRPr b="1" sz="1429">
              <a:solidFill>
                <a:srgbClr val="FF0000"/>
              </a:solidFill>
              <a:latin typeface="Open Sans"/>
              <a:ea typeface="Open Sans"/>
              <a:cs typeface="Open Sans"/>
              <a:sym typeface="Open Sans"/>
            </a:endParaRPr>
          </a:p>
        </p:txBody>
      </p:sp>
      <p:grpSp>
        <p:nvGrpSpPr>
          <p:cNvPr id="1372" name="Google Shape;1372;p30"/>
          <p:cNvGrpSpPr/>
          <p:nvPr/>
        </p:nvGrpSpPr>
        <p:grpSpPr>
          <a:xfrm>
            <a:off x="457618" y="2113845"/>
            <a:ext cx="4114383" cy="297716"/>
            <a:chOff x="0" y="0"/>
            <a:chExt cx="5851567" cy="423418"/>
          </a:xfrm>
        </p:grpSpPr>
        <p:sp>
          <p:nvSpPr>
            <p:cNvPr id="1373" name="Google Shape;1373;p30"/>
            <p:cNvSpPr/>
            <p:nvPr/>
          </p:nvSpPr>
          <p:spPr>
            <a:xfrm>
              <a:off x="0" y="0"/>
              <a:ext cx="5851525" cy="423418"/>
            </a:xfrm>
            <a:custGeom>
              <a:rect b="b" l="l" r="r" t="t"/>
              <a:pathLst>
                <a:path extrusionOk="0" h="423418" w="5851525">
                  <a:moveTo>
                    <a:pt x="0" y="0"/>
                  </a:moveTo>
                  <a:lnTo>
                    <a:pt x="5851525" y="0"/>
                  </a:lnTo>
                  <a:lnTo>
                    <a:pt x="5851525" y="423418"/>
                  </a:lnTo>
                  <a:lnTo>
                    <a:pt x="0" y="423418"/>
                  </a:lnTo>
                  <a:close/>
                </a:path>
              </a:pathLst>
            </a:custGeom>
            <a:solidFill>
              <a:srgbClr val="333F44"/>
            </a:solidFill>
            <a:ln>
              <a:noFill/>
            </a:ln>
          </p:spPr>
          <p:txBody>
            <a:bodyPr anchorCtr="0" anchor="t" bIns="42825" lIns="85700" spcFirstLastPara="1" rIns="85700" wrap="square" tIns="42825">
              <a:noAutofit/>
            </a:bodyPr>
            <a:lstStyle/>
            <a:p>
              <a:pPr indent="0" lvl="0" marL="0" marR="0" rtl="0" algn="l">
                <a:spcBef>
                  <a:spcPts val="0"/>
                </a:spcBef>
                <a:spcAft>
                  <a:spcPts val="0"/>
                </a:spcAft>
                <a:buNone/>
              </a:pPr>
              <a:r>
                <a:t/>
              </a:r>
              <a:endParaRPr sz="1688">
                <a:solidFill>
                  <a:schemeClr val="dk1"/>
                </a:solidFill>
                <a:latin typeface="Calibri"/>
                <a:ea typeface="Calibri"/>
                <a:cs typeface="Calibri"/>
                <a:sym typeface="Calibri"/>
              </a:endParaRPr>
            </a:p>
          </p:txBody>
        </p:sp>
        <p:sp>
          <p:nvSpPr>
            <p:cNvPr id="1374" name="Google Shape;1374;p30"/>
            <p:cNvSpPr txBox="1"/>
            <p:nvPr/>
          </p:nvSpPr>
          <p:spPr>
            <a:xfrm>
              <a:off x="0" y="9525"/>
              <a:ext cx="5851567" cy="413853"/>
            </a:xfrm>
            <a:prstGeom prst="rect">
              <a:avLst/>
            </a:prstGeom>
            <a:noFill/>
            <a:ln>
              <a:noFill/>
            </a:ln>
          </p:spPr>
          <p:txBody>
            <a:bodyPr anchorCtr="0" anchor="b" bIns="47625" lIns="47625" spcFirstLastPara="1" rIns="47625" wrap="square" tIns="47625">
              <a:noAutofit/>
            </a:bodyPr>
            <a:lstStyle/>
            <a:p>
              <a:pPr indent="0" lvl="0" marL="0" marR="0" rtl="0" algn="ctr">
                <a:lnSpc>
                  <a:spcPct val="107970"/>
                </a:lnSpc>
                <a:spcBef>
                  <a:spcPts val="0"/>
                </a:spcBef>
                <a:spcAft>
                  <a:spcPts val="0"/>
                </a:spcAft>
                <a:buNone/>
              </a:pPr>
              <a:r>
                <a:rPr b="1" lang="en-US" sz="1400">
                  <a:solidFill>
                    <a:srgbClr val="FFFFFF"/>
                  </a:solidFill>
                  <a:latin typeface="Arial"/>
                  <a:ea typeface="Arial"/>
                  <a:cs typeface="Arial"/>
                  <a:sym typeface="Arial"/>
                </a:rPr>
                <a:t>Valuation Summary</a:t>
              </a:r>
              <a:endParaRPr sz="1688">
                <a:solidFill>
                  <a:schemeClr val="dk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2026-03-23T09:49:24Z</dcterms:created>
  <dc:creator>Marvin BRAUD</dc:creator>
</cp:coreProperties>
</file>