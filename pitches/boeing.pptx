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1.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953" r:id="rId5"/>
  </p:sldMasterIdLst>
  <p:notesMasterIdLst>
    <p:notesMasterId r:id="rId27"/>
  </p:notesMasterIdLst>
  <p:handoutMasterIdLst>
    <p:handoutMasterId r:id="rId28"/>
  </p:handoutMasterIdLst>
  <p:sldIdLst>
    <p:sldId id="256" r:id="rId6"/>
    <p:sldId id="257" r:id="rId7"/>
    <p:sldId id="258" r:id="rId8"/>
    <p:sldId id="430" r:id="rId9"/>
    <p:sldId id="431" r:id="rId10"/>
    <p:sldId id="433" r:id="rId11"/>
    <p:sldId id="434" r:id="rId12"/>
    <p:sldId id="259" r:id="rId13"/>
    <p:sldId id="444" r:id="rId14"/>
    <p:sldId id="438" r:id="rId15"/>
    <p:sldId id="260" r:id="rId16"/>
    <p:sldId id="437" r:id="rId17"/>
    <p:sldId id="261" r:id="rId18"/>
    <p:sldId id="445" r:id="rId19"/>
    <p:sldId id="439" r:id="rId20"/>
    <p:sldId id="446" r:id="rId21"/>
    <p:sldId id="441" r:id="rId22"/>
    <p:sldId id="262" r:id="rId23"/>
    <p:sldId id="442" r:id="rId24"/>
    <p:sldId id="263" r:id="rId25"/>
    <p:sldId id="443" r:id="rId2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WS" initials="B" lastIdx="0" clrIdx="0">
    <p:extLst>
      <p:ext uri="{19B8F6BF-5375-455C-9EA6-DF929625EA0E}">
        <p15:presenceInfo xmlns:p15="http://schemas.microsoft.com/office/powerpoint/2012/main" userId="BIW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3D63"/>
    <a:srgbClr val="40699C"/>
    <a:srgbClr val="45B2CC"/>
    <a:srgbClr val="2A90BC"/>
    <a:srgbClr val="027A38"/>
    <a:srgbClr val="D9D7E5"/>
    <a:srgbClr val="CAC1F7"/>
    <a:srgbClr val="356BAB"/>
    <a:srgbClr val="FFFFFF"/>
    <a:srgbClr val="CCD1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A1CC1-ACBB-855C-9404-706B84E24612}" v="752" dt="2024-05-01T17:07:48.563"/>
    <p1510:client id="{0F8FD5E1-A63F-4D1A-84FD-BF0367ACC070}" v="966" dt="2024-05-02T13:01:22.608"/>
    <p1510:client id="{34BAD21D-2364-B490-E82B-46A97CF0DFC6}" v="1734" dt="2024-05-01T18:35:31.140"/>
    <p1510:client id="{3F5C9668-C8CB-4D30-8BC3-6BC58D64A325}" v="2232" dt="2024-05-02T14:46:43.108"/>
    <p1510:client id="{641E47A8-DB28-1CBA-19C7-AD1301F445B1}" v="229" dt="2024-05-02T11:50:10.4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29" autoAdjust="0"/>
  </p:normalViewPr>
  <p:slideViewPr>
    <p:cSldViewPr snapToGrid="0">
      <p:cViewPr>
        <p:scale>
          <a:sx n="98" d="100"/>
          <a:sy n="98" d="100"/>
        </p:scale>
        <p:origin x="2190" y="29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rash\Downloads\Boeing%20DCF%20-%20ESSEC%20ICI.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https://queensuca-my.sharepoint.com/personal/21jcd11_queensu_ca/Documents/Limestone/Perion/Perion_Comps_vJD.xlsx"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file:///C:\Users\trash\Downloads\Boeing%20DCF%20-%20ESSEC%20ICI.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157988588742314"/>
          <c:y val="3.5708479754288855E-2"/>
          <c:w val="0.70565812128876748"/>
          <c:h val="0.8929394852457776"/>
        </c:manualLayout>
      </c:layout>
      <c:barChart>
        <c:barDir val="bar"/>
        <c:grouping val="clustered"/>
        <c:varyColors val="0"/>
        <c:ser>
          <c:idx val="0"/>
          <c:order val="0"/>
          <c:tx>
            <c:strRef>
              <c:f>Feuil1!$B$1</c:f>
              <c:strCache>
                <c:ptCount val="1"/>
                <c:pt idx="0">
                  <c:v>Ownership</c:v>
                </c:pt>
              </c:strCache>
            </c:strRef>
          </c:tx>
          <c:spPr>
            <a:solidFill>
              <a:srgbClr val="113D6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Feuil1!$A$2:$A$11</c:f>
              <c:strCache>
                <c:ptCount val="10"/>
                <c:pt idx="0">
                  <c:v>T ROWE PRICE GROUP INC</c:v>
                </c:pt>
                <c:pt idx="1">
                  <c:v>BANK OF AMERICA CORPORATION</c:v>
                </c:pt>
                <c:pt idx="2">
                  <c:v>LOOMIS SAYLES &amp; COMPANY LP</c:v>
                </c:pt>
                <c:pt idx="3">
                  <c:v>GEODE CAPITAL MANAGEMENT LLC</c:v>
                </c:pt>
                <c:pt idx="4">
                  <c:v>FMR LLC</c:v>
                </c:pt>
                <c:pt idx="5">
                  <c:v>STATE STREET CORP</c:v>
                </c:pt>
                <c:pt idx="6">
                  <c:v>NEWPORT TRUST CO</c:v>
                </c:pt>
                <c:pt idx="7">
                  <c:v>CAPITAL GROUP COMPANIES INC</c:v>
                </c:pt>
                <c:pt idx="8">
                  <c:v>BLACKROCK</c:v>
                </c:pt>
                <c:pt idx="9">
                  <c:v>VANGUARD GROUP</c:v>
                </c:pt>
              </c:strCache>
            </c:strRef>
          </c:cat>
          <c:val>
            <c:numRef>
              <c:f>Feuil1!$B$2:$B$11</c:f>
              <c:numCache>
                <c:formatCode>#,##0</c:formatCode>
                <c:ptCount val="10"/>
                <c:pt idx="0">
                  <c:v>9823006</c:v>
                </c:pt>
                <c:pt idx="1">
                  <c:v>10301855</c:v>
                </c:pt>
                <c:pt idx="2">
                  <c:v>10555108</c:v>
                </c:pt>
                <c:pt idx="3">
                  <c:v>10677250</c:v>
                </c:pt>
                <c:pt idx="4">
                  <c:v>20613739</c:v>
                </c:pt>
                <c:pt idx="5">
                  <c:v>26603062</c:v>
                </c:pt>
                <c:pt idx="6">
                  <c:v>32395589</c:v>
                </c:pt>
                <c:pt idx="7">
                  <c:v>36143531</c:v>
                </c:pt>
                <c:pt idx="8">
                  <c:v>36652729</c:v>
                </c:pt>
                <c:pt idx="9">
                  <c:v>48501954</c:v>
                </c:pt>
              </c:numCache>
            </c:numRef>
          </c:val>
          <c:extLst>
            <c:ext xmlns:c16="http://schemas.microsoft.com/office/drawing/2014/chart" uri="{C3380CC4-5D6E-409C-BE32-E72D297353CC}">
              <c16:uniqueId val="{00000000-E4C8-41CB-BB21-2C739F1CD3E7}"/>
            </c:ext>
          </c:extLst>
        </c:ser>
        <c:dLbls>
          <c:dLblPos val="outEnd"/>
          <c:showLegendKey val="0"/>
          <c:showVal val="1"/>
          <c:showCatName val="0"/>
          <c:showSerName val="0"/>
          <c:showPercent val="0"/>
          <c:showBubbleSize val="0"/>
        </c:dLbls>
        <c:gapWidth val="182"/>
        <c:axId val="1190370607"/>
        <c:axId val="1190360527"/>
      </c:barChart>
      <c:catAx>
        <c:axId val="1190370607"/>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190360527"/>
        <c:crosses val="autoZero"/>
        <c:auto val="1"/>
        <c:lblAlgn val="ctr"/>
        <c:lblOffset val="100"/>
        <c:noMultiLvlLbl val="0"/>
      </c:catAx>
      <c:valAx>
        <c:axId val="1190360527"/>
        <c:scaling>
          <c:orientation val="minMax"/>
        </c:scaling>
        <c:delete val="0"/>
        <c:axPos val="b"/>
        <c:numFmt formatCode="#,##0"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19037060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GB" sz="1000" dirty="0">
                <a:solidFill>
                  <a:schemeClr val="tx1"/>
                </a:solidFill>
                <a:latin typeface="Arial" panose="020B0604020202020204" pitchFamily="34" charset="0"/>
                <a:cs typeface="Arial" panose="020B0604020202020204" pitchFamily="34" charset="0"/>
              </a:rPr>
              <a:t>Commercial</a:t>
            </a:r>
            <a:r>
              <a:rPr lang="en-GB" sz="1000" baseline="0" dirty="0">
                <a:solidFill>
                  <a:schemeClr val="tx1"/>
                </a:solidFill>
                <a:latin typeface="Arial" panose="020B0604020202020204" pitchFamily="34" charset="0"/>
                <a:cs typeface="Arial" panose="020B0604020202020204" pitchFamily="34" charset="0"/>
              </a:rPr>
              <a:t> Aircraft </a:t>
            </a:r>
            <a:r>
              <a:rPr lang="en-GB" sz="1000" dirty="0">
                <a:solidFill>
                  <a:schemeClr val="tx1"/>
                </a:solidFill>
                <a:latin typeface="Arial" panose="020B0604020202020204" pitchFamily="34" charset="0"/>
                <a:cs typeface="Arial" panose="020B0604020202020204" pitchFamily="34" charset="0"/>
              </a:rPr>
              <a:t>Market Size 2023</a:t>
            </a:r>
            <a:r>
              <a:rPr lang="en-GB" sz="1000" baseline="0" dirty="0">
                <a:solidFill>
                  <a:schemeClr val="tx1"/>
                </a:solidFill>
                <a:latin typeface="Arial" panose="020B0604020202020204" pitchFamily="34" charset="0"/>
                <a:cs typeface="Arial" panose="020B0604020202020204" pitchFamily="34" charset="0"/>
              </a:rPr>
              <a:t> - 2032</a:t>
            </a:r>
            <a:r>
              <a:rPr lang="en-GB" sz="1000" dirty="0">
                <a:solidFill>
                  <a:schemeClr val="tx1"/>
                </a:solidFill>
                <a:latin typeface="Arial" panose="020B0604020202020204" pitchFamily="34" charset="0"/>
                <a:cs typeface="Arial" panose="020B0604020202020204" pitchFamily="34" charset="0"/>
              </a:rPr>
              <a:t>(USD Billion)</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barChart>
        <c:barDir val="col"/>
        <c:grouping val="clustered"/>
        <c:varyColors val="0"/>
        <c:ser>
          <c:idx val="0"/>
          <c:order val="0"/>
          <c:tx>
            <c:strRef>
              <c:f>Sheet1!$D$33</c:f>
              <c:strCache>
                <c:ptCount val="1"/>
                <c:pt idx="0">
                  <c:v>Market Value(USD Billion)</c:v>
                </c:pt>
              </c:strCache>
            </c:strRef>
          </c:tx>
          <c:spPr>
            <a:solidFill>
              <a:srgbClr val="113D63"/>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Sheet1!$C$34:$C$44</c:f>
              <c:numCache>
                <c:formatCode>General</c:formatCode>
                <c:ptCount val="11"/>
                <c:pt idx="0">
                  <c:v>2022</c:v>
                </c:pt>
                <c:pt idx="1">
                  <c:v>2023</c:v>
                </c:pt>
                <c:pt idx="2">
                  <c:v>2024</c:v>
                </c:pt>
                <c:pt idx="3">
                  <c:v>2025</c:v>
                </c:pt>
                <c:pt idx="4">
                  <c:v>2026</c:v>
                </c:pt>
                <c:pt idx="5">
                  <c:v>2027</c:v>
                </c:pt>
                <c:pt idx="6">
                  <c:v>2028</c:v>
                </c:pt>
                <c:pt idx="7">
                  <c:v>2029</c:v>
                </c:pt>
                <c:pt idx="8">
                  <c:v>2030</c:v>
                </c:pt>
                <c:pt idx="9">
                  <c:v>2031</c:v>
                </c:pt>
                <c:pt idx="10">
                  <c:v>2032</c:v>
                </c:pt>
              </c:numCache>
            </c:numRef>
          </c:cat>
          <c:val>
            <c:numRef>
              <c:f>Sheet1!$D$34:$D$44</c:f>
              <c:numCache>
                <c:formatCode>General</c:formatCode>
                <c:ptCount val="11"/>
                <c:pt idx="0">
                  <c:v>128.22999999999999</c:v>
                </c:pt>
                <c:pt idx="1">
                  <c:v>133.69</c:v>
                </c:pt>
                <c:pt idx="2">
                  <c:v>139.38999999999999</c:v>
                </c:pt>
                <c:pt idx="3">
                  <c:v>145.33000000000001</c:v>
                </c:pt>
                <c:pt idx="4">
                  <c:v>151.52000000000001</c:v>
                </c:pt>
                <c:pt idx="5">
                  <c:v>157.97</c:v>
                </c:pt>
                <c:pt idx="6">
                  <c:v>164.7</c:v>
                </c:pt>
                <c:pt idx="7">
                  <c:v>171.72</c:v>
                </c:pt>
                <c:pt idx="8">
                  <c:v>179.03</c:v>
                </c:pt>
                <c:pt idx="9">
                  <c:v>186.66</c:v>
                </c:pt>
                <c:pt idx="10">
                  <c:v>194.61</c:v>
                </c:pt>
              </c:numCache>
            </c:numRef>
          </c:val>
          <c:extLst>
            <c:ext xmlns:c16="http://schemas.microsoft.com/office/drawing/2014/chart" uri="{C3380CC4-5D6E-409C-BE32-E72D297353CC}">
              <c16:uniqueId val="{00000000-8B4C-4E31-89CB-329AA1D56D3D}"/>
            </c:ext>
          </c:extLst>
        </c:ser>
        <c:dLbls>
          <c:dLblPos val="outEnd"/>
          <c:showLegendKey val="0"/>
          <c:showVal val="1"/>
          <c:showCatName val="0"/>
          <c:showSerName val="0"/>
          <c:showPercent val="0"/>
          <c:showBubbleSize val="0"/>
        </c:dLbls>
        <c:gapWidth val="219"/>
        <c:overlap val="-27"/>
        <c:axId val="1635655392"/>
        <c:axId val="1635658752"/>
      </c:barChart>
      <c:catAx>
        <c:axId val="1635655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635658752"/>
        <c:crosses val="autoZero"/>
        <c:auto val="1"/>
        <c:lblAlgn val="ctr"/>
        <c:lblOffset val="100"/>
        <c:noMultiLvlLbl val="0"/>
      </c:catAx>
      <c:valAx>
        <c:axId val="1635658752"/>
        <c:scaling>
          <c:orientation val="minMax"/>
        </c:scaling>
        <c:delete val="1"/>
        <c:axPos val="l"/>
        <c:numFmt formatCode="General" sourceLinked="1"/>
        <c:majorTickMark val="none"/>
        <c:minorTickMark val="none"/>
        <c:tickLblPos val="nextTo"/>
        <c:crossAx val="16356553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Arial" panose="020B0604020202020204" pitchFamily="34" charset="0"/>
                <a:ea typeface="+mn-ea"/>
                <a:cs typeface="Arial" panose="020B0604020202020204" pitchFamily="34" charset="0"/>
              </a:defRPr>
            </a:pPr>
            <a:r>
              <a:rPr lang="en-US" sz="1000" dirty="0">
                <a:solidFill>
                  <a:schemeClr val="tx1"/>
                </a:solidFill>
                <a:latin typeface="Arial" panose="020B0604020202020204" pitchFamily="34" charset="0"/>
                <a:cs typeface="Arial" panose="020B0604020202020204" pitchFamily="34" charset="0"/>
              </a:rPr>
              <a:t>Global backlogs for major aircraft manufacturers has surpassed pre-COVID19 levels</a:t>
            </a:r>
            <a:endParaRPr lang="en-GB" sz="1000" dirty="0">
              <a:solidFill>
                <a:schemeClr val="tx1"/>
              </a:solidFill>
              <a:latin typeface="Arial" panose="020B0604020202020204" pitchFamily="34" charset="0"/>
              <a:cs typeface="Arial" panose="020B0604020202020204" pitchFamily="34" charset="0"/>
            </a:endParaRPr>
          </a:p>
        </c:rich>
      </c:tx>
      <c:layout>
        <c:manualLayout>
          <c:xMode val="edge"/>
          <c:yMode val="edge"/>
          <c:x val="0.1575584520464148"/>
          <c:y val="5.0000590558156199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4512850184132545"/>
          <c:y val="0.19832659941914266"/>
          <c:w val="0.82073758571350386"/>
          <c:h val="0.53862797154647069"/>
        </c:manualLayout>
      </c:layout>
      <c:barChart>
        <c:barDir val="col"/>
        <c:grouping val="clustered"/>
        <c:varyColors val="0"/>
        <c:ser>
          <c:idx val="0"/>
          <c:order val="0"/>
          <c:tx>
            <c:strRef>
              <c:f>Sheet1!$C$3</c:f>
              <c:strCache>
                <c:ptCount val="1"/>
                <c:pt idx="0">
                  <c:v>Total Backlog - Boeing</c:v>
                </c:pt>
              </c:strCache>
            </c:strRef>
          </c:tx>
          <c:spPr>
            <a:solidFill>
              <a:srgbClr val="113D63"/>
            </a:solidFill>
            <a:ln>
              <a:noFill/>
            </a:ln>
            <a:effectLst/>
          </c:spPr>
          <c:invertIfNegative val="0"/>
          <c:cat>
            <c:numRef>
              <c:f>Sheet1!$B$4:$B$12</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Sheet1!$C$4:$C$12</c:f>
              <c:numCache>
                <c:formatCode>General</c:formatCode>
                <c:ptCount val="9"/>
                <c:pt idx="0">
                  <c:v>489299</c:v>
                </c:pt>
                <c:pt idx="1">
                  <c:v>473492</c:v>
                </c:pt>
                <c:pt idx="2">
                  <c:v>474640</c:v>
                </c:pt>
                <c:pt idx="3">
                  <c:v>490481</c:v>
                </c:pt>
                <c:pt idx="4">
                  <c:v>463403</c:v>
                </c:pt>
                <c:pt idx="5">
                  <c:v>463404</c:v>
                </c:pt>
                <c:pt idx="6">
                  <c:v>377499</c:v>
                </c:pt>
                <c:pt idx="7">
                  <c:v>404381</c:v>
                </c:pt>
                <c:pt idx="8">
                  <c:v>520195</c:v>
                </c:pt>
              </c:numCache>
            </c:numRef>
          </c:val>
          <c:extLst>
            <c:ext xmlns:c16="http://schemas.microsoft.com/office/drawing/2014/chart" uri="{C3380CC4-5D6E-409C-BE32-E72D297353CC}">
              <c16:uniqueId val="{00000000-6FC8-470C-86BC-0C53ABBB7AE4}"/>
            </c:ext>
          </c:extLst>
        </c:ser>
        <c:ser>
          <c:idx val="1"/>
          <c:order val="1"/>
          <c:tx>
            <c:strRef>
              <c:f>Sheet1!$D$3</c:f>
              <c:strCache>
                <c:ptCount val="1"/>
                <c:pt idx="0">
                  <c:v>Total Backlog - Airbus</c:v>
                </c:pt>
              </c:strCache>
            </c:strRef>
          </c:tx>
          <c:spPr>
            <a:solidFill>
              <a:srgbClr val="45B2CC"/>
            </a:solidFill>
            <a:ln>
              <a:noFill/>
            </a:ln>
            <a:effectLst/>
          </c:spPr>
          <c:invertIfNegative val="0"/>
          <c:cat>
            <c:numRef>
              <c:f>Sheet1!$B$4:$B$12</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Sheet1!$D$4:$D$12</c:f>
              <c:numCache>
                <c:formatCode>General</c:formatCode>
                <c:ptCount val="9"/>
                <c:pt idx="3" formatCode="#,##0">
                  <c:v>459525</c:v>
                </c:pt>
                <c:pt idx="4" formatCode="#,##0">
                  <c:v>471488</c:v>
                </c:pt>
                <c:pt idx="5" formatCode="#,##0">
                  <c:v>373127</c:v>
                </c:pt>
                <c:pt idx="6" formatCode="#,##0">
                  <c:v>398439</c:v>
                </c:pt>
                <c:pt idx="7" formatCode="#,##0">
                  <c:v>449241</c:v>
                </c:pt>
                <c:pt idx="8" formatCode="#,##0">
                  <c:v>553893</c:v>
                </c:pt>
              </c:numCache>
            </c:numRef>
          </c:val>
          <c:extLst>
            <c:ext xmlns:c16="http://schemas.microsoft.com/office/drawing/2014/chart" uri="{C3380CC4-5D6E-409C-BE32-E72D297353CC}">
              <c16:uniqueId val="{00000001-6FC8-470C-86BC-0C53ABBB7AE4}"/>
            </c:ext>
          </c:extLst>
        </c:ser>
        <c:dLbls>
          <c:showLegendKey val="0"/>
          <c:showVal val="0"/>
          <c:showCatName val="0"/>
          <c:showSerName val="0"/>
          <c:showPercent val="0"/>
          <c:showBubbleSize val="0"/>
        </c:dLbls>
        <c:gapWidth val="219"/>
        <c:overlap val="-27"/>
        <c:axId val="463911632"/>
        <c:axId val="463912112"/>
      </c:barChart>
      <c:lineChart>
        <c:grouping val="standard"/>
        <c:varyColors val="0"/>
        <c:ser>
          <c:idx val="2"/>
          <c:order val="2"/>
          <c:tx>
            <c:strRef>
              <c:f>Sheet1!$E$3</c:f>
              <c:strCache>
                <c:ptCount val="1"/>
                <c:pt idx="0">
                  <c:v>Total Backlog - Industry</c:v>
                </c:pt>
              </c:strCache>
            </c:strRef>
          </c:tx>
          <c:spPr>
            <a:ln w="28575" cap="rnd">
              <a:solidFill>
                <a:srgbClr val="00B0F0"/>
              </a:solidFill>
              <a:round/>
            </a:ln>
            <a:effectLst/>
          </c:spPr>
          <c:marker>
            <c:symbol val="none"/>
          </c:marker>
          <c:cat>
            <c:numRef>
              <c:f>Sheet1!$B$4:$B$12</c:f>
              <c:numCache>
                <c:formatCode>General</c:formatCode>
                <c:ptCount val="9"/>
                <c:pt idx="0">
                  <c:v>2015</c:v>
                </c:pt>
                <c:pt idx="1">
                  <c:v>2016</c:v>
                </c:pt>
                <c:pt idx="2">
                  <c:v>2017</c:v>
                </c:pt>
                <c:pt idx="3">
                  <c:v>2018</c:v>
                </c:pt>
                <c:pt idx="4">
                  <c:v>2019</c:v>
                </c:pt>
                <c:pt idx="5">
                  <c:v>2020</c:v>
                </c:pt>
                <c:pt idx="6">
                  <c:v>2021</c:v>
                </c:pt>
                <c:pt idx="7">
                  <c:v>2022</c:v>
                </c:pt>
                <c:pt idx="8">
                  <c:v>2023</c:v>
                </c:pt>
              </c:numCache>
            </c:numRef>
          </c:cat>
          <c:val>
            <c:numRef>
              <c:f>Sheet1!$E$4:$E$12</c:f>
              <c:numCache>
                <c:formatCode>General</c:formatCode>
                <c:ptCount val="9"/>
                <c:pt idx="3" formatCode="#,##0">
                  <c:v>950006</c:v>
                </c:pt>
                <c:pt idx="4" formatCode="#,##0">
                  <c:v>934891</c:v>
                </c:pt>
                <c:pt idx="5" formatCode="#,##0">
                  <c:v>836531</c:v>
                </c:pt>
                <c:pt idx="6" formatCode="#,##0">
                  <c:v>775938</c:v>
                </c:pt>
                <c:pt idx="7" formatCode="#,##0">
                  <c:v>853622</c:v>
                </c:pt>
                <c:pt idx="8" formatCode="#,##0">
                  <c:v>1074088</c:v>
                </c:pt>
              </c:numCache>
            </c:numRef>
          </c:val>
          <c:smooth val="0"/>
          <c:extLst>
            <c:ext xmlns:c16="http://schemas.microsoft.com/office/drawing/2014/chart" uri="{C3380CC4-5D6E-409C-BE32-E72D297353CC}">
              <c16:uniqueId val="{00000002-6FC8-470C-86BC-0C53ABBB7AE4}"/>
            </c:ext>
          </c:extLst>
        </c:ser>
        <c:dLbls>
          <c:showLegendKey val="0"/>
          <c:showVal val="0"/>
          <c:showCatName val="0"/>
          <c:showSerName val="0"/>
          <c:showPercent val="0"/>
          <c:showBubbleSize val="0"/>
        </c:dLbls>
        <c:marker val="1"/>
        <c:smooth val="0"/>
        <c:axId val="463911632"/>
        <c:axId val="463912112"/>
      </c:lineChart>
      <c:catAx>
        <c:axId val="463911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463912112"/>
        <c:crosses val="autoZero"/>
        <c:auto val="1"/>
        <c:lblAlgn val="ctr"/>
        <c:lblOffset val="100"/>
        <c:noMultiLvlLbl val="0"/>
      </c:catAx>
      <c:valAx>
        <c:axId val="463912112"/>
        <c:scaling>
          <c:orientation val="minMax"/>
          <c:max val="1100000"/>
          <c:min val="0"/>
        </c:scaling>
        <c:delete val="0"/>
        <c:axPos val="l"/>
        <c:numFmt formatCode="&quot;$&quot;#,##0,&quot;Bn&quot;"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4639116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Arial" panose="020B0604020202020204" pitchFamily="34" charset="0"/>
                <a:ea typeface="+mn-ea"/>
                <a:cs typeface="Arial" panose="020B0604020202020204" pitchFamily="34" charset="0"/>
              </a:defRPr>
            </a:pPr>
            <a:r>
              <a:rPr lang="en-GB" sz="1000" dirty="0">
                <a:solidFill>
                  <a:schemeClr val="tx1"/>
                </a:solidFill>
                <a:latin typeface="Arial" panose="020B0604020202020204" pitchFamily="34" charset="0"/>
                <a:cs typeface="Arial" panose="020B0604020202020204" pitchFamily="34" charset="0"/>
              </a:rPr>
              <a:t>Aerospace</a:t>
            </a:r>
            <a:r>
              <a:rPr lang="en-GB" sz="1000" baseline="0" dirty="0">
                <a:solidFill>
                  <a:schemeClr val="tx1"/>
                </a:solidFill>
                <a:latin typeface="Arial" panose="020B0604020202020204" pitchFamily="34" charset="0"/>
                <a:cs typeface="Arial" panose="020B0604020202020204" pitchFamily="34" charset="0"/>
              </a:rPr>
              <a:t> </a:t>
            </a:r>
            <a:r>
              <a:rPr lang="en-GB" sz="1000" dirty="0">
                <a:solidFill>
                  <a:schemeClr val="tx1"/>
                </a:solidFill>
                <a:latin typeface="Arial" panose="020B0604020202020204" pitchFamily="34" charset="0"/>
                <a:cs typeface="Arial" panose="020B0604020202020204" pitchFamily="34" charset="0"/>
              </a:rPr>
              <a:t>Market Size(USD Billion)</a:t>
            </a:r>
          </a:p>
        </c:rich>
      </c:tx>
      <c:layout>
        <c:manualLayout>
          <c:xMode val="edge"/>
          <c:yMode val="edge"/>
          <c:x val="0.27087814294431678"/>
          <c:y val="4.6915192682707586E-2"/>
        </c:manualLayout>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Arial" panose="020B0604020202020204" pitchFamily="34" charset="0"/>
              <a:ea typeface="+mn-ea"/>
              <a:cs typeface="Arial" panose="020B0604020202020204" pitchFamily="34" charset="0"/>
            </a:defRPr>
          </a:pPr>
          <a:endParaRPr lang="en-US"/>
        </a:p>
      </c:txPr>
    </c:title>
    <c:autoTitleDeleted val="0"/>
    <c:plotArea>
      <c:layout/>
      <c:barChart>
        <c:barDir val="col"/>
        <c:grouping val="clustered"/>
        <c:varyColors val="0"/>
        <c:ser>
          <c:idx val="0"/>
          <c:order val="0"/>
          <c:tx>
            <c:strRef>
              <c:f>Sheet1!$D$50</c:f>
              <c:strCache>
                <c:ptCount val="1"/>
                <c:pt idx="0">
                  <c:v>Market Value(USD Billion)</c:v>
                </c:pt>
              </c:strCache>
            </c:strRef>
          </c:tx>
          <c:spPr>
            <a:solidFill>
              <a:srgbClr val="113D63"/>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Sheet1!$C$51:$C$61</c:f>
              <c:numCache>
                <c:formatCode>General</c:formatCode>
                <c:ptCount val="11"/>
                <c:pt idx="0">
                  <c:v>2022</c:v>
                </c:pt>
                <c:pt idx="1">
                  <c:v>2023</c:v>
                </c:pt>
                <c:pt idx="2">
                  <c:v>2024</c:v>
                </c:pt>
                <c:pt idx="3">
                  <c:v>2025</c:v>
                </c:pt>
                <c:pt idx="4">
                  <c:v>2026</c:v>
                </c:pt>
                <c:pt idx="5">
                  <c:v>2027</c:v>
                </c:pt>
                <c:pt idx="6">
                  <c:v>2028</c:v>
                </c:pt>
                <c:pt idx="7">
                  <c:v>2029</c:v>
                </c:pt>
                <c:pt idx="8">
                  <c:v>2030</c:v>
                </c:pt>
                <c:pt idx="9">
                  <c:v>2031</c:v>
                </c:pt>
                <c:pt idx="10">
                  <c:v>2032</c:v>
                </c:pt>
              </c:numCache>
            </c:numRef>
          </c:cat>
          <c:val>
            <c:numRef>
              <c:f>Sheet1!$D$51:$D$61</c:f>
              <c:numCache>
                <c:formatCode>General</c:formatCode>
                <c:ptCount val="11"/>
                <c:pt idx="0">
                  <c:v>321.5</c:v>
                </c:pt>
                <c:pt idx="1">
                  <c:v>344.97</c:v>
                </c:pt>
                <c:pt idx="2">
                  <c:v>370.5</c:v>
                </c:pt>
                <c:pt idx="3">
                  <c:v>398.28</c:v>
                </c:pt>
                <c:pt idx="4">
                  <c:v>428.55</c:v>
                </c:pt>
                <c:pt idx="5">
                  <c:v>461.55</c:v>
                </c:pt>
                <c:pt idx="6">
                  <c:v>497.55</c:v>
                </c:pt>
                <c:pt idx="7">
                  <c:v>536.86</c:v>
                </c:pt>
                <c:pt idx="8">
                  <c:v>579.80999999999995</c:v>
                </c:pt>
                <c:pt idx="9">
                  <c:v>626.77</c:v>
                </c:pt>
                <c:pt idx="10">
                  <c:v>678.17</c:v>
                </c:pt>
              </c:numCache>
            </c:numRef>
          </c:val>
          <c:extLst>
            <c:ext xmlns:c16="http://schemas.microsoft.com/office/drawing/2014/chart" uri="{C3380CC4-5D6E-409C-BE32-E72D297353CC}">
              <c16:uniqueId val="{00000000-3470-4482-9DB7-B8BBF8F7F535}"/>
            </c:ext>
          </c:extLst>
        </c:ser>
        <c:dLbls>
          <c:dLblPos val="outEnd"/>
          <c:showLegendKey val="0"/>
          <c:showVal val="1"/>
          <c:showCatName val="0"/>
          <c:showSerName val="0"/>
          <c:showPercent val="0"/>
          <c:showBubbleSize val="0"/>
        </c:dLbls>
        <c:gapWidth val="219"/>
        <c:overlap val="-27"/>
        <c:axId val="463927472"/>
        <c:axId val="463926992"/>
      </c:barChart>
      <c:catAx>
        <c:axId val="463927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463926992"/>
        <c:crosses val="autoZero"/>
        <c:auto val="1"/>
        <c:lblAlgn val="ctr"/>
        <c:lblOffset val="100"/>
        <c:noMultiLvlLbl val="0"/>
      </c:catAx>
      <c:valAx>
        <c:axId val="463926992"/>
        <c:scaling>
          <c:orientation val="minMax"/>
        </c:scaling>
        <c:delete val="1"/>
        <c:axPos val="l"/>
        <c:numFmt formatCode="General" sourceLinked="1"/>
        <c:majorTickMark val="none"/>
        <c:minorTickMark val="none"/>
        <c:tickLblPos val="nextTo"/>
        <c:crossAx val="4639274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DCF!$X$7</c:f>
              <c:strCache>
                <c:ptCount val="1"/>
                <c:pt idx="0">
                  <c:v>Low</c:v>
                </c:pt>
              </c:strCache>
            </c:strRef>
          </c:tx>
          <c:spPr>
            <a:noFill/>
            <a:ln>
              <a:noFill/>
            </a:ln>
            <a:effectLst/>
          </c:spPr>
          <c:invertIfNegative val="0"/>
          <c:cat>
            <c:strRef>
              <c:f>DCF!$Z$6:$AD$6</c:f>
              <c:strCache>
                <c:ptCount val="5"/>
                <c:pt idx="0">
                  <c:v>Comps Rev</c:v>
                </c:pt>
                <c:pt idx="1">
                  <c:v>DCF Perp</c:v>
                </c:pt>
                <c:pt idx="2">
                  <c:v>DCF Mult</c:v>
                </c:pt>
                <c:pt idx="3">
                  <c:v>52 Week Range</c:v>
                </c:pt>
                <c:pt idx="4">
                  <c:v>Analysts Est.</c:v>
                </c:pt>
              </c:strCache>
              <c:extLst/>
            </c:strRef>
          </c:cat>
          <c:val>
            <c:numRef>
              <c:f>DCF!$Z$7:$AD$7</c:f>
              <c:numCache>
                <c:formatCode>General</c:formatCode>
                <c:ptCount val="5"/>
                <c:pt idx="0">
                  <c:v>159</c:v>
                </c:pt>
                <c:pt idx="1">
                  <c:v>231</c:v>
                </c:pt>
                <c:pt idx="2">
                  <c:v>221</c:v>
                </c:pt>
                <c:pt idx="3">
                  <c:v>160</c:v>
                </c:pt>
                <c:pt idx="4">
                  <c:v>140</c:v>
                </c:pt>
              </c:numCache>
              <c:extLst/>
            </c:numRef>
          </c:val>
          <c:extLst>
            <c:ext xmlns:c16="http://schemas.microsoft.com/office/drawing/2014/chart" uri="{C3380CC4-5D6E-409C-BE32-E72D297353CC}">
              <c16:uniqueId val="{00000000-E33A-435C-B9C5-E05B41219AC4}"/>
            </c:ext>
          </c:extLst>
        </c:ser>
        <c:ser>
          <c:idx val="1"/>
          <c:order val="1"/>
          <c:tx>
            <c:strRef>
              <c:f>DCF!$X$8</c:f>
              <c:strCache>
                <c:ptCount val="1"/>
                <c:pt idx="0">
                  <c:v>Diff</c:v>
                </c:pt>
              </c:strCache>
            </c:strRef>
          </c:tx>
          <c:spPr>
            <a:solidFill>
              <a:srgbClr val="0070C0"/>
            </a:solidFill>
            <a:ln>
              <a:noFill/>
            </a:ln>
            <a:effectLst/>
          </c:spPr>
          <c:invertIfNegative val="0"/>
          <c:cat>
            <c:strRef>
              <c:f>DCF!$Z$6:$AD$6</c:f>
              <c:strCache>
                <c:ptCount val="5"/>
                <c:pt idx="0">
                  <c:v>Comps Rev</c:v>
                </c:pt>
                <c:pt idx="1">
                  <c:v>DCF Perp</c:v>
                </c:pt>
                <c:pt idx="2">
                  <c:v>DCF Mult</c:v>
                </c:pt>
                <c:pt idx="3">
                  <c:v>52 Week Range</c:v>
                </c:pt>
                <c:pt idx="4">
                  <c:v>Analysts Est.</c:v>
                </c:pt>
              </c:strCache>
              <c:extLst/>
            </c:strRef>
          </c:cat>
          <c:val>
            <c:numRef>
              <c:f>DCF!$Z$8:$AD$8</c:f>
              <c:numCache>
                <c:formatCode>General</c:formatCode>
                <c:ptCount val="5"/>
                <c:pt idx="0">
                  <c:v>190</c:v>
                </c:pt>
                <c:pt idx="1">
                  <c:v>33</c:v>
                </c:pt>
                <c:pt idx="2">
                  <c:v>26</c:v>
                </c:pt>
                <c:pt idx="3">
                  <c:v>108</c:v>
                </c:pt>
                <c:pt idx="4">
                  <c:v>160</c:v>
                </c:pt>
              </c:numCache>
              <c:extLst/>
            </c:numRef>
          </c:val>
          <c:extLst>
            <c:ext xmlns:c16="http://schemas.microsoft.com/office/drawing/2014/chart" uri="{C3380CC4-5D6E-409C-BE32-E72D297353CC}">
              <c16:uniqueId val="{00000001-E33A-435C-B9C5-E05B41219AC4}"/>
            </c:ext>
          </c:extLst>
        </c:ser>
        <c:ser>
          <c:idx val="2"/>
          <c:order val="2"/>
          <c:tx>
            <c:strRef>
              <c:f>DCF!$X$9</c:f>
              <c:strCache>
                <c:ptCount val="1"/>
                <c:pt idx="0">
                  <c:v>High</c:v>
                </c:pt>
              </c:strCache>
            </c:strRef>
          </c:tx>
          <c:spPr>
            <a:noFill/>
            <a:ln>
              <a:noFill/>
            </a:ln>
            <a:effectLst/>
          </c:spPr>
          <c:invertIfNegative val="0"/>
          <c:cat>
            <c:strRef>
              <c:f>DCF!$Z$6:$AD$6</c:f>
              <c:strCache>
                <c:ptCount val="5"/>
                <c:pt idx="0">
                  <c:v>Comps Rev</c:v>
                </c:pt>
                <c:pt idx="1">
                  <c:v>DCF Perp</c:v>
                </c:pt>
                <c:pt idx="2">
                  <c:v>DCF Mult</c:v>
                </c:pt>
                <c:pt idx="3">
                  <c:v>52 Week Range</c:v>
                </c:pt>
                <c:pt idx="4">
                  <c:v>Analysts Est.</c:v>
                </c:pt>
              </c:strCache>
              <c:extLst/>
            </c:strRef>
          </c:cat>
          <c:val>
            <c:numRef>
              <c:f>DCF!$Z$9:$AD$9</c:f>
              <c:numCache>
                <c:formatCode>General</c:formatCode>
                <c:ptCount val="5"/>
                <c:pt idx="0">
                  <c:v>349</c:v>
                </c:pt>
                <c:pt idx="1">
                  <c:v>264</c:v>
                </c:pt>
                <c:pt idx="2">
                  <c:v>247</c:v>
                </c:pt>
                <c:pt idx="3">
                  <c:v>268</c:v>
                </c:pt>
                <c:pt idx="4">
                  <c:v>300</c:v>
                </c:pt>
              </c:numCache>
              <c:extLst/>
            </c:numRef>
          </c:val>
          <c:extLst>
            <c:ext xmlns:c16="http://schemas.microsoft.com/office/drawing/2014/chart" uri="{C3380CC4-5D6E-409C-BE32-E72D297353CC}">
              <c16:uniqueId val="{00000002-E33A-435C-B9C5-E05B41219AC4}"/>
            </c:ext>
          </c:extLst>
        </c:ser>
        <c:dLbls>
          <c:showLegendKey val="0"/>
          <c:showVal val="0"/>
          <c:showCatName val="0"/>
          <c:showSerName val="0"/>
          <c:showPercent val="0"/>
          <c:showBubbleSize val="0"/>
        </c:dLbls>
        <c:gapWidth val="150"/>
        <c:overlap val="100"/>
        <c:axId val="40031295"/>
        <c:axId val="40044735"/>
      </c:barChart>
      <c:catAx>
        <c:axId val="400312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0044735"/>
        <c:crosses val="autoZero"/>
        <c:auto val="1"/>
        <c:lblAlgn val="ctr"/>
        <c:lblOffset val="100"/>
        <c:noMultiLvlLbl val="0"/>
      </c:catAx>
      <c:valAx>
        <c:axId val="40044735"/>
        <c:scaling>
          <c:orientation val="minMax"/>
          <c:max val="380"/>
          <c:min val="12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0031295"/>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dk2" tx2="lt2" accent1="accent1" accent2="accent2" accent3="accent3" accent4="accent4" accent5="accent5" accent6="accent6" hlink="hlink" folHlink="folHlink"/>
  <c:chart>
    <c:autoTitleDeleted val="1"/>
    <c:plotArea>
      <c:layout>
        <c:manualLayout>
          <c:layoutTarget val="inner"/>
          <c:xMode val="edge"/>
          <c:yMode val="edge"/>
          <c:x val="1.9662359612171568E-2"/>
          <c:y val="0.11450139412195574"/>
          <c:w val="0.93888888888888888"/>
          <c:h val="0.74110026246719163"/>
        </c:manualLayout>
      </c:layout>
      <c:scatterChart>
        <c:scatterStyle val="lineMarker"/>
        <c:varyColors val="0"/>
        <c:ser>
          <c:idx val="0"/>
          <c:order val="0"/>
          <c:spPr>
            <a:ln w="19050" cap="rnd">
              <a:solidFill>
                <a:srgbClr val="FFC000"/>
              </a:solidFill>
              <a:round/>
            </a:ln>
            <a:effectLst/>
          </c:spPr>
          <c:marker>
            <c:symbol val="circle"/>
            <c:size val="8"/>
            <c:spPr>
              <a:solidFill>
                <a:srgbClr val="FFC000"/>
              </a:solidFill>
              <a:ln w="9525">
                <a:solidFill>
                  <a:srgbClr val="FFC000"/>
                </a:solidFill>
              </a:ln>
              <a:effectLst/>
            </c:spPr>
          </c:marker>
          <c:dLbls>
            <c:delete val="1"/>
          </c:dLbls>
          <c:trendline>
            <c:spPr>
              <a:ln w="28575" cap="rnd">
                <a:solidFill>
                  <a:srgbClr val="D9D7E5"/>
                </a:solidFill>
                <a:prstDash val="solid"/>
              </a:ln>
              <a:effectLst/>
            </c:spPr>
            <c:trendlineType val="linear"/>
            <c:dispRSqr val="0"/>
            <c:dispEq val="0"/>
          </c:trendline>
          <c:xVal>
            <c:numRef>
              <c:f>'Valuation Summary'!$H$59:$H$61</c:f>
              <c:numCache>
                <c:formatCode>"$"#,##0.00_);[Red]\("$"#,##0.00\)</c:formatCode>
                <c:ptCount val="3"/>
                <c:pt idx="0">
                  <c:v>33.54</c:v>
                </c:pt>
                <c:pt idx="1">
                  <c:v>44.802891324122243</c:v>
                </c:pt>
                <c:pt idx="2">
                  <c:v>26.54</c:v>
                </c:pt>
              </c:numCache>
            </c:numRef>
          </c:xVal>
          <c:yVal>
            <c:numRef>
              <c:f>'Valuation Summary'!$I$59:$I$61</c:f>
              <c:numCache>
                <c:formatCode>General</c:formatCode>
                <c:ptCount val="3"/>
                <c:pt idx="0">
                  <c:v>0</c:v>
                </c:pt>
                <c:pt idx="1">
                  <c:v>0</c:v>
                </c:pt>
                <c:pt idx="2">
                  <c:v>0</c:v>
                </c:pt>
              </c:numCache>
            </c:numRef>
          </c:yVal>
          <c:smooth val="0"/>
          <c:extLst>
            <c:ext xmlns:c16="http://schemas.microsoft.com/office/drawing/2014/chart" uri="{C3380CC4-5D6E-409C-BE32-E72D297353CC}">
              <c16:uniqueId val="{00000004-4F39-4053-AE69-56753E07F593}"/>
            </c:ext>
          </c:extLst>
        </c:ser>
        <c:dLbls>
          <c:dLblPos val="t"/>
          <c:showLegendKey val="0"/>
          <c:showVal val="1"/>
          <c:showCatName val="0"/>
          <c:showSerName val="0"/>
          <c:showPercent val="0"/>
          <c:showBubbleSize val="0"/>
        </c:dLbls>
        <c:axId val="1037387128"/>
        <c:axId val="1037385160"/>
      </c:scatterChart>
      <c:valAx>
        <c:axId val="1037387128"/>
        <c:scaling>
          <c:orientation val="minMax"/>
          <c:max val="50"/>
          <c:min val="20"/>
        </c:scaling>
        <c:delete val="0"/>
        <c:axPos val="b"/>
        <c:numFmt formatCode="&quot;$&quot;#,##0.00_);[Red]\(&quot;$&quot;#,##0.00\)" sourceLinked="1"/>
        <c:majorTickMark val="none"/>
        <c:minorTickMark val="none"/>
        <c:tickLblPos val="none"/>
        <c:spPr>
          <a:solidFill>
            <a:srgbClr val="2A90BC"/>
          </a:solidFill>
          <a:ln w="12700" cap="flat" cmpd="sng" algn="ctr">
            <a:solidFill>
              <a:srgbClr val="2A90BC"/>
            </a:solidFill>
            <a:round/>
            <a:headEnd type="triangle"/>
            <a:tailEnd type="triangle"/>
          </a:ln>
          <a:effectLst/>
        </c:spPr>
        <c:txPr>
          <a:bodyPr rot="-60000000" spcFirstLastPara="1" vertOverflow="ellipsis" vert="horz" wrap="square" anchor="ctr" anchorCtr="1"/>
          <a:lstStyle/>
          <a:p>
            <a:pPr>
              <a:defRPr sz="1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037385160"/>
        <c:crosses val="autoZero"/>
        <c:crossBetween val="midCat"/>
      </c:valAx>
      <c:valAx>
        <c:axId val="1037385160"/>
        <c:scaling>
          <c:orientation val="minMax"/>
          <c:max val="5"/>
          <c:min val="-5"/>
        </c:scaling>
        <c:delete val="1"/>
        <c:axPos val="l"/>
        <c:numFmt formatCode="General" sourceLinked="1"/>
        <c:majorTickMark val="out"/>
        <c:minorTickMark val="none"/>
        <c:tickLblPos val="nextTo"/>
        <c:crossAx val="1037387128"/>
        <c:crosses val="autoZero"/>
        <c:crossBetween val="midCat"/>
        <c:majorUnit val="1"/>
        <c:min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1000">
          <a:solidFill>
            <a:schemeClr val="tx1"/>
          </a:solidFill>
          <a:latin typeface="Arial" panose="020B0604020202020204" pitchFamily="34" charset="0"/>
          <a:cs typeface="Arial" panose="020B0604020202020204" pitchFamily="34" charset="0"/>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spPr>
            <a:noFill/>
            <a:ln>
              <a:noFill/>
            </a:ln>
            <a:effectLst/>
          </c:spPr>
          <c:invertIfNegative val="0"/>
          <c:cat>
            <c:strRef>
              <c:f>DCF!$Z$6:$AD$6</c:f>
              <c:strCache>
                <c:ptCount val="5"/>
                <c:pt idx="0">
                  <c:v>Comps Rev</c:v>
                </c:pt>
                <c:pt idx="1">
                  <c:v>DCF Perp</c:v>
                </c:pt>
                <c:pt idx="2">
                  <c:v>DCF Mult</c:v>
                </c:pt>
                <c:pt idx="3">
                  <c:v>52 Week Range</c:v>
                </c:pt>
                <c:pt idx="4">
                  <c:v>Analysts Est.</c:v>
                </c:pt>
              </c:strCache>
            </c:strRef>
          </c:cat>
          <c:val>
            <c:numRef>
              <c:f>DCF!$Z$7:$AD$7</c:f>
              <c:numCache>
                <c:formatCode>General</c:formatCode>
                <c:ptCount val="5"/>
                <c:pt idx="0">
                  <c:v>159</c:v>
                </c:pt>
                <c:pt idx="1">
                  <c:v>231</c:v>
                </c:pt>
                <c:pt idx="2">
                  <c:v>221</c:v>
                </c:pt>
                <c:pt idx="3">
                  <c:v>160</c:v>
                </c:pt>
                <c:pt idx="4">
                  <c:v>140</c:v>
                </c:pt>
              </c:numCache>
            </c:numRef>
          </c:val>
          <c:extLst>
            <c:ext xmlns:c16="http://schemas.microsoft.com/office/drawing/2014/chart" uri="{C3380CC4-5D6E-409C-BE32-E72D297353CC}">
              <c16:uniqueId val="{00000000-1368-4110-917F-FFE982E7B8DB}"/>
            </c:ext>
          </c:extLst>
        </c:ser>
        <c:ser>
          <c:idx val="1"/>
          <c:order val="1"/>
          <c:spPr>
            <a:solidFill>
              <a:srgbClr val="0070C0"/>
            </a:solidFill>
            <a:ln>
              <a:noFill/>
            </a:ln>
            <a:effectLst/>
          </c:spPr>
          <c:invertIfNegative val="0"/>
          <c:cat>
            <c:strRef>
              <c:f>DCF!$Z$6:$AD$6</c:f>
              <c:strCache>
                <c:ptCount val="5"/>
                <c:pt idx="0">
                  <c:v>Comps Rev</c:v>
                </c:pt>
                <c:pt idx="1">
                  <c:v>DCF Perp</c:v>
                </c:pt>
                <c:pt idx="2">
                  <c:v>DCF Mult</c:v>
                </c:pt>
                <c:pt idx="3">
                  <c:v>52 Week Range</c:v>
                </c:pt>
                <c:pt idx="4">
                  <c:v>Analysts Est.</c:v>
                </c:pt>
              </c:strCache>
            </c:strRef>
          </c:cat>
          <c:val>
            <c:numRef>
              <c:f>DCF!$Z$8:$AD$8</c:f>
              <c:numCache>
                <c:formatCode>General</c:formatCode>
                <c:ptCount val="5"/>
                <c:pt idx="0">
                  <c:v>190</c:v>
                </c:pt>
                <c:pt idx="1">
                  <c:v>33</c:v>
                </c:pt>
                <c:pt idx="2">
                  <c:v>26</c:v>
                </c:pt>
                <c:pt idx="3">
                  <c:v>108</c:v>
                </c:pt>
                <c:pt idx="4">
                  <c:v>160</c:v>
                </c:pt>
              </c:numCache>
            </c:numRef>
          </c:val>
          <c:extLst>
            <c:ext xmlns:c16="http://schemas.microsoft.com/office/drawing/2014/chart" uri="{C3380CC4-5D6E-409C-BE32-E72D297353CC}">
              <c16:uniqueId val="{00000001-1368-4110-917F-FFE982E7B8DB}"/>
            </c:ext>
          </c:extLst>
        </c:ser>
        <c:ser>
          <c:idx val="2"/>
          <c:order val="2"/>
          <c:spPr>
            <a:noFill/>
            <a:ln>
              <a:noFill/>
            </a:ln>
            <a:effectLst/>
          </c:spPr>
          <c:invertIfNegative val="0"/>
          <c:cat>
            <c:strRef>
              <c:f>DCF!$Z$6:$AD$6</c:f>
              <c:strCache>
                <c:ptCount val="5"/>
                <c:pt idx="0">
                  <c:v>Comps Rev</c:v>
                </c:pt>
                <c:pt idx="1">
                  <c:v>DCF Perp</c:v>
                </c:pt>
                <c:pt idx="2">
                  <c:v>DCF Mult</c:v>
                </c:pt>
                <c:pt idx="3">
                  <c:v>52 Week Range</c:v>
                </c:pt>
                <c:pt idx="4">
                  <c:v>Analysts Est.</c:v>
                </c:pt>
              </c:strCache>
            </c:strRef>
          </c:cat>
          <c:val>
            <c:numRef>
              <c:f>DCF!$Z$9:$AD$9</c:f>
              <c:numCache>
                <c:formatCode>General</c:formatCode>
                <c:ptCount val="5"/>
                <c:pt idx="0">
                  <c:v>349</c:v>
                </c:pt>
                <c:pt idx="1">
                  <c:v>264</c:v>
                </c:pt>
                <c:pt idx="2">
                  <c:v>247</c:v>
                </c:pt>
                <c:pt idx="3">
                  <c:v>268</c:v>
                </c:pt>
                <c:pt idx="4">
                  <c:v>300</c:v>
                </c:pt>
              </c:numCache>
            </c:numRef>
          </c:val>
          <c:extLst>
            <c:ext xmlns:c16="http://schemas.microsoft.com/office/drawing/2014/chart" uri="{C3380CC4-5D6E-409C-BE32-E72D297353CC}">
              <c16:uniqueId val="{00000002-1368-4110-917F-FFE982E7B8DB}"/>
            </c:ext>
          </c:extLst>
        </c:ser>
        <c:dLbls>
          <c:showLegendKey val="0"/>
          <c:showVal val="0"/>
          <c:showCatName val="0"/>
          <c:showSerName val="0"/>
          <c:showPercent val="0"/>
          <c:showBubbleSize val="0"/>
        </c:dLbls>
        <c:gapWidth val="20"/>
        <c:overlap val="100"/>
        <c:axId val="1173750863"/>
        <c:axId val="1173751823"/>
      </c:barChart>
      <c:catAx>
        <c:axId val="1173750863"/>
        <c:scaling>
          <c:orientation val="minMax"/>
        </c:scaling>
        <c:delete val="1"/>
        <c:axPos val="l"/>
        <c:numFmt formatCode="General" sourceLinked="1"/>
        <c:majorTickMark val="none"/>
        <c:minorTickMark val="none"/>
        <c:tickLblPos val="nextTo"/>
        <c:crossAx val="1173751823"/>
        <c:crosses val="autoZero"/>
        <c:auto val="1"/>
        <c:lblAlgn val="ctr"/>
        <c:lblOffset val="100"/>
        <c:noMultiLvlLbl val="0"/>
      </c:catAx>
      <c:valAx>
        <c:axId val="1173751823"/>
        <c:scaling>
          <c:orientation val="minMax"/>
          <c:max val="380"/>
          <c:min val="120"/>
        </c:scaling>
        <c:delete val="0"/>
        <c:axPos val="b"/>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3750863"/>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9A4F84A3-A6DE-4D63-AAD1-9AAB6655C8E9}" type="datetimeFigureOut">
              <a:rPr lang="en-US"/>
              <a:pPr>
                <a:defRPr/>
              </a:pPr>
              <a:t>5/2/2024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B817BC3-1AEF-4F46-9182-7B6BE7877705}" type="slidenum">
              <a:rPr lang="en-US"/>
              <a:pPr>
                <a:defRPr/>
              </a:pPr>
              <a:t>‹#›</a:t>
            </a:fld>
            <a:endParaRPr lang="en-US"/>
          </a:p>
        </p:txBody>
      </p:sp>
    </p:spTree>
    <p:extLst>
      <p:ext uri="{BB962C8B-B14F-4D97-AF65-F5344CB8AC3E}">
        <p14:creationId xmlns:p14="http://schemas.microsoft.com/office/powerpoint/2010/main" val="5303402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Arial" pitchFamily="34"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Arial" pitchFamily="34" charset="0"/>
              </a:defRPr>
            </a:lvl1pPr>
          </a:lstStyle>
          <a:p>
            <a:pPr>
              <a:defRPr/>
            </a:pPr>
            <a:fld id="{984C4D41-D2A7-4BED-9AA5-9E9A39D58907}" type="datetimeFigureOut">
              <a:rPr lang="en-US"/>
              <a:pPr>
                <a:defRPr/>
              </a:pPr>
              <a:t>5/2/2024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Arial" pitchFamily="34"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Arial" pitchFamily="34" charset="0"/>
              </a:defRPr>
            </a:lvl1pPr>
          </a:lstStyle>
          <a:p>
            <a:pPr>
              <a:defRPr/>
            </a:pPr>
            <a:fld id="{005A3BF0-9162-4A6A-A845-C85B6C14AEDE}" type="slidenum">
              <a:rPr lang="en-US"/>
              <a:pPr>
                <a:defRPr/>
              </a:pPr>
              <a:t>‹#›</a:t>
            </a:fld>
            <a:endParaRPr lang="en-US"/>
          </a:p>
        </p:txBody>
      </p:sp>
    </p:spTree>
    <p:extLst>
      <p:ext uri="{BB962C8B-B14F-4D97-AF65-F5344CB8AC3E}">
        <p14:creationId xmlns:p14="http://schemas.microsoft.com/office/powerpoint/2010/main" val="3210695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 name="Google Shape;3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https://www.visionresearchreports.com/commercial-aircraft-market/40228</a:t>
            </a:r>
          </a:p>
          <a:p>
            <a:r>
              <a:rPr lang="en-GB" dirty="0"/>
              <a:t>https://investors.boeing.com/investors/reports/</a:t>
            </a:r>
          </a:p>
          <a:p>
            <a:r>
              <a:rPr lang="en-GB" dirty="0"/>
              <a:t>https://www.airbus.com/en/investors/financial-results-annual-reports</a:t>
            </a:r>
          </a:p>
          <a:p>
            <a:r>
              <a:rPr lang="en-GB" dirty="0"/>
              <a:t>https://www.precedenceresearch.com/aerospace-market</a:t>
            </a:r>
          </a:p>
          <a:p>
            <a:r>
              <a:rPr lang="en-GB" dirty="0"/>
              <a:t>https://www.boeing.com/content/dam/boeing/boeingdotcom/market/assets/downloads/2023-Commercial-Market-Outlook-Executive-Summary.pdf</a:t>
            </a:r>
          </a:p>
          <a:p>
            <a:endParaRPr lang="en-GB" dirty="0"/>
          </a:p>
        </p:txBody>
      </p:sp>
      <p:sp>
        <p:nvSpPr>
          <p:cNvPr id="4" name="Slide Number Placeholder 3"/>
          <p:cNvSpPr>
            <a:spLocks noGrp="1"/>
          </p:cNvSpPr>
          <p:nvPr>
            <p:ph type="sldNum" sz="quarter" idx="5"/>
          </p:nvPr>
        </p:nvSpPr>
        <p:spPr/>
        <p:txBody>
          <a:bodyPr/>
          <a:lstStyle/>
          <a:p>
            <a:pPr>
              <a:defRPr/>
            </a:pPr>
            <a:fld id="{005A3BF0-9162-4A6A-A845-C85B6C14AEDE}" type="slidenum">
              <a:rPr lang="en-US" smtClean="0"/>
              <a:pPr>
                <a:defRPr/>
              </a:pPr>
              <a:t>10</a:t>
            </a:fld>
            <a:endParaRPr lang="en-US"/>
          </a:p>
        </p:txBody>
      </p:sp>
    </p:spTree>
    <p:extLst>
      <p:ext uri="{BB962C8B-B14F-4D97-AF65-F5344CB8AC3E}">
        <p14:creationId xmlns:p14="http://schemas.microsoft.com/office/powerpoint/2010/main" val="3452118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005A3BF0-9162-4A6A-A845-C85B6C14AEDE}" type="slidenum">
              <a:rPr lang="en-US" smtClean="0"/>
              <a:pPr>
                <a:defRPr/>
              </a:pPr>
              <a:t>16</a:t>
            </a:fld>
            <a:endParaRPr lang="en-US"/>
          </a:p>
        </p:txBody>
      </p:sp>
    </p:spTree>
    <p:extLst>
      <p:ext uri="{BB962C8B-B14F-4D97-AF65-F5344CB8AC3E}">
        <p14:creationId xmlns:p14="http://schemas.microsoft.com/office/powerpoint/2010/main" val="342692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a:defRPr/>
            </a:pPr>
            <a:fld id="{005A3BF0-9162-4A6A-A845-C85B6C14AEDE}" type="slidenum">
              <a:rPr lang="en-US" smtClean="0"/>
              <a:pPr>
                <a:defRPr/>
              </a:pPr>
              <a:t>17</a:t>
            </a:fld>
            <a:endParaRPr lang="en-US"/>
          </a:p>
        </p:txBody>
      </p:sp>
    </p:spTree>
    <p:extLst>
      <p:ext uri="{BB962C8B-B14F-4D97-AF65-F5344CB8AC3E}">
        <p14:creationId xmlns:p14="http://schemas.microsoft.com/office/powerpoint/2010/main" val="327006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05A3BF0-9162-4A6A-A845-C85B6C14AEDE}" type="slidenum">
              <a:rPr lang="en-US" smtClean="0"/>
              <a:pPr>
                <a:defRPr/>
              </a:pPr>
              <a:t>21</a:t>
            </a:fld>
            <a:endParaRPr lang="en-US"/>
          </a:p>
        </p:txBody>
      </p:sp>
    </p:spTree>
    <p:extLst>
      <p:ext uri="{BB962C8B-B14F-4D97-AF65-F5344CB8AC3E}">
        <p14:creationId xmlns:p14="http://schemas.microsoft.com/office/powerpoint/2010/main" val="4970507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80771"/>
            <a:ext cx="7772400" cy="369332"/>
          </a:xfrm>
        </p:spPr>
        <p:txBody>
          <a:bodyPr wrap="square">
            <a:spAutoFit/>
          </a:bodyPr>
          <a:lstStyle>
            <a:lvl1pPr algn="l">
              <a:defRPr sz="2400"/>
            </a:lvl1pPr>
          </a:lstStyle>
          <a:p>
            <a:r>
              <a:rPr lang="en-US" noProof="0"/>
              <a:t>Click to edit Master title style</a:t>
            </a:r>
          </a:p>
        </p:txBody>
      </p:sp>
      <p:sp>
        <p:nvSpPr>
          <p:cNvPr id="3" name="Subtitle 2"/>
          <p:cNvSpPr>
            <a:spLocks noGrp="1"/>
          </p:cNvSpPr>
          <p:nvPr>
            <p:ph type="subTitle" idx="1"/>
          </p:nvPr>
        </p:nvSpPr>
        <p:spPr>
          <a:xfrm>
            <a:off x="381000" y="3352800"/>
            <a:ext cx="6400800" cy="215444"/>
          </a:xfrm>
        </p:spPr>
        <p:txBody>
          <a:bodyPr tIns="0" bIns="0">
            <a:spAutoFit/>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8" name="Footer Placeholder 4"/>
          <p:cNvSpPr>
            <a:spLocks noGrp="1"/>
          </p:cNvSpPr>
          <p:nvPr>
            <p:ph type="ftr" sz="quarter" idx="11"/>
          </p:nvPr>
        </p:nvSpPr>
        <p:spPr/>
        <p:txBody>
          <a:bodyPr/>
          <a:lstStyle>
            <a:lvl1pPr>
              <a:defRPr/>
            </a:lvl1pPr>
          </a:lstStyle>
          <a:p>
            <a:pPr>
              <a:defRPr/>
            </a:pPr>
            <a:r>
              <a:rPr lang="en-US" noProof="0"/>
              <a:t>Test Footer</a:t>
            </a:r>
          </a:p>
        </p:txBody>
      </p:sp>
      <p:cxnSp>
        <p:nvCxnSpPr>
          <p:cNvPr id="12" name="Straight Connector 11"/>
          <p:cNvCxnSpPr/>
          <p:nvPr userDrawn="1"/>
        </p:nvCxnSpPr>
        <p:spPr>
          <a:xfrm>
            <a:off x="0" y="838200"/>
            <a:ext cx="9144000" cy="1588"/>
          </a:xfrm>
          <a:prstGeom prst="line">
            <a:avLst/>
          </a:prstGeom>
          <a:ln w="22225" cmpd="sng">
            <a:solidFill>
              <a:srgbClr val="2A90BC"/>
            </a:solidFill>
          </a:ln>
        </p:spPr>
        <p:style>
          <a:lnRef idx="1">
            <a:schemeClr val="accent1"/>
          </a:lnRef>
          <a:fillRef idx="0">
            <a:schemeClr val="accent1"/>
          </a:fillRef>
          <a:effectRef idx="0">
            <a:schemeClr val="accent1"/>
          </a:effectRef>
          <a:fontRef idx="minor">
            <a:schemeClr val="tx1"/>
          </a:fontRef>
        </p:style>
      </p:cxnSp>
      <p:sp>
        <p:nvSpPr>
          <p:cNvPr id="13" name="Rectangle 12"/>
          <p:cNvSpPr/>
          <p:nvPr userDrawn="1"/>
        </p:nvSpPr>
        <p:spPr>
          <a:xfrm>
            <a:off x="0" y="838200"/>
            <a:ext cx="155448" cy="374904"/>
          </a:xfrm>
          <a:prstGeom prst="rect">
            <a:avLst/>
          </a:prstGeom>
          <a:solidFill>
            <a:srgbClr val="2A9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Arial" panose="020B0604020202020204" pitchFamily="34" charset="0"/>
            </a:endParaRPr>
          </a:p>
        </p:txBody>
      </p:sp>
      <p:pic>
        <p:nvPicPr>
          <p:cNvPr id="7" name="Graphic 6">
            <a:extLst>
              <a:ext uri="{FF2B5EF4-FFF2-40B4-BE49-F238E27FC236}">
                <a16:creationId xmlns:a16="http://schemas.microsoft.com/office/drawing/2014/main" id="{B1E32C2E-09F7-0206-C71D-53EEFA3CCB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54278" y="121136"/>
            <a:ext cx="513737" cy="671284"/>
          </a:xfrm>
          <a:prstGeom prst="rect">
            <a:avLst/>
          </a:prstGeom>
        </p:spPr>
      </p:pic>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27300" y="1646238"/>
            <a:ext cx="9136380" cy="1341906"/>
          </a:xfrm>
        </p:spPr>
        <p:txBody>
          <a:bodyPr>
            <a:spAutoFit/>
          </a:bodyPr>
          <a:lstStyle>
            <a:lvl1pPr marL="173038" indent="-173038">
              <a:buClrTx/>
              <a:buFont typeface="Wingdings" panose="05000000000000000000" pitchFamily="2" charset="2"/>
              <a:buChar char="§"/>
              <a:defRPr b="0" i="0" u="none"/>
            </a:lvl1pPr>
            <a:lvl2pPr marL="346075" indent="-173038">
              <a:buClrTx/>
              <a:buSzPct val="120000"/>
              <a:buFont typeface="Arial" panose="020B0604020202020204" pitchFamily="34" charset="0"/>
              <a:buChar char="•"/>
              <a:defRPr/>
            </a:lvl2pPr>
            <a:lvl3pPr marL="568325" indent="-222250">
              <a:buClrTx/>
              <a:buFont typeface="Wingdings" panose="05000000000000000000" pitchFamily="2" charset="2"/>
              <a:buChar char="Ø"/>
              <a:defRPr/>
            </a:lvl3pPr>
            <a:lvl4pPr marL="803275" indent="-234950">
              <a:buClrTx/>
              <a:buSzPct val="120000"/>
              <a:defRPr/>
            </a:lvl4pPr>
            <a:lvl5pPr marL="1025525" indent="-222250">
              <a:buClrTx/>
              <a:buSzPct val="12000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4"/>
          <p:cNvSpPr>
            <a:spLocks noGrp="1"/>
          </p:cNvSpPr>
          <p:nvPr>
            <p:ph type="ftr" sz="quarter" idx="11"/>
          </p:nvPr>
        </p:nvSpPr>
        <p:spPr/>
        <p:txBody>
          <a:bodyPr/>
          <a:lstStyle>
            <a:lvl1pPr>
              <a:defRPr/>
            </a:lvl1pPr>
          </a:lstStyle>
          <a:p>
            <a:pPr>
              <a:defRPr/>
            </a:pPr>
            <a:r>
              <a:rPr lang="en-US" noProof="0"/>
              <a:t>Test Footer</a:t>
            </a:r>
          </a:p>
        </p:txBody>
      </p:sp>
      <p:sp>
        <p:nvSpPr>
          <p:cNvPr id="5" name="Title 4"/>
          <p:cNvSpPr>
            <a:spLocks noGrp="1"/>
          </p:cNvSpPr>
          <p:nvPr>
            <p:ph type="title"/>
          </p:nvPr>
        </p:nvSpPr>
        <p:spPr/>
        <p:txBody>
          <a:bodyPr>
            <a:spAutoFit/>
          </a:bodyPr>
          <a:lstStyle/>
          <a:p>
            <a:r>
              <a:rPr lang="en-US" noProof="0"/>
              <a:t>Click to edit Master title style</a:t>
            </a:r>
          </a:p>
        </p:txBody>
      </p:sp>
      <p:cxnSp>
        <p:nvCxnSpPr>
          <p:cNvPr id="10" name="Straight Connector 9"/>
          <p:cNvCxnSpPr/>
          <p:nvPr userDrawn="1"/>
        </p:nvCxnSpPr>
        <p:spPr>
          <a:xfrm>
            <a:off x="0" y="838200"/>
            <a:ext cx="9144000" cy="1588"/>
          </a:xfrm>
          <a:prstGeom prst="line">
            <a:avLst/>
          </a:prstGeom>
          <a:ln w="22225" cmpd="sng">
            <a:solidFill>
              <a:srgbClr val="2A90BC"/>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0" y="838200"/>
            <a:ext cx="155448" cy="374904"/>
          </a:xfrm>
          <a:prstGeom prst="rect">
            <a:avLst/>
          </a:prstGeom>
          <a:solidFill>
            <a:srgbClr val="2A9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Arial" panose="020B0604020202020204" pitchFamily="34" charset="0"/>
            </a:endParaRPr>
          </a:p>
        </p:txBody>
      </p:sp>
      <p:cxnSp>
        <p:nvCxnSpPr>
          <p:cNvPr id="12" name="Straight Connector 11"/>
          <p:cNvCxnSpPr/>
          <p:nvPr userDrawn="1"/>
        </p:nvCxnSpPr>
        <p:spPr>
          <a:xfrm>
            <a:off x="0" y="6248400"/>
            <a:ext cx="9144000" cy="1588"/>
          </a:xfrm>
          <a:prstGeom prst="line">
            <a:avLst/>
          </a:prstGeom>
          <a:ln w="22225">
            <a:solidFill>
              <a:srgbClr val="2A90BC"/>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F1DED77D-9573-4057-5B35-AAE2861AB9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54278" y="121136"/>
            <a:ext cx="513737" cy="67128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80771"/>
            <a:ext cx="7772400" cy="369332"/>
          </a:xfrm>
        </p:spPr>
        <p:txBody>
          <a:bodyPr wrap="square">
            <a:spAutoFit/>
          </a:bodyPr>
          <a:lstStyle>
            <a:lvl1pPr algn="l">
              <a:defRPr sz="2400"/>
            </a:lvl1pPr>
          </a:lstStyle>
          <a:p>
            <a:r>
              <a:rPr lang="en-US" noProof="0"/>
              <a:t>Click to edit Master title style</a:t>
            </a:r>
          </a:p>
        </p:txBody>
      </p:sp>
      <p:sp>
        <p:nvSpPr>
          <p:cNvPr id="3" name="Subtitle 2"/>
          <p:cNvSpPr>
            <a:spLocks noGrp="1"/>
          </p:cNvSpPr>
          <p:nvPr>
            <p:ph type="subTitle" idx="1"/>
          </p:nvPr>
        </p:nvSpPr>
        <p:spPr>
          <a:xfrm>
            <a:off x="381000" y="3352800"/>
            <a:ext cx="6400800" cy="215444"/>
          </a:xfrm>
        </p:spPr>
        <p:txBody>
          <a:bodyPr tIns="0" bIns="0">
            <a:spAutoFit/>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8" name="Footer Placeholder 4"/>
          <p:cNvSpPr>
            <a:spLocks noGrp="1"/>
          </p:cNvSpPr>
          <p:nvPr>
            <p:ph type="ftr" sz="quarter" idx="11"/>
          </p:nvPr>
        </p:nvSpPr>
        <p:spPr/>
        <p:txBody>
          <a:bodyPr/>
          <a:lstStyle>
            <a:lvl1pPr>
              <a:defRPr/>
            </a:lvl1pPr>
          </a:lstStyle>
          <a:p>
            <a:pPr>
              <a:defRPr/>
            </a:pPr>
            <a:r>
              <a:rPr lang="en-US" noProof="0"/>
              <a:t>Test Footer</a:t>
            </a:r>
          </a:p>
        </p:txBody>
      </p:sp>
      <p:sp>
        <p:nvSpPr>
          <p:cNvPr id="4" name="TextBox 3">
            <a:extLst>
              <a:ext uri="{FF2B5EF4-FFF2-40B4-BE49-F238E27FC236}">
                <a16:creationId xmlns:a16="http://schemas.microsoft.com/office/drawing/2014/main" id="{6559F585-0AC9-1C86-76D2-79B548B72AE8}"/>
              </a:ext>
            </a:extLst>
          </p:cNvPr>
          <p:cNvSpPr txBox="1"/>
          <p:nvPr userDrawn="1"/>
        </p:nvSpPr>
        <p:spPr>
          <a:xfrm>
            <a:off x="187317" y="247118"/>
            <a:ext cx="3729076" cy="369332"/>
          </a:xfrm>
          <a:prstGeom prst="rect">
            <a:avLst/>
          </a:prstGeom>
          <a:noFill/>
        </p:spPr>
        <p:txBody>
          <a:bodyPr wrap="square" lIns="0" tIns="0" rIns="0" bIns="0" rtlCol="0">
            <a:spAutoFit/>
          </a:bodyPr>
          <a:lstStyle/>
          <a:p>
            <a:r>
              <a:rPr lang="en-US" sz="2400" i="0" noProof="0">
                <a:solidFill>
                  <a:srgbClr val="2A90BC"/>
                </a:solidFill>
                <a:latin typeface="Arial Narrow" panose="020B0606020202030204" pitchFamily="34" charset="0"/>
              </a:rPr>
              <a:t>ESSEC ICI Investment Club</a:t>
            </a:r>
          </a:p>
        </p:txBody>
      </p:sp>
      <p:cxnSp>
        <p:nvCxnSpPr>
          <p:cNvPr id="6" name="Straight Connector 5">
            <a:extLst>
              <a:ext uri="{FF2B5EF4-FFF2-40B4-BE49-F238E27FC236}">
                <a16:creationId xmlns:a16="http://schemas.microsoft.com/office/drawing/2014/main" id="{8677A6DA-2387-552F-AFD0-890F4B8C11F6}"/>
              </a:ext>
            </a:extLst>
          </p:cNvPr>
          <p:cNvCxnSpPr/>
          <p:nvPr userDrawn="1"/>
        </p:nvCxnSpPr>
        <p:spPr>
          <a:xfrm>
            <a:off x="0" y="838200"/>
            <a:ext cx="9144000" cy="1588"/>
          </a:xfrm>
          <a:prstGeom prst="line">
            <a:avLst/>
          </a:prstGeom>
          <a:ln w="22225" cmpd="sng">
            <a:solidFill>
              <a:srgbClr val="2A90B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11616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27300" y="1646238"/>
            <a:ext cx="9136380" cy="1341906"/>
          </a:xfrm>
        </p:spPr>
        <p:txBody>
          <a:bodyPr>
            <a:spAutoFit/>
          </a:bodyPr>
          <a:lstStyle>
            <a:lvl1pPr marL="173038" indent="-173038">
              <a:buClrTx/>
              <a:buFont typeface="Wingdings" panose="05000000000000000000" pitchFamily="2" charset="2"/>
              <a:buChar char="§"/>
              <a:defRPr b="0" i="0" u="none"/>
            </a:lvl1pPr>
            <a:lvl2pPr marL="346075" indent="-173038">
              <a:buClrTx/>
              <a:buSzPct val="120000"/>
              <a:buFont typeface="Arial" panose="020B0604020202020204" pitchFamily="34" charset="0"/>
              <a:buChar char="•"/>
              <a:defRPr/>
            </a:lvl2pPr>
            <a:lvl3pPr marL="568325" indent="-222250">
              <a:buClrTx/>
              <a:buFont typeface="Wingdings" panose="05000000000000000000" pitchFamily="2" charset="2"/>
              <a:buChar char="Ø"/>
              <a:defRPr/>
            </a:lvl3pPr>
            <a:lvl4pPr marL="803275" indent="-234950">
              <a:buClrTx/>
              <a:buSzPct val="120000"/>
              <a:defRPr/>
            </a:lvl4pPr>
            <a:lvl5pPr marL="1025525" indent="-222250">
              <a:buClrTx/>
              <a:buSzPct val="12000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4"/>
          <p:cNvSpPr>
            <a:spLocks noGrp="1"/>
          </p:cNvSpPr>
          <p:nvPr>
            <p:ph type="ftr" sz="quarter" idx="11"/>
          </p:nvPr>
        </p:nvSpPr>
        <p:spPr/>
        <p:txBody>
          <a:bodyPr/>
          <a:lstStyle>
            <a:lvl1pPr>
              <a:defRPr/>
            </a:lvl1pPr>
          </a:lstStyle>
          <a:p>
            <a:pPr>
              <a:defRPr/>
            </a:pPr>
            <a:r>
              <a:rPr lang="en-US" noProof="0"/>
              <a:t>Test Footer</a:t>
            </a:r>
          </a:p>
        </p:txBody>
      </p:sp>
      <p:sp>
        <p:nvSpPr>
          <p:cNvPr id="5" name="Title 4"/>
          <p:cNvSpPr>
            <a:spLocks noGrp="1"/>
          </p:cNvSpPr>
          <p:nvPr>
            <p:ph type="title"/>
          </p:nvPr>
        </p:nvSpPr>
        <p:spPr/>
        <p:txBody>
          <a:bodyPr>
            <a:spAutoFit/>
          </a:bodyPr>
          <a:lstStyle/>
          <a:p>
            <a:r>
              <a:rPr lang="en-US" noProof="0"/>
              <a:t>Click to edit Master title style</a:t>
            </a:r>
          </a:p>
        </p:txBody>
      </p:sp>
      <p:cxnSp>
        <p:nvCxnSpPr>
          <p:cNvPr id="10" name="Straight Connector 9"/>
          <p:cNvCxnSpPr/>
          <p:nvPr userDrawn="1"/>
        </p:nvCxnSpPr>
        <p:spPr>
          <a:xfrm>
            <a:off x="0" y="838200"/>
            <a:ext cx="9144000" cy="1588"/>
          </a:xfrm>
          <a:prstGeom prst="line">
            <a:avLst/>
          </a:prstGeom>
          <a:ln w="22225" cmpd="sng">
            <a:solidFill>
              <a:srgbClr val="2A90BC"/>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0" y="838200"/>
            <a:ext cx="155448" cy="374904"/>
          </a:xfrm>
          <a:prstGeom prst="rect">
            <a:avLst/>
          </a:prstGeom>
          <a:solidFill>
            <a:srgbClr val="2A9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Arial" panose="020B0604020202020204" pitchFamily="34" charset="0"/>
            </a:endParaRPr>
          </a:p>
        </p:txBody>
      </p:sp>
      <p:cxnSp>
        <p:nvCxnSpPr>
          <p:cNvPr id="12" name="Straight Connector 11"/>
          <p:cNvCxnSpPr/>
          <p:nvPr userDrawn="1"/>
        </p:nvCxnSpPr>
        <p:spPr>
          <a:xfrm>
            <a:off x="0" y="6248400"/>
            <a:ext cx="9144000" cy="1588"/>
          </a:xfrm>
          <a:prstGeom prst="line">
            <a:avLst/>
          </a:prstGeom>
          <a:ln w="22225">
            <a:solidFill>
              <a:srgbClr val="2A90BC"/>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F1DED77D-9573-4057-5B35-AAE2861AB9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54278" y="121136"/>
            <a:ext cx="513737" cy="671284"/>
          </a:xfrm>
          <a:prstGeom prst="rect">
            <a:avLst/>
          </a:prstGeom>
        </p:spPr>
      </p:pic>
    </p:spTree>
    <p:extLst>
      <p:ext uri="{BB962C8B-B14F-4D97-AF65-F5344CB8AC3E}">
        <p14:creationId xmlns:p14="http://schemas.microsoft.com/office/powerpoint/2010/main" val="3412551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27300" y="1646238"/>
            <a:ext cx="9136380" cy="1341906"/>
          </a:xfrm>
        </p:spPr>
        <p:txBody>
          <a:bodyPr>
            <a:spAutoFit/>
          </a:bodyPr>
          <a:lstStyle>
            <a:lvl1pPr marL="173038" indent="-173038">
              <a:buClrTx/>
              <a:buFont typeface="Wingdings" panose="05000000000000000000" pitchFamily="2" charset="2"/>
              <a:buChar char="§"/>
              <a:defRPr b="0" i="0" u="none"/>
            </a:lvl1pPr>
            <a:lvl2pPr marL="346075" indent="-173038">
              <a:buClrTx/>
              <a:buSzPct val="120000"/>
              <a:buFont typeface="Arial" panose="020B0604020202020204" pitchFamily="34" charset="0"/>
              <a:buChar char="•"/>
              <a:defRPr/>
            </a:lvl2pPr>
            <a:lvl3pPr marL="568325" indent="-222250">
              <a:buClrTx/>
              <a:buFont typeface="Wingdings" panose="05000000000000000000" pitchFamily="2" charset="2"/>
              <a:buChar char="Ø"/>
              <a:defRPr/>
            </a:lvl3pPr>
            <a:lvl4pPr marL="803275" indent="-234950">
              <a:buClrTx/>
              <a:buSzPct val="120000"/>
              <a:defRPr/>
            </a:lvl4pPr>
            <a:lvl5pPr marL="1025525" indent="-222250">
              <a:buClrTx/>
              <a:buSzPct val="12000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4"/>
          <p:cNvSpPr>
            <a:spLocks noGrp="1"/>
          </p:cNvSpPr>
          <p:nvPr>
            <p:ph type="ftr" sz="quarter" idx="11"/>
          </p:nvPr>
        </p:nvSpPr>
        <p:spPr/>
        <p:txBody>
          <a:bodyPr/>
          <a:lstStyle>
            <a:lvl1pPr>
              <a:defRPr/>
            </a:lvl1pPr>
          </a:lstStyle>
          <a:p>
            <a:pPr>
              <a:defRPr/>
            </a:pPr>
            <a:r>
              <a:rPr lang="en-US" noProof="0"/>
              <a:t>Test Footer</a:t>
            </a:r>
          </a:p>
        </p:txBody>
      </p:sp>
      <p:sp>
        <p:nvSpPr>
          <p:cNvPr id="5" name="Title 4"/>
          <p:cNvSpPr>
            <a:spLocks noGrp="1"/>
          </p:cNvSpPr>
          <p:nvPr>
            <p:ph type="title"/>
          </p:nvPr>
        </p:nvSpPr>
        <p:spPr/>
        <p:txBody>
          <a:bodyPr>
            <a:spAutoFit/>
          </a:bodyPr>
          <a:lstStyle/>
          <a:p>
            <a:r>
              <a:rPr lang="en-US" noProof="0"/>
              <a:t>Click to edit Master title style</a:t>
            </a:r>
          </a:p>
        </p:txBody>
      </p:sp>
      <p:cxnSp>
        <p:nvCxnSpPr>
          <p:cNvPr id="10" name="Straight Connector 9"/>
          <p:cNvCxnSpPr/>
          <p:nvPr userDrawn="1"/>
        </p:nvCxnSpPr>
        <p:spPr>
          <a:xfrm>
            <a:off x="0" y="838200"/>
            <a:ext cx="9144000" cy="1588"/>
          </a:xfrm>
          <a:prstGeom prst="line">
            <a:avLst/>
          </a:prstGeom>
          <a:ln w="22225" cmpd="sng">
            <a:solidFill>
              <a:srgbClr val="2A90BC"/>
            </a:solidFill>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0" y="838200"/>
            <a:ext cx="155448" cy="374904"/>
          </a:xfrm>
          <a:prstGeom prst="rect">
            <a:avLst/>
          </a:prstGeom>
          <a:solidFill>
            <a:srgbClr val="2A9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Arial" panose="020B0604020202020204" pitchFamily="34" charset="0"/>
            </a:endParaRPr>
          </a:p>
        </p:txBody>
      </p:sp>
      <p:cxnSp>
        <p:nvCxnSpPr>
          <p:cNvPr id="12" name="Straight Connector 11"/>
          <p:cNvCxnSpPr/>
          <p:nvPr userDrawn="1"/>
        </p:nvCxnSpPr>
        <p:spPr>
          <a:xfrm>
            <a:off x="0" y="6248400"/>
            <a:ext cx="9144000" cy="1588"/>
          </a:xfrm>
          <a:prstGeom prst="line">
            <a:avLst/>
          </a:prstGeom>
          <a:ln w="22225">
            <a:solidFill>
              <a:srgbClr val="2A90BC"/>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F1DED77D-9573-4057-5B35-AAE2861AB9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54278" y="121136"/>
            <a:ext cx="513737" cy="671284"/>
          </a:xfrm>
          <a:prstGeom prst="rect">
            <a:avLst/>
          </a:prstGeom>
        </p:spPr>
      </p:pic>
    </p:spTree>
    <p:extLst>
      <p:ext uri="{BB962C8B-B14F-4D97-AF65-F5344CB8AC3E}">
        <p14:creationId xmlns:p14="http://schemas.microsoft.com/office/powerpoint/2010/main" val="24015737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146" name="Title Placeholder 1"/>
          <p:cNvSpPr>
            <a:spLocks noGrp="1"/>
          </p:cNvSpPr>
          <p:nvPr>
            <p:ph type="title"/>
          </p:nvPr>
        </p:nvSpPr>
        <p:spPr bwMode="auto">
          <a:xfrm>
            <a:off x="381000" y="386834"/>
            <a:ext cx="8305800" cy="369332"/>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p>
            <a:pPr lvl="0"/>
            <a:r>
              <a:rPr lang="en-US" noProof="0"/>
              <a:t>Click To Edit Master Title Style</a:t>
            </a:r>
          </a:p>
        </p:txBody>
      </p:sp>
      <p:sp>
        <p:nvSpPr>
          <p:cNvPr id="6147" name="Text Placeholder 2"/>
          <p:cNvSpPr>
            <a:spLocks noGrp="1"/>
          </p:cNvSpPr>
          <p:nvPr>
            <p:ph type="body" idx="1"/>
          </p:nvPr>
        </p:nvSpPr>
        <p:spPr bwMode="auto">
          <a:xfrm>
            <a:off x="381000" y="1646238"/>
            <a:ext cx="8305800" cy="1341906"/>
          </a:xfrm>
          <a:prstGeom prst="rect">
            <a:avLst/>
          </a:prstGeom>
          <a:noFill/>
          <a:ln w="9525">
            <a:noFill/>
            <a:miter lim="800000"/>
            <a:headEnd/>
            <a:tailEnd/>
          </a:ln>
        </p:spPr>
        <p:txBody>
          <a:bodyPr vert="horz" wrap="square" lIns="0" tIns="45720" rIns="0" bIns="45720" numCol="1" anchor="t" anchorCtr="0" compatLnSpc="1">
            <a:prstTxWarp prst="textNoShape">
              <a:avLst/>
            </a:prstTxWarp>
            <a:sp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itchFamily="34" charset="0"/>
              </a:defRPr>
            </a:lvl1pPr>
          </a:lstStyle>
          <a:p>
            <a:pPr>
              <a:defRPr/>
            </a:pPr>
            <a:r>
              <a:rPr lang="en-US" noProof="0"/>
              <a:t>Test Footer</a:t>
            </a:r>
          </a:p>
        </p:txBody>
      </p:sp>
      <p:sp>
        <p:nvSpPr>
          <p:cNvPr id="8" name="TextBox 7"/>
          <p:cNvSpPr txBox="1"/>
          <p:nvPr userDrawn="1"/>
        </p:nvSpPr>
        <p:spPr>
          <a:xfrm>
            <a:off x="-3429000" y="386834"/>
            <a:ext cx="3200400" cy="138499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ts val="600"/>
              </a:spcBef>
              <a:spcAft>
                <a:spcPts val="600"/>
              </a:spcAft>
            </a:pPr>
            <a:r>
              <a:rPr lang="en-US" sz="2400" b="1">
                <a:solidFill>
                  <a:prstClr val="black"/>
                </a:solidFill>
                <a:latin typeface="Arial" panose="020B0604020202020204" pitchFamily="34" charset="0"/>
                <a:cs typeface="Arial" panose="020B0604020202020204" pitchFamily="34" charset="0"/>
              </a:rPr>
              <a:t>Arial Slide</a:t>
            </a:r>
            <a:r>
              <a:rPr lang="en-US" sz="2400" b="1" baseline="0">
                <a:solidFill>
                  <a:prstClr val="black"/>
                </a:solidFill>
                <a:latin typeface="Arial" panose="020B0604020202020204" pitchFamily="34" charset="0"/>
                <a:cs typeface="Arial" panose="020B0604020202020204" pitchFamily="34" charset="0"/>
              </a:rPr>
              <a:t> </a:t>
            </a:r>
            <a:r>
              <a:rPr lang="en-US" sz="2400" b="1">
                <a:solidFill>
                  <a:prstClr val="black"/>
                </a:solidFill>
                <a:latin typeface="Arial" panose="020B0604020202020204" pitchFamily="34" charset="0"/>
                <a:cs typeface="Arial" panose="020B0604020202020204" pitchFamily="34" charset="0"/>
              </a:rPr>
              <a:t>Title – 24</a:t>
            </a:r>
            <a:endParaRPr lang="en-US">
              <a:solidFill>
                <a:prstClr val="black"/>
              </a:solidFill>
              <a:latin typeface="Arial" panose="020B0604020202020204" pitchFamily="34" charset="0"/>
              <a:cs typeface="Arial" panose="020B0604020202020204" pitchFamily="34" charset="0"/>
            </a:endParaRPr>
          </a:p>
          <a:p>
            <a:pPr algn="r">
              <a:spcBef>
                <a:spcPts val="600"/>
              </a:spcBef>
              <a:spcAft>
                <a:spcPts val="600"/>
              </a:spcAft>
              <a:defRPr/>
            </a:pPr>
            <a:r>
              <a:rPr lang="en-US" sz="1400">
                <a:solidFill>
                  <a:prstClr val="black"/>
                </a:solidFill>
                <a:latin typeface="Arial" panose="020B0604020202020204" pitchFamily="34" charset="0"/>
                <a:cs typeface="Arial" panose="020B0604020202020204" pitchFamily="34" charset="0"/>
              </a:rPr>
              <a:t>Content</a:t>
            </a:r>
            <a:r>
              <a:rPr lang="en-US" sz="1400" baseline="0">
                <a:solidFill>
                  <a:prstClr val="black"/>
                </a:solidFill>
                <a:latin typeface="Arial" panose="020B0604020202020204" pitchFamily="34" charset="0"/>
                <a:cs typeface="Arial" panose="020B0604020202020204" pitchFamily="34" charset="0"/>
              </a:rPr>
              <a:t>/Section Title </a:t>
            </a:r>
            <a:r>
              <a:rPr lang="en-US" sz="1400">
                <a:solidFill>
                  <a:prstClr val="black"/>
                </a:solidFill>
                <a:latin typeface="Arial" panose="020B0604020202020204" pitchFamily="34" charset="0"/>
                <a:cs typeface="Arial" panose="020B0604020202020204" pitchFamily="34" charset="0"/>
              </a:rPr>
              <a:t>Text – 14</a:t>
            </a:r>
          </a:p>
          <a:p>
            <a:pPr algn="r">
              <a:spcBef>
                <a:spcPts val="600"/>
              </a:spcBef>
              <a:spcAft>
                <a:spcPts val="600"/>
              </a:spcAft>
              <a:defRPr/>
            </a:pPr>
            <a:r>
              <a:rPr lang="en-US" sz="1200">
                <a:solidFill>
                  <a:prstClr val="black"/>
                </a:solidFill>
                <a:latin typeface="Arial" panose="020B0604020202020204" pitchFamily="34" charset="0"/>
                <a:cs typeface="Arial" panose="020B0604020202020204" pitchFamily="34" charset="0"/>
              </a:rPr>
              <a:t>Bullet</a:t>
            </a:r>
            <a:r>
              <a:rPr lang="en-US" sz="1200" baseline="0">
                <a:solidFill>
                  <a:prstClr val="black"/>
                </a:solidFill>
                <a:latin typeface="Arial" panose="020B0604020202020204" pitchFamily="34" charset="0"/>
                <a:cs typeface="Arial" panose="020B0604020202020204" pitchFamily="34" charset="0"/>
              </a:rPr>
              <a:t> and Subtitle Text</a:t>
            </a:r>
            <a:r>
              <a:rPr lang="en-US" sz="1200">
                <a:solidFill>
                  <a:prstClr val="black"/>
                </a:solidFill>
                <a:latin typeface="Arial" panose="020B0604020202020204" pitchFamily="34" charset="0"/>
                <a:cs typeface="Arial" panose="020B0604020202020204" pitchFamily="34" charset="0"/>
              </a:rPr>
              <a:t> – 12</a:t>
            </a:r>
          </a:p>
          <a:p>
            <a:pPr algn="r">
              <a:spcBef>
                <a:spcPts val="600"/>
              </a:spcBef>
              <a:spcAft>
                <a:spcPts val="600"/>
              </a:spcAft>
              <a:defRPr/>
            </a:pPr>
            <a:r>
              <a:rPr lang="en-US" sz="1000">
                <a:solidFill>
                  <a:prstClr val="black"/>
                </a:solidFill>
                <a:latin typeface="Arial" panose="020B0604020202020204" pitchFamily="34" charset="0"/>
                <a:cs typeface="Arial" panose="020B0604020202020204" pitchFamily="34" charset="0"/>
              </a:rPr>
              <a:t>Chart</a:t>
            </a:r>
            <a:r>
              <a:rPr lang="en-US" sz="1000" baseline="0">
                <a:solidFill>
                  <a:prstClr val="black"/>
                </a:solidFill>
                <a:latin typeface="Arial" panose="020B0604020202020204" pitchFamily="34" charset="0"/>
                <a:cs typeface="Arial" panose="020B0604020202020204" pitchFamily="34" charset="0"/>
              </a:rPr>
              <a:t>, </a:t>
            </a:r>
            <a:r>
              <a:rPr lang="en-US" sz="1000">
                <a:solidFill>
                  <a:prstClr val="black"/>
                </a:solidFill>
                <a:latin typeface="Arial" panose="020B0604020202020204" pitchFamily="34" charset="0"/>
                <a:cs typeface="Arial" panose="020B0604020202020204" pitchFamily="34" charset="0"/>
              </a:rPr>
              <a:t>Profile,</a:t>
            </a:r>
            <a:r>
              <a:rPr lang="en-US" sz="1000" baseline="0">
                <a:solidFill>
                  <a:prstClr val="black"/>
                </a:solidFill>
                <a:latin typeface="Arial" panose="020B0604020202020204" pitchFamily="34" charset="0"/>
                <a:cs typeface="Arial" panose="020B0604020202020204" pitchFamily="34" charset="0"/>
              </a:rPr>
              <a:t> and Currency </a:t>
            </a:r>
            <a:r>
              <a:rPr lang="en-US" sz="1000">
                <a:solidFill>
                  <a:prstClr val="black"/>
                </a:solidFill>
                <a:latin typeface="Arial" panose="020B0604020202020204" pitchFamily="34" charset="0"/>
                <a:cs typeface="Arial" panose="020B0604020202020204" pitchFamily="34" charset="0"/>
              </a:rPr>
              <a:t>Text – 10</a:t>
            </a:r>
          </a:p>
        </p:txBody>
      </p:sp>
      <p:sp>
        <p:nvSpPr>
          <p:cNvPr id="9" name="Rectangle 8"/>
          <p:cNvSpPr/>
          <p:nvPr userDrawn="1"/>
        </p:nvSpPr>
        <p:spPr>
          <a:xfrm>
            <a:off x="-2186151" y="2659942"/>
            <a:ext cx="1957551" cy="4635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200" noProof="0">
                <a:solidFill>
                  <a:prstClr val="black"/>
                </a:solidFill>
                <a:latin typeface="Arial" panose="020B0604020202020204" pitchFamily="34" charset="0"/>
                <a:cs typeface="Arial" panose="020B0604020202020204" pitchFamily="34" charset="0"/>
              </a:rPr>
              <a:t>Outline: black, ½ pt.</a:t>
            </a:r>
          </a:p>
        </p:txBody>
      </p:sp>
      <p:sp>
        <p:nvSpPr>
          <p:cNvPr id="3" name="Rectangle 2"/>
          <p:cNvSpPr/>
          <p:nvPr userDrawn="1"/>
        </p:nvSpPr>
        <p:spPr>
          <a:xfrm>
            <a:off x="-2186151" y="3383473"/>
            <a:ext cx="1957551" cy="466344"/>
          </a:xfrm>
          <a:prstGeom prst="rect">
            <a:avLst/>
          </a:prstGeom>
          <a:solidFill>
            <a:srgbClr val="CCD1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a:solidFill>
                  <a:schemeClr val="tx1"/>
                </a:solidFill>
                <a:latin typeface="Arial" panose="020B0604020202020204" pitchFamily="34" charset="0"/>
                <a:cs typeface="Arial" panose="020B0604020202020204" pitchFamily="34" charset="0"/>
              </a:rPr>
              <a:t>204</a:t>
            </a:r>
            <a:r>
              <a:rPr lang="en-GB" sz="1200" baseline="0" noProof="0">
                <a:solidFill>
                  <a:schemeClr val="tx1"/>
                </a:solidFill>
                <a:latin typeface="Arial" panose="020B0604020202020204" pitchFamily="34" charset="0"/>
                <a:cs typeface="Arial" panose="020B0604020202020204" pitchFamily="34" charset="0"/>
              </a:rPr>
              <a:t> – 209 – 215</a:t>
            </a:r>
            <a:endParaRPr lang="en-GB" sz="1200" noProof="0">
              <a:solidFill>
                <a:schemeClr val="tx1"/>
              </a:solidFill>
              <a:latin typeface="Arial" panose="020B0604020202020204" pitchFamily="34" charset="0"/>
              <a:cs typeface="Arial" panose="020B0604020202020204" pitchFamily="34" charset="0"/>
            </a:endParaRPr>
          </a:p>
        </p:txBody>
      </p:sp>
      <p:sp>
        <p:nvSpPr>
          <p:cNvPr id="12" name="Rectangle 11"/>
          <p:cNvSpPr/>
          <p:nvPr userDrawn="1"/>
        </p:nvSpPr>
        <p:spPr>
          <a:xfrm>
            <a:off x="-2186151" y="4109848"/>
            <a:ext cx="1957551" cy="466344"/>
          </a:xfrm>
          <a:prstGeom prst="rect">
            <a:avLst/>
          </a:prstGeom>
          <a:solidFill>
            <a:srgbClr val="4850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a:latin typeface="Arial" panose="020B0604020202020204" pitchFamily="34" charset="0"/>
                <a:cs typeface="Arial" panose="020B0604020202020204" pitchFamily="34" charset="0"/>
              </a:rPr>
              <a:t>72 – 80 – 89</a:t>
            </a:r>
            <a:r>
              <a:rPr lang="en-GB" sz="1200" baseline="0" noProof="0">
                <a:latin typeface="Arial" panose="020B0604020202020204" pitchFamily="34" charset="0"/>
                <a:cs typeface="Arial" panose="020B0604020202020204" pitchFamily="34" charset="0"/>
              </a:rPr>
              <a:t> </a:t>
            </a:r>
            <a:endParaRPr lang="en-GB" sz="1200" noProof="0">
              <a:latin typeface="Arial" panose="020B0604020202020204" pitchFamily="34" charset="0"/>
              <a:cs typeface="Arial" panose="020B0604020202020204" pitchFamily="34" charset="0"/>
            </a:endParaRPr>
          </a:p>
        </p:txBody>
      </p:sp>
      <p:sp>
        <p:nvSpPr>
          <p:cNvPr id="13" name="Rectangle 12"/>
          <p:cNvSpPr/>
          <p:nvPr userDrawn="1"/>
        </p:nvSpPr>
        <p:spPr>
          <a:xfrm>
            <a:off x="-2186151" y="4836223"/>
            <a:ext cx="1957551" cy="466344"/>
          </a:xfrm>
          <a:prstGeom prst="rect">
            <a:avLst/>
          </a:prstGeom>
          <a:solidFill>
            <a:srgbClr val="5E7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a:latin typeface="Arial" panose="020B0604020202020204" pitchFamily="34" charset="0"/>
                <a:cs typeface="Arial" panose="020B0604020202020204" pitchFamily="34" charset="0"/>
              </a:rPr>
              <a:t>94 – 124</a:t>
            </a:r>
            <a:r>
              <a:rPr lang="en-GB" sz="1200" baseline="0" noProof="0">
                <a:latin typeface="Arial" panose="020B0604020202020204" pitchFamily="34" charset="0"/>
                <a:cs typeface="Arial" panose="020B0604020202020204" pitchFamily="34" charset="0"/>
              </a:rPr>
              <a:t> – 158</a:t>
            </a:r>
            <a:endParaRPr lang="en-GB" sz="1200" noProof="0">
              <a:latin typeface="Arial" panose="020B0604020202020204" pitchFamily="34" charset="0"/>
              <a:cs typeface="Arial" panose="020B0604020202020204" pitchFamily="34" charset="0"/>
            </a:endParaRPr>
          </a:p>
        </p:txBody>
      </p:sp>
      <p:sp>
        <p:nvSpPr>
          <p:cNvPr id="14" name="Rectangle 13"/>
          <p:cNvSpPr/>
          <p:nvPr userDrawn="1"/>
        </p:nvSpPr>
        <p:spPr>
          <a:xfrm>
            <a:off x="-2186151" y="5562600"/>
            <a:ext cx="1957551" cy="466344"/>
          </a:xfrm>
          <a:prstGeom prst="rect">
            <a:avLst/>
          </a:prstGeom>
          <a:solidFill>
            <a:srgbClr val="113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a:latin typeface="Arial" panose="020B0604020202020204" pitchFamily="34" charset="0"/>
                <a:cs typeface="Arial" panose="020B0604020202020204" pitchFamily="34" charset="0"/>
              </a:rPr>
              <a:t>17 – 61 – 99</a:t>
            </a:r>
          </a:p>
        </p:txBody>
      </p:sp>
      <p:sp>
        <p:nvSpPr>
          <p:cNvPr id="15" name="Rectangle 14"/>
          <p:cNvSpPr/>
          <p:nvPr userDrawn="1"/>
        </p:nvSpPr>
        <p:spPr>
          <a:xfrm>
            <a:off x="-2186151" y="1936411"/>
            <a:ext cx="1957551" cy="463500"/>
          </a:xfrm>
          <a:prstGeom prst="rect">
            <a:avLst/>
          </a:prstGeom>
          <a:solidFill>
            <a:srgbClr val="113D6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gn="l">
              <a:buFont typeface="Wingdings" panose="05000000000000000000" pitchFamily="2" charset="2"/>
              <a:buChar char="§"/>
            </a:pPr>
            <a:r>
              <a:rPr lang="en-GB" sz="1200" noProof="0">
                <a:solidFill>
                  <a:schemeClr val="bg1"/>
                </a:solidFill>
                <a:latin typeface="Arial" panose="020B0604020202020204" pitchFamily="34" charset="0"/>
                <a:cs typeface="Arial" panose="020B0604020202020204" pitchFamily="34" charset="0"/>
              </a:rPr>
              <a:t>Normal shapes w/ text</a:t>
            </a:r>
          </a:p>
        </p:txBody>
      </p:sp>
      <p:sp>
        <p:nvSpPr>
          <p:cNvPr id="2" name="TextBox 1"/>
          <p:cNvSpPr txBox="1"/>
          <p:nvPr userDrawn="1"/>
        </p:nvSpPr>
        <p:spPr>
          <a:xfrm>
            <a:off x="239485" y="6400412"/>
            <a:ext cx="3537857" cy="276999"/>
          </a:xfrm>
          <a:prstGeom prst="rect">
            <a:avLst/>
          </a:prstGeom>
          <a:noFill/>
        </p:spPr>
        <p:txBody>
          <a:bodyPr wrap="square" lIns="0" tIns="0" rIns="0" bIns="0" rtlCol="0">
            <a:spAutoFit/>
          </a:bodyPr>
          <a:lstStyle/>
          <a:p>
            <a:r>
              <a:rPr lang="en-US" sz="1800" i="0" noProof="0">
                <a:solidFill>
                  <a:srgbClr val="2A90BC"/>
                </a:solidFill>
                <a:latin typeface="Arial Narrow" panose="020B0606020202030204" pitchFamily="34" charset="0"/>
              </a:rPr>
              <a:t>ESSEC ICI Investment Club</a:t>
            </a:r>
          </a:p>
        </p:txBody>
      </p:sp>
    </p:spTree>
  </p:cSld>
  <p:clrMap bg1="lt1" tx1="dk1" bg2="lt2" tx2="dk2" accent1="accent1" accent2="accent2" accent3="accent3" accent4="accent4" accent5="accent5" accent6="accent6" hlink="hlink" folHlink="folHlink"/>
  <p:sldLayoutIdLst>
    <p:sldLayoutId id="2147483951" r:id="rId1"/>
    <p:sldLayoutId id="2147483952" r:id="rId2"/>
  </p:sldLayoutIdLst>
  <p:hf sldNum="0" hdr="0" ftr="0" dt="0"/>
  <p:txStyles>
    <p:titleStyle>
      <a:lvl1pPr algn="just" rtl="0" eaLnBrk="0" fontAlgn="base" hangingPunct="0">
        <a:spcBef>
          <a:spcPct val="0"/>
        </a:spcBef>
        <a:spcAft>
          <a:spcPct val="0"/>
        </a:spcAft>
        <a:defRPr sz="2400" kern="1200">
          <a:solidFill>
            <a:schemeClr val="tx1"/>
          </a:solidFill>
          <a:latin typeface="Arial" pitchFamily="34" charset="0"/>
          <a:ea typeface="+mj-ea"/>
          <a:cs typeface="+mj-cs"/>
        </a:defRPr>
      </a:lvl1pPr>
      <a:lvl2pPr algn="just" rtl="0" eaLnBrk="0" fontAlgn="base" hangingPunct="0">
        <a:spcBef>
          <a:spcPct val="0"/>
        </a:spcBef>
        <a:spcAft>
          <a:spcPct val="0"/>
        </a:spcAft>
        <a:defRPr sz="3200">
          <a:solidFill>
            <a:schemeClr val="tx1"/>
          </a:solidFill>
          <a:latin typeface="Arial" charset="0"/>
        </a:defRPr>
      </a:lvl2pPr>
      <a:lvl3pPr algn="just" rtl="0" eaLnBrk="0" fontAlgn="base" hangingPunct="0">
        <a:spcBef>
          <a:spcPct val="0"/>
        </a:spcBef>
        <a:spcAft>
          <a:spcPct val="0"/>
        </a:spcAft>
        <a:defRPr sz="3200">
          <a:solidFill>
            <a:schemeClr val="tx1"/>
          </a:solidFill>
          <a:latin typeface="Arial" charset="0"/>
        </a:defRPr>
      </a:lvl3pPr>
      <a:lvl4pPr algn="just" rtl="0" eaLnBrk="0" fontAlgn="base" hangingPunct="0">
        <a:spcBef>
          <a:spcPct val="0"/>
        </a:spcBef>
        <a:spcAft>
          <a:spcPct val="0"/>
        </a:spcAft>
        <a:defRPr sz="3200">
          <a:solidFill>
            <a:schemeClr val="tx1"/>
          </a:solidFill>
          <a:latin typeface="Arial" charset="0"/>
        </a:defRPr>
      </a:lvl4pPr>
      <a:lvl5pPr algn="just" rtl="0" eaLnBrk="0" fontAlgn="base" hangingPunct="0">
        <a:spcBef>
          <a:spcPct val="0"/>
        </a:spcBef>
        <a:spcAft>
          <a:spcPct val="0"/>
        </a:spcAft>
        <a:defRPr sz="3200">
          <a:solidFill>
            <a:schemeClr val="tx1"/>
          </a:solidFill>
          <a:latin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173038" indent="-173038" algn="l" rtl="0" eaLnBrk="0" fontAlgn="base" hangingPunct="0">
        <a:spcBef>
          <a:spcPct val="20000"/>
        </a:spcBef>
        <a:spcAft>
          <a:spcPct val="0"/>
        </a:spcAft>
        <a:buClrTx/>
        <a:buSzPct val="120000"/>
        <a:buFont typeface="Wingdings" panose="05000000000000000000" pitchFamily="2" charset="2"/>
        <a:buChar char="§"/>
        <a:defRPr sz="1400" kern="1200">
          <a:solidFill>
            <a:schemeClr val="tx1"/>
          </a:solidFill>
          <a:latin typeface="Arial" pitchFamily="34" charset="0"/>
          <a:ea typeface="+mn-ea"/>
          <a:cs typeface="+mn-cs"/>
        </a:defRPr>
      </a:lvl1pPr>
      <a:lvl2pPr marL="346075" indent="-173038" algn="l" rtl="0" eaLnBrk="0" fontAlgn="base" hangingPunct="0">
        <a:spcBef>
          <a:spcPct val="20000"/>
        </a:spcBef>
        <a:spcAft>
          <a:spcPct val="0"/>
        </a:spcAft>
        <a:buClrTx/>
        <a:buSzPct val="120000"/>
        <a:buFont typeface="Arial" panose="020B0604020202020204" pitchFamily="34" charset="0"/>
        <a:buChar char="•"/>
        <a:defRPr sz="1400" kern="1200">
          <a:solidFill>
            <a:schemeClr val="tx1"/>
          </a:solidFill>
          <a:latin typeface="Arial" pitchFamily="34" charset="0"/>
          <a:ea typeface="+mn-ea"/>
          <a:cs typeface="+mn-cs"/>
        </a:defRPr>
      </a:lvl2pPr>
      <a:lvl3pPr marL="568325" indent="-228600" algn="l" rtl="0" eaLnBrk="0" fontAlgn="base" hangingPunct="0">
        <a:spcBef>
          <a:spcPct val="20000"/>
        </a:spcBef>
        <a:spcAft>
          <a:spcPct val="0"/>
        </a:spcAft>
        <a:buClrTx/>
        <a:buSzPct val="120000"/>
        <a:buFont typeface="Wingdings" panose="05000000000000000000" pitchFamily="2" charset="2"/>
        <a:buChar char="Ø"/>
        <a:defRPr sz="1400" kern="1200">
          <a:solidFill>
            <a:schemeClr val="tx1"/>
          </a:solidFill>
          <a:latin typeface="Arial" pitchFamily="34" charset="0"/>
          <a:ea typeface="+mn-ea"/>
          <a:cs typeface="+mn-cs"/>
        </a:defRPr>
      </a:lvl3pPr>
      <a:lvl4pPr marL="803275" indent="-228600" algn="l" rtl="0" eaLnBrk="0" fontAlgn="base" hangingPunct="0">
        <a:spcBef>
          <a:spcPct val="20000"/>
        </a:spcBef>
        <a:spcAft>
          <a:spcPct val="0"/>
        </a:spcAft>
        <a:buClrTx/>
        <a:buSzPct val="120000"/>
        <a:buFont typeface="Arial" charset="0"/>
        <a:buChar char="–"/>
        <a:defRPr sz="1400" kern="1200">
          <a:solidFill>
            <a:schemeClr val="tx1"/>
          </a:solidFill>
          <a:latin typeface="Arial" pitchFamily="34" charset="0"/>
          <a:ea typeface="+mn-ea"/>
          <a:cs typeface="+mn-cs"/>
        </a:defRPr>
      </a:lvl4pPr>
      <a:lvl5pPr marL="1025525" indent="-228600" algn="l" rtl="0" eaLnBrk="0" fontAlgn="base" hangingPunct="0">
        <a:spcBef>
          <a:spcPct val="20000"/>
        </a:spcBef>
        <a:spcAft>
          <a:spcPct val="0"/>
        </a:spcAft>
        <a:buClrTx/>
        <a:buSzPct val="120000"/>
        <a:buFont typeface="Arial" charset="0"/>
        <a:buChar char="»"/>
        <a:defRPr sz="1400" kern="1200">
          <a:solidFill>
            <a:schemeClr val="tx1"/>
          </a:solidFill>
          <a:latin typeface="Arial"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146" name="Title Placeholder 1"/>
          <p:cNvSpPr>
            <a:spLocks noGrp="1"/>
          </p:cNvSpPr>
          <p:nvPr>
            <p:ph type="title"/>
          </p:nvPr>
        </p:nvSpPr>
        <p:spPr bwMode="auto">
          <a:xfrm>
            <a:off x="381000" y="386834"/>
            <a:ext cx="8305800" cy="369332"/>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p>
            <a:pPr lvl="0"/>
            <a:r>
              <a:rPr lang="en-US" noProof="0"/>
              <a:t>Click To Edit Master Title Style</a:t>
            </a:r>
          </a:p>
        </p:txBody>
      </p:sp>
      <p:sp>
        <p:nvSpPr>
          <p:cNvPr id="6147" name="Text Placeholder 2"/>
          <p:cNvSpPr>
            <a:spLocks noGrp="1"/>
          </p:cNvSpPr>
          <p:nvPr>
            <p:ph type="body" idx="1"/>
          </p:nvPr>
        </p:nvSpPr>
        <p:spPr bwMode="auto">
          <a:xfrm>
            <a:off x="381000" y="1646238"/>
            <a:ext cx="8305800" cy="1341906"/>
          </a:xfrm>
          <a:prstGeom prst="rect">
            <a:avLst/>
          </a:prstGeom>
          <a:noFill/>
          <a:ln w="9525">
            <a:noFill/>
            <a:miter lim="800000"/>
            <a:headEnd/>
            <a:tailEnd/>
          </a:ln>
        </p:spPr>
        <p:txBody>
          <a:bodyPr vert="horz" wrap="square" lIns="0" tIns="45720" rIns="0" bIns="45720" numCol="1" anchor="t" anchorCtr="0" compatLnSpc="1">
            <a:prstTxWarp prst="textNoShape">
              <a:avLst/>
            </a:prstTxWarp>
            <a:sp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itchFamily="34" charset="0"/>
              </a:defRPr>
            </a:lvl1pPr>
          </a:lstStyle>
          <a:p>
            <a:pPr>
              <a:defRPr/>
            </a:pPr>
            <a:r>
              <a:rPr lang="en-US" noProof="0"/>
              <a:t>Test Footer</a:t>
            </a:r>
          </a:p>
        </p:txBody>
      </p:sp>
      <p:sp>
        <p:nvSpPr>
          <p:cNvPr id="8" name="TextBox 7"/>
          <p:cNvSpPr txBox="1"/>
          <p:nvPr userDrawn="1"/>
        </p:nvSpPr>
        <p:spPr>
          <a:xfrm>
            <a:off x="-3429000" y="386834"/>
            <a:ext cx="3200400" cy="138499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ts val="600"/>
              </a:spcBef>
              <a:spcAft>
                <a:spcPts val="600"/>
              </a:spcAft>
            </a:pPr>
            <a:r>
              <a:rPr lang="en-US" sz="2400" b="1">
                <a:solidFill>
                  <a:prstClr val="black"/>
                </a:solidFill>
                <a:latin typeface="Arial" panose="020B0604020202020204" pitchFamily="34" charset="0"/>
                <a:cs typeface="Arial" panose="020B0604020202020204" pitchFamily="34" charset="0"/>
              </a:rPr>
              <a:t>Arial Slide</a:t>
            </a:r>
            <a:r>
              <a:rPr lang="en-US" sz="2400" b="1" baseline="0">
                <a:solidFill>
                  <a:prstClr val="black"/>
                </a:solidFill>
                <a:latin typeface="Arial" panose="020B0604020202020204" pitchFamily="34" charset="0"/>
                <a:cs typeface="Arial" panose="020B0604020202020204" pitchFamily="34" charset="0"/>
              </a:rPr>
              <a:t> </a:t>
            </a:r>
            <a:r>
              <a:rPr lang="en-US" sz="2400" b="1">
                <a:solidFill>
                  <a:prstClr val="black"/>
                </a:solidFill>
                <a:latin typeface="Arial" panose="020B0604020202020204" pitchFamily="34" charset="0"/>
                <a:cs typeface="Arial" panose="020B0604020202020204" pitchFamily="34" charset="0"/>
              </a:rPr>
              <a:t>Title – 24</a:t>
            </a:r>
            <a:endParaRPr lang="en-US">
              <a:solidFill>
                <a:prstClr val="black"/>
              </a:solidFill>
              <a:latin typeface="Arial" panose="020B0604020202020204" pitchFamily="34" charset="0"/>
              <a:cs typeface="Arial" panose="020B0604020202020204" pitchFamily="34" charset="0"/>
            </a:endParaRPr>
          </a:p>
          <a:p>
            <a:pPr algn="r">
              <a:spcBef>
                <a:spcPts val="600"/>
              </a:spcBef>
              <a:spcAft>
                <a:spcPts val="600"/>
              </a:spcAft>
              <a:defRPr/>
            </a:pPr>
            <a:r>
              <a:rPr lang="en-US" sz="1400">
                <a:solidFill>
                  <a:prstClr val="black"/>
                </a:solidFill>
                <a:latin typeface="Arial" panose="020B0604020202020204" pitchFamily="34" charset="0"/>
                <a:cs typeface="Arial" panose="020B0604020202020204" pitchFamily="34" charset="0"/>
              </a:rPr>
              <a:t>Content</a:t>
            </a:r>
            <a:r>
              <a:rPr lang="en-US" sz="1400" baseline="0">
                <a:solidFill>
                  <a:prstClr val="black"/>
                </a:solidFill>
                <a:latin typeface="Arial" panose="020B0604020202020204" pitchFamily="34" charset="0"/>
                <a:cs typeface="Arial" panose="020B0604020202020204" pitchFamily="34" charset="0"/>
              </a:rPr>
              <a:t>/Section Title </a:t>
            </a:r>
            <a:r>
              <a:rPr lang="en-US" sz="1400">
                <a:solidFill>
                  <a:prstClr val="black"/>
                </a:solidFill>
                <a:latin typeface="Arial" panose="020B0604020202020204" pitchFamily="34" charset="0"/>
                <a:cs typeface="Arial" panose="020B0604020202020204" pitchFamily="34" charset="0"/>
              </a:rPr>
              <a:t>Text – 14</a:t>
            </a:r>
          </a:p>
          <a:p>
            <a:pPr algn="r">
              <a:spcBef>
                <a:spcPts val="600"/>
              </a:spcBef>
              <a:spcAft>
                <a:spcPts val="600"/>
              </a:spcAft>
              <a:defRPr/>
            </a:pPr>
            <a:r>
              <a:rPr lang="en-US" sz="1200">
                <a:solidFill>
                  <a:prstClr val="black"/>
                </a:solidFill>
                <a:latin typeface="Arial" panose="020B0604020202020204" pitchFamily="34" charset="0"/>
                <a:cs typeface="Arial" panose="020B0604020202020204" pitchFamily="34" charset="0"/>
              </a:rPr>
              <a:t>Bullet</a:t>
            </a:r>
            <a:r>
              <a:rPr lang="en-US" sz="1200" baseline="0">
                <a:solidFill>
                  <a:prstClr val="black"/>
                </a:solidFill>
                <a:latin typeface="Arial" panose="020B0604020202020204" pitchFamily="34" charset="0"/>
                <a:cs typeface="Arial" panose="020B0604020202020204" pitchFamily="34" charset="0"/>
              </a:rPr>
              <a:t> and Subtitle Text</a:t>
            </a:r>
            <a:r>
              <a:rPr lang="en-US" sz="1200">
                <a:solidFill>
                  <a:prstClr val="black"/>
                </a:solidFill>
                <a:latin typeface="Arial" panose="020B0604020202020204" pitchFamily="34" charset="0"/>
                <a:cs typeface="Arial" panose="020B0604020202020204" pitchFamily="34" charset="0"/>
              </a:rPr>
              <a:t> – 12</a:t>
            </a:r>
          </a:p>
          <a:p>
            <a:pPr algn="r">
              <a:spcBef>
                <a:spcPts val="600"/>
              </a:spcBef>
              <a:spcAft>
                <a:spcPts val="600"/>
              </a:spcAft>
              <a:defRPr/>
            </a:pPr>
            <a:r>
              <a:rPr lang="en-US" sz="1000">
                <a:solidFill>
                  <a:prstClr val="black"/>
                </a:solidFill>
                <a:latin typeface="Arial" panose="020B0604020202020204" pitchFamily="34" charset="0"/>
                <a:cs typeface="Arial" panose="020B0604020202020204" pitchFamily="34" charset="0"/>
              </a:rPr>
              <a:t>Chart</a:t>
            </a:r>
            <a:r>
              <a:rPr lang="en-US" sz="1000" baseline="0">
                <a:solidFill>
                  <a:prstClr val="black"/>
                </a:solidFill>
                <a:latin typeface="Arial" panose="020B0604020202020204" pitchFamily="34" charset="0"/>
                <a:cs typeface="Arial" panose="020B0604020202020204" pitchFamily="34" charset="0"/>
              </a:rPr>
              <a:t>, </a:t>
            </a:r>
            <a:r>
              <a:rPr lang="en-US" sz="1000">
                <a:solidFill>
                  <a:prstClr val="black"/>
                </a:solidFill>
                <a:latin typeface="Arial" panose="020B0604020202020204" pitchFamily="34" charset="0"/>
                <a:cs typeface="Arial" panose="020B0604020202020204" pitchFamily="34" charset="0"/>
              </a:rPr>
              <a:t>Profile,</a:t>
            </a:r>
            <a:r>
              <a:rPr lang="en-US" sz="1000" baseline="0">
                <a:solidFill>
                  <a:prstClr val="black"/>
                </a:solidFill>
                <a:latin typeface="Arial" panose="020B0604020202020204" pitchFamily="34" charset="0"/>
                <a:cs typeface="Arial" panose="020B0604020202020204" pitchFamily="34" charset="0"/>
              </a:rPr>
              <a:t> and Currency </a:t>
            </a:r>
            <a:r>
              <a:rPr lang="en-US" sz="1000">
                <a:solidFill>
                  <a:prstClr val="black"/>
                </a:solidFill>
                <a:latin typeface="Arial" panose="020B0604020202020204" pitchFamily="34" charset="0"/>
                <a:cs typeface="Arial" panose="020B0604020202020204" pitchFamily="34" charset="0"/>
              </a:rPr>
              <a:t>Text – 10</a:t>
            </a:r>
          </a:p>
        </p:txBody>
      </p:sp>
      <p:sp>
        <p:nvSpPr>
          <p:cNvPr id="9" name="Rectangle 8"/>
          <p:cNvSpPr/>
          <p:nvPr userDrawn="1"/>
        </p:nvSpPr>
        <p:spPr>
          <a:xfrm>
            <a:off x="-2186151" y="2659942"/>
            <a:ext cx="1957551" cy="4635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GB" sz="1200" noProof="0">
                <a:solidFill>
                  <a:prstClr val="black"/>
                </a:solidFill>
                <a:latin typeface="Arial" panose="020B0604020202020204" pitchFamily="34" charset="0"/>
                <a:cs typeface="Arial" panose="020B0604020202020204" pitchFamily="34" charset="0"/>
              </a:rPr>
              <a:t>Outline: black, ½ pt.</a:t>
            </a:r>
          </a:p>
        </p:txBody>
      </p:sp>
      <p:sp>
        <p:nvSpPr>
          <p:cNvPr id="3" name="Rectangle 2"/>
          <p:cNvSpPr/>
          <p:nvPr userDrawn="1"/>
        </p:nvSpPr>
        <p:spPr>
          <a:xfrm>
            <a:off x="-2186151" y="3383473"/>
            <a:ext cx="1957551" cy="466344"/>
          </a:xfrm>
          <a:prstGeom prst="rect">
            <a:avLst/>
          </a:prstGeom>
          <a:solidFill>
            <a:srgbClr val="CCD1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a:solidFill>
                  <a:schemeClr val="tx1"/>
                </a:solidFill>
                <a:latin typeface="Arial" panose="020B0604020202020204" pitchFamily="34" charset="0"/>
                <a:cs typeface="Arial" panose="020B0604020202020204" pitchFamily="34" charset="0"/>
              </a:rPr>
              <a:t>204</a:t>
            </a:r>
            <a:r>
              <a:rPr lang="en-GB" sz="1200" baseline="0" noProof="0">
                <a:solidFill>
                  <a:schemeClr val="tx1"/>
                </a:solidFill>
                <a:latin typeface="Arial" panose="020B0604020202020204" pitchFamily="34" charset="0"/>
                <a:cs typeface="Arial" panose="020B0604020202020204" pitchFamily="34" charset="0"/>
              </a:rPr>
              <a:t> – 209 – 215</a:t>
            </a:r>
            <a:endParaRPr lang="en-GB" sz="1200" noProof="0">
              <a:solidFill>
                <a:schemeClr val="tx1"/>
              </a:solidFill>
              <a:latin typeface="Arial" panose="020B0604020202020204" pitchFamily="34" charset="0"/>
              <a:cs typeface="Arial" panose="020B0604020202020204" pitchFamily="34" charset="0"/>
            </a:endParaRPr>
          </a:p>
        </p:txBody>
      </p:sp>
      <p:sp>
        <p:nvSpPr>
          <p:cNvPr id="12" name="Rectangle 11"/>
          <p:cNvSpPr/>
          <p:nvPr userDrawn="1"/>
        </p:nvSpPr>
        <p:spPr>
          <a:xfrm>
            <a:off x="-2186151" y="4109848"/>
            <a:ext cx="1957551" cy="466344"/>
          </a:xfrm>
          <a:prstGeom prst="rect">
            <a:avLst/>
          </a:prstGeom>
          <a:solidFill>
            <a:srgbClr val="4850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a:latin typeface="Arial" panose="020B0604020202020204" pitchFamily="34" charset="0"/>
                <a:cs typeface="Arial" panose="020B0604020202020204" pitchFamily="34" charset="0"/>
              </a:rPr>
              <a:t>72 – 80 – 89</a:t>
            </a:r>
            <a:r>
              <a:rPr lang="en-GB" sz="1200" baseline="0" noProof="0">
                <a:latin typeface="Arial" panose="020B0604020202020204" pitchFamily="34" charset="0"/>
                <a:cs typeface="Arial" panose="020B0604020202020204" pitchFamily="34" charset="0"/>
              </a:rPr>
              <a:t> </a:t>
            </a:r>
            <a:endParaRPr lang="en-GB" sz="1200" noProof="0">
              <a:latin typeface="Arial" panose="020B0604020202020204" pitchFamily="34" charset="0"/>
              <a:cs typeface="Arial" panose="020B0604020202020204" pitchFamily="34" charset="0"/>
            </a:endParaRPr>
          </a:p>
        </p:txBody>
      </p:sp>
      <p:sp>
        <p:nvSpPr>
          <p:cNvPr id="13" name="Rectangle 12"/>
          <p:cNvSpPr/>
          <p:nvPr userDrawn="1"/>
        </p:nvSpPr>
        <p:spPr>
          <a:xfrm>
            <a:off x="-2186151" y="4836223"/>
            <a:ext cx="1957551" cy="466344"/>
          </a:xfrm>
          <a:prstGeom prst="rect">
            <a:avLst/>
          </a:prstGeom>
          <a:solidFill>
            <a:srgbClr val="5E7C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a:latin typeface="Arial" panose="020B0604020202020204" pitchFamily="34" charset="0"/>
                <a:cs typeface="Arial" panose="020B0604020202020204" pitchFamily="34" charset="0"/>
              </a:rPr>
              <a:t>94 – 124</a:t>
            </a:r>
            <a:r>
              <a:rPr lang="en-GB" sz="1200" baseline="0" noProof="0">
                <a:latin typeface="Arial" panose="020B0604020202020204" pitchFamily="34" charset="0"/>
                <a:cs typeface="Arial" panose="020B0604020202020204" pitchFamily="34" charset="0"/>
              </a:rPr>
              <a:t> – 158</a:t>
            </a:r>
            <a:endParaRPr lang="en-GB" sz="1200" noProof="0">
              <a:latin typeface="Arial" panose="020B0604020202020204" pitchFamily="34" charset="0"/>
              <a:cs typeface="Arial" panose="020B0604020202020204" pitchFamily="34" charset="0"/>
            </a:endParaRPr>
          </a:p>
        </p:txBody>
      </p:sp>
      <p:sp>
        <p:nvSpPr>
          <p:cNvPr id="14" name="Rectangle 13"/>
          <p:cNvSpPr/>
          <p:nvPr userDrawn="1"/>
        </p:nvSpPr>
        <p:spPr>
          <a:xfrm>
            <a:off x="-2186151" y="5562600"/>
            <a:ext cx="1957551" cy="466344"/>
          </a:xfrm>
          <a:prstGeom prst="rect">
            <a:avLst/>
          </a:prstGeom>
          <a:solidFill>
            <a:srgbClr val="113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a:latin typeface="Arial" panose="020B0604020202020204" pitchFamily="34" charset="0"/>
                <a:cs typeface="Arial" panose="020B0604020202020204" pitchFamily="34" charset="0"/>
              </a:rPr>
              <a:t>17 – 61 – 99</a:t>
            </a:r>
          </a:p>
        </p:txBody>
      </p:sp>
      <p:sp>
        <p:nvSpPr>
          <p:cNvPr id="15" name="Rectangle 14"/>
          <p:cNvSpPr/>
          <p:nvPr userDrawn="1"/>
        </p:nvSpPr>
        <p:spPr>
          <a:xfrm>
            <a:off x="-2186151" y="1936411"/>
            <a:ext cx="1957551" cy="463500"/>
          </a:xfrm>
          <a:prstGeom prst="rect">
            <a:avLst/>
          </a:prstGeom>
          <a:solidFill>
            <a:srgbClr val="113D6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gn="l">
              <a:buFont typeface="Wingdings" panose="05000000000000000000" pitchFamily="2" charset="2"/>
              <a:buChar char="§"/>
            </a:pPr>
            <a:r>
              <a:rPr lang="en-GB" sz="1200" noProof="0">
                <a:solidFill>
                  <a:schemeClr val="bg1"/>
                </a:solidFill>
                <a:latin typeface="Arial" panose="020B0604020202020204" pitchFamily="34" charset="0"/>
                <a:cs typeface="Arial" panose="020B0604020202020204" pitchFamily="34" charset="0"/>
              </a:rPr>
              <a:t>Normal shapes w/ text</a:t>
            </a:r>
          </a:p>
        </p:txBody>
      </p:sp>
    </p:spTree>
    <p:extLst>
      <p:ext uri="{BB962C8B-B14F-4D97-AF65-F5344CB8AC3E}">
        <p14:creationId xmlns:p14="http://schemas.microsoft.com/office/powerpoint/2010/main" val="1998279173"/>
      </p:ext>
    </p:extLst>
  </p:cSld>
  <p:clrMap bg1="lt1" tx1="dk1" bg2="lt2" tx2="dk2" accent1="accent1" accent2="accent2" accent3="accent3" accent4="accent4" accent5="accent5" accent6="accent6" hlink="hlink" folHlink="folHlink"/>
  <p:sldLayoutIdLst>
    <p:sldLayoutId id="2147483954" r:id="rId1"/>
    <p:sldLayoutId id="2147483955" r:id="rId2"/>
    <p:sldLayoutId id="2147483956" r:id="rId3"/>
  </p:sldLayoutIdLst>
  <p:hf sldNum="0" hdr="0" ftr="0" dt="0"/>
  <p:txStyles>
    <p:titleStyle>
      <a:lvl1pPr algn="just" rtl="0" eaLnBrk="0" fontAlgn="base" hangingPunct="0">
        <a:spcBef>
          <a:spcPct val="0"/>
        </a:spcBef>
        <a:spcAft>
          <a:spcPct val="0"/>
        </a:spcAft>
        <a:defRPr sz="2400" kern="1200">
          <a:solidFill>
            <a:schemeClr val="tx1"/>
          </a:solidFill>
          <a:latin typeface="Arial" pitchFamily="34" charset="0"/>
          <a:ea typeface="+mj-ea"/>
          <a:cs typeface="+mj-cs"/>
        </a:defRPr>
      </a:lvl1pPr>
      <a:lvl2pPr algn="just" rtl="0" eaLnBrk="0" fontAlgn="base" hangingPunct="0">
        <a:spcBef>
          <a:spcPct val="0"/>
        </a:spcBef>
        <a:spcAft>
          <a:spcPct val="0"/>
        </a:spcAft>
        <a:defRPr sz="3200">
          <a:solidFill>
            <a:schemeClr val="tx1"/>
          </a:solidFill>
          <a:latin typeface="Arial" charset="0"/>
        </a:defRPr>
      </a:lvl2pPr>
      <a:lvl3pPr algn="just" rtl="0" eaLnBrk="0" fontAlgn="base" hangingPunct="0">
        <a:spcBef>
          <a:spcPct val="0"/>
        </a:spcBef>
        <a:spcAft>
          <a:spcPct val="0"/>
        </a:spcAft>
        <a:defRPr sz="3200">
          <a:solidFill>
            <a:schemeClr val="tx1"/>
          </a:solidFill>
          <a:latin typeface="Arial" charset="0"/>
        </a:defRPr>
      </a:lvl3pPr>
      <a:lvl4pPr algn="just" rtl="0" eaLnBrk="0" fontAlgn="base" hangingPunct="0">
        <a:spcBef>
          <a:spcPct val="0"/>
        </a:spcBef>
        <a:spcAft>
          <a:spcPct val="0"/>
        </a:spcAft>
        <a:defRPr sz="3200">
          <a:solidFill>
            <a:schemeClr val="tx1"/>
          </a:solidFill>
          <a:latin typeface="Arial" charset="0"/>
        </a:defRPr>
      </a:lvl4pPr>
      <a:lvl5pPr algn="just" rtl="0" eaLnBrk="0" fontAlgn="base" hangingPunct="0">
        <a:spcBef>
          <a:spcPct val="0"/>
        </a:spcBef>
        <a:spcAft>
          <a:spcPct val="0"/>
        </a:spcAft>
        <a:defRPr sz="3200">
          <a:solidFill>
            <a:schemeClr val="tx1"/>
          </a:solidFill>
          <a:latin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173038" indent="-173038" algn="l" rtl="0" eaLnBrk="0" fontAlgn="base" hangingPunct="0">
        <a:spcBef>
          <a:spcPct val="20000"/>
        </a:spcBef>
        <a:spcAft>
          <a:spcPct val="0"/>
        </a:spcAft>
        <a:buClrTx/>
        <a:buSzPct val="120000"/>
        <a:buFont typeface="Wingdings" panose="05000000000000000000" pitchFamily="2" charset="2"/>
        <a:buChar char="§"/>
        <a:defRPr sz="1400" kern="1200">
          <a:solidFill>
            <a:schemeClr val="tx1"/>
          </a:solidFill>
          <a:latin typeface="Arial" pitchFamily="34" charset="0"/>
          <a:ea typeface="+mn-ea"/>
          <a:cs typeface="+mn-cs"/>
        </a:defRPr>
      </a:lvl1pPr>
      <a:lvl2pPr marL="346075" indent="-173038" algn="l" rtl="0" eaLnBrk="0" fontAlgn="base" hangingPunct="0">
        <a:spcBef>
          <a:spcPct val="20000"/>
        </a:spcBef>
        <a:spcAft>
          <a:spcPct val="0"/>
        </a:spcAft>
        <a:buClrTx/>
        <a:buSzPct val="120000"/>
        <a:buFont typeface="Arial" panose="020B0604020202020204" pitchFamily="34" charset="0"/>
        <a:buChar char="•"/>
        <a:defRPr sz="1400" kern="1200">
          <a:solidFill>
            <a:schemeClr val="tx1"/>
          </a:solidFill>
          <a:latin typeface="Arial" pitchFamily="34" charset="0"/>
          <a:ea typeface="+mn-ea"/>
          <a:cs typeface="+mn-cs"/>
        </a:defRPr>
      </a:lvl2pPr>
      <a:lvl3pPr marL="568325" indent="-228600" algn="l" rtl="0" eaLnBrk="0" fontAlgn="base" hangingPunct="0">
        <a:spcBef>
          <a:spcPct val="20000"/>
        </a:spcBef>
        <a:spcAft>
          <a:spcPct val="0"/>
        </a:spcAft>
        <a:buClrTx/>
        <a:buSzPct val="120000"/>
        <a:buFont typeface="Wingdings" panose="05000000000000000000" pitchFamily="2" charset="2"/>
        <a:buChar char="Ø"/>
        <a:defRPr sz="1400" kern="1200">
          <a:solidFill>
            <a:schemeClr val="tx1"/>
          </a:solidFill>
          <a:latin typeface="Arial" pitchFamily="34" charset="0"/>
          <a:ea typeface="+mn-ea"/>
          <a:cs typeface="+mn-cs"/>
        </a:defRPr>
      </a:lvl3pPr>
      <a:lvl4pPr marL="803275" indent="-228600" algn="l" rtl="0" eaLnBrk="0" fontAlgn="base" hangingPunct="0">
        <a:spcBef>
          <a:spcPct val="20000"/>
        </a:spcBef>
        <a:spcAft>
          <a:spcPct val="0"/>
        </a:spcAft>
        <a:buClrTx/>
        <a:buSzPct val="120000"/>
        <a:buFont typeface="Arial" charset="0"/>
        <a:buChar char="–"/>
        <a:defRPr sz="1400" kern="1200">
          <a:solidFill>
            <a:schemeClr val="tx1"/>
          </a:solidFill>
          <a:latin typeface="Arial" pitchFamily="34" charset="0"/>
          <a:ea typeface="+mn-ea"/>
          <a:cs typeface="+mn-cs"/>
        </a:defRPr>
      </a:lvl4pPr>
      <a:lvl5pPr marL="1025525" indent="-228600" algn="l" rtl="0" eaLnBrk="0" fontAlgn="base" hangingPunct="0">
        <a:spcBef>
          <a:spcPct val="20000"/>
        </a:spcBef>
        <a:spcAft>
          <a:spcPct val="0"/>
        </a:spcAft>
        <a:buClrTx/>
        <a:buSzPct val="120000"/>
        <a:buFont typeface="Arial" charset="0"/>
        <a:buChar char="»"/>
        <a:defRPr sz="1400" kern="1200">
          <a:solidFill>
            <a:schemeClr val="tx1"/>
          </a:solidFill>
          <a:latin typeface="Arial"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chart" Target="../charts/chart4.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rallelogram 3">
            <a:extLst>
              <a:ext uri="{FF2B5EF4-FFF2-40B4-BE49-F238E27FC236}">
                <a16:creationId xmlns:a16="http://schemas.microsoft.com/office/drawing/2014/main" id="{6693341B-7ABF-7D40-33E1-2824A3620892}"/>
              </a:ext>
            </a:extLst>
          </p:cNvPr>
          <p:cNvSpPr/>
          <p:nvPr/>
        </p:nvSpPr>
        <p:spPr>
          <a:xfrm>
            <a:off x="392763" y="3267215"/>
            <a:ext cx="8358475" cy="1287899"/>
          </a:xfrm>
          <a:prstGeom prst="parallelogram">
            <a:avLst/>
          </a:prstGeom>
          <a:solidFill>
            <a:srgbClr val="333F44"/>
          </a:solidFill>
          <a:ln>
            <a:solidFill>
              <a:srgbClr val="333F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Parallelogram 23">
            <a:extLst>
              <a:ext uri="{FF2B5EF4-FFF2-40B4-BE49-F238E27FC236}">
                <a16:creationId xmlns:a16="http://schemas.microsoft.com/office/drawing/2014/main" id="{5A4EAE67-2B0E-9247-CFBD-157DD5CA9E54}"/>
              </a:ext>
            </a:extLst>
          </p:cNvPr>
          <p:cNvSpPr/>
          <p:nvPr/>
        </p:nvSpPr>
        <p:spPr>
          <a:xfrm>
            <a:off x="6358273" y="3267215"/>
            <a:ext cx="2392964" cy="1287899"/>
          </a:xfrm>
          <a:prstGeom prst="parallelogram">
            <a:avLst/>
          </a:prstGeom>
          <a:solidFill>
            <a:srgbClr val="2A90BC"/>
          </a:solidFill>
          <a:ln>
            <a:solidFill>
              <a:srgbClr val="2A90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Google Shape;261;p1">
            <a:extLst>
              <a:ext uri="{FF2B5EF4-FFF2-40B4-BE49-F238E27FC236}">
                <a16:creationId xmlns:a16="http://schemas.microsoft.com/office/drawing/2014/main" id="{244FE981-B5AE-49C0-164C-51618F22D250}"/>
              </a:ext>
            </a:extLst>
          </p:cNvPr>
          <p:cNvSpPr txBox="1">
            <a:spLocks/>
          </p:cNvSpPr>
          <p:nvPr/>
        </p:nvSpPr>
        <p:spPr>
          <a:xfrm>
            <a:off x="927284" y="3616721"/>
            <a:ext cx="4896468" cy="286638"/>
          </a:xfrm>
          <a:prstGeom prst="rect">
            <a:avLst/>
          </a:prstGeom>
          <a:noFill/>
          <a:ln>
            <a:noFill/>
          </a:ln>
        </p:spPr>
        <p:txBody>
          <a:bodyPr spcFirstLastPara="1" wrap="square" lIns="68569" tIns="34275" rIns="68569" bIns="34275" anchor="b" anchorCtr="0">
            <a:noAutofit/>
          </a:bodyPr>
          <a:lstStyle>
            <a:lvl1pPr algn="ctr" defTabSz="914400" rtl="0" eaLnBrk="1" latinLnBrk="0" hangingPunct="1">
              <a:lnSpc>
                <a:spcPct val="90000"/>
              </a:lnSpc>
              <a:spcBef>
                <a:spcPct val="0"/>
              </a:spcBef>
              <a:buNone/>
              <a:defRPr sz="4800" kern="1200">
                <a:solidFill>
                  <a:srgbClr val="FA621C"/>
                </a:solidFill>
                <a:latin typeface="+mj-lt"/>
                <a:ea typeface="+mj-ea"/>
                <a:cs typeface="+mj-cs"/>
              </a:defRPr>
            </a:lvl1pPr>
          </a:lstStyle>
          <a:p>
            <a:pPr algn="l">
              <a:spcBef>
                <a:spcPts val="0"/>
              </a:spcBef>
              <a:buClr>
                <a:schemeClr val="lt1"/>
              </a:buClr>
              <a:buSzPts val="2000"/>
            </a:pPr>
            <a:r>
              <a:rPr lang="en-CA" sz="210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Boeing Co (NYSE: BA)</a:t>
            </a:r>
          </a:p>
        </p:txBody>
      </p:sp>
      <p:sp>
        <p:nvSpPr>
          <p:cNvPr id="6" name="Google Shape;262;p1">
            <a:extLst>
              <a:ext uri="{FF2B5EF4-FFF2-40B4-BE49-F238E27FC236}">
                <a16:creationId xmlns:a16="http://schemas.microsoft.com/office/drawing/2014/main" id="{9A8DC2A7-385B-A827-C669-ABDDFF47D588}"/>
              </a:ext>
            </a:extLst>
          </p:cNvPr>
          <p:cNvSpPr txBox="1">
            <a:spLocks/>
          </p:cNvSpPr>
          <p:nvPr/>
        </p:nvSpPr>
        <p:spPr>
          <a:xfrm>
            <a:off x="927284" y="3877661"/>
            <a:ext cx="4058523" cy="262081"/>
          </a:xfrm>
          <a:prstGeom prst="rect">
            <a:avLst/>
          </a:prstGeom>
          <a:noFill/>
          <a:ln>
            <a:noFill/>
          </a:ln>
        </p:spPr>
        <p:txBody>
          <a:bodyPr spcFirstLastPara="1" wrap="square" lIns="68569" tIns="34275" rIns="68569" bIns="3427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lt1"/>
              </a:buClr>
              <a:buSzPts val="1600"/>
              <a:buNone/>
            </a:pPr>
            <a:r>
              <a:rPr lang="en-CA" sz="150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April 2024</a:t>
            </a:r>
          </a:p>
        </p:txBody>
      </p:sp>
      <p:grpSp>
        <p:nvGrpSpPr>
          <p:cNvPr id="16" name="Google Shape;269;p1">
            <a:extLst>
              <a:ext uri="{FF2B5EF4-FFF2-40B4-BE49-F238E27FC236}">
                <a16:creationId xmlns:a16="http://schemas.microsoft.com/office/drawing/2014/main" id="{55B6673D-B650-E104-2A9E-895C2CED22C5}"/>
              </a:ext>
            </a:extLst>
          </p:cNvPr>
          <p:cNvGrpSpPr/>
          <p:nvPr/>
        </p:nvGrpSpPr>
        <p:grpSpPr>
          <a:xfrm>
            <a:off x="6395606" y="3877661"/>
            <a:ext cx="1638101" cy="227023"/>
            <a:chOff x="6925077" y="4644922"/>
            <a:chExt cx="3390686" cy="567544"/>
          </a:xfrm>
        </p:grpSpPr>
        <p:sp>
          <p:nvSpPr>
            <p:cNvPr id="17" name="Google Shape;270;p1">
              <a:extLst>
                <a:ext uri="{FF2B5EF4-FFF2-40B4-BE49-F238E27FC236}">
                  <a16:creationId xmlns:a16="http://schemas.microsoft.com/office/drawing/2014/main" id="{4C6DEA85-53C3-F4D4-A4A3-0E6E80999B69}"/>
                </a:ext>
              </a:extLst>
            </p:cNvPr>
            <p:cNvSpPr txBox="1"/>
            <p:nvPr/>
          </p:nvSpPr>
          <p:spPr>
            <a:xfrm>
              <a:off x="7240144" y="4644922"/>
              <a:ext cx="2389798" cy="349442"/>
            </a:xfrm>
            <a:prstGeom prst="rect">
              <a:avLst/>
            </a:prstGeom>
            <a:noFill/>
            <a:ln>
              <a:noFill/>
            </a:ln>
          </p:spPr>
          <p:txBody>
            <a:bodyPr spcFirstLastPara="1" wrap="square" lIns="68569" tIns="34275" rIns="68569" bIns="34275" anchor="b" anchorCtr="0">
              <a:noAutofit/>
            </a:bodyPr>
            <a:lstStyle/>
            <a:p>
              <a:pPr algn="r">
                <a:lnSpc>
                  <a:spcPct val="90000"/>
                </a:lnSpc>
                <a:spcBef>
                  <a:spcPts val="0"/>
                </a:spcBef>
                <a:spcAft>
                  <a:spcPts val="0"/>
                </a:spcAft>
                <a:buClr>
                  <a:schemeClr val="lt1"/>
                </a:buClr>
                <a:buSzPts val="1600"/>
              </a:pPr>
              <a:r>
                <a:rPr lang="en-CA" sz="825" b="1">
                  <a:solidFill>
                    <a:schemeClr val="lt1"/>
                  </a:solidFill>
                  <a:latin typeface="Open Sans Light" panose="020B0306030504020204" pitchFamily="34" charset="0"/>
                  <a:ea typeface="Open Sans Light" panose="020B0306030504020204" pitchFamily="34" charset="0"/>
                  <a:cs typeface="Open Sans Light" panose="020B0306030504020204" pitchFamily="34" charset="0"/>
                  <a:sym typeface="Arial"/>
                </a:rPr>
                <a:t>Research Team</a:t>
              </a:r>
              <a:endParaRPr sz="825">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sym typeface="Arial"/>
              </a:endParaRPr>
            </a:p>
          </p:txBody>
        </p:sp>
        <p:sp>
          <p:nvSpPr>
            <p:cNvPr id="18" name="Google Shape;271;p1">
              <a:extLst>
                <a:ext uri="{FF2B5EF4-FFF2-40B4-BE49-F238E27FC236}">
                  <a16:creationId xmlns:a16="http://schemas.microsoft.com/office/drawing/2014/main" id="{E6C8C192-1290-E786-8A49-97E037F4F05C}"/>
                </a:ext>
              </a:extLst>
            </p:cNvPr>
            <p:cNvSpPr txBox="1"/>
            <p:nvPr/>
          </p:nvSpPr>
          <p:spPr>
            <a:xfrm>
              <a:off x="6925077" y="4863024"/>
              <a:ext cx="3390686" cy="349442"/>
            </a:xfrm>
            <a:prstGeom prst="rect">
              <a:avLst/>
            </a:prstGeom>
            <a:noFill/>
            <a:ln>
              <a:noFill/>
            </a:ln>
          </p:spPr>
          <p:txBody>
            <a:bodyPr spcFirstLastPara="1" wrap="square" lIns="68569" tIns="34275" rIns="68569" bIns="34275" anchor="t" anchorCtr="0">
              <a:noAutofit/>
            </a:bodyPr>
            <a:lstStyle/>
            <a:p>
              <a:pPr algn="r">
                <a:lnSpc>
                  <a:spcPct val="90000"/>
                </a:lnSpc>
                <a:spcBef>
                  <a:spcPts val="0"/>
                </a:spcBef>
                <a:spcAft>
                  <a:spcPts val="0"/>
                </a:spcAft>
                <a:buClr>
                  <a:schemeClr val="lt1"/>
                </a:buClr>
                <a:buSzPts val="1400"/>
              </a:pPr>
              <a:r>
                <a:rPr lang="en-CA" sz="750">
                  <a:solidFill>
                    <a:schemeClr val="lt1"/>
                  </a:solidFill>
                  <a:latin typeface="Open Sans Light" panose="020B0306030504020204" pitchFamily="34" charset="0"/>
                  <a:ea typeface="Open Sans Light" panose="020B0306030504020204" pitchFamily="34" charset="0"/>
                  <a:cs typeface="Open Sans Light" panose="020B0306030504020204" pitchFamily="34" charset="0"/>
                  <a:sym typeface="Arial"/>
                </a:rPr>
                <a:t>Industrials &amp; Consumers</a:t>
              </a:r>
              <a:endParaRPr lang="en-CA" sz="75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sym typeface="Arial"/>
              </a:endParaRPr>
            </a:p>
          </p:txBody>
        </p:sp>
      </p:grpSp>
      <p:grpSp>
        <p:nvGrpSpPr>
          <p:cNvPr id="19" name="Google Shape;278;p1">
            <a:extLst>
              <a:ext uri="{FF2B5EF4-FFF2-40B4-BE49-F238E27FC236}">
                <a16:creationId xmlns:a16="http://schemas.microsoft.com/office/drawing/2014/main" id="{1E62FF30-A98E-8D37-ADB7-B358AEA96503}"/>
              </a:ext>
            </a:extLst>
          </p:cNvPr>
          <p:cNvGrpSpPr/>
          <p:nvPr/>
        </p:nvGrpSpPr>
        <p:grpSpPr>
          <a:xfrm>
            <a:off x="6289842" y="3464841"/>
            <a:ext cx="1743865" cy="307423"/>
            <a:chOff x="6319479" y="3656452"/>
            <a:chExt cx="2206648" cy="409897"/>
          </a:xfrm>
        </p:grpSpPr>
        <p:sp>
          <p:nvSpPr>
            <p:cNvPr id="20" name="Google Shape;279;p1">
              <a:extLst>
                <a:ext uri="{FF2B5EF4-FFF2-40B4-BE49-F238E27FC236}">
                  <a16:creationId xmlns:a16="http://schemas.microsoft.com/office/drawing/2014/main" id="{CEDB0D8C-03DB-22CD-FEA8-F029943429D1}"/>
                </a:ext>
              </a:extLst>
            </p:cNvPr>
            <p:cNvSpPr txBox="1"/>
            <p:nvPr/>
          </p:nvSpPr>
          <p:spPr>
            <a:xfrm>
              <a:off x="6624011" y="3819504"/>
              <a:ext cx="1902116" cy="246845"/>
            </a:xfrm>
            <a:prstGeom prst="rect">
              <a:avLst/>
            </a:prstGeom>
            <a:noFill/>
            <a:ln>
              <a:noFill/>
            </a:ln>
          </p:spPr>
          <p:txBody>
            <a:bodyPr spcFirstLastPara="1" wrap="square" lIns="68569" tIns="34275" rIns="68569" bIns="34275" anchor="t" anchorCtr="0">
              <a:noAutofit/>
            </a:bodyPr>
            <a:lstStyle/>
            <a:p>
              <a:pPr algn="r">
                <a:lnSpc>
                  <a:spcPct val="90000"/>
                </a:lnSpc>
                <a:spcBef>
                  <a:spcPts val="0"/>
                </a:spcBef>
                <a:spcAft>
                  <a:spcPts val="0"/>
                </a:spcAft>
                <a:buClr>
                  <a:schemeClr val="lt1"/>
                </a:buClr>
                <a:buSzPts val="1400"/>
              </a:pPr>
              <a:r>
                <a:rPr lang="en-CA" sz="750">
                  <a:solidFill>
                    <a:schemeClr val="lt1"/>
                  </a:solidFill>
                  <a:latin typeface="Open Sans Light" panose="020B0306030504020204" pitchFamily="34" charset="0"/>
                  <a:ea typeface="Open Sans Light" panose="020B0306030504020204" pitchFamily="34" charset="0"/>
                  <a:cs typeface="Open Sans Light" panose="020B0306030504020204" pitchFamily="34" charset="0"/>
                  <a:sym typeface="Arial"/>
                </a:rPr>
                <a:t>Industrials &amp; Consumers</a:t>
              </a:r>
              <a:endParaRPr sz="75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sym typeface="Arial"/>
              </a:endParaRPr>
            </a:p>
          </p:txBody>
        </p:sp>
        <p:sp>
          <p:nvSpPr>
            <p:cNvPr id="21" name="Google Shape;280;p1">
              <a:extLst>
                <a:ext uri="{FF2B5EF4-FFF2-40B4-BE49-F238E27FC236}">
                  <a16:creationId xmlns:a16="http://schemas.microsoft.com/office/drawing/2014/main" id="{A0F78645-0B08-2144-8423-FADD6DF08C97}"/>
                </a:ext>
              </a:extLst>
            </p:cNvPr>
            <p:cNvSpPr txBox="1"/>
            <p:nvPr/>
          </p:nvSpPr>
          <p:spPr>
            <a:xfrm>
              <a:off x="6319479" y="3656452"/>
              <a:ext cx="1902116" cy="246845"/>
            </a:xfrm>
            <a:prstGeom prst="rect">
              <a:avLst/>
            </a:prstGeom>
            <a:noFill/>
            <a:ln>
              <a:noFill/>
            </a:ln>
          </p:spPr>
          <p:txBody>
            <a:bodyPr spcFirstLastPara="1" wrap="square" lIns="68569" tIns="34275" rIns="68569" bIns="34275" anchor="b" anchorCtr="0">
              <a:noAutofit/>
            </a:bodyPr>
            <a:lstStyle/>
            <a:p>
              <a:pPr algn="r">
                <a:lnSpc>
                  <a:spcPct val="90000"/>
                </a:lnSpc>
                <a:spcBef>
                  <a:spcPts val="0"/>
                </a:spcBef>
                <a:spcAft>
                  <a:spcPts val="0"/>
                </a:spcAft>
                <a:buClr>
                  <a:schemeClr val="lt1"/>
                </a:buClr>
                <a:buSzPts val="1600"/>
              </a:pPr>
              <a:r>
                <a:rPr lang="en-CA" sz="825" b="1">
                  <a:solidFill>
                    <a:schemeClr val="lt1"/>
                  </a:solidFill>
                  <a:latin typeface="Open Sans Light" panose="020B0306030504020204" pitchFamily="34" charset="0"/>
                  <a:ea typeface="Open Sans Light" panose="020B0306030504020204" pitchFamily="34" charset="0"/>
                  <a:cs typeface="Open Sans Light" panose="020B0306030504020204" pitchFamily="34" charset="0"/>
                  <a:sym typeface="Arial"/>
                </a:rPr>
                <a:t>Investment Team</a:t>
              </a:r>
              <a:endParaRPr sz="825">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sym typeface="Arial"/>
              </a:endParaRPr>
            </a:p>
          </p:txBody>
        </p:sp>
      </p:grpSp>
      <p:sp>
        <p:nvSpPr>
          <p:cNvPr id="23" name="TextBox 22">
            <a:extLst>
              <a:ext uri="{FF2B5EF4-FFF2-40B4-BE49-F238E27FC236}">
                <a16:creationId xmlns:a16="http://schemas.microsoft.com/office/drawing/2014/main" id="{EC6B978D-0C95-7673-D957-4DD8636C24B7}"/>
              </a:ext>
            </a:extLst>
          </p:cNvPr>
          <p:cNvSpPr txBox="1"/>
          <p:nvPr/>
        </p:nvSpPr>
        <p:spPr>
          <a:xfrm>
            <a:off x="2637469" y="6385774"/>
            <a:ext cx="6372563" cy="346249"/>
          </a:xfrm>
          <a:prstGeom prst="rect">
            <a:avLst/>
          </a:prstGeom>
          <a:noFill/>
        </p:spPr>
        <p:txBody>
          <a:bodyPr wrap="square" rtlCol="0">
            <a:spAutoFit/>
          </a:bodyPr>
          <a:lstStyle/>
          <a:p>
            <a:r>
              <a:rPr lang="en-GB" sz="825">
                <a:latin typeface="Open Sans Light" panose="020B0306030504020204" pitchFamily="34" charset="0"/>
                <a:ea typeface="Open Sans Light" panose="020B0306030504020204" pitchFamily="34" charset="0"/>
                <a:cs typeface="Open Sans Light" panose="020B0306030504020204" pitchFamily="34" charset="0"/>
              </a:rPr>
              <a:t>This  presentation is for informational purposes only and is not an offer to buy or sell or a solicitation to buy or sell any securities, investment products or other financial product or service, or an official confirmation of any transaction.</a:t>
            </a:r>
          </a:p>
        </p:txBody>
      </p:sp>
      <p:pic>
        <p:nvPicPr>
          <p:cNvPr id="1030" name="Picture 6">
            <a:extLst>
              <a:ext uri="{FF2B5EF4-FFF2-40B4-BE49-F238E27FC236}">
                <a16:creationId xmlns:a16="http://schemas.microsoft.com/office/drawing/2014/main" id="{730EAC92-F610-4C62-F21D-C81CEF0336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6176" y="2361766"/>
            <a:ext cx="3511296" cy="816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931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D65848-177B-30CE-5E0E-1BBF3CEAC6A3}"/>
              </a:ext>
            </a:extLst>
          </p:cNvPr>
          <p:cNvSpPr>
            <a:spLocks noGrp="1"/>
          </p:cNvSpPr>
          <p:nvPr/>
        </p:nvSpPr>
        <p:spPr>
          <a:xfrm>
            <a:off x="451811" y="1453332"/>
            <a:ext cx="2457450" cy="734047"/>
          </a:xfrm>
          <a:prstGeom prst="rect">
            <a:avLst/>
          </a:prstGeom>
        </p:spPr>
        <p:txBody>
          <a:bodyPr vert="horz"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dirty="0">
                <a:solidFill>
                  <a:srgbClr val="333F44"/>
                </a:solidFill>
              </a:rPr>
              <a:t>Table of Contents</a:t>
            </a:r>
          </a:p>
        </p:txBody>
      </p:sp>
      <p:grpSp>
        <p:nvGrpSpPr>
          <p:cNvPr id="5" name="Group 4">
            <a:extLst>
              <a:ext uri="{FF2B5EF4-FFF2-40B4-BE49-F238E27FC236}">
                <a16:creationId xmlns:a16="http://schemas.microsoft.com/office/drawing/2014/main" id="{38EA6F52-CCED-A614-61C6-043E9EAA753B}"/>
              </a:ext>
            </a:extLst>
          </p:cNvPr>
          <p:cNvGrpSpPr/>
          <p:nvPr/>
        </p:nvGrpSpPr>
        <p:grpSpPr>
          <a:xfrm>
            <a:off x="2419453" y="1334814"/>
            <a:ext cx="2763827" cy="336716"/>
            <a:chOff x="321275" y="1079156"/>
            <a:chExt cx="4458973" cy="408143"/>
          </a:xfrm>
          <a:solidFill>
            <a:srgbClr val="333F44"/>
          </a:solidFill>
        </p:grpSpPr>
        <p:sp>
          <p:nvSpPr>
            <p:cNvPr id="6" name="Rectangle 5">
              <a:extLst>
                <a:ext uri="{FF2B5EF4-FFF2-40B4-BE49-F238E27FC236}">
                  <a16:creationId xmlns:a16="http://schemas.microsoft.com/office/drawing/2014/main" id="{E748AC49-1D44-4758-8CAB-632B4ABC8C15}"/>
                </a:ext>
              </a:extLst>
            </p:cNvPr>
            <p:cNvSpPr/>
            <p:nvPr/>
          </p:nvSpPr>
          <p:spPr bwMode="auto">
            <a:xfrm>
              <a:off x="424248" y="1179521"/>
              <a:ext cx="4356000" cy="307778"/>
            </a:xfrm>
            <a:prstGeom prst="rect">
              <a:avLst/>
            </a:prstGeom>
            <a:grpFill/>
            <a:ln w="9525" cap="flat" cmpd="sng" algn="ctr">
              <a:noFill/>
              <a:prstDash val="solid"/>
              <a:round/>
              <a:headEnd type="none" w="med" len="med"/>
              <a:tailEnd type="none" w="med" len="med"/>
            </a:ln>
            <a:effectLst/>
          </p:spPr>
          <p:txBody>
            <a:bodyPr vert="horz" wrap="square" lIns="135000" tIns="34290" rIns="68580" bIns="34290" numCol="1" rtlCol="0"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r>
                <a:rPr lang="en-US" sz="1200" dirty="0">
                  <a:solidFill>
                    <a:schemeClr val="bg1"/>
                  </a:solidFill>
                  <a:latin typeface="Arial" panose="020B0604020202020204" pitchFamily="34" charset="0"/>
                  <a:ea typeface="ＭＳ Ｐゴシック" pitchFamily="34" charset="-128"/>
                  <a:cs typeface="Arial" panose="020B0604020202020204" pitchFamily="34" charset="0"/>
                </a:rPr>
                <a:t>Company Overview</a:t>
              </a:r>
            </a:p>
          </p:txBody>
        </p:sp>
        <p:sp>
          <p:nvSpPr>
            <p:cNvPr id="7" name="Oval 6">
              <a:extLst>
                <a:ext uri="{FF2B5EF4-FFF2-40B4-BE49-F238E27FC236}">
                  <a16:creationId xmlns:a16="http://schemas.microsoft.com/office/drawing/2014/main" id="{5768CBED-4E50-A77C-0EC8-9F542D559DD7}"/>
                </a:ext>
              </a:extLst>
            </p:cNvPr>
            <p:cNvSpPr/>
            <p:nvPr/>
          </p:nvSpPr>
          <p:spPr bwMode="auto">
            <a:xfrm>
              <a:off x="321275" y="1079156"/>
              <a:ext cx="304920" cy="229091"/>
            </a:xfrm>
            <a:prstGeom prst="ellipse">
              <a:avLst/>
            </a:prstGeom>
            <a:grpFill/>
            <a:ln w="19050" cap="flat" cmpd="sng" algn="ctr">
              <a:solidFill>
                <a:srgbClr val="2A90BC"/>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sz="1000">
                  <a:solidFill>
                    <a:schemeClr val="bg1"/>
                  </a:solidFill>
                  <a:latin typeface="Arial" panose="020B0604020202020204" pitchFamily="34" charset="0"/>
                  <a:ea typeface="ＭＳ Ｐゴシック" pitchFamily="34" charset="-128"/>
                  <a:cs typeface="Arial" panose="020B0604020202020204" pitchFamily="34" charset="0"/>
                </a:rPr>
                <a:t>1</a:t>
              </a:r>
            </a:p>
          </p:txBody>
        </p:sp>
      </p:grpSp>
      <p:sp>
        <p:nvSpPr>
          <p:cNvPr id="8" name="TextBox 133">
            <a:extLst>
              <a:ext uri="{FF2B5EF4-FFF2-40B4-BE49-F238E27FC236}">
                <a16:creationId xmlns:a16="http://schemas.microsoft.com/office/drawing/2014/main" id="{03CF1754-FDDA-E071-464F-4905AB7FFA78}"/>
              </a:ext>
            </a:extLst>
          </p:cNvPr>
          <p:cNvSpPr txBox="1"/>
          <p:nvPr/>
        </p:nvSpPr>
        <p:spPr>
          <a:xfrm>
            <a:off x="2605146" y="1690425"/>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latin typeface="Arial" panose="020B0604020202020204" pitchFamily="34" charset="0"/>
                <a:cs typeface="Arial" panose="020B0604020202020204" pitchFamily="34" charset="0"/>
              </a:rPr>
              <a:t>1. Company Overview</a:t>
            </a:r>
          </a:p>
        </p:txBody>
      </p:sp>
      <p:sp>
        <p:nvSpPr>
          <p:cNvPr id="9" name="TextBox 134">
            <a:extLst>
              <a:ext uri="{FF2B5EF4-FFF2-40B4-BE49-F238E27FC236}">
                <a16:creationId xmlns:a16="http://schemas.microsoft.com/office/drawing/2014/main" id="{E7004D54-73D8-9CD6-ECDF-D0B56B5AE3BC}"/>
              </a:ext>
            </a:extLst>
          </p:cNvPr>
          <p:cNvSpPr txBox="1"/>
          <p:nvPr/>
        </p:nvSpPr>
        <p:spPr>
          <a:xfrm>
            <a:off x="2605146" y="1955510"/>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latin typeface="Arial" panose="020B0604020202020204" pitchFamily="34" charset="0"/>
                <a:cs typeface="Arial" panose="020B0604020202020204" pitchFamily="34" charset="0"/>
              </a:rPr>
              <a:t>2. Business Model</a:t>
            </a:r>
          </a:p>
        </p:txBody>
      </p:sp>
      <p:sp>
        <p:nvSpPr>
          <p:cNvPr id="10" name="TextBox 135">
            <a:extLst>
              <a:ext uri="{FF2B5EF4-FFF2-40B4-BE49-F238E27FC236}">
                <a16:creationId xmlns:a16="http://schemas.microsoft.com/office/drawing/2014/main" id="{CF895A4B-CD45-E3CF-3F8A-642D331902DF}"/>
              </a:ext>
            </a:extLst>
          </p:cNvPr>
          <p:cNvSpPr txBox="1"/>
          <p:nvPr/>
        </p:nvSpPr>
        <p:spPr>
          <a:xfrm>
            <a:off x="2605146" y="2220595"/>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latin typeface="Arial" panose="020B0604020202020204" pitchFamily="34" charset="0"/>
                <a:cs typeface="Arial" panose="020B0604020202020204" pitchFamily="34" charset="0"/>
              </a:rPr>
              <a:t>3. Operating Forecast</a:t>
            </a:r>
          </a:p>
        </p:txBody>
      </p:sp>
      <p:sp>
        <p:nvSpPr>
          <p:cNvPr id="11" name="TextBox 136">
            <a:extLst>
              <a:ext uri="{FF2B5EF4-FFF2-40B4-BE49-F238E27FC236}">
                <a16:creationId xmlns:a16="http://schemas.microsoft.com/office/drawing/2014/main" id="{7C433794-0EC7-730B-FCF6-DE35E2BAB272}"/>
              </a:ext>
            </a:extLst>
          </p:cNvPr>
          <p:cNvSpPr txBox="1"/>
          <p:nvPr/>
        </p:nvSpPr>
        <p:spPr>
          <a:xfrm>
            <a:off x="2605146" y="2485680"/>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4. Shareholder Ownership</a:t>
            </a:r>
          </a:p>
        </p:txBody>
      </p:sp>
      <p:grpSp>
        <p:nvGrpSpPr>
          <p:cNvPr id="13" name="Group 12">
            <a:extLst>
              <a:ext uri="{FF2B5EF4-FFF2-40B4-BE49-F238E27FC236}">
                <a16:creationId xmlns:a16="http://schemas.microsoft.com/office/drawing/2014/main" id="{AEFAA0D1-D77E-BE1D-E471-A4B64B5CE550}"/>
              </a:ext>
            </a:extLst>
          </p:cNvPr>
          <p:cNvGrpSpPr/>
          <p:nvPr/>
        </p:nvGrpSpPr>
        <p:grpSpPr>
          <a:xfrm>
            <a:off x="2419453" y="2915968"/>
            <a:ext cx="2763827" cy="336716"/>
            <a:chOff x="321275" y="1079156"/>
            <a:chExt cx="4458973" cy="408142"/>
          </a:xfrm>
          <a:solidFill>
            <a:srgbClr val="333F44"/>
          </a:solidFill>
        </p:grpSpPr>
        <p:sp>
          <p:nvSpPr>
            <p:cNvPr id="14" name="Rectangle 13">
              <a:extLst>
                <a:ext uri="{FF2B5EF4-FFF2-40B4-BE49-F238E27FC236}">
                  <a16:creationId xmlns:a16="http://schemas.microsoft.com/office/drawing/2014/main" id="{1AB03935-2C5D-5ACC-4946-7D8D6937BCEB}"/>
                </a:ext>
              </a:extLst>
            </p:cNvPr>
            <p:cNvSpPr/>
            <p:nvPr/>
          </p:nvSpPr>
          <p:spPr bwMode="auto">
            <a:xfrm>
              <a:off x="424248" y="1179520"/>
              <a:ext cx="4356000" cy="307778"/>
            </a:xfrm>
            <a:prstGeom prst="rect">
              <a:avLst/>
            </a:prstGeom>
            <a:grpFill/>
            <a:ln w="9525" cap="flat" cmpd="sng" algn="ctr">
              <a:noFill/>
              <a:prstDash val="solid"/>
              <a:round/>
              <a:headEnd type="none" w="med" len="med"/>
              <a:tailEnd type="none" w="med" len="med"/>
            </a:ln>
            <a:effectLst/>
          </p:spPr>
          <p:txBody>
            <a:bodyPr vert="horz" wrap="square" lIns="135000" tIns="34290" rIns="68580" bIns="34290" numCol="1" rtlCol="0"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r>
                <a:rPr lang="en-US" sz="1200" dirty="0">
                  <a:solidFill>
                    <a:schemeClr val="bg1"/>
                  </a:solidFill>
                  <a:latin typeface="Arial" panose="020B0604020202020204" pitchFamily="34" charset="0"/>
                  <a:ea typeface="ＭＳ Ｐゴシック" pitchFamily="34" charset="-128"/>
                  <a:cs typeface="Arial" panose="020B0604020202020204" pitchFamily="34" charset="0"/>
                </a:rPr>
                <a:t>Industry Overview</a:t>
              </a:r>
            </a:p>
          </p:txBody>
        </p:sp>
        <p:sp>
          <p:nvSpPr>
            <p:cNvPr id="15" name="Oval 14">
              <a:extLst>
                <a:ext uri="{FF2B5EF4-FFF2-40B4-BE49-F238E27FC236}">
                  <a16:creationId xmlns:a16="http://schemas.microsoft.com/office/drawing/2014/main" id="{921BF20F-FC2D-F1D0-9E0D-DC6F3613EA85}"/>
                </a:ext>
              </a:extLst>
            </p:cNvPr>
            <p:cNvSpPr/>
            <p:nvPr/>
          </p:nvSpPr>
          <p:spPr bwMode="auto">
            <a:xfrm>
              <a:off x="321275" y="1079156"/>
              <a:ext cx="304920" cy="229091"/>
            </a:xfrm>
            <a:prstGeom prst="ellipse">
              <a:avLst/>
            </a:prstGeom>
            <a:grpFill/>
            <a:ln w="19050" cap="flat" cmpd="sng" algn="ctr">
              <a:solidFill>
                <a:srgbClr val="2A90BC"/>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sz="1000">
                  <a:solidFill>
                    <a:schemeClr val="bg1"/>
                  </a:solidFill>
                  <a:latin typeface="Arial" panose="020B0604020202020204" pitchFamily="34" charset="0"/>
                  <a:ea typeface="ＭＳ Ｐゴシック" pitchFamily="34" charset="-128"/>
                  <a:cs typeface="Arial" panose="020B0604020202020204" pitchFamily="34" charset="0"/>
                </a:rPr>
                <a:t>2</a:t>
              </a:r>
            </a:p>
          </p:txBody>
        </p:sp>
      </p:grpSp>
      <p:sp>
        <p:nvSpPr>
          <p:cNvPr id="16" name="TextBox 141">
            <a:extLst>
              <a:ext uri="{FF2B5EF4-FFF2-40B4-BE49-F238E27FC236}">
                <a16:creationId xmlns:a16="http://schemas.microsoft.com/office/drawing/2014/main" id="{3B9E8F16-8301-AA60-3456-C74CC19156E3}"/>
              </a:ext>
            </a:extLst>
          </p:cNvPr>
          <p:cNvSpPr txBox="1"/>
          <p:nvPr/>
        </p:nvSpPr>
        <p:spPr>
          <a:xfrm>
            <a:off x="2605146" y="3271577"/>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5. Competitive Environment</a:t>
            </a:r>
          </a:p>
        </p:txBody>
      </p:sp>
      <p:sp>
        <p:nvSpPr>
          <p:cNvPr id="17" name="TextBox 142">
            <a:extLst>
              <a:ext uri="{FF2B5EF4-FFF2-40B4-BE49-F238E27FC236}">
                <a16:creationId xmlns:a16="http://schemas.microsoft.com/office/drawing/2014/main" id="{3CACE9A4-95E4-632C-331B-33B3E49B865B}"/>
              </a:ext>
            </a:extLst>
          </p:cNvPr>
          <p:cNvSpPr txBox="1"/>
          <p:nvPr/>
        </p:nvSpPr>
        <p:spPr>
          <a:xfrm>
            <a:off x="2605146" y="3540239"/>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6. Key Industry Trends</a:t>
            </a:r>
          </a:p>
        </p:txBody>
      </p:sp>
      <p:sp>
        <p:nvSpPr>
          <p:cNvPr id="18" name="TextBox 143">
            <a:extLst>
              <a:ext uri="{FF2B5EF4-FFF2-40B4-BE49-F238E27FC236}">
                <a16:creationId xmlns:a16="http://schemas.microsoft.com/office/drawing/2014/main" id="{15919E8E-2B66-E568-9935-85D2DB52ACD8}"/>
              </a:ext>
            </a:extLst>
          </p:cNvPr>
          <p:cNvSpPr txBox="1"/>
          <p:nvPr/>
        </p:nvSpPr>
        <p:spPr>
          <a:xfrm>
            <a:off x="2605146" y="3808901"/>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7. Corporate Finance Activity</a:t>
            </a:r>
          </a:p>
        </p:txBody>
      </p:sp>
      <p:grpSp>
        <p:nvGrpSpPr>
          <p:cNvPr id="19" name="Group 18">
            <a:extLst>
              <a:ext uri="{FF2B5EF4-FFF2-40B4-BE49-F238E27FC236}">
                <a16:creationId xmlns:a16="http://schemas.microsoft.com/office/drawing/2014/main" id="{51207928-FF1F-638B-B96E-C039AC60CAEE}"/>
              </a:ext>
            </a:extLst>
          </p:cNvPr>
          <p:cNvGrpSpPr/>
          <p:nvPr/>
        </p:nvGrpSpPr>
        <p:grpSpPr>
          <a:xfrm>
            <a:off x="2419453" y="4020756"/>
            <a:ext cx="2763827" cy="336716"/>
            <a:chOff x="321275" y="1079156"/>
            <a:chExt cx="4458973" cy="408142"/>
          </a:xfrm>
          <a:solidFill>
            <a:srgbClr val="333F44"/>
          </a:solidFill>
        </p:grpSpPr>
        <p:sp>
          <p:nvSpPr>
            <p:cNvPr id="20" name="Rectangle 19">
              <a:extLst>
                <a:ext uri="{FF2B5EF4-FFF2-40B4-BE49-F238E27FC236}">
                  <a16:creationId xmlns:a16="http://schemas.microsoft.com/office/drawing/2014/main" id="{D13A905F-DBAC-A76E-E251-3BECB0A51137}"/>
                </a:ext>
              </a:extLst>
            </p:cNvPr>
            <p:cNvSpPr/>
            <p:nvPr/>
          </p:nvSpPr>
          <p:spPr bwMode="auto">
            <a:xfrm>
              <a:off x="424248" y="1179520"/>
              <a:ext cx="4356000" cy="307778"/>
            </a:xfrm>
            <a:prstGeom prst="rect">
              <a:avLst/>
            </a:prstGeom>
            <a:grpFill/>
            <a:ln w="9525" cap="flat" cmpd="sng" algn="ctr">
              <a:noFill/>
              <a:prstDash val="solid"/>
              <a:round/>
              <a:headEnd type="none" w="med" len="med"/>
              <a:tailEnd type="none" w="med" len="med"/>
            </a:ln>
            <a:effectLst/>
          </p:spPr>
          <p:txBody>
            <a:bodyPr vert="horz" wrap="square" lIns="135000" tIns="34290" rIns="68580" bIns="34290" numCol="1" rtlCol="0"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r>
                <a:rPr lang="en-US" sz="1200">
                  <a:solidFill>
                    <a:schemeClr val="bg1"/>
                  </a:solidFill>
                  <a:latin typeface="Arial" panose="020B0604020202020204" pitchFamily="34" charset="0"/>
                  <a:ea typeface="ＭＳ Ｐゴシック" pitchFamily="34" charset="-128"/>
                  <a:cs typeface="Arial" panose="020B0604020202020204" pitchFamily="34" charset="0"/>
                </a:rPr>
                <a:t>Investment Thesis</a:t>
              </a:r>
            </a:p>
          </p:txBody>
        </p:sp>
        <p:sp>
          <p:nvSpPr>
            <p:cNvPr id="21" name="Oval 20">
              <a:extLst>
                <a:ext uri="{FF2B5EF4-FFF2-40B4-BE49-F238E27FC236}">
                  <a16:creationId xmlns:a16="http://schemas.microsoft.com/office/drawing/2014/main" id="{F6DCA655-B1A9-D5E8-4407-D3802B8C1186}"/>
                </a:ext>
              </a:extLst>
            </p:cNvPr>
            <p:cNvSpPr/>
            <p:nvPr/>
          </p:nvSpPr>
          <p:spPr bwMode="auto">
            <a:xfrm>
              <a:off x="321275" y="1079156"/>
              <a:ext cx="304920" cy="229091"/>
            </a:xfrm>
            <a:prstGeom prst="ellipse">
              <a:avLst/>
            </a:prstGeom>
            <a:grpFill/>
            <a:ln w="19050" cap="flat" cmpd="sng" algn="ctr">
              <a:solidFill>
                <a:srgbClr val="2A90BC"/>
              </a:solid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sz="1000">
                  <a:solidFill>
                    <a:schemeClr val="bg1"/>
                  </a:solidFill>
                  <a:latin typeface="Arial" panose="020B0604020202020204" pitchFamily="34" charset="0"/>
                  <a:ea typeface="ＭＳ Ｐゴシック" pitchFamily="34" charset="-128"/>
                  <a:cs typeface="Arial" panose="020B0604020202020204" pitchFamily="34" charset="0"/>
                </a:rPr>
                <a:t>3</a:t>
              </a:r>
            </a:p>
          </p:txBody>
        </p:sp>
      </p:grpSp>
      <p:sp>
        <p:nvSpPr>
          <p:cNvPr id="22" name="TextBox 147">
            <a:extLst>
              <a:ext uri="{FF2B5EF4-FFF2-40B4-BE49-F238E27FC236}">
                <a16:creationId xmlns:a16="http://schemas.microsoft.com/office/drawing/2014/main" id="{F6CD77C0-D9F5-0815-2D17-39A120053DE8}"/>
              </a:ext>
            </a:extLst>
          </p:cNvPr>
          <p:cNvSpPr txBox="1"/>
          <p:nvPr/>
        </p:nvSpPr>
        <p:spPr>
          <a:xfrm>
            <a:off x="2605146" y="4406846"/>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8. Rationale</a:t>
            </a:r>
          </a:p>
        </p:txBody>
      </p:sp>
      <p:sp>
        <p:nvSpPr>
          <p:cNvPr id="27" name="TextBox 156">
            <a:extLst>
              <a:ext uri="{FF2B5EF4-FFF2-40B4-BE49-F238E27FC236}">
                <a16:creationId xmlns:a16="http://schemas.microsoft.com/office/drawing/2014/main" id="{D70842B9-D75C-5FF4-F20B-C3C776D6E0C0}"/>
              </a:ext>
            </a:extLst>
          </p:cNvPr>
          <p:cNvSpPr txBox="1"/>
          <p:nvPr/>
        </p:nvSpPr>
        <p:spPr>
          <a:xfrm>
            <a:off x="5958539" y="1690425"/>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9. Historical Share Price Performance</a:t>
            </a:r>
          </a:p>
        </p:txBody>
      </p:sp>
      <p:sp>
        <p:nvSpPr>
          <p:cNvPr id="28" name="TextBox 157">
            <a:extLst>
              <a:ext uri="{FF2B5EF4-FFF2-40B4-BE49-F238E27FC236}">
                <a16:creationId xmlns:a16="http://schemas.microsoft.com/office/drawing/2014/main" id="{A33577FD-F9DB-BF89-232F-2E634F6F8880}"/>
              </a:ext>
            </a:extLst>
          </p:cNvPr>
          <p:cNvSpPr txBox="1"/>
          <p:nvPr/>
        </p:nvSpPr>
        <p:spPr>
          <a:xfrm>
            <a:off x="5958538" y="1982173"/>
            <a:ext cx="2860341"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10. Valuation Overview Incl. Football Field</a:t>
            </a:r>
          </a:p>
        </p:txBody>
      </p:sp>
      <p:sp>
        <p:nvSpPr>
          <p:cNvPr id="29" name="TextBox 158">
            <a:extLst>
              <a:ext uri="{FF2B5EF4-FFF2-40B4-BE49-F238E27FC236}">
                <a16:creationId xmlns:a16="http://schemas.microsoft.com/office/drawing/2014/main" id="{F83F05DB-0E0D-3B0A-F0E5-FB1BBD890E90}"/>
              </a:ext>
            </a:extLst>
          </p:cNvPr>
          <p:cNvSpPr txBox="1"/>
          <p:nvPr/>
        </p:nvSpPr>
        <p:spPr>
          <a:xfrm>
            <a:off x="5958539" y="2274655"/>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11. Valuation Analysis</a:t>
            </a:r>
          </a:p>
        </p:txBody>
      </p:sp>
      <p:grpSp>
        <p:nvGrpSpPr>
          <p:cNvPr id="30" name="Group 29">
            <a:extLst>
              <a:ext uri="{FF2B5EF4-FFF2-40B4-BE49-F238E27FC236}">
                <a16:creationId xmlns:a16="http://schemas.microsoft.com/office/drawing/2014/main" id="{9D970684-936D-1DC8-FC0D-DFA1C4117090}"/>
              </a:ext>
            </a:extLst>
          </p:cNvPr>
          <p:cNvGrpSpPr/>
          <p:nvPr/>
        </p:nvGrpSpPr>
        <p:grpSpPr>
          <a:xfrm>
            <a:off x="5752066" y="1334812"/>
            <a:ext cx="2771221" cy="325864"/>
            <a:chOff x="3995155" y="4984684"/>
            <a:chExt cx="3694961" cy="434486"/>
          </a:xfrm>
          <a:solidFill>
            <a:srgbClr val="333F44"/>
          </a:solidFill>
        </p:grpSpPr>
        <p:sp>
          <p:nvSpPr>
            <p:cNvPr id="31" name="Rectangle 30">
              <a:extLst>
                <a:ext uri="{FF2B5EF4-FFF2-40B4-BE49-F238E27FC236}">
                  <a16:creationId xmlns:a16="http://schemas.microsoft.com/office/drawing/2014/main" id="{7243323E-E816-C59D-BA10-816B1A485300}"/>
                </a:ext>
              </a:extLst>
            </p:cNvPr>
            <p:cNvSpPr/>
            <p:nvPr/>
          </p:nvSpPr>
          <p:spPr bwMode="auto">
            <a:xfrm>
              <a:off x="4090116" y="5080615"/>
              <a:ext cx="3600000" cy="338555"/>
            </a:xfrm>
            <a:prstGeom prst="rect">
              <a:avLst/>
            </a:prstGeom>
            <a:grpFill/>
            <a:ln w="9525" cap="flat" cmpd="sng" algn="ctr">
              <a:noFill/>
              <a:prstDash val="solid"/>
              <a:round/>
              <a:headEnd type="none" w="med" len="med"/>
              <a:tailEnd type="none" w="med" len="med"/>
            </a:ln>
            <a:effectLst/>
          </p:spPr>
          <p:txBody>
            <a:bodyPr vert="horz" wrap="square" lIns="135000" tIns="34290" rIns="68580" bIns="34290" numCol="1" rtlCol="0"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r>
                <a:rPr lang="en-US" sz="1200">
                  <a:solidFill>
                    <a:schemeClr val="bg1"/>
                  </a:solidFill>
                  <a:latin typeface="Arial" panose="020B0604020202020204" pitchFamily="34" charset="0"/>
                  <a:ea typeface="ＭＳ Ｐゴシック" pitchFamily="34" charset="-128"/>
                  <a:cs typeface="Arial" panose="020B0604020202020204" pitchFamily="34" charset="0"/>
                </a:rPr>
                <a:t>Valuation</a:t>
              </a:r>
            </a:p>
          </p:txBody>
        </p:sp>
        <p:sp>
          <p:nvSpPr>
            <p:cNvPr id="32" name="Oval 31">
              <a:extLst>
                <a:ext uri="{FF2B5EF4-FFF2-40B4-BE49-F238E27FC236}">
                  <a16:creationId xmlns:a16="http://schemas.microsoft.com/office/drawing/2014/main" id="{198DBB80-68ED-E415-55BD-7845AFB8B547}"/>
                </a:ext>
              </a:extLst>
            </p:cNvPr>
            <p:cNvSpPr/>
            <p:nvPr/>
          </p:nvSpPr>
          <p:spPr>
            <a:xfrm>
              <a:off x="3995155" y="4984684"/>
              <a:ext cx="252000" cy="252000"/>
            </a:xfrm>
            <a:prstGeom prst="ellipse">
              <a:avLst/>
            </a:prstGeom>
            <a:grpFill/>
            <a:ln w="28575">
              <a:solidFill>
                <a:srgbClr val="2A90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000">
                  <a:solidFill>
                    <a:schemeClr val="bg1"/>
                  </a:solidFill>
                  <a:latin typeface="Arial" panose="020B0604020202020204" pitchFamily="34" charset="0"/>
                  <a:cs typeface="Arial" panose="020B0604020202020204" pitchFamily="34" charset="0"/>
                </a:rPr>
                <a:t>4</a:t>
              </a:r>
            </a:p>
          </p:txBody>
        </p:sp>
      </p:grpSp>
      <p:grpSp>
        <p:nvGrpSpPr>
          <p:cNvPr id="33" name="Group 32">
            <a:extLst>
              <a:ext uri="{FF2B5EF4-FFF2-40B4-BE49-F238E27FC236}">
                <a16:creationId xmlns:a16="http://schemas.microsoft.com/office/drawing/2014/main" id="{57DFF7EB-BA3E-A6CB-AE60-9E0887E23B92}"/>
              </a:ext>
            </a:extLst>
          </p:cNvPr>
          <p:cNvGrpSpPr/>
          <p:nvPr/>
        </p:nvGrpSpPr>
        <p:grpSpPr>
          <a:xfrm>
            <a:off x="5752066" y="2915964"/>
            <a:ext cx="2771221" cy="325864"/>
            <a:chOff x="3995155" y="4984684"/>
            <a:chExt cx="3694961" cy="434486"/>
          </a:xfrm>
          <a:solidFill>
            <a:srgbClr val="333F44"/>
          </a:solidFill>
        </p:grpSpPr>
        <p:sp>
          <p:nvSpPr>
            <p:cNvPr id="34" name="Rectangle 33">
              <a:extLst>
                <a:ext uri="{FF2B5EF4-FFF2-40B4-BE49-F238E27FC236}">
                  <a16:creationId xmlns:a16="http://schemas.microsoft.com/office/drawing/2014/main" id="{12663D04-C0B3-E797-2341-9BF98D0AA4C5}"/>
                </a:ext>
              </a:extLst>
            </p:cNvPr>
            <p:cNvSpPr/>
            <p:nvPr/>
          </p:nvSpPr>
          <p:spPr bwMode="auto">
            <a:xfrm>
              <a:off x="4090116" y="5080615"/>
              <a:ext cx="3600000" cy="338555"/>
            </a:xfrm>
            <a:prstGeom prst="rect">
              <a:avLst/>
            </a:prstGeom>
            <a:grpFill/>
            <a:ln w="9525" cap="flat" cmpd="sng" algn="ctr">
              <a:noFill/>
              <a:prstDash val="solid"/>
              <a:round/>
              <a:headEnd type="none" w="med" len="med"/>
              <a:tailEnd type="none" w="med" len="med"/>
            </a:ln>
            <a:effectLst/>
          </p:spPr>
          <p:txBody>
            <a:bodyPr vert="horz" wrap="square" lIns="135000" tIns="34290" rIns="68580" bIns="34290" numCol="1" rtlCol="0"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r>
                <a:rPr lang="en-US" altLang="ja-JP" sz="1200">
                  <a:solidFill>
                    <a:schemeClr val="bg1"/>
                  </a:solidFill>
                  <a:latin typeface="Arial" panose="020B0604020202020204" pitchFamily="34" charset="0"/>
                  <a:ea typeface="ＭＳ Ｐゴシック" pitchFamily="34" charset="-128"/>
                  <a:cs typeface="Arial" panose="020B0604020202020204" pitchFamily="34" charset="0"/>
                </a:rPr>
                <a:t>Catalysts and Risks</a:t>
              </a:r>
            </a:p>
          </p:txBody>
        </p:sp>
        <p:sp>
          <p:nvSpPr>
            <p:cNvPr id="35" name="Oval 34">
              <a:extLst>
                <a:ext uri="{FF2B5EF4-FFF2-40B4-BE49-F238E27FC236}">
                  <a16:creationId xmlns:a16="http://schemas.microsoft.com/office/drawing/2014/main" id="{762AEFB5-CB4F-BC70-82C8-D87F08C1B528}"/>
                </a:ext>
              </a:extLst>
            </p:cNvPr>
            <p:cNvSpPr/>
            <p:nvPr/>
          </p:nvSpPr>
          <p:spPr>
            <a:xfrm>
              <a:off x="3995155" y="4984684"/>
              <a:ext cx="252000" cy="252000"/>
            </a:xfrm>
            <a:prstGeom prst="ellipse">
              <a:avLst/>
            </a:prstGeom>
            <a:grpFill/>
            <a:ln w="28575">
              <a:solidFill>
                <a:srgbClr val="2A90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000">
                  <a:solidFill>
                    <a:schemeClr val="bg1"/>
                  </a:solidFill>
                  <a:latin typeface="Arial" panose="020B0604020202020204" pitchFamily="34" charset="0"/>
                  <a:cs typeface="Arial" panose="020B0604020202020204" pitchFamily="34" charset="0"/>
                </a:rPr>
                <a:t>5</a:t>
              </a:r>
            </a:p>
          </p:txBody>
        </p:sp>
      </p:grpSp>
      <p:sp>
        <p:nvSpPr>
          <p:cNvPr id="37" name="TextBox 158">
            <a:extLst>
              <a:ext uri="{FF2B5EF4-FFF2-40B4-BE49-F238E27FC236}">
                <a16:creationId xmlns:a16="http://schemas.microsoft.com/office/drawing/2014/main" id="{D89CEE1F-A380-C112-1D0F-B22DF7F6635E}"/>
              </a:ext>
            </a:extLst>
          </p:cNvPr>
          <p:cNvSpPr txBox="1"/>
          <p:nvPr/>
        </p:nvSpPr>
        <p:spPr>
          <a:xfrm>
            <a:off x="5958539" y="3509759"/>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14. The Four W’s</a:t>
            </a:r>
          </a:p>
        </p:txBody>
      </p:sp>
      <p:sp>
        <p:nvSpPr>
          <p:cNvPr id="38" name="TextBox 158">
            <a:extLst>
              <a:ext uri="{FF2B5EF4-FFF2-40B4-BE49-F238E27FC236}">
                <a16:creationId xmlns:a16="http://schemas.microsoft.com/office/drawing/2014/main" id="{9C234F0D-A790-4612-C578-D244356ADBA8}"/>
              </a:ext>
            </a:extLst>
          </p:cNvPr>
          <p:cNvSpPr txBox="1"/>
          <p:nvPr/>
        </p:nvSpPr>
        <p:spPr>
          <a:xfrm>
            <a:off x="5958539" y="2565669"/>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12. Comparables Overview</a:t>
            </a:r>
          </a:p>
        </p:txBody>
      </p:sp>
      <p:grpSp>
        <p:nvGrpSpPr>
          <p:cNvPr id="39" name="Group 38">
            <a:extLst>
              <a:ext uri="{FF2B5EF4-FFF2-40B4-BE49-F238E27FC236}">
                <a16:creationId xmlns:a16="http://schemas.microsoft.com/office/drawing/2014/main" id="{474A4066-3BD7-0EFF-0589-256F2088C28F}"/>
              </a:ext>
            </a:extLst>
          </p:cNvPr>
          <p:cNvGrpSpPr/>
          <p:nvPr/>
        </p:nvGrpSpPr>
        <p:grpSpPr>
          <a:xfrm>
            <a:off x="5752066" y="4031606"/>
            <a:ext cx="2771221" cy="325864"/>
            <a:chOff x="3995155" y="4984684"/>
            <a:chExt cx="3694961" cy="434486"/>
          </a:xfrm>
          <a:solidFill>
            <a:srgbClr val="333F44"/>
          </a:solidFill>
        </p:grpSpPr>
        <p:sp>
          <p:nvSpPr>
            <p:cNvPr id="40" name="Rectangle 39">
              <a:extLst>
                <a:ext uri="{FF2B5EF4-FFF2-40B4-BE49-F238E27FC236}">
                  <a16:creationId xmlns:a16="http://schemas.microsoft.com/office/drawing/2014/main" id="{6405720F-E736-7740-56C6-EC80AC1FED70}"/>
                </a:ext>
              </a:extLst>
            </p:cNvPr>
            <p:cNvSpPr/>
            <p:nvPr/>
          </p:nvSpPr>
          <p:spPr bwMode="auto">
            <a:xfrm>
              <a:off x="4090116" y="5080615"/>
              <a:ext cx="3600000" cy="338555"/>
            </a:xfrm>
            <a:prstGeom prst="rect">
              <a:avLst/>
            </a:prstGeom>
            <a:grpFill/>
            <a:ln w="9525" cap="flat" cmpd="sng" algn="ctr">
              <a:noFill/>
              <a:prstDash val="solid"/>
              <a:round/>
              <a:headEnd type="none" w="med" len="med"/>
              <a:tailEnd type="none" w="med" len="med"/>
            </a:ln>
            <a:effectLst/>
          </p:spPr>
          <p:txBody>
            <a:bodyPr vert="horz" wrap="square" lIns="135000" tIns="34290" rIns="68580" bIns="34290" numCol="1" rtlCol="0"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r>
                <a:rPr lang="en-CA" altLang="ja-JP" sz="1200">
                  <a:solidFill>
                    <a:schemeClr val="bg1"/>
                  </a:solidFill>
                  <a:latin typeface="Arial" panose="020B0604020202020204" pitchFamily="34" charset="0"/>
                  <a:ea typeface="Open Sans Light" panose="020B0306030504020204" pitchFamily="34" charset="0"/>
                  <a:cs typeface="Arial" panose="020B0604020202020204" pitchFamily="34" charset="0"/>
                </a:rPr>
                <a:t>Recommendation</a:t>
              </a:r>
              <a:endParaRPr lang="en-US" sz="1200">
                <a:solidFill>
                  <a:schemeClr val="bg1"/>
                </a:solidFill>
                <a:latin typeface="Arial" panose="020B0604020202020204" pitchFamily="34" charset="0"/>
                <a:ea typeface="Open Sans Light" panose="020B0306030504020204" pitchFamily="34" charset="0"/>
                <a:cs typeface="Arial" panose="020B0604020202020204" pitchFamily="34" charset="0"/>
              </a:endParaRPr>
            </a:p>
          </p:txBody>
        </p:sp>
        <p:sp>
          <p:nvSpPr>
            <p:cNvPr id="41" name="Oval 40">
              <a:extLst>
                <a:ext uri="{FF2B5EF4-FFF2-40B4-BE49-F238E27FC236}">
                  <a16:creationId xmlns:a16="http://schemas.microsoft.com/office/drawing/2014/main" id="{FACCBB74-D364-1138-8998-04E9FF776499}"/>
                </a:ext>
              </a:extLst>
            </p:cNvPr>
            <p:cNvSpPr/>
            <p:nvPr/>
          </p:nvSpPr>
          <p:spPr>
            <a:xfrm>
              <a:off x="3995155" y="4984684"/>
              <a:ext cx="252000" cy="252000"/>
            </a:xfrm>
            <a:prstGeom prst="ellipse">
              <a:avLst/>
            </a:prstGeom>
            <a:grpFill/>
            <a:ln w="28575">
              <a:solidFill>
                <a:srgbClr val="2A90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000">
                  <a:solidFill>
                    <a:schemeClr val="bg1"/>
                  </a:solidFill>
                  <a:latin typeface="Arial" panose="020B0604020202020204" pitchFamily="34" charset="0"/>
                  <a:cs typeface="Arial" panose="020B0604020202020204" pitchFamily="34" charset="0"/>
                </a:rPr>
                <a:t>6</a:t>
              </a:r>
            </a:p>
          </p:txBody>
        </p:sp>
      </p:grpSp>
      <p:cxnSp>
        <p:nvCxnSpPr>
          <p:cNvPr id="42" name="Straight Connector 41">
            <a:extLst>
              <a:ext uri="{FF2B5EF4-FFF2-40B4-BE49-F238E27FC236}">
                <a16:creationId xmlns:a16="http://schemas.microsoft.com/office/drawing/2014/main" id="{BD2B0A02-9352-F803-8A50-20EC45575A1A}"/>
              </a:ext>
            </a:extLst>
          </p:cNvPr>
          <p:cNvCxnSpPr/>
          <p:nvPr/>
        </p:nvCxnSpPr>
        <p:spPr>
          <a:xfrm>
            <a:off x="1" y="2191249"/>
            <a:ext cx="1638860" cy="0"/>
          </a:xfrm>
          <a:prstGeom prst="line">
            <a:avLst/>
          </a:prstGeom>
          <a:ln w="19050">
            <a:solidFill>
              <a:srgbClr val="2A90BC"/>
            </a:solidFill>
          </a:ln>
        </p:spPr>
        <p:style>
          <a:lnRef idx="1">
            <a:schemeClr val="accent2"/>
          </a:lnRef>
          <a:fillRef idx="0">
            <a:schemeClr val="accent2"/>
          </a:fillRef>
          <a:effectRef idx="0">
            <a:schemeClr val="accent2"/>
          </a:effectRef>
          <a:fontRef idx="minor">
            <a:schemeClr val="tx1"/>
          </a:fontRef>
        </p:style>
      </p:cxnSp>
      <p:sp>
        <p:nvSpPr>
          <p:cNvPr id="50" name="TextBox 143">
            <a:extLst>
              <a:ext uri="{FF2B5EF4-FFF2-40B4-BE49-F238E27FC236}">
                <a16:creationId xmlns:a16="http://schemas.microsoft.com/office/drawing/2014/main" id="{F7F08D22-A4FA-F0F8-9723-3865E346BDA8}"/>
              </a:ext>
            </a:extLst>
          </p:cNvPr>
          <p:cNvSpPr txBox="1"/>
          <p:nvPr/>
        </p:nvSpPr>
        <p:spPr>
          <a:xfrm>
            <a:off x="5958539" y="4406846"/>
            <a:ext cx="2700000"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15. </a:t>
            </a:r>
            <a:r>
              <a:rPr lang="en-GB" sz="1050" dirty="0">
                <a:latin typeface="Arial" panose="020B0604020202020204" pitchFamily="34" charset="0"/>
                <a:cs typeface="Arial" panose="020B0604020202020204" pitchFamily="34" charset="0"/>
              </a:rPr>
              <a:t>Optimal Price Analysis</a:t>
            </a:r>
          </a:p>
        </p:txBody>
      </p:sp>
      <p:sp>
        <p:nvSpPr>
          <p:cNvPr id="51" name="TextBox 158">
            <a:extLst>
              <a:ext uri="{FF2B5EF4-FFF2-40B4-BE49-F238E27FC236}">
                <a16:creationId xmlns:a16="http://schemas.microsoft.com/office/drawing/2014/main" id="{D786F7AA-A748-EC99-9817-06BA12CE9F30}"/>
              </a:ext>
            </a:extLst>
          </p:cNvPr>
          <p:cNvSpPr txBox="1"/>
          <p:nvPr/>
        </p:nvSpPr>
        <p:spPr>
          <a:xfrm>
            <a:off x="5958539" y="3264228"/>
            <a:ext cx="2517306" cy="25391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latin typeface="Arial" panose="020B0604020202020204" pitchFamily="34" charset="0"/>
                <a:cs typeface="Arial" panose="020B0604020202020204" pitchFamily="34" charset="0"/>
              </a:rPr>
              <a:t>13. Risk Considerations</a:t>
            </a:r>
          </a:p>
        </p:txBody>
      </p:sp>
    </p:spTree>
    <p:extLst>
      <p:ext uri="{BB962C8B-B14F-4D97-AF65-F5344CB8AC3E}">
        <p14:creationId xmlns:p14="http://schemas.microsoft.com/office/powerpoint/2010/main" val="140095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286;p2">
            <a:extLst>
              <a:ext uri="{FF2B5EF4-FFF2-40B4-BE49-F238E27FC236}">
                <a16:creationId xmlns:a16="http://schemas.microsoft.com/office/drawing/2014/main" id="{09F1F76A-1C03-8CA7-524E-3FCE525C29A1}"/>
              </a:ext>
            </a:extLst>
          </p:cNvPr>
          <p:cNvSpPr/>
          <p:nvPr/>
        </p:nvSpPr>
        <p:spPr>
          <a:xfrm>
            <a:off x="3249216" y="2296996"/>
            <a:ext cx="2645569"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p>
            <a:pPr algn="ctr" defTabSz="685800" fontAlgn="auto">
              <a:spcBef>
                <a:spcPts val="0"/>
              </a:spcBef>
              <a:spcAft>
                <a:spcPts val="0"/>
              </a:spcAft>
              <a:buClr>
                <a:srgbClr val="000000"/>
              </a:buClr>
              <a:buSzPts val="1800"/>
              <a:defRPr/>
            </a:pPr>
            <a:endParaRPr sz="1350" kern="0">
              <a:solidFill>
                <a:srgbClr val="FFFFFF"/>
              </a:solidFill>
              <a:latin typeface="Arial"/>
              <a:ea typeface="Arial"/>
              <a:cs typeface="Arial"/>
              <a:sym typeface="Arial"/>
            </a:endParaRPr>
          </a:p>
        </p:txBody>
      </p:sp>
      <p:sp>
        <p:nvSpPr>
          <p:cNvPr id="31" name="Google Shape;289;p2">
            <a:extLst>
              <a:ext uri="{FF2B5EF4-FFF2-40B4-BE49-F238E27FC236}">
                <a16:creationId xmlns:a16="http://schemas.microsoft.com/office/drawing/2014/main" id="{95C79D31-49D9-CF5C-C5CC-2018D877B6EA}"/>
              </a:ext>
            </a:extLst>
          </p:cNvPr>
          <p:cNvSpPr txBox="1">
            <a:spLocks/>
          </p:cNvSpPr>
          <p:nvPr/>
        </p:nvSpPr>
        <p:spPr>
          <a:xfrm>
            <a:off x="3265160" y="2296996"/>
            <a:ext cx="236495"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500" kern="0">
                <a:solidFill>
                  <a:srgbClr val="FFFFFF"/>
                </a:solidFill>
              </a:rPr>
              <a:t>1</a:t>
            </a:r>
            <a:endParaRPr lang="en-CA" sz="1500" kern="0">
              <a:solidFill>
                <a:srgbClr val="000000"/>
              </a:solidFill>
            </a:endParaRPr>
          </a:p>
        </p:txBody>
      </p:sp>
      <p:sp>
        <p:nvSpPr>
          <p:cNvPr id="33" name="Google Shape;291;p2">
            <a:extLst>
              <a:ext uri="{FF2B5EF4-FFF2-40B4-BE49-F238E27FC236}">
                <a16:creationId xmlns:a16="http://schemas.microsoft.com/office/drawing/2014/main" id="{10A39BE7-5957-0E8F-6913-0D4EADABB8CF}"/>
              </a:ext>
            </a:extLst>
          </p:cNvPr>
          <p:cNvSpPr txBox="1">
            <a:spLocks/>
          </p:cNvSpPr>
          <p:nvPr/>
        </p:nvSpPr>
        <p:spPr>
          <a:xfrm>
            <a:off x="3265160" y="3181354"/>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3</a:t>
            </a:r>
          </a:p>
        </p:txBody>
      </p:sp>
      <p:sp>
        <p:nvSpPr>
          <p:cNvPr id="34" name="Google Shape;292;p2">
            <a:extLst>
              <a:ext uri="{FF2B5EF4-FFF2-40B4-BE49-F238E27FC236}">
                <a16:creationId xmlns:a16="http://schemas.microsoft.com/office/drawing/2014/main" id="{C96A2CB4-25D5-A6DB-7F9E-0AC28C1BC798}"/>
              </a:ext>
            </a:extLst>
          </p:cNvPr>
          <p:cNvSpPr txBox="1">
            <a:spLocks/>
          </p:cNvSpPr>
          <p:nvPr/>
        </p:nvSpPr>
        <p:spPr>
          <a:xfrm>
            <a:off x="3265160" y="3640266"/>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4</a:t>
            </a:r>
          </a:p>
        </p:txBody>
      </p:sp>
      <p:sp>
        <p:nvSpPr>
          <p:cNvPr id="35" name="Google Shape;293;p2">
            <a:extLst>
              <a:ext uri="{FF2B5EF4-FFF2-40B4-BE49-F238E27FC236}">
                <a16:creationId xmlns:a16="http://schemas.microsoft.com/office/drawing/2014/main" id="{24082908-437D-EAD2-5694-48F1B986A9AD}"/>
              </a:ext>
            </a:extLst>
          </p:cNvPr>
          <p:cNvSpPr txBox="1">
            <a:spLocks/>
          </p:cNvSpPr>
          <p:nvPr/>
        </p:nvSpPr>
        <p:spPr>
          <a:xfrm>
            <a:off x="3265159" y="4099177"/>
            <a:ext cx="377597"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5</a:t>
            </a:r>
          </a:p>
        </p:txBody>
      </p:sp>
      <p:sp>
        <p:nvSpPr>
          <p:cNvPr id="36" name="Google Shape;294;p2">
            <a:extLst>
              <a:ext uri="{FF2B5EF4-FFF2-40B4-BE49-F238E27FC236}">
                <a16:creationId xmlns:a16="http://schemas.microsoft.com/office/drawing/2014/main" id="{CF2671DB-5AF7-0C85-8B70-85157CC6FB21}"/>
              </a:ext>
            </a:extLst>
          </p:cNvPr>
          <p:cNvSpPr txBox="1">
            <a:spLocks/>
          </p:cNvSpPr>
          <p:nvPr/>
        </p:nvSpPr>
        <p:spPr>
          <a:xfrm>
            <a:off x="3583212" y="2296996"/>
            <a:ext cx="2311573"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050" kern="0">
                <a:solidFill>
                  <a:srgbClr val="FFFFFF"/>
                </a:solidFill>
              </a:rPr>
              <a:t>Company Overview</a:t>
            </a:r>
            <a:endParaRPr lang="en-CA" sz="1050" kern="0">
              <a:solidFill>
                <a:srgbClr val="000000"/>
              </a:solidFill>
            </a:endParaRPr>
          </a:p>
        </p:txBody>
      </p:sp>
      <p:sp>
        <p:nvSpPr>
          <p:cNvPr id="38" name="Google Shape;296;p2">
            <a:extLst>
              <a:ext uri="{FF2B5EF4-FFF2-40B4-BE49-F238E27FC236}">
                <a16:creationId xmlns:a16="http://schemas.microsoft.com/office/drawing/2014/main" id="{16617FB7-4C3A-DAF9-0D17-D17A495F8E61}"/>
              </a:ext>
            </a:extLst>
          </p:cNvPr>
          <p:cNvSpPr txBox="1">
            <a:spLocks/>
          </p:cNvSpPr>
          <p:nvPr/>
        </p:nvSpPr>
        <p:spPr>
          <a:xfrm>
            <a:off x="3583212" y="3181354"/>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Investment Thesis</a:t>
            </a:r>
          </a:p>
        </p:txBody>
      </p:sp>
      <p:sp>
        <p:nvSpPr>
          <p:cNvPr id="39" name="Google Shape;297;p2">
            <a:extLst>
              <a:ext uri="{FF2B5EF4-FFF2-40B4-BE49-F238E27FC236}">
                <a16:creationId xmlns:a16="http://schemas.microsoft.com/office/drawing/2014/main" id="{6206F5AB-F41E-171A-3BAE-D697B7D553FD}"/>
              </a:ext>
            </a:extLst>
          </p:cNvPr>
          <p:cNvSpPr txBox="1">
            <a:spLocks/>
          </p:cNvSpPr>
          <p:nvPr/>
        </p:nvSpPr>
        <p:spPr>
          <a:xfrm>
            <a:off x="3583212" y="3640266"/>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Valuation</a:t>
            </a:r>
          </a:p>
        </p:txBody>
      </p:sp>
      <p:sp>
        <p:nvSpPr>
          <p:cNvPr id="40" name="Google Shape;298;p2">
            <a:extLst>
              <a:ext uri="{FF2B5EF4-FFF2-40B4-BE49-F238E27FC236}">
                <a16:creationId xmlns:a16="http://schemas.microsoft.com/office/drawing/2014/main" id="{161C3D2D-BDE3-7B7C-CB18-B945EF99F61B}"/>
              </a:ext>
            </a:extLst>
          </p:cNvPr>
          <p:cNvSpPr txBox="1">
            <a:spLocks/>
          </p:cNvSpPr>
          <p:nvPr/>
        </p:nvSpPr>
        <p:spPr>
          <a:xfrm>
            <a:off x="3583212" y="4099177"/>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Catalysts and Risks</a:t>
            </a:r>
          </a:p>
        </p:txBody>
      </p:sp>
      <p:sp>
        <p:nvSpPr>
          <p:cNvPr id="41" name="Google Shape;299;p2">
            <a:extLst>
              <a:ext uri="{FF2B5EF4-FFF2-40B4-BE49-F238E27FC236}">
                <a16:creationId xmlns:a16="http://schemas.microsoft.com/office/drawing/2014/main" id="{E6BE0CC5-6BE6-0D72-C757-18F26E148BC6}"/>
              </a:ext>
            </a:extLst>
          </p:cNvPr>
          <p:cNvSpPr txBox="1">
            <a:spLocks/>
          </p:cNvSpPr>
          <p:nvPr/>
        </p:nvSpPr>
        <p:spPr>
          <a:xfrm>
            <a:off x="3265160" y="4558088"/>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6</a:t>
            </a:r>
          </a:p>
        </p:txBody>
      </p:sp>
      <p:sp>
        <p:nvSpPr>
          <p:cNvPr id="42" name="Google Shape;300;p2">
            <a:extLst>
              <a:ext uri="{FF2B5EF4-FFF2-40B4-BE49-F238E27FC236}">
                <a16:creationId xmlns:a16="http://schemas.microsoft.com/office/drawing/2014/main" id="{35732484-D305-8AA4-0F59-695F60F3B982}"/>
              </a:ext>
            </a:extLst>
          </p:cNvPr>
          <p:cNvSpPr txBox="1">
            <a:spLocks/>
          </p:cNvSpPr>
          <p:nvPr/>
        </p:nvSpPr>
        <p:spPr>
          <a:xfrm>
            <a:off x="3583212" y="4558088"/>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Recommendation</a:t>
            </a:r>
          </a:p>
        </p:txBody>
      </p:sp>
      <p:sp>
        <p:nvSpPr>
          <p:cNvPr id="44" name="Google Shape;291;p2">
            <a:extLst>
              <a:ext uri="{FF2B5EF4-FFF2-40B4-BE49-F238E27FC236}">
                <a16:creationId xmlns:a16="http://schemas.microsoft.com/office/drawing/2014/main" id="{CB77208E-5651-7606-E45F-77D2F4B4D5BC}"/>
              </a:ext>
            </a:extLst>
          </p:cNvPr>
          <p:cNvSpPr txBox="1">
            <a:spLocks/>
          </p:cNvSpPr>
          <p:nvPr/>
        </p:nvSpPr>
        <p:spPr>
          <a:xfrm>
            <a:off x="3249215" y="2739175"/>
            <a:ext cx="320246"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2</a:t>
            </a:r>
          </a:p>
        </p:txBody>
      </p:sp>
      <p:sp>
        <p:nvSpPr>
          <p:cNvPr id="45" name="Google Shape;296;p2">
            <a:extLst>
              <a:ext uri="{FF2B5EF4-FFF2-40B4-BE49-F238E27FC236}">
                <a16:creationId xmlns:a16="http://schemas.microsoft.com/office/drawing/2014/main" id="{F9427E1B-D6C0-48F8-D050-0EB50DEF52EF}"/>
              </a:ext>
            </a:extLst>
          </p:cNvPr>
          <p:cNvSpPr txBox="1">
            <a:spLocks/>
          </p:cNvSpPr>
          <p:nvPr/>
        </p:nvSpPr>
        <p:spPr>
          <a:xfrm>
            <a:off x="3567267" y="2739175"/>
            <a:ext cx="2327517"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Industry</a:t>
            </a:r>
            <a:r>
              <a:rPr lang="en-CA" sz="1050" kern="0">
                <a:solidFill>
                  <a:srgbClr val="000000"/>
                </a:solidFill>
              </a:rPr>
              <a:t> </a:t>
            </a:r>
            <a:r>
              <a:rPr lang="en-CA" sz="1050" kern="0">
                <a:solidFill>
                  <a:schemeClr val="bg1"/>
                </a:solidFill>
              </a:rPr>
              <a:t>Overview</a:t>
            </a:r>
          </a:p>
        </p:txBody>
      </p:sp>
      <p:cxnSp>
        <p:nvCxnSpPr>
          <p:cNvPr id="52" name="Straight Connector 51">
            <a:extLst>
              <a:ext uri="{FF2B5EF4-FFF2-40B4-BE49-F238E27FC236}">
                <a16:creationId xmlns:a16="http://schemas.microsoft.com/office/drawing/2014/main" id="{FC68CE68-47BB-0BC2-07F5-D06D017B6B46}"/>
              </a:ext>
            </a:extLst>
          </p:cNvPr>
          <p:cNvCxnSpPr/>
          <p:nvPr/>
        </p:nvCxnSpPr>
        <p:spPr>
          <a:xfrm>
            <a:off x="1" y="2191249"/>
            <a:ext cx="1638860" cy="0"/>
          </a:xfrm>
          <a:prstGeom prst="line">
            <a:avLst/>
          </a:prstGeom>
          <a:ln w="19050">
            <a:solidFill>
              <a:srgbClr val="2A90BC"/>
            </a:solidFill>
          </a:ln>
        </p:spPr>
        <p:style>
          <a:lnRef idx="1">
            <a:schemeClr val="accent2"/>
          </a:lnRef>
          <a:fillRef idx="0">
            <a:schemeClr val="accent2"/>
          </a:fillRef>
          <a:effectRef idx="0">
            <a:schemeClr val="accent2"/>
          </a:effectRef>
          <a:fontRef idx="minor">
            <a:schemeClr val="tx1"/>
          </a:fontRef>
        </p:style>
      </p:cxnSp>
      <p:sp>
        <p:nvSpPr>
          <p:cNvPr id="53" name="Title 1">
            <a:extLst>
              <a:ext uri="{FF2B5EF4-FFF2-40B4-BE49-F238E27FC236}">
                <a16:creationId xmlns:a16="http://schemas.microsoft.com/office/drawing/2014/main" id="{C1998317-F01C-E0E2-D0D4-DB000E737FBE}"/>
              </a:ext>
            </a:extLst>
          </p:cNvPr>
          <p:cNvSpPr>
            <a:spLocks noGrp="1"/>
          </p:cNvSpPr>
          <p:nvPr/>
        </p:nvSpPr>
        <p:spPr>
          <a:xfrm>
            <a:off x="465270" y="1619532"/>
            <a:ext cx="2457450" cy="401648"/>
          </a:xfrm>
          <a:prstGeom prst="rect">
            <a:avLst/>
          </a:prstGeom>
        </p:spPr>
        <p:txBody>
          <a:bodyPr vert="horz"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a:solidFill>
                  <a:srgbClr val="333F44"/>
                </a:solidFill>
              </a:rPr>
              <a:t>Agenda</a:t>
            </a:r>
          </a:p>
        </p:txBody>
      </p:sp>
      <p:pic>
        <p:nvPicPr>
          <p:cNvPr id="2" name="Picture 6">
            <a:extLst>
              <a:ext uri="{FF2B5EF4-FFF2-40B4-BE49-F238E27FC236}">
                <a16:creationId xmlns:a16="http://schemas.microsoft.com/office/drawing/2014/main" id="{7CA2F887-5EF1-4C70-400C-B2732F8DE6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5159" y="1534720"/>
            <a:ext cx="2457450" cy="571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178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AC5E5A-28DD-AE28-F2DF-9ED0D88AD6A6}"/>
              </a:ext>
            </a:extLst>
          </p:cNvPr>
          <p:cNvSpPr txBox="1"/>
          <p:nvPr/>
        </p:nvSpPr>
        <p:spPr>
          <a:xfrm>
            <a:off x="228600" y="1014984"/>
            <a:ext cx="5486400" cy="261610"/>
          </a:xfrm>
          <a:prstGeom prst="rect">
            <a:avLst/>
          </a:prstGeom>
          <a:solidFill>
            <a:srgbClr val="113D63"/>
          </a:solidFill>
        </p:spPr>
        <p:txBody>
          <a:bodyPr wrap="square" rtlCol="0">
            <a:spAutoFit/>
          </a:bodyPr>
          <a:lstStyle/>
          <a:p>
            <a:r>
              <a:rPr lang="en-US" altLang="zh-CN" sz="1050" b="1">
                <a:solidFill>
                  <a:schemeClr val="bg1"/>
                </a:solidFill>
              </a:rPr>
              <a:t>Company Highlights</a:t>
            </a:r>
          </a:p>
        </p:txBody>
      </p:sp>
      <p:graphicFrame>
        <p:nvGraphicFramePr>
          <p:cNvPr id="8" name="Table 7">
            <a:extLst>
              <a:ext uri="{FF2B5EF4-FFF2-40B4-BE49-F238E27FC236}">
                <a16:creationId xmlns:a16="http://schemas.microsoft.com/office/drawing/2014/main" id="{CF8208A4-A6FD-0E8A-D0CE-5538D5C5F563}"/>
              </a:ext>
            </a:extLst>
          </p:cNvPr>
          <p:cNvGraphicFramePr>
            <a:graphicFrameLocks noGrp="1"/>
          </p:cNvGraphicFramePr>
          <p:nvPr>
            <p:extLst>
              <p:ext uri="{D42A27DB-BD31-4B8C-83A1-F6EECF244321}">
                <p14:modId xmlns:p14="http://schemas.microsoft.com/office/powerpoint/2010/main" val="4189521179"/>
              </p:ext>
            </p:extLst>
          </p:nvPr>
        </p:nvGraphicFramePr>
        <p:xfrm>
          <a:off x="5802568" y="3837299"/>
          <a:ext cx="3212084" cy="253915"/>
        </p:xfrm>
        <a:graphic>
          <a:graphicData uri="http://schemas.openxmlformats.org/drawingml/2006/table">
            <a:tbl>
              <a:tblPr/>
              <a:tblGrid>
                <a:gridCol w="701668">
                  <a:extLst>
                    <a:ext uri="{9D8B030D-6E8A-4147-A177-3AD203B41FA5}">
                      <a16:colId xmlns:a16="http://schemas.microsoft.com/office/drawing/2014/main" val="20000"/>
                    </a:ext>
                  </a:extLst>
                </a:gridCol>
                <a:gridCol w="945996">
                  <a:extLst>
                    <a:ext uri="{9D8B030D-6E8A-4147-A177-3AD203B41FA5}">
                      <a16:colId xmlns:a16="http://schemas.microsoft.com/office/drawing/2014/main" val="20001"/>
                    </a:ext>
                  </a:extLst>
                </a:gridCol>
                <a:gridCol w="1564420">
                  <a:extLst>
                    <a:ext uri="{9D8B030D-6E8A-4147-A177-3AD203B41FA5}">
                      <a16:colId xmlns:a16="http://schemas.microsoft.com/office/drawing/2014/main" val="20002"/>
                    </a:ext>
                  </a:extLst>
                </a:gridCol>
              </a:tblGrid>
              <a:tr h="25391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Share Price</a:t>
                      </a:r>
                    </a:p>
                  </a:txBody>
                  <a:tcPr marL="73152" marR="0" marT="27432" marB="27432" anchor="ctr" horzOverflow="overflow">
                    <a:lnL>
                      <a:noFill/>
                    </a:lnL>
                    <a:lnR w="6350" cap="flat" cmpd="sng" algn="ctr">
                      <a:solidFill>
                        <a:schemeClr val="bg1"/>
                      </a:solid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solidFill>
                      <a:srgbClr val="113D6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900" b="0"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Current: </a:t>
                      </a:r>
                      <a:r>
                        <a:rPr kumimoji="0" lang="en-US"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$174.00</a:t>
                      </a:r>
                    </a:p>
                  </a:txBody>
                  <a:tcPr marL="45720" marR="0" marT="27432" marB="27432"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solidFill>
                      <a:srgbClr val="113D6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High/Low: </a:t>
                      </a:r>
                      <a:r>
                        <a:rPr kumimoji="0" lang="en-US"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$168.65 </a:t>
                      </a:r>
                      <a:r>
                        <a:rPr kumimoji="0" lang="en-US" sz="900" b="0"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 </a:t>
                      </a:r>
                      <a:r>
                        <a:rPr kumimoji="0" lang="en-US"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$164.93</a:t>
                      </a:r>
                    </a:p>
                  </a:txBody>
                  <a:tcPr marL="45720" marR="0" marT="27432" marB="27432" anchor="ctr" horzOverflow="overflow">
                    <a:lnL w="635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solidFill>
                      <a:srgbClr val="113D63"/>
                    </a:solidFill>
                  </a:tcPr>
                </a:tc>
                <a:extLst>
                  <a:ext uri="{0D108BD9-81ED-4DB2-BD59-A6C34878D82A}">
                    <a16:rowId xmlns:a16="http://schemas.microsoft.com/office/drawing/2014/main" val="10000"/>
                  </a:ext>
                </a:extLst>
              </a:tr>
            </a:tbl>
          </a:graphicData>
        </a:graphic>
      </p:graphicFrame>
      <p:graphicFrame>
        <p:nvGraphicFramePr>
          <p:cNvPr id="12" name="Table 11">
            <a:extLst>
              <a:ext uri="{FF2B5EF4-FFF2-40B4-BE49-F238E27FC236}">
                <a16:creationId xmlns:a16="http://schemas.microsoft.com/office/drawing/2014/main" id="{D8FB8558-231C-BA0B-F30B-FBAE28901FE4}"/>
              </a:ext>
            </a:extLst>
          </p:cNvPr>
          <p:cNvGraphicFramePr>
            <a:graphicFrameLocks noGrp="1"/>
          </p:cNvGraphicFramePr>
          <p:nvPr>
            <p:extLst>
              <p:ext uri="{D42A27DB-BD31-4B8C-83A1-F6EECF244321}">
                <p14:modId xmlns:p14="http://schemas.microsoft.com/office/powerpoint/2010/main" val="2474394553"/>
              </p:ext>
            </p:extLst>
          </p:nvPr>
        </p:nvGraphicFramePr>
        <p:xfrm>
          <a:off x="5802568" y="1541363"/>
          <a:ext cx="3112831" cy="2055279"/>
        </p:xfrm>
        <a:graphic>
          <a:graphicData uri="http://schemas.openxmlformats.org/drawingml/2006/table">
            <a:tbl>
              <a:tblPr firstRow="1" bandRow="1">
                <a:tableStyleId>{5C22544A-7EE6-4342-B048-85BDC9FD1C3A}</a:tableStyleId>
              </a:tblPr>
              <a:tblGrid>
                <a:gridCol w="987452">
                  <a:extLst>
                    <a:ext uri="{9D8B030D-6E8A-4147-A177-3AD203B41FA5}">
                      <a16:colId xmlns:a16="http://schemas.microsoft.com/office/drawing/2014/main" val="20000"/>
                    </a:ext>
                  </a:extLst>
                </a:gridCol>
                <a:gridCol w="522464">
                  <a:extLst>
                    <a:ext uri="{9D8B030D-6E8A-4147-A177-3AD203B41FA5}">
                      <a16:colId xmlns:a16="http://schemas.microsoft.com/office/drawing/2014/main" val="20001"/>
                    </a:ext>
                  </a:extLst>
                </a:gridCol>
                <a:gridCol w="1066869">
                  <a:extLst>
                    <a:ext uri="{9D8B030D-6E8A-4147-A177-3AD203B41FA5}">
                      <a16:colId xmlns:a16="http://schemas.microsoft.com/office/drawing/2014/main" val="20002"/>
                    </a:ext>
                  </a:extLst>
                </a:gridCol>
                <a:gridCol w="536046">
                  <a:extLst>
                    <a:ext uri="{9D8B030D-6E8A-4147-A177-3AD203B41FA5}">
                      <a16:colId xmlns:a16="http://schemas.microsoft.com/office/drawing/2014/main" val="20003"/>
                    </a:ext>
                  </a:extLst>
                </a:gridCol>
              </a:tblGrid>
              <a:tr h="54829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a:solidFill>
                            <a:schemeClr val="tx1"/>
                          </a:solidFill>
                          <a:latin typeface="Arial" panose="020B0604020202020204" pitchFamily="34" charset="0"/>
                          <a:cs typeface="Arial" panose="020B0604020202020204" pitchFamily="34" charset="0"/>
                        </a:rPr>
                        <a:t>Enterprise Value</a:t>
                      </a:r>
                      <a:endParaRPr lang="en-US" sz="900" dirty="0">
                        <a:solidFill>
                          <a:schemeClr val="tx1"/>
                        </a:solidFill>
                        <a:latin typeface="Arial" panose="020B0604020202020204" pitchFamily="34" charset="0"/>
                        <a:cs typeface="Arial" panose="020B0604020202020204" pitchFamily="34" charset="0"/>
                      </a:endParaRPr>
                    </a:p>
                  </a:txBody>
                  <a:tcPr marL="0" marR="20574" marT="13716" marB="13716"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900" baseline="0">
                          <a:solidFill>
                            <a:schemeClr val="tx1"/>
                          </a:solidFill>
                          <a:latin typeface="Arial" panose="020B0604020202020204" pitchFamily="34" charset="0"/>
                          <a:cs typeface="Arial" panose="020B0604020202020204" pitchFamily="34" charset="0"/>
                        </a:rPr>
                        <a:t>$143bn</a:t>
                      </a:r>
                      <a:endParaRPr lang="en-US" sz="900" dirty="0">
                        <a:solidFill>
                          <a:schemeClr val="tx1"/>
                        </a:solidFill>
                        <a:latin typeface="Arial" panose="020B0604020202020204" pitchFamily="34" charset="0"/>
                        <a:cs typeface="Arial" panose="020B0604020202020204" pitchFamily="34" charset="0"/>
                      </a:endParaRPr>
                    </a:p>
                  </a:txBody>
                  <a:tcPr marL="20574" marR="20574" marT="13716" marB="13716"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Arial" panose="020B0604020202020204" pitchFamily="34" charset="0"/>
                          <a:cs typeface="Arial" panose="020B0604020202020204" pitchFamily="34" charset="0"/>
                        </a:rPr>
                        <a:t>Revenue (FY23)</a:t>
                      </a:r>
                      <a:endParaRPr kumimoji="0" lang="en-US" sz="9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72000" marR="0" marT="13716" marB="13716"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900">
                          <a:solidFill>
                            <a:schemeClr val="tx1"/>
                          </a:solidFill>
                          <a:latin typeface="Arial" panose="020B0604020202020204" pitchFamily="34" charset="0"/>
                          <a:cs typeface="Arial" panose="020B0604020202020204" pitchFamily="34" charset="0"/>
                        </a:rPr>
                        <a:t>$77.8bn</a:t>
                      </a:r>
                      <a:endParaRPr lang="en-US" sz="900" dirty="0">
                        <a:solidFill>
                          <a:schemeClr val="tx1"/>
                        </a:solidFill>
                        <a:latin typeface="Arial" panose="020B0604020202020204" pitchFamily="34" charset="0"/>
                        <a:cs typeface="Arial" panose="020B0604020202020204" pitchFamily="34" charset="0"/>
                      </a:endParaRPr>
                    </a:p>
                  </a:txBody>
                  <a:tcPr marL="20574" marR="0" marT="13716" marB="13716"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9128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1">
                          <a:solidFill>
                            <a:schemeClr val="tx1"/>
                          </a:solidFill>
                          <a:latin typeface="Arial" panose="020B0604020202020204" pitchFamily="34" charset="0"/>
                          <a:cs typeface="Arial" panose="020B0604020202020204" pitchFamily="34" charset="0"/>
                        </a:rPr>
                        <a:t>Market Cap</a:t>
                      </a:r>
                      <a:endParaRPr lang="en-US" sz="900" b="1" dirty="0">
                        <a:solidFill>
                          <a:schemeClr val="tx1"/>
                        </a:solidFill>
                        <a:latin typeface="Arial" panose="020B0604020202020204" pitchFamily="34" charset="0"/>
                        <a:cs typeface="Arial" panose="020B0604020202020204" pitchFamily="34" charset="0"/>
                      </a:endParaRPr>
                    </a:p>
                  </a:txBody>
                  <a:tcPr marL="0" marR="20574"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900" b="1">
                          <a:solidFill>
                            <a:schemeClr val="tx1"/>
                          </a:solidFill>
                          <a:latin typeface="Arial" panose="020B0604020202020204" pitchFamily="34" charset="0"/>
                          <a:cs typeface="Arial" panose="020B0604020202020204" pitchFamily="34" charset="0"/>
                        </a:rPr>
                        <a:t>$105bn</a:t>
                      </a:r>
                      <a:endParaRPr lang="en-US" sz="900" b="1" dirty="0">
                        <a:solidFill>
                          <a:schemeClr val="tx1"/>
                        </a:solidFill>
                        <a:latin typeface="Arial" panose="020B0604020202020204" pitchFamily="34" charset="0"/>
                        <a:cs typeface="Arial" panose="020B0604020202020204" pitchFamily="34" charset="0"/>
                      </a:endParaRPr>
                    </a:p>
                  </a:txBody>
                  <a:tcPr marL="20574" marR="20574"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Arial" panose="020B0604020202020204" pitchFamily="34" charset="0"/>
                          <a:cs typeface="Arial" panose="020B0604020202020204" pitchFamily="34" charset="0"/>
                        </a:rPr>
                        <a:t>EBITDA (FY23)</a:t>
                      </a:r>
                    </a:p>
                  </a:txBody>
                  <a:tcPr marL="72000" marR="0"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900" b="1">
                          <a:solidFill>
                            <a:schemeClr val="tx1"/>
                          </a:solidFill>
                          <a:latin typeface="Arial" panose="020B0604020202020204" pitchFamily="34" charset="0"/>
                          <a:cs typeface="Arial" panose="020B0604020202020204" pitchFamily="34" charset="0"/>
                        </a:rPr>
                        <a:t>$1.1bn</a:t>
                      </a:r>
                      <a:endParaRPr lang="en-US" sz="900" b="1" dirty="0">
                        <a:solidFill>
                          <a:schemeClr val="tx1"/>
                        </a:solidFill>
                        <a:latin typeface="Arial" panose="020B0604020202020204" pitchFamily="34" charset="0"/>
                        <a:cs typeface="Arial" panose="020B0604020202020204" pitchFamily="34" charset="0"/>
                      </a:endParaRPr>
                    </a:p>
                  </a:txBody>
                  <a:tcPr marL="20574" marR="0"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287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a:solidFill>
                            <a:schemeClr val="tx1"/>
                          </a:solidFill>
                          <a:latin typeface="Arial" panose="020B0604020202020204" pitchFamily="34" charset="0"/>
                          <a:cs typeface="Arial" panose="020B0604020202020204" pitchFamily="34" charset="0"/>
                        </a:rPr>
                        <a:t>P/E</a:t>
                      </a:r>
                      <a:endParaRPr lang="en-US" sz="900" dirty="0">
                        <a:solidFill>
                          <a:schemeClr val="tx1"/>
                        </a:solidFill>
                        <a:latin typeface="Arial" panose="020B0604020202020204" pitchFamily="34" charset="0"/>
                        <a:cs typeface="Arial" panose="020B0604020202020204" pitchFamily="34" charset="0"/>
                      </a:endParaRPr>
                    </a:p>
                  </a:txBody>
                  <a:tcPr marL="0" marR="20574"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900">
                          <a:solidFill>
                            <a:schemeClr val="tx1"/>
                          </a:solidFill>
                          <a:latin typeface="Arial" panose="020B0604020202020204" pitchFamily="34" charset="0"/>
                          <a:cs typeface="Arial" panose="020B0604020202020204" pitchFamily="34" charset="0"/>
                        </a:rPr>
                        <a:t>N/A</a:t>
                      </a:r>
                      <a:endParaRPr lang="en-US" sz="900" dirty="0">
                        <a:solidFill>
                          <a:schemeClr val="tx1"/>
                        </a:solidFill>
                        <a:latin typeface="Arial" panose="020B0604020202020204" pitchFamily="34" charset="0"/>
                        <a:cs typeface="Arial" panose="020B0604020202020204" pitchFamily="34" charset="0"/>
                      </a:endParaRPr>
                    </a:p>
                  </a:txBody>
                  <a:tcPr marL="20574" marR="20574"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r>
                        <a:rPr lang="en-US" sz="900" dirty="0">
                          <a:solidFill>
                            <a:schemeClr val="tx1"/>
                          </a:solidFill>
                          <a:latin typeface="Arial" panose="020B0604020202020204" pitchFamily="34" charset="0"/>
                          <a:cs typeface="Arial" panose="020B0604020202020204" pitchFamily="34" charset="0"/>
                        </a:rPr>
                        <a:t>EBITDA Margin ‘23</a:t>
                      </a:r>
                    </a:p>
                  </a:txBody>
                  <a:tcPr marL="72000" marR="0"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900">
                          <a:solidFill>
                            <a:schemeClr val="tx1"/>
                          </a:solidFill>
                          <a:latin typeface="Arial" panose="020B0604020202020204" pitchFamily="34" charset="0"/>
                          <a:cs typeface="Arial" panose="020B0604020202020204" pitchFamily="34" charset="0"/>
                        </a:rPr>
                        <a:t>1.40%</a:t>
                      </a:r>
                      <a:endParaRPr lang="en-US" sz="900" dirty="0">
                        <a:solidFill>
                          <a:schemeClr val="tx1"/>
                        </a:solidFill>
                        <a:latin typeface="Arial" panose="020B0604020202020204" pitchFamily="34" charset="0"/>
                        <a:cs typeface="Arial" panose="020B0604020202020204" pitchFamily="34" charset="0"/>
                      </a:endParaRPr>
                    </a:p>
                  </a:txBody>
                  <a:tcPr marL="20574" marR="0"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3"/>
                  </a:ext>
                </a:extLst>
              </a:tr>
              <a:tr h="4137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EV/EBITDA</a:t>
                      </a:r>
                      <a:endParaRPr kumimoji="0" lang="en-US" sz="90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endParaRPr>
                    </a:p>
                  </a:txBody>
                  <a:tcPr marL="0" marR="20574"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solidFill>
                          <a:latin typeface="Arial" panose="020B0604020202020204" pitchFamily="34" charset="0"/>
                          <a:cs typeface="Arial" panose="020B0604020202020204" pitchFamily="34" charset="0"/>
                        </a:rPr>
                        <a:t>46.50x</a:t>
                      </a:r>
                      <a:endParaRPr lang="en-US" sz="900" dirty="0">
                        <a:solidFill>
                          <a:schemeClr val="tx1"/>
                        </a:solidFill>
                        <a:latin typeface="Arial" panose="020B0604020202020204" pitchFamily="34" charset="0"/>
                        <a:cs typeface="Arial" panose="020B0604020202020204" pitchFamily="34" charset="0"/>
                      </a:endParaRPr>
                    </a:p>
                  </a:txBody>
                  <a:tcPr marL="20574" marR="20574"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Arial" panose="020B0604020202020204" pitchFamily="34" charset="0"/>
                          <a:cs typeface="Arial" panose="020B0604020202020204" pitchFamily="34" charset="0"/>
                        </a:rPr>
                        <a:t>Debt / EV</a:t>
                      </a:r>
                    </a:p>
                  </a:txBody>
                  <a:tcPr marL="72000" marR="0"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900">
                          <a:solidFill>
                            <a:schemeClr val="tx1"/>
                          </a:solidFill>
                          <a:latin typeface="Arial" panose="020B0604020202020204" pitchFamily="34" charset="0"/>
                          <a:cs typeface="Arial" panose="020B0604020202020204" pitchFamily="34" charset="0"/>
                        </a:rPr>
                        <a:t>0.34</a:t>
                      </a:r>
                      <a:endParaRPr lang="en-US" sz="900" dirty="0">
                        <a:solidFill>
                          <a:schemeClr val="tx1"/>
                        </a:solidFill>
                        <a:latin typeface="Arial" panose="020B0604020202020204" pitchFamily="34" charset="0"/>
                        <a:cs typeface="Arial" panose="020B0604020202020204" pitchFamily="34" charset="0"/>
                      </a:endParaRPr>
                    </a:p>
                  </a:txBody>
                  <a:tcPr marL="20574" marR="0"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r h="2990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Arial" panose="020B0604020202020204" pitchFamily="34" charset="0"/>
                          <a:cs typeface="Arial" panose="020B0604020202020204" pitchFamily="34" charset="0"/>
                        </a:rPr>
                        <a:t>Cash</a:t>
                      </a:r>
                    </a:p>
                  </a:txBody>
                  <a:tcPr marL="0" marR="20574"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solidFill>
                          <a:latin typeface="Arial" panose="020B0604020202020204" pitchFamily="34" charset="0"/>
                          <a:cs typeface="Arial" panose="020B0604020202020204" pitchFamily="34" charset="0"/>
                        </a:rPr>
                        <a:t>$7.5bn</a:t>
                      </a:r>
                      <a:endParaRPr lang="en-US" sz="900" dirty="0">
                        <a:solidFill>
                          <a:schemeClr val="tx1"/>
                        </a:solidFill>
                        <a:latin typeface="Arial" panose="020B0604020202020204" pitchFamily="34" charset="0"/>
                        <a:cs typeface="Arial" panose="020B0604020202020204" pitchFamily="34" charset="0"/>
                      </a:endParaRPr>
                    </a:p>
                  </a:txBody>
                  <a:tcPr marL="20574" marR="20574"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Arial" panose="020B0604020202020204" pitchFamily="34" charset="0"/>
                          <a:cs typeface="Arial" panose="020B0604020202020204" pitchFamily="34" charset="0"/>
                        </a:rPr>
                        <a:t>Total Debt</a:t>
                      </a:r>
                    </a:p>
                  </a:txBody>
                  <a:tcPr marL="72000" marR="0"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Arial" panose="020B0604020202020204" pitchFamily="34" charset="0"/>
                          <a:cs typeface="Arial" panose="020B0604020202020204" pitchFamily="34" charset="0"/>
                        </a:rPr>
                        <a:t>$47.9bn</a:t>
                      </a:r>
                    </a:p>
                  </a:txBody>
                  <a:tcPr marL="20574" marR="0" marT="13716" marB="1371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graphicFrame>
        <p:nvGraphicFramePr>
          <p:cNvPr id="13" name="Table 12">
            <a:extLst>
              <a:ext uri="{FF2B5EF4-FFF2-40B4-BE49-F238E27FC236}">
                <a16:creationId xmlns:a16="http://schemas.microsoft.com/office/drawing/2014/main" id="{B3854655-F30F-4EBB-641F-924A5DFE8C25}"/>
              </a:ext>
            </a:extLst>
          </p:cNvPr>
          <p:cNvGraphicFramePr>
            <a:graphicFrameLocks noGrp="1"/>
          </p:cNvGraphicFramePr>
          <p:nvPr>
            <p:extLst>
              <p:ext uri="{D42A27DB-BD31-4B8C-83A1-F6EECF244321}">
                <p14:modId xmlns:p14="http://schemas.microsoft.com/office/powerpoint/2010/main" val="442986457"/>
              </p:ext>
            </p:extLst>
          </p:nvPr>
        </p:nvGraphicFramePr>
        <p:xfrm>
          <a:off x="5802568" y="1305511"/>
          <a:ext cx="3112832" cy="235852"/>
        </p:xfrm>
        <a:graphic>
          <a:graphicData uri="http://schemas.openxmlformats.org/drawingml/2006/table">
            <a:tbl>
              <a:tblPr/>
              <a:tblGrid>
                <a:gridCol w="3112832">
                  <a:extLst>
                    <a:ext uri="{9D8B030D-6E8A-4147-A177-3AD203B41FA5}">
                      <a16:colId xmlns:a16="http://schemas.microsoft.com/office/drawing/2014/main" val="20000"/>
                    </a:ext>
                  </a:extLst>
                </a:gridCol>
              </a:tblGrid>
              <a:tr h="23585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Key Valuation Statistics </a:t>
                      </a:r>
                      <a:endParaRPr kumimoji="0" lang="en-US" sz="900" b="0" i="1"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endParaRPr>
                    </a:p>
                  </a:txBody>
                  <a:tcPr marL="54864" marR="0" marT="20574" marB="20574" anchor="ctr" horzOverflow="overflow">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solidFill>
                      <a:srgbClr val="2A90BC"/>
                    </a:solidFill>
                  </a:tcPr>
                </a:tc>
                <a:extLst>
                  <a:ext uri="{0D108BD9-81ED-4DB2-BD59-A6C34878D82A}">
                    <a16:rowId xmlns:a16="http://schemas.microsoft.com/office/drawing/2014/main" val="10000"/>
                  </a:ext>
                </a:extLst>
              </a:tr>
            </a:tbl>
          </a:graphicData>
        </a:graphic>
      </p:graphicFrame>
      <p:sp>
        <p:nvSpPr>
          <p:cNvPr id="15" name="Title 1">
            <a:extLst>
              <a:ext uri="{FF2B5EF4-FFF2-40B4-BE49-F238E27FC236}">
                <a16:creationId xmlns:a16="http://schemas.microsoft.com/office/drawing/2014/main" id="{9DB5AE6F-DBEE-3268-5BB6-DC44C6C0D91E}"/>
              </a:ext>
            </a:extLst>
          </p:cNvPr>
          <p:cNvSpPr>
            <a:spLocks noGrp="1"/>
          </p:cNvSpPr>
          <p:nvPr/>
        </p:nvSpPr>
        <p:spPr>
          <a:xfrm>
            <a:off x="0" y="396096"/>
            <a:ext cx="3189593"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dirty="0">
                <a:solidFill>
                  <a:srgbClr val="333F44"/>
                </a:solidFill>
              </a:rPr>
              <a:t>Company Overview</a:t>
            </a:r>
          </a:p>
        </p:txBody>
      </p:sp>
      <p:sp>
        <p:nvSpPr>
          <p:cNvPr id="16" name="TextBox 15">
            <a:extLst>
              <a:ext uri="{FF2B5EF4-FFF2-40B4-BE49-F238E27FC236}">
                <a16:creationId xmlns:a16="http://schemas.microsoft.com/office/drawing/2014/main" id="{7EF18A3A-8915-B6D6-DEEC-DC70081B7ED9}"/>
              </a:ext>
            </a:extLst>
          </p:cNvPr>
          <p:cNvSpPr txBox="1"/>
          <p:nvPr/>
        </p:nvSpPr>
        <p:spPr>
          <a:xfrm>
            <a:off x="225598" y="1329853"/>
            <a:ext cx="5486400" cy="2349361"/>
          </a:xfrm>
          <a:prstGeom prst="rect">
            <a:avLst/>
          </a:prstGeom>
          <a:noFill/>
        </p:spPr>
        <p:txBody>
          <a:bodyPr wrap="square">
            <a:spAutoFit/>
          </a:bodyPr>
          <a:lstStyle/>
          <a:p>
            <a:pPr marL="128588" indent="-128588" defTabSz="685800">
              <a:spcAft>
                <a:spcPts val="450"/>
              </a:spcAft>
              <a:buClr>
                <a:srgbClr val="132E57"/>
              </a:buClr>
              <a:buSzPct val="150000"/>
              <a:buFont typeface="Arial" panose="020B0604020202020204" pitchFamily="34" charset="0"/>
              <a:buChar char="•"/>
            </a:pPr>
            <a:r>
              <a:rPr lang="en-CA" sz="1000" b="1" dirty="0">
                <a:latin typeface="Arial" panose="020B0604020202020204" pitchFamily="34" charset="0"/>
                <a:ea typeface="Open Sans Light" panose="020B0306030504020204" pitchFamily="34" charset="0"/>
                <a:cs typeface="Arial" panose="020B0604020202020204" pitchFamily="34" charset="0"/>
              </a:rPr>
              <a:t>History: </a:t>
            </a:r>
            <a:r>
              <a:rPr lang="en-US" sz="1000" dirty="0">
                <a:latin typeface="Arial" panose="020B0604020202020204" pitchFamily="34" charset="0"/>
                <a:ea typeface="Open Sans Light" panose="020B0306030504020204" pitchFamily="34" charset="0"/>
                <a:cs typeface="Arial" panose="020B0604020202020204" pitchFamily="34" charset="0"/>
              </a:rPr>
              <a:t>Boeing was established in 1916 by William Boeing and George Westervelt. Some key milestones in the company's history include the first flight of the B-17 in 1935, the introduction of the 747 in 1970, and the launch of the Dreamliner 787 in 2009.</a:t>
            </a:r>
          </a:p>
          <a:p>
            <a:pPr marL="128588" indent="-128588" defTabSz="685800">
              <a:spcAft>
                <a:spcPts val="450"/>
              </a:spcAft>
              <a:buClr>
                <a:srgbClr val="132E57"/>
              </a:buClr>
              <a:buSzPct val="150000"/>
              <a:buFont typeface="Arial" panose="020B0604020202020204" pitchFamily="34" charset="0"/>
              <a:buChar char="•"/>
            </a:pPr>
            <a:r>
              <a:rPr lang="en-CA" sz="1000" b="1" dirty="0">
                <a:latin typeface="Arial" panose="020B0604020202020204" pitchFamily="34" charset="0"/>
                <a:ea typeface="Open Sans Light" panose="020B0306030504020204" pitchFamily="34" charset="0"/>
                <a:cs typeface="Arial" panose="020B0604020202020204" pitchFamily="34" charset="0"/>
              </a:rPr>
              <a:t>Valuation: </a:t>
            </a:r>
            <a:r>
              <a:rPr lang="en-US" sz="1000" dirty="0">
                <a:latin typeface="Arial" panose="020B0604020202020204" pitchFamily="34" charset="0"/>
                <a:ea typeface="Open Sans Light" panose="020B0306030504020204" pitchFamily="34" charset="0"/>
                <a:cs typeface="Arial" panose="020B0604020202020204" pitchFamily="34" charset="0"/>
              </a:rPr>
              <a:t>Boeing's stock performance has fluctuated due to industry trends and company-specific events. The market factors in order backlogs, new aircraft launches, and defense contracts. Key investment highlights are Boeing's diverse portfolio, innovation, and global client relationships.</a:t>
            </a:r>
            <a:endParaRPr lang="en-CA" sz="1000" dirty="0">
              <a:latin typeface="Arial" panose="020B0604020202020204" pitchFamily="34" charset="0"/>
              <a:ea typeface="Open Sans Light" panose="020B0306030504020204" pitchFamily="34" charset="0"/>
              <a:cs typeface="Arial" panose="020B0604020202020204" pitchFamily="34" charset="0"/>
            </a:endParaRPr>
          </a:p>
          <a:p>
            <a:pPr marL="128588" indent="-128588" defTabSz="685800">
              <a:spcAft>
                <a:spcPts val="450"/>
              </a:spcAft>
              <a:buClr>
                <a:srgbClr val="132E57"/>
              </a:buClr>
              <a:buSzPct val="150000"/>
              <a:buFont typeface="Arial" panose="020B0604020202020204" pitchFamily="34" charset="0"/>
              <a:buChar char="•"/>
            </a:pPr>
            <a:r>
              <a:rPr lang="en-CA" sz="1000" b="1" dirty="0">
                <a:latin typeface="Arial" panose="020B0604020202020204" pitchFamily="34" charset="0"/>
                <a:ea typeface="Open Sans Light" panose="020B0306030504020204" pitchFamily="34" charset="0"/>
                <a:cs typeface="Arial" panose="020B0604020202020204" pitchFamily="34" charset="0"/>
              </a:rPr>
              <a:t>Strategy: </a:t>
            </a:r>
            <a:r>
              <a:rPr lang="en-US" sz="1000" dirty="0">
                <a:latin typeface="Arial" panose="020B0604020202020204" pitchFamily="34" charset="0"/>
                <a:ea typeface="Open Sans Light" panose="020B0306030504020204" pitchFamily="34" charset="0"/>
                <a:cs typeface="Arial" panose="020B0604020202020204" pitchFamily="34" charset="0"/>
              </a:rPr>
              <a:t>Boeing is focusing on safety, innovation, and efficiency. The company's strategy emphasizes new technologies, operational excellence, and expanding its global presence, with strong management commitment to delivering high-quality products.</a:t>
            </a:r>
          </a:p>
          <a:p>
            <a:pPr marL="128588" indent="-128588" defTabSz="685800">
              <a:spcAft>
                <a:spcPts val="450"/>
              </a:spcAft>
              <a:buClr>
                <a:srgbClr val="132E57"/>
              </a:buClr>
              <a:buSzPct val="150000"/>
              <a:buFont typeface="Arial" panose="020B0604020202020204" pitchFamily="34" charset="0"/>
              <a:buChar char="•"/>
            </a:pPr>
            <a:r>
              <a:rPr lang="en-CA" sz="1000" b="1" dirty="0">
                <a:latin typeface="Arial" panose="020B0604020202020204" pitchFamily="34" charset="0"/>
                <a:ea typeface="Open Sans Light" panose="020B0306030504020204" pitchFamily="34" charset="0"/>
                <a:cs typeface="Arial" panose="020B0604020202020204" pitchFamily="34" charset="0"/>
              </a:rPr>
              <a:t>Corporate Finance Transactions: </a:t>
            </a:r>
            <a:r>
              <a:rPr lang="en-CA" sz="1000" dirty="0">
                <a:latin typeface="Arial" panose="020B0604020202020204" pitchFamily="34" charset="0"/>
                <a:ea typeface="Open Sans Light" panose="020B0306030504020204" pitchFamily="34" charset="0"/>
                <a:cs typeface="Arial" panose="020B0604020202020204" pitchFamily="34" charset="0"/>
              </a:rPr>
              <a:t>Boeing's recent notable acquisitions include Aurora Flight Sciences and KLX Aerospace Solutions.</a:t>
            </a:r>
          </a:p>
          <a:p>
            <a:pPr marL="128588" indent="-128588" defTabSz="685800">
              <a:spcAft>
                <a:spcPts val="450"/>
              </a:spcAft>
              <a:buClr>
                <a:srgbClr val="132E57"/>
              </a:buClr>
              <a:buSzPct val="150000"/>
              <a:buFont typeface="Arial" panose="020B0604020202020204" pitchFamily="34" charset="0"/>
              <a:buChar char="•"/>
            </a:pPr>
            <a:r>
              <a:rPr lang="en-CA" sz="1000" b="1" dirty="0">
                <a:latin typeface="Arial" panose="020B0604020202020204" pitchFamily="34" charset="0"/>
                <a:ea typeface="Open Sans Light" panose="020B0306030504020204" pitchFamily="34" charset="0"/>
                <a:cs typeface="Arial" panose="020B0604020202020204" pitchFamily="34" charset="0"/>
              </a:rPr>
              <a:t>Ownership:</a:t>
            </a:r>
            <a:r>
              <a:rPr lang="en-CA" sz="1000" dirty="0">
                <a:latin typeface="Arial" panose="020B0604020202020204" pitchFamily="34" charset="0"/>
                <a:ea typeface="Open Sans Light" panose="020B0306030504020204" pitchFamily="34" charset="0"/>
                <a:cs typeface="Arial" panose="020B0604020202020204" pitchFamily="34" charset="0"/>
              </a:rPr>
              <a:t> </a:t>
            </a:r>
            <a:r>
              <a:rPr lang="en-US" sz="1000" dirty="0">
                <a:latin typeface="Arial" panose="020B0604020202020204" pitchFamily="34" charset="0"/>
                <a:ea typeface="Open Sans Light" panose="020B0306030504020204" pitchFamily="34" charset="0"/>
                <a:cs typeface="Arial" panose="020B0604020202020204" pitchFamily="34" charset="0"/>
              </a:rPr>
              <a:t>The top shareholders are Vanguard Group (7.90%) and BlackRock (5.97%).</a:t>
            </a:r>
            <a:endParaRPr lang="en-CA" sz="1000" dirty="0">
              <a:latin typeface="Arial" panose="020B0604020202020204" pitchFamily="34" charset="0"/>
              <a:ea typeface="Open Sans Light" panose="020B0306030504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85EBE834-880C-ECAF-6F62-99CEB9F82D82}"/>
              </a:ext>
            </a:extLst>
          </p:cNvPr>
          <p:cNvSpPr txBox="1"/>
          <p:nvPr/>
        </p:nvSpPr>
        <p:spPr>
          <a:xfrm>
            <a:off x="5802568" y="1018937"/>
            <a:ext cx="3112832" cy="253916"/>
          </a:xfrm>
          <a:prstGeom prst="rect">
            <a:avLst/>
          </a:prstGeom>
          <a:solidFill>
            <a:srgbClr val="113D63"/>
          </a:solidFill>
        </p:spPr>
        <p:txBody>
          <a:bodyPr wrap="square" rtlCol="0">
            <a:spAutoFit/>
          </a:bodyPr>
          <a:lstStyle/>
          <a:p>
            <a:r>
              <a:rPr lang="en-US" altLang="zh-CN" sz="1050" b="1" dirty="0">
                <a:solidFill>
                  <a:schemeClr val="bg1"/>
                </a:solidFill>
              </a:rPr>
              <a:t>Valuation &amp; Share Performance</a:t>
            </a:r>
          </a:p>
        </p:txBody>
      </p:sp>
      <p:graphicFrame>
        <p:nvGraphicFramePr>
          <p:cNvPr id="18" name="Group 108">
            <a:extLst>
              <a:ext uri="{FF2B5EF4-FFF2-40B4-BE49-F238E27FC236}">
                <a16:creationId xmlns:a16="http://schemas.microsoft.com/office/drawing/2014/main" id="{6C61B829-F30A-60EC-BE02-E46E2FF94DBC}"/>
              </a:ext>
            </a:extLst>
          </p:cNvPr>
          <p:cNvGraphicFramePr>
            <a:graphicFrameLocks noGrp="1"/>
          </p:cNvGraphicFramePr>
          <p:nvPr>
            <p:extLst>
              <p:ext uri="{D42A27DB-BD31-4B8C-83A1-F6EECF244321}">
                <p14:modId xmlns:p14="http://schemas.microsoft.com/office/powerpoint/2010/main" val="3738818284"/>
              </p:ext>
            </p:extLst>
          </p:nvPr>
        </p:nvGraphicFramePr>
        <p:xfrm>
          <a:off x="357678" y="3837302"/>
          <a:ext cx="2599898" cy="1819427"/>
        </p:xfrm>
        <a:graphic>
          <a:graphicData uri="http://schemas.openxmlformats.org/drawingml/2006/table">
            <a:tbl>
              <a:tblPr/>
              <a:tblGrid>
                <a:gridCol w="1572393">
                  <a:extLst>
                    <a:ext uri="{9D8B030D-6E8A-4147-A177-3AD203B41FA5}">
                      <a16:colId xmlns:a16="http://schemas.microsoft.com/office/drawing/2014/main" val="20001"/>
                    </a:ext>
                  </a:extLst>
                </a:gridCol>
                <a:gridCol w="1027505">
                  <a:extLst>
                    <a:ext uri="{9D8B030D-6E8A-4147-A177-3AD203B41FA5}">
                      <a16:colId xmlns:a16="http://schemas.microsoft.com/office/drawing/2014/main" val="20002"/>
                    </a:ext>
                  </a:extLst>
                </a:gridCol>
              </a:tblGrid>
              <a:tr h="19310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bg1"/>
                          </a:solidFill>
                          <a:effectLst/>
                          <a:latin typeface="Arial" panose="020B0604020202020204" pitchFamily="34" charset="0"/>
                          <a:ea typeface="ＭＳ Ｐゴシック" pitchFamily="34" charset="-128"/>
                          <a:cs typeface="Arial" panose="020B0604020202020204" pitchFamily="34" charset="0"/>
                        </a:rPr>
                        <a:t>Industry Data</a:t>
                      </a:r>
                      <a:endParaRPr kumimoji="0" lang="en-US"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endParaRPr>
                    </a:p>
                  </a:txBody>
                  <a:tcPr marL="34290" marR="34290" marT="27432" marB="13716" anchor="ctr" horzOverflow="overflow">
                    <a:lnL w="381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lnTlToBr>
                      <a:noFill/>
                    </a:lnTlToBr>
                    <a:lnBlToTr>
                      <a:noFill/>
                    </a:lnBlToTr>
                    <a:solidFill>
                      <a:srgbClr val="113D6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Average</a:t>
                      </a:r>
                    </a:p>
                  </a:txBody>
                  <a:tcPr marL="0" marR="0" marT="0" marB="13716"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lnTlToBr>
                      <a:noFill/>
                    </a:lnTlToBr>
                    <a:lnBlToTr>
                      <a:noFill/>
                    </a:lnBlToTr>
                    <a:solidFill>
                      <a:srgbClr val="113D63"/>
                    </a:solidFill>
                  </a:tcPr>
                </a:tc>
                <a:extLst>
                  <a:ext uri="{0D108BD9-81ED-4DB2-BD59-A6C34878D82A}">
                    <a16:rowId xmlns:a16="http://schemas.microsoft.com/office/drawing/2014/main" val="10000"/>
                  </a:ext>
                </a:extLst>
              </a:tr>
              <a:tr h="192405">
                <a:tc gridSpan="2">
                  <a:txBody>
                    <a:bodyPr/>
                    <a:lstStyle/>
                    <a:p>
                      <a:pPr lvl="0" algn="ctr" fontAlgn="b"/>
                      <a:r>
                        <a:rPr lang="en-CA" sz="900" b="1" i="1" u="none" strike="noStrike" dirty="0">
                          <a:solidFill>
                            <a:schemeClr val="bg1"/>
                          </a:solidFill>
                          <a:effectLst/>
                          <a:latin typeface="Arial" panose="020B0604020202020204" pitchFamily="34" charset="0"/>
                          <a:cs typeface="Arial" panose="020B0604020202020204" pitchFamily="34" charset="0"/>
                        </a:rPr>
                        <a:t>Commercial Airplanes</a:t>
                      </a: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2A90BC"/>
                    </a:solidFill>
                  </a:tcPr>
                </a:tc>
                <a:tc hMerge="1">
                  <a:txBody>
                    <a:bodyPr/>
                    <a:lstStyle/>
                    <a:p>
                      <a:pPr algn="ctr" fontAlgn="b"/>
                      <a:endParaRPr lang="en-CA" sz="900" b="0" i="0" u="none" strike="noStrike">
                        <a:solidFill>
                          <a:srgbClr val="000000"/>
                        </a:solidFill>
                        <a:effectLst/>
                        <a:latin typeface="+mn-lt"/>
                      </a:endParaRP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9545">
                <a:tc>
                  <a:txBody>
                    <a:bodyPr/>
                    <a:lstStyle/>
                    <a:p>
                      <a:pPr lvl="0" algn="l" fontAlgn="b"/>
                      <a:r>
                        <a:rPr lang="en-CA" sz="900" b="0" i="0" u="none" strike="noStrike">
                          <a:solidFill>
                            <a:srgbClr val="000000"/>
                          </a:solidFill>
                          <a:effectLst/>
                          <a:latin typeface="Arial" panose="020B0604020202020204" pitchFamily="34" charset="0"/>
                          <a:cs typeface="Arial" panose="020B0604020202020204" pitchFamily="34" charset="0"/>
                        </a:rPr>
                        <a:t>EV/EBITDA -122.167</a:t>
                      </a:r>
                      <a:endParaRPr lang="en-CA"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algn="ctr" fontAlgn="b"/>
                      <a:r>
                        <a:rPr lang="en-CA" sz="900" b="0" i="0" u="none" strike="noStrike">
                          <a:solidFill>
                            <a:srgbClr val="000000"/>
                          </a:solidFill>
                          <a:effectLst/>
                          <a:latin typeface="Arial" panose="020B0604020202020204" pitchFamily="34" charset="0"/>
                          <a:cs typeface="Arial" panose="020B0604020202020204" pitchFamily="34" charset="0"/>
                        </a:rPr>
                        <a:t>55.837</a:t>
                      </a:r>
                      <a:endParaRPr lang="en-CA"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9545">
                <a:tc>
                  <a:txBody>
                    <a:bodyPr/>
                    <a:lstStyle/>
                    <a:p>
                      <a:pPr lvl="0" algn="l" fontAlgn="b"/>
                      <a:r>
                        <a:rPr lang="en-CA" sz="900" b="0" i="0" u="none" strike="noStrike">
                          <a:solidFill>
                            <a:srgbClr val="000000"/>
                          </a:solidFill>
                          <a:effectLst/>
                          <a:latin typeface="Arial" panose="020B0604020202020204" pitchFamily="34" charset="0"/>
                          <a:cs typeface="Arial" panose="020B0604020202020204" pitchFamily="34" charset="0"/>
                        </a:rPr>
                        <a:t>EV/Revenue - 3.967</a:t>
                      </a:r>
                      <a:endParaRPr lang="en-CA"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algn="ctr" fontAlgn="b"/>
                      <a:r>
                        <a:rPr lang="en-CA" sz="900" b="0" i="0" u="none" strike="noStrike">
                          <a:solidFill>
                            <a:srgbClr val="000000"/>
                          </a:solidFill>
                          <a:effectLst/>
                          <a:latin typeface="Arial" panose="020B0604020202020204" pitchFamily="34" charset="0"/>
                          <a:cs typeface="Arial" panose="020B0604020202020204" pitchFamily="34" charset="0"/>
                        </a:rPr>
                        <a:t>2.392</a:t>
                      </a:r>
                      <a:endParaRPr lang="en-CA"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9545">
                <a:tc>
                  <a:txBody>
                    <a:bodyPr/>
                    <a:lstStyle/>
                    <a:p>
                      <a:pPr lvl="0" algn="l" fontAlgn="b"/>
                      <a:r>
                        <a:rPr lang="en-CA" sz="900" b="0" i="0" u="none" strike="noStrike">
                          <a:solidFill>
                            <a:srgbClr val="000000"/>
                          </a:solidFill>
                          <a:effectLst/>
                          <a:latin typeface="Arial" panose="020B0604020202020204" pitchFamily="34" charset="0"/>
                          <a:cs typeface="Arial" panose="020B0604020202020204" pitchFamily="34" charset="0"/>
                        </a:rPr>
                        <a:t>P/E - 22.163</a:t>
                      </a:r>
                      <a:endParaRPr lang="en-CA"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algn="ctr" fontAlgn="b"/>
                      <a:r>
                        <a:rPr lang="en-CA" sz="900" b="0" i="0" u="none" strike="noStrike">
                          <a:solidFill>
                            <a:srgbClr val="000000"/>
                          </a:solidFill>
                          <a:effectLst/>
                          <a:latin typeface="Arial" panose="020B0604020202020204" pitchFamily="34" charset="0"/>
                          <a:cs typeface="Arial" panose="020B0604020202020204" pitchFamily="34" charset="0"/>
                        </a:rPr>
                        <a:t>29.004</a:t>
                      </a:r>
                      <a:endParaRPr lang="en-CA"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92405">
                <a:tc gridSpan="2">
                  <a:txBody>
                    <a:bodyPr/>
                    <a:lstStyle/>
                    <a:p>
                      <a:pPr algn="ctr" fontAlgn="b"/>
                      <a:r>
                        <a:rPr lang="en-CA" sz="900" b="1" i="1" u="none" strike="noStrike" dirty="0">
                          <a:solidFill>
                            <a:schemeClr val="bg1"/>
                          </a:solidFill>
                          <a:effectLst/>
                          <a:latin typeface="Arial" panose="020B0604020202020204" pitchFamily="34" charset="0"/>
                          <a:cs typeface="Arial" panose="020B0604020202020204" pitchFamily="34" charset="0"/>
                        </a:rPr>
                        <a:t>Defense, Space &amp; Security</a:t>
                      </a: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solidFill>
                      <a:srgbClr val="2A90BC"/>
                    </a:solidFill>
                  </a:tcPr>
                </a:tc>
                <a:tc hMerge="1">
                  <a:txBody>
                    <a:bodyPr/>
                    <a:lstStyle/>
                    <a:p>
                      <a:pPr algn="ctr" fontAlgn="b"/>
                      <a:endParaRPr lang="en-CA" sz="900" b="0" i="0" u="none" strike="noStrike">
                        <a:solidFill>
                          <a:srgbClr val="000000"/>
                        </a:solidFill>
                        <a:effectLst/>
                        <a:latin typeface="+mn-lt"/>
                      </a:endParaRPr>
                    </a:p>
                  </a:txBody>
                  <a:tcPr marL="9525" marR="9525" marT="9525"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93789">
                <a:tc>
                  <a:txBody>
                    <a:bodyPr/>
                    <a:lstStyle/>
                    <a:p>
                      <a:pPr lvl="0" algn="l" fontAlgn="b"/>
                      <a:r>
                        <a:rPr lang="en-CA" sz="900" b="0" i="0" u="none" strike="noStrike">
                          <a:solidFill>
                            <a:srgbClr val="000000"/>
                          </a:solidFill>
                          <a:effectLst/>
                          <a:latin typeface="Arial" panose="020B0604020202020204" pitchFamily="34" charset="0"/>
                          <a:cs typeface="Arial" panose="020B0604020202020204" pitchFamily="34" charset="0"/>
                        </a:rPr>
                        <a:t>EV/EBITDA - 92.594</a:t>
                      </a:r>
                      <a:endParaRPr lang="en-CA"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algn="ctr" fontAlgn="b"/>
                      <a:r>
                        <a:rPr lang="en-CA" sz="900" b="0" i="0" u="none" strike="noStrike">
                          <a:solidFill>
                            <a:srgbClr val="000000"/>
                          </a:solidFill>
                          <a:effectLst/>
                          <a:latin typeface="Arial" panose="020B0604020202020204" pitchFamily="34" charset="0"/>
                          <a:cs typeface="Arial" panose="020B0604020202020204" pitchFamily="34" charset="0"/>
                        </a:rPr>
                        <a:t>-482.399</a:t>
                      </a:r>
                      <a:endParaRPr lang="en-CA" sz="900" b="0" i="0" u="none" strike="noStrike" dirty="0">
                        <a:solidFill>
                          <a:srgbClr val="000000"/>
                        </a:solidFill>
                        <a:effectLst/>
                        <a:latin typeface="Arial" panose="020B0604020202020204" pitchFamily="34" charset="0"/>
                        <a:cs typeface="Arial" panose="020B0604020202020204" pitchFamily="34" charset="0"/>
                      </a:endParaRP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9545">
                <a:tc>
                  <a:txBody>
                    <a:bodyPr/>
                    <a:lstStyle/>
                    <a:p>
                      <a:pPr lvl="0" algn="l" fontAlgn="b"/>
                      <a:r>
                        <a:rPr lang="en-CA" sz="900" b="0" i="0" u="none" strike="noStrike" dirty="0">
                          <a:solidFill>
                            <a:srgbClr val="000000"/>
                          </a:solidFill>
                          <a:effectLst/>
                          <a:latin typeface="Arial" panose="020B0604020202020204" pitchFamily="34" charset="0"/>
                          <a:cs typeface="Arial" panose="020B0604020202020204" pitchFamily="34" charset="0"/>
                        </a:rPr>
                        <a:t>EV/Revenue - 5.527</a:t>
                      </a: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algn="ctr" fontAlgn="b"/>
                      <a:r>
                        <a:rPr lang="en-CA" sz="900" b="0" i="0" u="none" strike="noStrike">
                          <a:solidFill>
                            <a:srgbClr val="000000"/>
                          </a:solidFill>
                          <a:effectLst/>
                          <a:latin typeface="Arial" panose="020B0604020202020204" pitchFamily="34" charset="0"/>
                          <a:cs typeface="Arial" panose="020B0604020202020204" pitchFamily="34" charset="0"/>
                        </a:rPr>
                        <a:t>9.831</a:t>
                      </a: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9545">
                <a:tc>
                  <a:txBody>
                    <a:bodyPr/>
                    <a:lstStyle/>
                    <a:p>
                      <a:pPr lvl="0" algn="l" fontAlgn="b"/>
                      <a:r>
                        <a:rPr lang="en-CA" sz="900" b="0" i="0" u="none" strike="noStrike" dirty="0">
                          <a:solidFill>
                            <a:srgbClr val="000000"/>
                          </a:solidFill>
                          <a:effectLst/>
                          <a:latin typeface="Arial" panose="020B0604020202020204" pitchFamily="34" charset="0"/>
                          <a:cs typeface="Arial" panose="020B0604020202020204" pitchFamily="34" charset="0"/>
                        </a:rPr>
                        <a:t>P/E -12.506</a:t>
                      </a: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algn="ctr" fontAlgn="b"/>
                      <a:r>
                        <a:rPr lang="en-CA" sz="900" b="0" i="0" u="none" strike="noStrike" dirty="0">
                          <a:solidFill>
                            <a:srgbClr val="000000"/>
                          </a:solidFill>
                          <a:effectLst/>
                          <a:latin typeface="Arial" panose="020B0604020202020204" pitchFamily="34" charset="0"/>
                          <a:cs typeface="Arial" panose="020B0604020202020204" pitchFamily="34" charset="0"/>
                        </a:rPr>
                        <a:t>994.763</a:t>
                      </a:r>
                    </a:p>
                  </a:txBody>
                  <a:tcPr marL="7144" marR="7144" marT="7144" marB="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19" name="Group 108">
            <a:extLst>
              <a:ext uri="{FF2B5EF4-FFF2-40B4-BE49-F238E27FC236}">
                <a16:creationId xmlns:a16="http://schemas.microsoft.com/office/drawing/2014/main" id="{40B0B1DD-5581-684C-507C-8F5AC2367C5B}"/>
              </a:ext>
            </a:extLst>
          </p:cNvPr>
          <p:cNvGraphicFramePr>
            <a:graphicFrameLocks noGrp="1"/>
          </p:cNvGraphicFramePr>
          <p:nvPr>
            <p:extLst>
              <p:ext uri="{D42A27DB-BD31-4B8C-83A1-F6EECF244321}">
                <p14:modId xmlns:p14="http://schemas.microsoft.com/office/powerpoint/2010/main" val="2243120278"/>
              </p:ext>
            </p:extLst>
          </p:nvPr>
        </p:nvGraphicFramePr>
        <p:xfrm>
          <a:off x="3047999" y="4841844"/>
          <a:ext cx="2438401" cy="1179576"/>
        </p:xfrm>
        <a:graphic>
          <a:graphicData uri="http://schemas.openxmlformats.org/drawingml/2006/table">
            <a:tbl>
              <a:tblPr/>
              <a:tblGrid>
                <a:gridCol w="1190786">
                  <a:extLst>
                    <a:ext uri="{9D8B030D-6E8A-4147-A177-3AD203B41FA5}">
                      <a16:colId xmlns:a16="http://schemas.microsoft.com/office/drawing/2014/main" val="20000"/>
                    </a:ext>
                  </a:extLst>
                </a:gridCol>
                <a:gridCol w="1247615">
                  <a:extLst>
                    <a:ext uri="{9D8B030D-6E8A-4147-A177-3AD203B41FA5}">
                      <a16:colId xmlns:a16="http://schemas.microsoft.com/office/drawing/2014/main" val="20001"/>
                    </a:ext>
                  </a:extLst>
                </a:gridCol>
              </a:tblGrid>
              <a:tr h="1582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Key Metrics</a:t>
                      </a:r>
                      <a:endParaRPr kumimoji="0" lang="en-US"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endParaRPr>
                    </a:p>
                  </a:txBody>
                  <a:tcPr marL="34290" marR="34290" marT="27432" marB="27432" anchor="ctr" horzOverflow="overflow">
                    <a:lnL w="6350" cap="flat" cmpd="sng" algn="ctr">
                      <a:noFill/>
                      <a:prstDash val="dash"/>
                      <a:round/>
                      <a:headEnd type="none" w="med" len="med"/>
                      <a:tailEnd type="none" w="med" len="med"/>
                    </a:lnL>
                    <a:lnR w="12700" cap="flat" cmpd="sng" algn="ctr">
                      <a:noFill/>
                      <a:prstDash val="solid"/>
                      <a:round/>
                      <a:headEnd type="none" w="med" len="med"/>
                      <a:tailEnd type="none" w="med" len="med"/>
                    </a:lnR>
                    <a:lnT w="6350" cap="flat" cmpd="sng" algn="ctr">
                      <a:noFill/>
                      <a:prstDash val="dash"/>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113D6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Unit</a:t>
                      </a:r>
                    </a:p>
                  </a:txBody>
                  <a:tcPr marL="34290" marR="34290" marT="27432" marB="27432"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dash"/>
                      <a:round/>
                      <a:headEnd type="none" w="med" len="med"/>
                      <a:tailEnd type="none" w="med" len="med"/>
                    </a:lnT>
                    <a:lnB w="6350" cap="flat" cmpd="sng" algn="ctr">
                      <a:noFill/>
                      <a:prstDash val="solid"/>
                      <a:round/>
                      <a:headEnd type="none" w="med" len="med"/>
                      <a:tailEnd type="none" w="med" len="med"/>
                    </a:lnB>
                    <a:lnTlToBr>
                      <a:noFill/>
                    </a:lnTlToBr>
                    <a:lnBlToTr>
                      <a:noFill/>
                    </a:lnBlToTr>
                    <a:solidFill>
                      <a:srgbClr val="113D63"/>
                    </a:solidFill>
                  </a:tcPr>
                </a:tc>
                <a:extLst>
                  <a:ext uri="{0D108BD9-81ED-4DB2-BD59-A6C34878D82A}">
                    <a16:rowId xmlns:a16="http://schemas.microsoft.com/office/drawing/2014/main" val="10000"/>
                  </a:ext>
                </a:extLst>
              </a:tr>
              <a:tr h="135614">
                <a:tc>
                  <a:txBody>
                    <a:bodyPr/>
                    <a:lstStyle>
                      <a:lvl1pPr marL="0" algn="l" defTabSz="914400" rtl="0" eaLnBrk="1" latinLnBrk="0" hangingPunct="1">
                        <a:defRPr sz="1800" kern="1200">
                          <a:solidFill>
                            <a:schemeClr val="tx1"/>
                          </a:solidFill>
                          <a:latin typeface="Helvetica"/>
                          <a:ea typeface=""/>
                          <a:cs typeface="Arial"/>
                        </a:defRPr>
                      </a:lvl1pPr>
                      <a:lvl2pPr marL="457200" algn="l" defTabSz="914400" rtl="0" eaLnBrk="1" latinLnBrk="0" hangingPunct="1">
                        <a:defRPr sz="1800" kern="1200">
                          <a:solidFill>
                            <a:schemeClr val="tx1"/>
                          </a:solidFill>
                          <a:latin typeface="Helvetica"/>
                          <a:ea typeface=""/>
                          <a:cs typeface="Arial"/>
                        </a:defRPr>
                      </a:lvl2pPr>
                      <a:lvl3pPr marL="914400" algn="l" defTabSz="914400" rtl="0" eaLnBrk="1" latinLnBrk="0" hangingPunct="1">
                        <a:defRPr sz="1800" kern="1200">
                          <a:solidFill>
                            <a:schemeClr val="tx1"/>
                          </a:solidFill>
                          <a:latin typeface="Helvetica"/>
                          <a:ea typeface=""/>
                          <a:cs typeface="Arial"/>
                        </a:defRPr>
                      </a:lvl3pPr>
                      <a:lvl4pPr marL="1371600" algn="l" defTabSz="914400" rtl="0" eaLnBrk="1" latinLnBrk="0" hangingPunct="1">
                        <a:defRPr sz="1800" kern="1200">
                          <a:solidFill>
                            <a:schemeClr val="tx1"/>
                          </a:solidFill>
                          <a:latin typeface="Helvetica"/>
                          <a:ea typeface=""/>
                          <a:cs typeface="Arial"/>
                        </a:defRPr>
                      </a:lvl4pPr>
                      <a:lvl5pPr marL="1828800" algn="l" defTabSz="914400" rtl="0" eaLnBrk="1" latinLnBrk="0" hangingPunct="1">
                        <a:defRPr sz="1800" kern="1200">
                          <a:solidFill>
                            <a:schemeClr val="tx1"/>
                          </a:solidFill>
                          <a:latin typeface="Helvetica"/>
                          <a:ea typeface=""/>
                          <a:cs typeface="Arial"/>
                        </a:defRPr>
                      </a:lvl5pPr>
                      <a:lvl6pPr marL="2286000" algn="l" defTabSz="914400" rtl="0" eaLnBrk="1" latinLnBrk="0" hangingPunct="1">
                        <a:defRPr sz="1800" kern="1200">
                          <a:solidFill>
                            <a:schemeClr val="tx1"/>
                          </a:solidFill>
                          <a:latin typeface="Helvetica"/>
                          <a:ea typeface=""/>
                          <a:cs typeface="Arial"/>
                        </a:defRPr>
                      </a:lvl6pPr>
                      <a:lvl7pPr marL="2743200" algn="l" defTabSz="914400" rtl="0" eaLnBrk="1" latinLnBrk="0" hangingPunct="1">
                        <a:defRPr sz="1800" kern="1200">
                          <a:solidFill>
                            <a:schemeClr val="tx1"/>
                          </a:solidFill>
                          <a:latin typeface="Helvetica"/>
                          <a:ea typeface=""/>
                          <a:cs typeface="Arial"/>
                        </a:defRPr>
                      </a:lvl7pPr>
                      <a:lvl8pPr marL="3200400" algn="l" defTabSz="914400" rtl="0" eaLnBrk="1" latinLnBrk="0" hangingPunct="1">
                        <a:defRPr sz="1800" kern="1200">
                          <a:solidFill>
                            <a:schemeClr val="tx1"/>
                          </a:solidFill>
                          <a:latin typeface="Helvetica"/>
                          <a:ea typeface=""/>
                          <a:cs typeface="Arial"/>
                        </a:defRPr>
                      </a:lvl8pPr>
                      <a:lvl9pPr marL="3657600" algn="l" defTabSz="914400" rtl="0" eaLnBrk="1" latinLnBrk="0" hangingPunct="1">
                        <a:defRPr sz="1800" kern="1200">
                          <a:solidFill>
                            <a:schemeClr val="tx1"/>
                          </a:solidFill>
                          <a:latin typeface="Helvetica"/>
                          <a:ea typeface=""/>
                          <a:cs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Gross Margin</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6350" cap="flat" cmpd="sng" algn="ctr">
                      <a:noFill/>
                      <a:prstDash val="dash"/>
                      <a:round/>
                      <a:headEnd type="none" w="med" len="med"/>
                      <a:tailEnd type="none" w="med" len="med"/>
                    </a:lnL>
                    <a:lnR w="381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Helvetica"/>
                          <a:ea typeface=""/>
                          <a:cs typeface="Arial"/>
                        </a:defRPr>
                      </a:lvl1pPr>
                      <a:lvl2pPr marL="457200" algn="l" defTabSz="914400" rtl="0" eaLnBrk="1" latinLnBrk="0" hangingPunct="1">
                        <a:defRPr sz="1800" kern="1200">
                          <a:solidFill>
                            <a:schemeClr val="tx1"/>
                          </a:solidFill>
                          <a:latin typeface="Helvetica"/>
                          <a:ea typeface=""/>
                          <a:cs typeface="Arial"/>
                        </a:defRPr>
                      </a:lvl2pPr>
                      <a:lvl3pPr marL="914400" algn="l" defTabSz="914400" rtl="0" eaLnBrk="1" latinLnBrk="0" hangingPunct="1">
                        <a:defRPr sz="1800" kern="1200">
                          <a:solidFill>
                            <a:schemeClr val="tx1"/>
                          </a:solidFill>
                          <a:latin typeface="Helvetica"/>
                          <a:ea typeface=""/>
                          <a:cs typeface="Arial"/>
                        </a:defRPr>
                      </a:lvl3pPr>
                      <a:lvl4pPr marL="1371600" algn="l" defTabSz="914400" rtl="0" eaLnBrk="1" latinLnBrk="0" hangingPunct="1">
                        <a:defRPr sz="1800" kern="1200">
                          <a:solidFill>
                            <a:schemeClr val="tx1"/>
                          </a:solidFill>
                          <a:latin typeface="Helvetica"/>
                          <a:ea typeface=""/>
                          <a:cs typeface="Arial"/>
                        </a:defRPr>
                      </a:lvl4pPr>
                      <a:lvl5pPr marL="1828800" algn="l" defTabSz="914400" rtl="0" eaLnBrk="1" latinLnBrk="0" hangingPunct="1">
                        <a:defRPr sz="1800" kern="1200">
                          <a:solidFill>
                            <a:schemeClr val="tx1"/>
                          </a:solidFill>
                          <a:latin typeface="Helvetica"/>
                          <a:ea typeface=""/>
                          <a:cs typeface="Arial"/>
                        </a:defRPr>
                      </a:lvl5pPr>
                      <a:lvl6pPr marL="2286000" algn="l" defTabSz="914400" rtl="0" eaLnBrk="1" latinLnBrk="0" hangingPunct="1">
                        <a:defRPr sz="1800" kern="1200">
                          <a:solidFill>
                            <a:schemeClr val="tx1"/>
                          </a:solidFill>
                          <a:latin typeface="Helvetica"/>
                          <a:ea typeface=""/>
                          <a:cs typeface="Arial"/>
                        </a:defRPr>
                      </a:lvl6pPr>
                      <a:lvl7pPr marL="2743200" algn="l" defTabSz="914400" rtl="0" eaLnBrk="1" latinLnBrk="0" hangingPunct="1">
                        <a:defRPr sz="1800" kern="1200">
                          <a:solidFill>
                            <a:schemeClr val="tx1"/>
                          </a:solidFill>
                          <a:latin typeface="Helvetica"/>
                          <a:ea typeface=""/>
                          <a:cs typeface="Arial"/>
                        </a:defRPr>
                      </a:lvl7pPr>
                      <a:lvl8pPr marL="3200400" algn="l" defTabSz="914400" rtl="0" eaLnBrk="1" latinLnBrk="0" hangingPunct="1">
                        <a:defRPr sz="1800" kern="1200">
                          <a:solidFill>
                            <a:schemeClr val="tx1"/>
                          </a:solidFill>
                          <a:latin typeface="Helvetica"/>
                          <a:ea typeface=""/>
                          <a:cs typeface="Arial"/>
                        </a:defRPr>
                      </a:lvl8pPr>
                      <a:lvl9pPr marL="3657600" algn="l" defTabSz="914400" rtl="0" eaLnBrk="1" latinLnBrk="0" hangingPunct="1">
                        <a:defRPr sz="1800" kern="1200">
                          <a:solidFill>
                            <a:schemeClr val="tx1"/>
                          </a:solidFill>
                          <a:latin typeface="Helvetica"/>
                          <a:ea typeface=""/>
                          <a:cs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9.93</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5614">
                <a:tc>
                  <a:txBody>
                    <a:bodyPr/>
                    <a:lstStyle>
                      <a:lvl1pPr marL="0" algn="l" defTabSz="914400" rtl="0" eaLnBrk="1" latinLnBrk="0" hangingPunct="1">
                        <a:defRPr sz="1800" kern="1200">
                          <a:solidFill>
                            <a:schemeClr val="tx1"/>
                          </a:solidFill>
                          <a:latin typeface="Helvetica"/>
                          <a:ea typeface=""/>
                          <a:cs typeface="Arial"/>
                        </a:defRPr>
                      </a:lvl1pPr>
                      <a:lvl2pPr marL="457200" algn="l" defTabSz="914400" rtl="0" eaLnBrk="1" latinLnBrk="0" hangingPunct="1">
                        <a:defRPr sz="1800" kern="1200">
                          <a:solidFill>
                            <a:schemeClr val="tx1"/>
                          </a:solidFill>
                          <a:latin typeface="Helvetica"/>
                          <a:ea typeface=""/>
                          <a:cs typeface="Arial"/>
                        </a:defRPr>
                      </a:lvl2pPr>
                      <a:lvl3pPr marL="914400" algn="l" defTabSz="914400" rtl="0" eaLnBrk="1" latinLnBrk="0" hangingPunct="1">
                        <a:defRPr sz="1800" kern="1200">
                          <a:solidFill>
                            <a:schemeClr val="tx1"/>
                          </a:solidFill>
                          <a:latin typeface="Helvetica"/>
                          <a:ea typeface=""/>
                          <a:cs typeface="Arial"/>
                        </a:defRPr>
                      </a:lvl3pPr>
                      <a:lvl4pPr marL="1371600" algn="l" defTabSz="914400" rtl="0" eaLnBrk="1" latinLnBrk="0" hangingPunct="1">
                        <a:defRPr sz="1800" kern="1200">
                          <a:solidFill>
                            <a:schemeClr val="tx1"/>
                          </a:solidFill>
                          <a:latin typeface="Helvetica"/>
                          <a:ea typeface=""/>
                          <a:cs typeface="Arial"/>
                        </a:defRPr>
                      </a:lvl4pPr>
                      <a:lvl5pPr marL="1828800" algn="l" defTabSz="914400" rtl="0" eaLnBrk="1" latinLnBrk="0" hangingPunct="1">
                        <a:defRPr sz="1800" kern="1200">
                          <a:solidFill>
                            <a:schemeClr val="tx1"/>
                          </a:solidFill>
                          <a:latin typeface="Helvetica"/>
                          <a:ea typeface=""/>
                          <a:cs typeface="Arial"/>
                        </a:defRPr>
                      </a:lvl5pPr>
                      <a:lvl6pPr marL="2286000" algn="l" defTabSz="914400" rtl="0" eaLnBrk="1" latinLnBrk="0" hangingPunct="1">
                        <a:defRPr sz="1800" kern="1200">
                          <a:solidFill>
                            <a:schemeClr val="tx1"/>
                          </a:solidFill>
                          <a:latin typeface="Helvetica"/>
                          <a:ea typeface=""/>
                          <a:cs typeface="Arial"/>
                        </a:defRPr>
                      </a:lvl6pPr>
                      <a:lvl7pPr marL="2743200" algn="l" defTabSz="914400" rtl="0" eaLnBrk="1" latinLnBrk="0" hangingPunct="1">
                        <a:defRPr sz="1800" kern="1200">
                          <a:solidFill>
                            <a:schemeClr val="tx1"/>
                          </a:solidFill>
                          <a:latin typeface="Helvetica"/>
                          <a:ea typeface=""/>
                          <a:cs typeface="Arial"/>
                        </a:defRPr>
                      </a:lvl7pPr>
                      <a:lvl8pPr marL="3200400" algn="l" defTabSz="914400" rtl="0" eaLnBrk="1" latinLnBrk="0" hangingPunct="1">
                        <a:defRPr sz="1800" kern="1200">
                          <a:solidFill>
                            <a:schemeClr val="tx1"/>
                          </a:solidFill>
                          <a:latin typeface="Helvetica"/>
                          <a:ea typeface=""/>
                          <a:cs typeface="Arial"/>
                        </a:defRPr>
                      </a:lvl8pPr>
                      <a:lvl9pPr marL="3657600" algn="l" defTabSz="914400" rtl="0" eaLnBrk="1" latinLnBrk="0" hangingPunct="1">
                        <a:defRPr sz="1800" kern="1200">
                          <a:solidFill>
                            <a:schemeClr val="tx1"/>
                          </a:solidFill>
                          <a:latin typeface="Helvetica"/>
                          <a:ea typeface=""/>
                          <a:cs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kern="1200" cap="none" spc="0" normalizeH="0" baseline="0" noProof="0">
                          <a:ln>
                            <a:noFill/>
                          </a:ln>
                          <a:solidFill>
                            <a:srgbClr val="333333"/>
                          </a:solidFill>
                          <a:effectLst/>
                          <a:uLnTx/>
                          <a:uFillTx/>
                          <a:latin typeface="Arial" panose="020B0604020202020204" pitchFamily="34" charset="0"/>
                          <a:ea typeface="ＭＳ Ｐゴシック" pitchFamily="34" charset="-128"/>
                          <a:cs typeface="Arial" panose="020B0604020202020204" pitchFamily="34" charset="0"/>
                        </a:rPr>
                        <a:t>ROIC</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6350" cap="flat" cmpd="sng" algn="ctr">
                      <a:noFill/>
                      <a:prstDash val="dash"/>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Helvetica"/>
                          <a:ea typeface=""/>
                          <a:cs typeface="Arial"/>
                        </a:defRPr>
                      </a:lvl1pPr>
                      <a:lvl2pPr marL="457200" algn="l" defTabSz="914400" rtl="0" eaLnBrk="1" latinLnBrk="0" hangingPunct="1">
                        <a:defRPr sz="1800" kern="1200">
                          <a:solidFill>
                            <a:schemeClr val="tx1"/>
                          </a:solidFill>
                          <a:latin typeface="Helvetica"/>
                          <a:ea typeface=""/>
                          <a:cs typeface="Arial"/>
                        </a:defRPr>
                      </a:lvl2pPr>
                      <a:lvl3pPr marL="914400" algn="l" defTabSz="914400" rtl="0" eaLnBrk="1" latinLnBrk="0" hangingPunct="1">
                        <a:defRPr sz="1800" kern="1200">
                          <a:solidFill>
                            <a:schemeClr val="tx1"/>
                          </a:solidFill>
                          <a:latin typeface="Helvetica"/>
                          <a:ea typeface=""/>
                          <a:cs typeface="Arial"/>
                        </a:defRPr>
                      </a:lvl3pPr>
                      <a:lvl4pPr marL="1371600" algn="l" defTabSz="914400" rtl="0" eaLnBrk="1" latinLnBrk="0" hangingPunct="1">
                        <a:defRPr sz="1800" kern="1200">
                          <a:solidFill>
                            <a:schemeClr val="tx1"/>
                          </a:solidFill>
                          <a:latin typeface="Helvetica"/>
                          <a:ea typeface=""/>
                          <a:cs typeface="Arial"/>
                        </a:defRPr>
                      </a:lvl4pPr>
                      <a:lvl5pPr marL="1828800" algn="l" defTabSz="914400" rtl="0" eaLnBrk="1" latinLnBrk="0" hangingPunct="1">
                        <a:defRPr sz="1800" kern="1200">
                          <a:solidFill>
                            <a:schemeClr val="tx1"/>
                          </a:solidFill>
                          <a:latin typeface="Helvetica"/>
                          <a:ea typeface=""/>
                          <a:cs typeface="Arial"/>
                        </a:defRPr>
                      </a:lvl5pPr>
                      <a:lvl6pPr marL="2286000" algn="l" defTabSz="914400" rtl="0" eaLnBrk="1" latinLnBrk="0" hangingPunct="1">
                        <a:defRPr sz="1800" kern="1200">
                          <a:solidFill>
                            <a:schemeClr val="tx1"/>
                          </a:solidFill>
                          <a:latin typeface="Helvetica"/>
                          <a:ea typeface=""/>
                          <a:cs typeface="Arial"/>
                        </a:defRPr>
                      </a:lvl6pPr>
                      <a:lvl7pPr marL="2743200" algn="l" defTabSz="914400" rtl="0" eaLnBrk="1" latinLnBrk="0" hangingPunct="1">
                        <a:defRPr sz="1800" kern="1200">
                          <a:solidFill>
                            <a:schemeClr val="tx1"/>
                          </a:solidFill>
                          <a:latin typeface="Helvetica"/>
                          <a:ea typeface=""/>
                          <a:cs typeface="Arial"/>
                        </a:defRPr>
                      </a:lvl7pPr>
                      <a:lvl8pPr marL="3200400" algn="l" defTabSz="914400" rtl="0" eaLnBrk="1" latinLnBrk="0" hangingPunct="1">
                        <a:defRPr sz="1800" kern="1200">
                          <a:solidFill>
                            <a:schemeClr val="tx1"/>
                          </a:solidFill>
                          <a:latin typeface="Helvetica"/>
                          <a:ea typeface=""/>
                          <a:cs typeface="Arial"/>
                        </a:defRPr>
                      </a:lvl8pPr>
                      <a:lvl9pPr marL="3657600" algn="l" defTabSz="914400" rtl="0" eaLnBrk="1" latinLnBrk="0" hangingPunct="1">
                        <a:defRPr sz="1800" kern="1200">
                          <a:solidFill>
                            <a:schemeClr val="tx1"/>
                          </a:solidFill>
                          <a:latin typeface="Helvetica"/>
                          <a:ea typeface=""/>
                          <a:cs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-4.50</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5614">
                <a:tc>
                  <a:txBody>
                    <a:bodyPr/>
                    <a:lstStyle>
                      <a:lvl1pPr marL="0" algn="l" defTabSz="914400" rtl="0" eaLnBrk="1" latinLnBrk="0" hangingPunct="1">
                        <a:defRPr sz="1800" kern="1200">
                          <a:solidFill>
                            <a:schemeClr val="tx1"/>
                          </a:solidFill>
                          <a:latin typeface="Helvetica"/>
                          <a:ea typeface=""/>
                          <a:cs typeface="Arial"/>
                        </a:defRPr>
                      </a:lvl1pPr>
                      <a:lvl2pPr marL="457200" algn="l" defTabSz="914400" rtl="0" eaLnBrk="1" latinLnBrk="0" hangingPunct="1">
                        <a:defRPr sz="1800" kern="1200">
                          <a:solidFill>
                            <a:schemeClr val="tx1"/>
                          </a:solidFill>
                          <a:latin typeface="Helvetica"/>
                          <a:ea typeface=""/>
                          <a:cs typeface="Arial"/>
                        </a:defRPr>
                      </a:lvl2pPr>
                      <a:lvl3pPr marL="914400" algn="l" defTabSz="914400" rtl="0" eaLnBrk="1" latinLnBrk="0" hangingPunct="1">
                        <a:defRPr sz="1800" kern="1200">
                          <a:solidFill>
                            <a:schemeClr val="tx1"/>
                          </a:solidFill>
                          <a:latin typeface="Helvetica"/>
                          <a:ea typeface=""/>
                          <a:cs typeface="Arial"/>
                        </a:defRPr>
                      </a:lvl3pPr>
                      <a:lvl4pPr marL="1371600" algn="l" defTabSz="914400" rtl="0" eaLnBrk="1" latinLnBrk="0" hangingPunct="1">
                        <a:defRPr sz="1800" kern="1200">
                          <a:solidFill>
                            <a:schemeClr val="tx1"/>
                          </a:solidFill>
                          <a:latin typeface="Helvetica"/>
                          <a:ea typeface=""/>
                          <a:cs typeface="Arial"/>
                        </a:defRPr>
                      </a:lvl4pPr>
                      <a:lvl5pPr marL="1828800" algn="l" defTabSz="914400" rtl="0" eaLnBrk="1" latinLnBrk="0" hangingPunct="1">
                        <a:defRPr sz="1800" kern="1200">
                          <a:solidFill>
                            <a:schemeClr val="tx1"/>
                          </a:solidFill>
                          <a:latin typeface="Helvetica"/>
                          <a:ea typeface=""/>
                          <a:cs typeface="Arial"/>
                        </a:defRPr>
                      </a:lvl5pPr>
                      <a:lvl6pPr marL="2286000" algn="l" defTabSz="914400" rtl="0" eaLnBrk="1" latinLnBrk="0" hangingPunct="1">
                        <a:defRPr sz="1800" kern="1200">
                          <a:solidFill>
                            <a:schemeClr val="tx1"/>
                          </a:solidFill>
                          <a:latin typeface="Helvetica"/>
                          <a:ea typeface=""/>
                          <a:cs typeface="Arial"/>
                        </a:defRPr>
                      </a:lvl6pPr>
                      <a:lvl7pPr marL="2743200" algn="l" defTabSz="914400" rtl="0" eaLnBrk="1" latinLnBrk="0" hangingPunct="1">
                        <a:defRPr sz="1800" kern="1200">
                          <a:solidFill>
                            <a:schemeClr val="tx1"/>
                          </a:solidFill>
                          <a:latin typeface="Helvetica"/>
                          <a:ea typeface=""/>
                          <a:cs typeface="Arial"/>
                        </a:defRPr>
                      </a:lvl7pPr>
                      <a:lvl8pPr marL="3200400" algn="l" defTabSz="914400" rtl="0" eaLnBrk="1" latinLnBrk="0" hangingPunct="1">
                        <a:defRPr sz="1800" kern="1200">
                          <a:solidFill>
                            <a:schemeClr val="tx1"/>
                          </a:solidFill>
                          <a:latin typeface="Helvetica"/>
                          <a:ea typeface=""/>
                          <a:cs typeface="Arial"/>
                        </a:defRPr>
                      </a:lvl8pPr>
                      <a:lvl9pPr marL="3657600" algn="l" defTabSz="914400" rtl="0" eaLnBrk="1" latinLnBrk="0" hangingPunct="1">
                        <a:defRPr sz="1800" kern="1200">
                          <a:solidFill>
                            <a:schemeClr val="tx1"/>
                          </a:solidFill>
                          <a:latin typeface="Helvetica"/>
                          <a:ea typeface=""/>
                          <a:cs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Debt to Equity</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6350" cap="flat" cmpd="sng" algn="ctr">
                      <a:noFill/>
                      <a:prstDash val="dash"/>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Helvetica"/>
                          <a:ea typeface=""/>
                          <a:cs typeface="Arial"/>
                        </a:defRPr>
                      </a:lvl1pPr>
                      <a:lvl2pPr marL="457200" algn="l" defTabSz="914400" rtl="0" eaLnBrk="1" latinLnBrk="0" hangingPunct="1">
                        <a:defRPr sz="1800" kern="1200">
                          <a:solidFill>
                            <a:schemeClr val="tx1"/>
                          </a:solidFill>
                          <a:latin typeface="Helvetica"/>
                          <a:ea typeface=""/>
                          <a:cs typeface="Arial"/>
                        </a:defRPr>
                      </a:lvl2pPr>
                      <a:lvl3pPr marL="914400" algn="l" defTabSz="914400" rtl="0" eaLnBrk="1" latinLnBrk="0" hangingPunct="1">
                        <a:defRPr sz="1800" kern="1200">
                          <a:solidFill>
                            <a:schemeClr val="tx1"/>
                          </a:solidFill>
                          <a:latin typeface="Helvetica"/>
                          <a:ea typeface=""/>
                          <a:cs typeface="Arial"/>
                        </a:defRPr>
                      </a:lvl3pPr>
                      <a:lvl4pPr marL="1371600" algn="l" defTabSz="914400" rtl="0" eaLnBrk="1" latinLnBrk="0" hangingPunct="1">
                        <a:defRPr sz="1800" kern="1200">
                          <a:solidFill>
                            <a:schemeClr val="tx1"/>
                          </a:solidFill>
                          <a:latin typeface="Helvetica"/>
                          <a:ea typeface=""/>
                          <a:cs typeface="Arial"/>
                        </a:defRPr>
                      </a:lvl4pPr>
                      <a:lvl5pPr marL="1828800" algn="l" defTabSz="914400" rtl="0" eaLnBrk="1" latinLnBrk="0" hangingPunct="1">
                        <a:defRPr sz="1800" kern="1200">
                          <a:solidFill>
                            <a:schemeClr val="tx1"/>
                          </a:solidFill>
                          <a:latin typeface="Helvetica"/>
                          <a:ea typeface=""/>
                          <a:cs typeface="Arial"/>
                        </a:defRPr>
                      </a:lvl5pPr>
                      <a:lvl6pPr marL="2286000" algn="l" defTabSz="914400" rtl="0" eaLnBrk="1" latinLnBrk="0" hangingPunct="1">
                        <a:defRPr sz="1800" kern="1200">
                          <a:solidFill>
                            <a:schemeClr val="tx1"/>
                          </a:solidFill>
                          <a:latin typeface="Helvetica"/>
                          <a:ea typeface=""/>
                          <a:cs typeface="Arial"/>
                        </a:defRPr>
                      </a:lvl6pPr>
                      <a:lvl7pPr marL="2743200" algn="l" defTabSz="914400" rtl="0" eaLnBrk="1" latinLnBrk="0" hangingPunct="1">
                        <a:defRPr sz="1800" kern="1200">
                          <a:solidFill>
                            <a:schemeClr val="tx1"/>
                          </a:solidFill>
                          <a:latin typeface="Helvetica"/>
                          <a:ea typeface=""/>
                          <a:cs typeface="Arial"/>
                        </a:defRPr>
                      </a:lvl7pPr>
                      <a:lvl8pPr marL="3200400" algn="l" defTabSz="914400" rtl="0" eaLnBrk="1" latinLnBrk="0" hangingPunct="1">
                        <a:defRPr sz="1800" kern="1200">
                          <a:solidFill>
                            <a:schemeClr val="tx1"/>
                          </a:solidFill>
                          <a:latin typeface="Helvetica"/>
                          <a:ea typeface=""/>
                          <a:cs typeface="Arial"/>
                        </a:defRPr>
                      </a:lvl8pPr>
                      <a:lvl9pPr marL="3657600" algn="l" defTabSz="914400" rtl="0" eaLnBrk="1" latinLnBrk="0" hangingPunct="1">
                        <a:defRPr sz="1800" kern="1200">
                          <a:solidFill>
                            <a:schemeClr val="tx1"/>
                          </a:solidFill>
                          <a:latin typeface="Helvetica"/>
                          <a:ea typeface=""/>
                          <a:cs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-2.818</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5614">
                <a:tc>
                  <a:txBody>
                    <a:bodyPr/>
                    <a:lstStyle>
                      <a:lvl1pPr marL="0" algn="l" defTabSz="914400" rtl="0" eaLnBrk="1" latinLnBrk="0" hangingPunct="1">
                        <a:defRPr sz="1800" kern="1200">
                          <a:solidFill>
                            <a:schemeClr val="tx1"/>
                          </a:solidFill>
                          <a:latin typeface="Helvetica"/>
                          <a:ea typeface=""/>
                          <a:cs typeface="Arial"/>
                        </a:defRPr>
                      </a:lvl1pPr>
                      <a:lvl2pPr marL="457200" algn="l" defTabSz="914400" rtl="0" eaLnBrk="1" latinLnBrk="0" hangingPunct="1">
                        <a:defRPr sz="1800" kern="1200">
                          <a:solidFill>
                            <a:schemeClr val="tx1"/>
                          </a:solidFill>
                          <a:latin typeface="Helvetica"/>
                          <a:ea typeface=""/>
                          <a:cs typeface="Arial"/>
                        </a:defRPr>
                      </a:lvl2pPr>
                      <a:lvl3pPr marL="914400" algn="l" defTabSz="914400" rtl="0" eaLnBrk="1" latinLnBrk="0" hangingPunct="1">
                        <a:defRPr sz="1800" kern="1200">
                          <a:solidFill>
                            <a:schemeClr val="tx1"/>
                          </a:solidFill>
                          <a:latin typeface="Helvetica"/>
                          <a:ea typeface=""/>
                          <a:cs typeface="Arial"/>
                        </a:defRPr>
                      </a:lvl3pPr>
                      <a:lvl4pPr marL="1371600" algn="l" defTabSz="914400" rtl="0" eaLnBrk="1" latinLnBrk="0" hangingPunct="1">
                        <a:defRPr sz="1800" kern="1200">
                          <a:solidFill>
                            <a:schemeClr val="tx1"/>
                          </a:solidFill>
                          <a:latin typeface="Helvetica"/>
                          <a:ea typeface=""/>
                          <a:cs typeface="Arial"/>
                        </a:defRPr>
                      </a:lvl4pPr>
                      <a:lvl5pPr marL="1828800" algn="l" defTabSz="914400" rtl="0" eaLnBrk="1" latinLnBrk="0" hangingPunct="1">
                        <a:defRPr sz="1800" kern="1200">
                          <a:solidFill>
                            <a:schemeClr val="tx1"/>
                          </a:solidFill>
                          <a:latin typeface="Helvetica"/>
                          <a:ea typeface=""/>
                          <a:cs typeface="Arial"/>
                        </a:defRPr>
                      </a:lvl5pPr>
                      <a:lvl6pPr marL="2286000" algn="l" defTabSz="914400" rtl="0" eaLnBrk="1" latinLnBrk="0" hangingPunct="1">
                        <a:defRPr sz="1800" kern="1200">
                          <a:solidFill>
                            <a:schemeClr val="tx1"/>
                          </a:solidFill>
                          <a:latin typeface="Helvetica"/>
                          <a:ea typeface=""/>
                          <a:cs typeface="Arial"/>
                        </a:defRPr>
                      </a:lvl6pPr>
                      <a:lvl7pPr marL="2743200" algn="l" defTabSz="914400" rtl="0" eaLnBrk="1" latinLnBrk="0" hangingPunct="1">
                        <a:defRPr sz="1800" kern="1200">
                          <a:solidFill>
                            <a:schemeClr val="tx1"/>
                          </a:solidFill>
                          <a:latin typeface="Helvetica"/>
                          <a:ea typeface=""/>
                          <a:cs typeface="Arial"/>
                        </a:defRPr>
                      </a:lvl7pPr>
                      <a:lvl8pPr marL="3200400" algn="l" defTabSz="914400" rtl="0" eaLnBrk="1" latinLnBrk="0" hangingPunct="1">
                        <a:defRPr sz="1800" kern="1200">
                          <a:solidFill>
                            <a:schemeClr val="tx1"/>
                          </a:solidFill>
                          <a:latin typeface="Helvetica"/>
                          <a:ea typeface=""/>
                          <a:cs typeface="Arial"/>
                        </a:defRPr>
                      </a:lvl8pPr>
                      <a:lvl9pPr marL="3657600" algn="l" defTabSz="914400" rtl="0" eaLnBrk="1" latinLnBrk="0" hangingPunct="1">
                        <a:defRPr sz="1800" kern="1200">
                          <a:solidFill>
                            <a:schemeClr val="tx1"/>
                          </a:solidFill>
                          <a:latin typeface="Helvetica"/>
                          <a:ea typeface=""/>
                          <a:cs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kern="1200" cap="none" spc="0" normalizeH="0" baseline="0" noProof="0">
                          <a:ln>
                            <a:noFill/>
                          </a:ln>
                          <a:solidFill>
                            <a:srgbClr val="333333"/>
                          </a:solidFill>
                          <a:effectLst/>
                          <a:uLnTx/>
                          <a:uFillTx/>
                          <a:latin typeface="Arial" panose="020B0604020202020204" pitchFamily="34" charset="0"/>
                          <a:ea typeface="ＭＳ Ｐゴシック" pitchFamily="34" charset="-128"/>
                          <a:cs typeface="Arial" panose="020B0604020202020204" pitchFamily="34" charset="0"/>
                        </a:rPr>
                        <a:t>Cash ratio</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6350" cap="flat" cmpd="sng" algn="ctr">
                      <a:noFill/>
                      <a:prstDash val="dash"/>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dash"/>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Helvetica"/>
                          <a:ea typeface=""/>
                          <a:cs typeface="Arial"/>
                        </a:defRPr>
                      </a:lvl1pPr>
                      <a:lvl2pPr marL="457200" algn="l" defTabSz="914400" rtl="0" eaLnBrk="1" latinLnBrk="0" hangingPunct="1">
                        <a:defRPr sz="1800" kern="1200">
                          <a:solidFill>
                            <a:schemeClr val="tx1"/>
                          </a:solidFill>
                          <a:latin typeface="Helvetica"/>
                          <a:ea typeface=""/>
                          <a:cs typeface="Arial"/>
                        </a:defRPr>
                      </a:lvl2pPr>
                      <a:lvl3pPr marL="914400" algn="l" defTabSz="914400" rtl="0" eaLnBrk="1" latinLnBrk="0" hangingPunct="1">
                        <a:defRPr sz="1800" kern="1200">
                          <a:solidFill>
                            <a:schemeClr val="tx1"/>
                          </a:solidFill>
                          <a:latin typeface="Helvetica"/>
                          <a:ea typeface=""/>
                          <a:cs typeface="Arial"/>
                        </a:defRPr>
                      </a:lvl3pPr>
                      <a:lvl4pPr marL="1371600" algn="l" defTabSz="914400" rtl="0" eaLnBrk="1" latinLnBrk="0" hangingPunct="1">
                        <a:defRPr sz="1800" kern="1200">
                          <a:solidFill>
                            <a:schemeClr val="tx1"/>
                          </a:solidFill>
                          <a:latin typeface="Helvetica"/>
                          <a:ea typeface=""/>
                          <a:cs typeface="Arial"/>
                        </a:defRPr>
                      </a:lvl4pPr>
                      <a:lvl5pPr marL="1828800" algn="l" defTabSz="914400" rtl="0" eaLnBrk="1" latinLnBrk="0" hangingPunct="1">
                        <a:defRPr sz="1800" kern="1200">
                          <a:solidFill>
                            <a:schemeClr val="tx1"/>
                          </a:solidFill>
                          <a:latin typeface="Helvetica"/>
                          <a:ea typeface=""/>
                          <a:cs typeface="Arial"/>
                        </a:defRPr>
                      </a:lvl5pPr>
                      <a:lvl6pPr marL="2286000" algn="l" defTabSz="914400" rtl="0" eaLnBrk="1" latinLnBrk="0" hangingPunct="1">
                        <a:defRPr sz="1800" kern="1200">
                          <a:solidFill>
                            <a:schemeClr val="tx1"/>
                          </a:solidFill>
                          <a:latin typeface="Helvetica"/>
                          <a:ea typeface=""/>
                          <a:cs typeface="Arial"/>
                        </a:defRPr>
                      </a:lvl6pPr>
                      <a:lvl7pPr marL="2743200" algn="l" defTabSz="914400" rtl="0" eaLnBrk="1" latinLnBrk="0" hangingPunct="1">
                        <a:defRPr sz="1800" kern="1200">
                          <a:solidFill>
                            <a:schemeClr val="tx1"/>
                          </a:solidFill>
                          <a:latin typeface="Helvetica"/>
                          <a:ea typeface=""/>
                          <a:cs typeface="Arial"/>
                        </a:defRPr>
                      </a:lvl7pPr>
                      <a:lvl8pPr marL="3200400" algn="l" defTabSz="914400" rtl="0" eaLnBrk="1" latinLnBrk="0" hangingPunct="1">
                        <a:defRPr sz="1800" kern="1200">
                          <a:solidFill>
                            <a:schemeClr val="tx1"/>
                          </a:solidFill>
                          <a:latin typeface="Helvetica"/>
                          <a:ea typeface=""/>
                          <a:cs typeface="Arial"/>
                        </a:defRPr>
                      </a:lvl8pPr>
                      <a:lvl9pPr marL="3657600" algn="l" defTabSz="914400" rtl="0" eaLnBrk="1" latinLnBrk="0" hangingPunct="1">
                        <a:defRPr sz="1800" kern="1200">
                          <a:solidFill>
                            <a:schemeClr val="tx1"/>
                          </a:solidFill>
                          <a:latin typeface="Helvetica"/>
                          <a:ea typeface=""/>
                          <a:cs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0.17</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3561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kern="1200" cap="none" spc="0" normalizeH="0" baseline="0" noProof="0">
                          <a:ln>
                            <a:noFill/>
                          </a:ln>
                          <a:solidFill>
                            <a:srgbClr val="333333"/>
                          </a:solidFill>
                          <a:effectLst/>
                          <a:uLnTx/>
                          <a:uFillTx/>
                          <a:latin typeface="Arial" panose="020B0604020202020204" pitchFamily="34" charset="0"/>
                          <a:ea typeface="ＭＳ Ｐゴシック" pitchFamily="34" charset="-128"/>
                          <a:cs typeface="Arial" panose="020B0604020202020204" pitchFamily="34" charset="0"/>
                        </a:rPr>
                        <a:t>ROA</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6350" cap="flat" cmpd="sng" algn="ctr">
                      <a:noFill/>
                      <a:prstDash val="dash"/>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dash"/>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-1.62</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35614">
                <a:tc>
                  <a:txBody>
                    <a:bodyPr/>
                    <a:lstStyle>
                      <a:lvl1pPr marL="0" algn="l" defTabSz="914400" rtl="0" eaLnBrk="1" latinLnBrk="0" hangingPunct="1">
                        <a:defRPr sz="1800" kern="1200">
                          <a:solidFill>
                            <a:schemeClr val="tx1"/>
                          </a:solidFill>
                          <a:latin typeface="Helvetica"/>
                          <a:ea typeface=""/>
                          <a:cs typeface="Arial"/>
                        </a:defRPr>
                      </a:lvl1pPr>
                      <a:lvl2pPr marL="457200" algn="l" defTabSz="914400" rtl="0" eaLnBrk="1" latinLnBrk="0" hangingPunct="1">
                        <a:defRPr sz="1800" kern="1200">
                          <a:solidFill>
                            <a:schemeClr val="tx1"/>
                          </a:solidFill>
                          <a:latin typeface="Helvetica"/>
                          <a:ea typeface=""/>
                          <a:cs typeface="Arial"/>
                        </a:defRPr>
                      </a:lvl2pPr>
                      <a:lvl3pPr marL="914400" algn="l" defTabSz="914400" rtl="0" eaLnBrk="1" latinLnBrk="0" hangingPunct="1">
                        <a:defRPr sz="1800" kern="1200">
                          <a:solidFill>
                            <a:schemeClr val="tx1"/>
                          </a:solidFill>
                          <a:latin typeface="Helvetica"/>
                          <a:ea typeface=""/>
                          <a:cs typeface="Arial"/>
                        </a:defRPr>
                      </a:lvl3pPr>
                      <a:lvl4pPr marL="1371600" algn="l" defTabSz="914400" rtl="0" eaLnBrk="1" latinLnBrk="0" hangingPunct="1">
                        <a:defRPr sz="1800" kern="1200">
                          <a:solidFill>
                            <a:schemeClr val="tx1"/>
                          </a:solidFill>
                          <a:latin typeface="Helvetica"/>
                          <a:ea typeface=""/>
                          <a:cs typeface="Arial"/>
                        </a:defRPr>
                      </a:lvl4pPr>
                      <a:lvl5pPr marL="1828800" algn="l" defTabSz="914400" rtl="0" eaLnBrk="1" latinLnBrk="0" hangingPunct="1">
                        <a:defRPr sz="1800" kern="1200">
                          <a:solidFill>
                            <a:schemeClr val="tx1"/>
                          </a:solidFill>
                          <a:latin typeface="Helvetica"/>
                          <a:ea typeface=""/>
                          <a:cs typeface="Arial"/>
                        </a:defRPr>
                      </a:lvl5pPr>
                      <a:lvl6pPr marL="2286000" algn="l" defTabSz="914400" rtl="0" eaLnBrk="1" latinLnBrk="0" hangingPunct="1">
                        <a:defRPr sz="1800" kern="1200">
                          <a:solidFill>
                            <a:schemeClr val="tx1"/>
                          </a:solidFill>
                          <a:latin typeface="Helvetica"/>
                          <a:ea typeface=""/>
                          <a:cs typeface="Arial"/>
                        </a:defRPr>
                      </a:lvl6pPr>
                      <a:lvl7pPr marL="2743200" algn="l" defTabSz="914400" rtl="0" eaLnBrk="1" latinLnBrk="0" hangingPunct="1">
                        <a:defRPr sz="1800" kern="1200">
                          <a:solidFill>
                            <a:schemeClr val="tx1"/>
                          </a:solidFill>
                          <a:latin typeface="Helvetica"/>
                          <a:ea typeface=""/>
                          <a:cs typeface="Arial"/>
                        </a:defRPr>
                      </a:lvl7pPr>
                      <a:lvl8pPr marL="3200400" algn="l" defTabSz="914400" rtl="0" eaLnBrk="1" latinLnBrk="0" hangingPunct="1">
                        <a:defRPr sz="1800" kern="1200">
                          <a:solidFill>
                            <a:schemeClr val="tx1"/>
                          </a:solidFill>
                          <a:latin typeface="Helvetica"/>
                          <a:ea typeface=""/>
                          <a:cs typeface="Arial"/>
                        </a:defRPr>
                      </a:lvl8pPr>
                      <a:lvl9pPr marL="3657600" algn="l" defTabSz="914400" rtl="0" eaLnBrk="1" latinLnBrk="0" hangingPunct="1">
                        <a:defRPr sz="1800" kern="1200">
                          <a:solidFill>
                            <a:schemeClr val="tx1"/>
                          </a:solidFill>
                          <a:latin typeface="Helvetica"/>
                          <a:ea typeface=""/>
                          <a:cs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kern="1200" cap="none" spc="0" normalizeH="0" baseline="0" noProof="0">
                          <a:ln>
                            <a:noFill/>
                          </a:ln>
                          <a:solidFill>
                            <a:srgbClr val="333333"/>
                          </a:solidFill>
                          <a:effectLst/>
                          <a:uLnTx/>
                          <a:uFillTx/>
                          <a:latin typeface="Arial" panose="020B0604020202020204" pitchFamily="34" charset="0"/>
                          <a:ea typeface="ＭＳ Ｐゴシック" pitchFamily="34" charset="-128"/>
                          <a:cs typeface="Arial" panose="020B0604020202020204" pitchFamily="34" charset="0"/>
                        </a:rPr>
                        <a:t>Pretax Margin</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6350" cap="flat" cmpd="sng" algn="ctr">
                      <a:noFill/>
                      <a:prstDash val="dash"/>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dash"/>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Helvetica"/>
                          <a:ea typeface=""/>
                          <a:cs typeface="Arial"/>
                        </a:defRPr>
                      </a:lvl1pPr>
                      <a:lvl2pPr marL="457200" algn="l" defTabSz="914400" rtl="0" eaLnBrk="1" latinLnBrk="0" hangingPunct="1">
                        <a:defRPr sz="1800" kern="1200">
                          <a:solidFill>
                            <a:schemeClr val="tx1"/>
                          </a:solidFill>
                          <a:latin typeface="Helvetica"/>
                          <a:ea typeface=""/>
                          <a:cs typeface="Arial"/>
                        </a:defRPr>
                      </a:lvl2pPr>
                      <a:lvl3pPr marL="914400" algn="l" defTabSz="914400" rtl="0" eaLnBrk="1" latinLnBrk="0" hangingPunct="1">
                        <a:defRPr sz="1800" kern="1200">
                          <a:solidFill>
                            <a:schemeClr val="tx1"/>
                          </a:solidFill>
                          <a:latin typeface="Helvetica"/>
                          <a:ea typeface=""/>
                          <a:cs typeface="Arial"/>
                        </a:defRPr>
                      </a:lvl3pPr>
                      <a:lvl4pPr marL="1371600" algn="l" defTabSz="914400" rtl="0" eaLnBrk="1" latinLnBrk="0" hangingPunct="1">
                        <a:defRPr sz="1800" kern="1200">
                          <a:solidFill>
                            <a:schemeClr val="tx1"/>
                          </a:solidFill>
                          <a:latin typeface="Helvetica"/>
                          <a:ea typeface=""/>
                          <a:cs typeface="Arial"/>
                        </a:defRPr>
                      </a:lvl4pPr>
                      <a:lvl5pPr marL="1828800" algn="l" defTabSz="914400" rtl="0" eaLnBrk="1" latinLnBrk="0" hangingPunct="1">
                        <a:defRPr sz="1800" kern="1200">
                          <a:solidFill>
                            <a:schemeClr val="tx1"/>
                          </a:solidFill>
                          <a:latin typeface="Helvetica"/>
                          <a:ea typeface=""/>
                          <a:cs typeface="Arial"/>
                        </a:defRPr>
                      </a:lvl5pPr>
                      <a:lvl6pPr marL="2286000" algn="l" defTabSz="914400" rtl="0" eaLnBrk="1" latinLnBrk="0" hangingPunct="1">
                        <a:defRPr sz="1800" kern="1200">
                          <a:solidFill>
                            <a:schemeClr val="tx1"/>
                          </a:solidFill>
                          <a:latin typeface="Helvetica"/>
                          <a:ea typeface=""/>
                          <a:cs typeface="Arial"/>
                        </a:defRPr>
                      </a:lvl6pPr>
                      <a:lvl7pPr marL="2743200" algn="l" defTabSz="914400" rtl="0" eaLnBrk="1" latinLnBrk="0" hangingPunct="1">
                        <a:defRPr sz="1800" kern="1200">
                          <a:solidFill>
                            <a:schemeClr val="tx1"/>
                          </a:solidFill>
                          <a:latin typeface="Helvetica"/>
                          <a:ea typeface=""/>
                          <a:cs typeface="Arial"/>
                        </a:defRPr>
                      </a:lvl7pPr>
                      <a:lvl8pPr marL="3200400" algn="l" defTabSz="914400" rtl="0" eaLnBrk="1" latinLnBrk="0" hangingPunct="1">
                        <a:defRPr sz="1800" kern="1200">
                          <a:solidFill>
                            <a:schemeClr val="tx1"/>
                          </a:solidFill>
                          <a:latin typeface="Helvetica"/>
                          <a:ea typeface=""/>
                          <a:cs typeface="Arial"/>
                        </a:defRPr>
                      </a:lvl8pPr>
                      <a:lvl9pPr marL="3657600" algn="l" defTabSz="914400" rtl="0" eaLnBrk="1" latinLnBrk="0" hangingPunct="1">
                        <a:defRPr sz="1800" kern="1200">
                          <a:solidFill>
                            <a:schemeClr val="tx1"/>
                          </a:solidFill>
                          <a:latin typeface="Helvetica"/>
                          <a:ea typeface=""/>
                          <a:cs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rPr>
                        <a:t>-2.58</a:t>
                      </a:r>
                    </a:p>
                  </a:txBody>
                  <a:tcPr marL="34290" marR="34290" marT="13716" marB="13716"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dash"/>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20" name="Group 108">
            <a:extLst>
              <a:ext uri="{FF2B5EF4-FFF2-40B4-BE49-F238E27FC236}">
                <a16:creationId xmlns:a16="http://schemas.microsoft.com/office/drawing/2014/main" id="{501BA6E9-D46F-041F-44CE-C132CBB4F056}"/>
              </a:ext>
            </a:extLst>
          </p:cNvPr>
          <p:cNvGraphicFramePr>
            <a:graphicFrameLocks noGrp="1"/>
          </p:cNvGraphicFramePr>
          <p:nvPr>
            <p:extLst>
              <p:ext uri="{D42A27DB-BD31-4B8C-83A1-F6EECF244321}">
                <p14:modId xmlns:p14="http://schemas.microsoft.com/office/powerpoint/2010/main" val="1570550918"/>
              </p:ext>
            </p:extLst>
          </p:nvPr>
        </p:nvGraphicFramePr>
        <p:xfrm>
          <a:off x="3048000" y="3837300"/>
          <a:ext cx="2438401" cy="897259"/>
        </p:xfrm>
        <a:graphic>
          <a:graphicData uri="http://schemas.openxmlformats.org/drawingml/2006/table">
            <a:tbl>
              <a:tblPr/>
              <a:tblGrid>
                <a:gridCol w="1281685">
                  <a:extLst>
                    <a:ext uri="{9D8B030D-6E8A-4147-A177-3AD203B41FA5}">
                      <a16:colId xmlns:a16="http://schemas.microsoft.com/office/drawing/2014/main" val="20000"/>
                    </a:ext>
                  </a:extLst>
                </a:gridCol>
                <a:gridCol w="406032">
                  <a:extLst>
                    <a:ext uri="{9D8B030D-6E8A-4147-A177-3AD203B41FA5}">
                      <a16:colId xmlns:a16="http://schemas.microsoft.com/office/drawing/2014/main" val="20001"/>
                    </a:ext>
                  </a:extLst>
                </a:gridCol>
                <a:gridCol w="750684">
                  <a:extLst>
                    <a:ext uri="{9D8B030D-6E8A-4147-A177-3AD203B41FA5}">
                      <a16:colId xmlns:a16="http://schemas.microsoft.com/office/drawing/2014/main" val="20002"/>
                    </a:ext>
                  </a:extLst>
                </a:gridCol>
              </a:tblGrid>
              <a:tr h="2505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Revenue Mix</a:t>
                      </a:r>
                      <a:endParaRPr kumimoji="0" lang="en-US"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endParaRPr>
                    </a:p>
                  </a:txBody>
                  <a:tcPr marL="34290" marR="34290" marT="27432" marB="27432" anchor="ctr" horzOverflow="overflow">
                    <a:lnL>
                      <a:noFill/>
                    </a:lnL>
                    <a:lnR w="12700" cap="flat" cmpd="sng" algn="ctr">
                      <a:noFill/>
                      <a:prstDash val="solid"/>
                      <a:round/>
                      <a:headEnd type="none" w="med" len="med"/>
                      <a:tailEnd type="none" w="med" len="med"/>
                    </a:lnR>
                    <a:lnT>
                      <a:noFill/>
                    </a:lnT>
                    <a:lnB w="19050" cap="flat" cmpd="sng" algn="ctr">
                      <a:noFill/>
                      <a:prstDash val="solid"/>
                      <a:round/>
                      <a:headEnd type="none" w="med" len="med"/>
                      <a:tailEnd type="none" w="med" len="med"/>
                    </a:lnB>
                    <a:lnTlToBr>
                      <a:noFill/>
                    </a:lnTlToBr>
                    <a:lnBlToTr>
                      <a:noFill/>
                    </a:lnBlToTr>
                    <a:solidFill>
                      <a:srgbClr val="113D6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a:ln>
                            <a:noFill/>
                          </a:ln>
                          <a:solidFill>
                            <a:schemeClr val="bg1"/>
                          </a:solidFill>
                          <a:effectLst/>
                          <a:latin typeface="Arial" panose="020B0604020202020204" pitchFamily="34" charset="0"/>
                          <a:ea typeface="ＭＳ Ｐゴシック" pitchFamily="34" charset="-128"/>
                          <a:cs typeface="Arial" panose="020B0604020202020204" pitchFamily="34" charset="0"/>
                        </a:rPr>
                        <a:t>%</a:t>
                      </a:r>
                      <a:endParaRPr kumimoji="0" lang="en-US"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endParaRPr>
                    </a:p>
                  </a:txBody>
                  <a:tcPr marL="34290" marR="34290" marT="27432" marB="27432" anchor="ctr" horzOverflow="overflow">
                    <a:lnL w="127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19050" cap="flat" cmpd="sng" algn="ctr">
                      <a:noFill/>
                      <a:prstDash val="solid"/>
                      <a:round/>
                      <a:headEnd type="none" w="med" len="med"/>
                      <a:tailEnd type="none" w="med" len="med"/>
                    </a:lnB>
                    <a:lnTlToBr>
                      <a:noFill/>
                    </a:lnTlToBr>
                    <a:lnBlToTr>
                      <a:noFill/>
                    </a:lnBlToTr>
                    <a:solidFill>
                      <a:srgbClr val="113D6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Gross </a:t>
                      </a:r>
                      <a:r>
                        <a:rPr kumimoji="0" lang="en-US" sz="700" b="0" i="1"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rPr>
                        <a:t>($mm)</a:t>
                      </a:r>
                      <a:endParaRPr kumimoji="0" lang="en-US" sz="900" b="0" i="1" u="none" strike="noStrike" cap="none" normalizeH="0" baseline="0" dirty="0">
                        <a:ln>
                          <a:noFill/>
                        </a:ln>
                        <a:solidFill>
                          <a:schemeClr val="bg1"/>
                        </a:solidFill>
                        <a:effectLst/>
                        <a:latin typeface="Arial" panose="020B0604020202020204" pitchFamily="34" charset="0"/>
                        <a:ea typeface="ＭＳ Ｐゴシック" pitchFamily="34" charset="-128"/>
                        <a:cs typeface="Arial" panose="020B0604020202020204" pitchFamily="34" charset="0"/>
                      </a:endParaRPr>
                    </a:p>
                  </a:txBody>
                  <a:tcPr marL="34290" marR="34290" marT="27432" marB="27432" anchor="ctr" horzOverflow="overflow">
                    <a:lnL w="127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19050" cap="flat" cmpd="sng" algn="ctr">
                      <a:noFill/>
                      <a:prstDash val="solid"/>
                      <a:round/>
                      <a:headEnd type="none" w="med" len="med"/>
                      <a:tailEnd type="none" w="med" len="med"/>
                    </a:lnB>
                    <a:lnTlToBr>
                      <a:noFill/>
                    </a:lnTlToBr>
                    <a:lnBlToTr>
                      <a:noFill/>
                    </a:lnBlToTr>
                    <a:solidFill>
                      <a:srgbClr val="113D63"/>
                    </a:solidFill>
                  </a:tcPr>
                </a:tc>
                <a:extLst>
                  <a:ext uri="{0D108BD9-81ED-4DB2-BD59-A6C34878D82A}">
                    <a16:rowId xmlns:a16="http://schemas.microsoft.com/office/drawing/2014/main" val="10000"/>
                  </a:ext>
                </a:extLst>
              </a:tr>
              <a:tr h="21557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Commercial Airplanes</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a:noFill/>
                    </a:lnL>
                    <a:lnR w="381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43.5%</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$33,901.0</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557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Defense, Space &amp; Sec..</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a:noFill/>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32.0%</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$24,933.0</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557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Glbl. Service &amp; Support</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a:noFill/>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panose="020B0604020202020204" pitchFamily="34" charset="0"/>
                          <a:ea typeface="ＭＳ Ｐゴシック" pitchFamily="34" charset="-128"/>
                          <a:cs typeface="Arial" panose="020B0604020202020204" pitchFamily="34" charset="0"/>
                        </a:rPr>
                        <a:t>24.5%</a:t>
                      </a:r>
                      <a:endPar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endParaRPr>
                    </a:p>
                  </a:txBody>
                  <a:tcPr marL="34290" marR="34290" marT="13716" marB="13716"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tx1"/>
                          </a:solidFill>
                          <a:effectLst/>
                          <a:latin typeface="Arial" panose="020B0604020202020204" pitchFamily="34" charset="0"/>
                          <a:ea typeface="ＭＳ Ｐゴシック" pitchFamily="34" charset="-128"/>
                          <a:cs typeface="Arial" panose="020B0604020202020204" pitchFamily="34" charset="0"/>
                        </a:rPr>
                        <a:t>$19,127.0</a:t>
                      </a:r>
                    </a:p>
                  </a:txBody>
                  <a:tcPr marL="34290" marR="34290" marT="13716" marB="13716" anchor="ctr" horzOverflow="overflow">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7F30F8D9-4FDA-FDDB-3535-50B2496D6475}"/>
              </a:ext>
            </a:extLst>
          </p:cNvPr>
          <p:cNvPicPr>
            <a:picLocks noChangeAspect="1"/>
          </p:cNvPicPr>
          <p:nvPr/>
        </p:nvPicPr>
        <p:blipFill>
          <a:blip r:embed="rId2"/>
          <a:stretch>
            <a:fillRect/>
          </a:stretch>
        </p:blipFill>
        <p:spPr>
          <a:xfrm>
            <a:off x="5802568" y="4201993"/>
            <a:ext cx="3216159" cy="1819427"/>
          </a:xfrm>
          <a:prstGeom prst="rect">
            <a:avLst/>
          </a:prstGeom>
        </p:spPr>
      </p:pic>
    </p:spTree>
    <p:extLst>
      <p:ext uri="{BB962C8B-B14F-4D97-AF65-F5344CB8AC3E}">
        <p14:creationId xmlns:p14="http://schemas.microsoft.com/office/powerpoint/2010/main" val="3330209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6">
            <a:extLst>
              <a:ext uri="{FF2B5EF4-FFF2-40B4-BE49-F238E27FC236}">
                <a16:creationId xmlns:a16="http://schemas.microsoft.com/office/drawing/2014/main" id="{E2A8B3BF-CDAA-24A1-CA9F-97E112A14075}"/>
              </a:ext>
            </a:extLst>
          </p:cNvPr>
          <p:cNvSpPr txBox="1">
            <a:spLocks/>
          </p:cNvSpPr>
          <p:nvPr/>
        </p:nvSpPr>
        <p:spPr bwMode="auto">
          <a:xfrm>
            <a:off x="322619" y="1609738"/>
            <a:ext cx="4172674" cy="4228850"/>
          </a:xfrm>
          <a:prstGeom prst="rect">
            <a:avLst/>
          </a:prstGeom>
          <a:noFill/>
          <a:ln w="9525">
            <a:noFill/>
            <a:miter lim="800000"/>
            <a:headEnd/>
            <a:tailEnd/>
          </a:ln>
        </p:spPr>
        <p:txBody>
          <a:bodyPr vert="horz" wrap="square" lIns="0" tIns="45720" rIns="0" bIns="45720" numCol="1" anchor="t" anchorCtr="0" compatLnSpc="1">
            <a:prstTxWarp prst="textNoShape">
              <a:avLst/>
            </a:prstTxWarp>
            <a:spAutoFit/>
          </a:bodyPr>
          <a:lstStyle>
            <a:lvl1pPr marL="173038" indent="-173038" algn="l" rtl="0" eaLnBrk="0" fontAlgn="base" hangingPunct="0">
              <a:spcBef>
                <a:spcPct val="20000"/>
              </a:spcBef>
              <a:spcAft>
                <a:spcPct val="0"/>
              </a:spcAft>
              <a:buClrTx/>
              <a:buSzPct val="120000"/>
              <a:buFont typeface="Wingdings" panose="05000000000000000000" pitchFamily="2" charset="2"/>
              <a:buChar char="§"/>
              <a:defRPr sz="1400" b="0" i="0" u="none" kern="1200">
                <a:solidFill>
                  <a:schemeClr val="tx1"/>
                </a:solidFill>
                <a:latin typeface="Arial" pitchFamily="34" charset="0"/>
                <a:ea typeface="+mn-ea"/>
                <a:cs typeface="+mn-cs"/>
              </a:defRPr>
            </a:lvl1pPr>
            <a:lvl2pPr marL="346075" indent="-173038" algn="l" rtl="0" eaLnBrk="0" fontAlgn="base" hangingPunct="0">
              <a:spcBef>
                <a:spcPct val="20000"/>
              </a:spcBef>
              <a:spcAft>
                <a:spcPct val="0"/>
              </a:spcAft>
              <a:buClrTx/>
              <a:buSzPct val="120000"/>
              <a:buFont typeface="Arial" panose="020B0604020202020204" pitchFamily="34" charset="0"/>
              <a:buChar char="•"/>
              <a:defRPr sz="1400" kern="1200">
                <a:solidFill>
                  <a:schemeClr val="tx1"/>
                </a:solidFill>
                <a:latin typeface="Arial" pitchFamily="34" charset="0"/>
                <a:ea typeface="+mn-ea"/>
                <a:cs typeface="+mn-cs"/>
              </a:defRPr>
            </a:lvl2pPr>
            <a:lvl3pPr marL="568325" indent="-222250" algn="l" rtl="0" eaLnBrk="0" fontAlgn="base" hangingPunct="0">
              <a:spcBef>
                <a:spcPct val="20000"/>
              </a:spcBef>
              <a:spcAft>
                <a:spcPct val="0"/>
              </a:spcAft>
              <a:buClrTx/>
              <a:buSzPct val="120000"/>
              <a:buFont typeface="Wingdings" panose="05000000000000000000" pitchFamily="2" charset="2"/>
              <a:buChar char="Ø"/>
              <a:defRPr sz="1400" kern="1200">
                <a:solidFill>
                  <a:schemeClr val="tx1"/>
                </a:solidFill>
                <a:latin typeface="Arial" pitchFamily="34" charset="0"/>
                <a:ea typeface="+mn-ea"/>
                <a:cs typeface="+mn-cs"/>
              </a:defRPr>
            </a:lvl3pPr>
            <a:lvl4pPr marL="803275" indent="-234950" algn="l" rtl="0" eaLnBrk="0" fontAlgn="base" hangingPunct="0">
              <a:spcBef>
                <a:spcPct val="20000"/>
              </a:spcBef>
              <a:spcAft>
                <a:spcPct val="0"/>
              </a:spcAft>
              <a:buClrTx/>
              <a:buSzPct val="120000"/>
              <a:buFont typeface="Arial" charset="0"/>
              <a:buChar char="–"/>
              <a:defRPr sz="1400" kern="1200">
                <a:solidFill>
                  <a:schemeClr val="tx1"/>
                </a:solidFill>
                <a:latin typeface="Arial" pitchFamily="34" charset="0"/>
                <a:ea typeface="+mn-ea"/>
                <a:cs typeface="+mn-cs"/>
              </a:defRPr>
            </a:lvl4pPr>
            <a:lvl5pPr marL="1025525" indent="-222250" algn="l" rtl="0" eaLnBrk="0" fontAlgn="base" hangingPunct="0">
              <a:spcBef>
                <a:spcPct val="20000"/>
              </a:spcBef>
              <a:spcAft>
                <a:spcPct val="0"/>
              </a:spcAft>
              <a:buClrTx/>
              <a:buSzPct val="120000"/>
              <a:buFont typeface="Arial" charset="0"/>
              <a:buChar char="»"/>
              <a:defRPr sz="1400" kern="1200">
                <a:solidFill>
                  <a:schemeClr val="tx1"/>
                </a:solidFill>
                <a:latin typeface="Arial"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dirty="0"/>
              <a:t>Boeing generates revenues by designing, developing, manufacturing commercial jetliners, military aircrafts, satellites, missile defense, human space flight and launch systems and services.</a:t>
            </a:r>
          </a:p>
          <a:p>
            <a:endParaRPr lang="en-US" dirty="0"/>
          </a:p>
          <a:p>
            <a:r>
              <a:rPr lang="en-US" dirty="0"/>
              <a:t>It has mainly 3 operating segments:</a:t>
            </a:r>
          </a:p>
          <a:p>
            <a:endParaRPr lang="en-US" dirty="0"/>
          </a:p>
          <a:p>
            <a:pPr lvl="2" algn="just"/>
            <a:r>
              <a:rPr lang="en-US" dirty="0"/>
              <a:t>Commercial Airplanes: Makes and sells commercial jet aircraft and provides fleet support services, principally to the commercial airline industry and to individuals.</a:t>
            </a:r>
          </a:p>
          <a:p>
            <a:pPr lvl="2" algn="just"/>
            <a:r>
              <a:rPr lang="en-US" dirty="0"/>
              <a:t>Defense, Space &amp; Security Systems: Engages R&amp;D, production and modification of manned and unmanned military aircraft and weapons systems.</a:t>
            </a:r>
          </a:p>
          <a:p>
            <a:pPr lvl="2" algn="just"/>
            <a:r>
              <a:rPr lang="en-US" dirty="0"/>
              <a:t>Global Services: This segment provides services to Boeing's commercial and defense customers worldwide.</a:t>
            </a:r>
          </a:p>
        </p:txBody>
      </p:sp>
      <p:pic>
        <p:nvPicPr>
          <p:cNvPr id="11" name="Picture 10">
            <a:extLst>
              <a:ext uri="{FF2B5EF4-FFF2-40B4-BE49-F238E27FC236}">
                <a16:creationId xmlns:a16="http://schemas.microsoft.com/office/drawing/2014/main" id="{DF8E3FCC-CA10-B613-2DDC-0F42CC8AC125}"/>
              </a:ext>
            </a:extLst>
          </p:cNvPr>
          <p:cNvPicPr>
            <a:picLocks noChangeAspect="1"/>
          </p:cNvPicPr>
          <p:nvPr/>
        </p:nvPicPr>
        <p:blipFill rotWithShape="1">
          <a:blip r:embed="rId2"/>
          <a:srcRect l="11235" r="6734" b="19117"/>
          <a:stretch/>
        </p:blipFill>
        <p:spPr>
          <a:xfrm>
            <a:off x="4684369" y="1280529"/>
            <a:ext cx="4361751" cy="2419148"/>
          </a:xfrm>
          <a:prstGeom prst="rect">
            <a:avLst/>
          </a:prstGeom>
        </p:spPr>
      </p:pic>
      <p:pic>
        <p:nvPicPr>
          <p:cNvPr id="1028" name="Picture 4" descr="Lockheed Martin Awards College of Engineering $100,000 - Academic Affairs">
            <a:extLst>
              <a:ext uri="{FF2B5EF4-FFF2-40B4-BE49-F238E27FC236}">
                <a16:creationId xmlns:a16="http://schemas.microsoft.com/office/drawing/2014/main" id="{9EA16E16-E1B0-05F2-C8BB-17C6749ACA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8285" y="4222023"/>
            <a:ext cx="1082371" cy="86675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CD84EBFD-7231-8FDF-559D-B3E6A04BA34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74072" y="4283354"/>
            <a:ext cx="1095531" cy="61623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Airbus | Aviation logo, Airbus, Brand logo">
            <a:extLst>
              <a:ext uri="{FF2B5EF4-FFF2-40B4-BE49-F238E27FC236}">
                <a16:creationId xmlns:a16="http://schemas.microsoft.com/office/drawing/2014/main" id="{A3FEB556-3285-B6A8-E968-F012E944B63E}"/>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3923" t="37750" r="23923" b="38433"/>
          <a:stretch/>
        </p:blipFill>
        <p:spPr bwMode="auto">
          <a:xfrm>
            <a:off x="7419021" y="4470823"/>
            <a:ext cx="1458230" cy="3691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818D3F56-5EB5-C7E9-1D09-441BAE30F9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4993" y="5028763"/>
            <a:ext cx="1082371" cy="1082371"/>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a:extLst>
              <a:ext uri="{FF2B5EF4-FFF2-40B4-BE49-F238E27FC236}">
                <a16:creationId xmlns:a16="http://schemas.microsoft.com/office/drawing/2014/main" id="{5BD38BA6-CCB9-EC17-262B-29B25BB18EC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40357" y="5040263"/>
            <a:ext cx="1904304" cy="999760"/>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300;p2">
            <a:extLst>
              <a:ext uri="{FF2B5EF4-FFF2-40B4-BE49-F238E27FC236}">
                <a16:creationId xmlns:a16="http://schemas.microsoft.com/office/drawing/2014/main" id="{2132AC51-378A-043D-08C4-FE8D473B909D}"/>
              </a:ext>
            </a:extLst>
          </p:cNvPr>
          <p:cNvSpPr txBox="1">
            <a:spLocks/>
          </p:cNvSpPr>
          <p:nvPr/>
        </p:nvSpPr>
        <p:spPr>
          <a:xfrm>
            <a:off x="5369859" y="1100740"/>
            <a:ext cx="2911022" cy="442266"/>
          </a:xfrm>
          <a:prstGeom prst="rect">
            <a:avLst/>
          </a:prstGeom>
          <a:solidFill>
            <a:srgbClr val="113D63"/>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lgn="ctr"/>
            <a:r>
              <a:rPr lang="en-US" b="1" dirty="0">
                <a:solidFill>
                  <a:schemeClr val="bg1"/>
                </a:solidFill>
                <a:latin typeface="Arial" panose="020B0604020202020204" pitchFamily="34" charset="0"/>
                <a:ea typeface="Open Sans Light" panose="020B0306030504020204" pitchFamily="34" charset="0"/>
                <a:cs typeface="Arial" panose="020B0604020202020204" pitchFamily="34" charset="0"/>
              </a:rPr>
              <a:t>Key Figures as of May 2023</a:t>
            </a:r>
          </a:p>
        </p:txBody>
      </p:sp>
      <p:sp>
        <p:nvSpPr>
          <p:cNvPr id="6" name="Google Shape;300;p2">
            <a:extLst>
              <a:ext uri="{FF2B5EF4-FFF2-40B4-BE49-F238E27FC236}">
                <a16:creationId xmlns:a16="http://schemas.microsoft.com/office/drawing/2014/main" id="{A5CC6537-CB57-334A-E8A2-5BFE965CC67A}"/>
              </a:ext>
            </a:extLst>
          </p:cNvPr>
          <p:cNvSpPr txBox="1">
            <a:spLocks/>
          </p:cNvSpPr>
          <p:nvPr/>
        </p:nvSpPr>
        <p:spPr>
          <a:xfrm>
            <a:off x="660581" y="1100740"/>
            <a:ext cx="2911022" cy="442266"/>
          </a:xfrm>
          <a:prstGeom prst="rect">
            <a:avLst/>
          </a:prstGeom>
          <a:solidFill>
            <a:srgbClr val="113D63"/>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lgn="ctr"/>
            <a:r>
              <a:rPr lang="en-US" sz="1400" b="1" dirty="0">
                <a:solidFill>
                  <a:schemeClr val="bg1"/>
                </a:solidFill>
                <a:latin typeface="Arial" panose="020B0604020202020204" pitchFamily="34" charset="0"/>
                <a:ea typeface="Open Sans Light" panose="020B0306030504020204" pitchFamily="34" charset="0"/>
                <a:cs typeface="Arial" panose="020B0604020202020204" pitchFamily="34" charset="0"/>
              </a:rPr>
              <a:t>Operating Segments</a:t>
            </a:r>
          </a:p>
        </p:txBody>
      </p:sp>
      <p:sp>
        <p:nvSpPr>
          <p:cNvPr id="7" name="Google Shape;300;p2">
            <a:extLst>
              <a:ext uri="{FF2B5EF4-FFF2-40B4-BE49-F238E27FC236}">
                <a16:creationId xmlns:a16="http://schemas.microsoft.com/office/drawing/2014/main" id="{0BFAD61E-603D-8702-33C8-7A60BA63D4A7}"/>
              </a:ext>
            </a:extLst>
          </p:cNvPr>
          <p:cNvSpPr txBox="1">
            <a:spLocks/>
          </p:cNvSpPr>
          <p:nvPr/>
        </p:nvSpPr>
        <p:spPr>
          <a:xfrm>
            <a:off x="5369859" y="3740947"/>
            <a:ext cx="2911022" cy="442266"/>
          </a:xfrm>
          <a:prstGeom prst="rect">
            <a:avLst/>
          </a:prstGeom>
          <a:solidFill>
            <a:srgbClr val="113D63"/>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lgn="ctr"/>
            <a:r>
              <a:rPr lang="en-US" b="1" dirty="0">
                <a:solidFill>
                  <a:schemeClr val="bg1"/>
                </a:solidFill>
                <a:latin typeface="Arial" panose="020B0604020202020204" pitchFamily="34" charset="0"/>
                <a:ea typeface="Open Sans Light" panose="020B0306030504020204" pitchFamily="34" charset="0"/>
                <a:cs typeface="Arial" panose="020B0604020202020204" pitchFamily="34" charset="0"/>
              </a:rPr>
              <a:t>Competitors</a:t>
            </a:r>
          </a:p>
        </p:txBody>
      </p:sp>
      <p:sp>
        <p:nvSpPr>
          <p:cNvPr id="10" name="Title 1">
            <a:extLst>
              <a:ext uri="{FF2B5EF4-FFF2-40B4-BE49-F238E27FC236}">
                <a16:creationId xmlns:a16="http://schemas.microsoft.com/office/drawing/2014/main" id="{BCF15CEB-45A6-737E-B395-8A184451CC82}"/>
              </a:ext>
            </a:extLst>
          </p:cNvPr>
          <p:cNvSpPr>
            <a:spLocks noGrp="1"/>
          </p:cNvSpPr>
          <p:nvPr/>
        </p:nvSpPr>
        <p:spPr>
          <a:xfrm>
            <a:off x="0" y="396096"/>
            <a:ext cx="3810000"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dirty="0">
                <a:solidFill>
                  <a:srgbClr val="333F44"/>
                </a:solidFill>
              </a:rPr>
              <a:t>Boeing Business Model</a:t>
            </a:r>
          </a:p>
        </p:txBody>
      </p:sp>
    </p:spTree>
    <p:extLst>
      <p:ext uri="{BB962C8B-B14F-4D97-AF65-F5344CB8AC3E}">
        <p14:creationId xmlns:p14="http://schemas.microsoft.com/office/powerpoint/2010/main" val="83096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e chart of boeing revenue split&#10;&#10;Description automatically generated">
            <a:extLst>
              <a:ext uri="{FF2B5EF4-FFF2-40B4-BE49-F238E27FC236}">
                <a16:creationId xmlns:a16="http://schemas.microsoft.com/office/drawing/2014/main" id="{2769D485-52A8-108D-836A-D27EC218C6F4}"/>
              </a:ext>
            </a:extLst>
          </p:cNvPr>
          <p:cNvPicPr>
            <a:picLocks noChangeAspect="1"/>
          </p:cNvPicPr>
          <p:nvPr/>
        </p:nvPicPr>
        <p:blipFill rotWithShape="1">
          <a:blip r:embed="rId2">
            <a:extLst>
              <a:ext uri="{28A0092B-C50C-407E-A947-70E740481C1C}">
                <a14:useLocalDpi xmlns:a14="http://schemas.microsoft.com/office/drawing/2010/main" val="0"/>
              </a:ext>
            </a:extLst>
          </a:blip>
          <a:srcRect l="18005" t="4197" r="2500" b="3148"/>
          <a:stretch/>
        </p:blipFill>
        <p:spPr>
          <a:xfrm>
            <a:off x="100738" y="1668538"/>
            <a:ext cx="2929257" cy="2052171"/>
          </a:xfrm>
          <a:prstGeom prst="rect">
            <a:avLst/>
          </a:prstGeom>
        </p:spPr>
      </p:pic>
      <p:sp>
        <p:nvSpPr>
          <p:cNvPr id="15" name="Title 1">
            <a:extLst>
              <a:ext uri="{FF2B5EF4-FFF2-40B4-BE49-F238E27FC236}">
                <a16:creationId xmlns:a16="http://schemas.microsoft.com/office/drawing/2014/main" id="{9DB5AE6F-DBEE-3268-5BB6-DC44C6C0D91E}"/>
              </a:ext>
            </a:extLst>
          </p:cNvPr>
          <p:cNvSpPr>
            <a:spLocks noGrp="1"/>
          </p:cNvSpPr>
          <p:nvPr/>
        </p:nvSpPr>
        <p:spPr>
          <a:xfrm>
            <a:off x="0" y="396096"/>
            <a:ext cx="3189593"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a:solidFill>
                  <a:srgbClr val="333F44"/>
                </a:solidFill>
              </a:rPr>
              <a:t>Operating Forecast</a:t>
            </a:r>
          </a:p>
        </p:txBody>
      </p:sp>
      <p:sp>
        <p:nvSpPr>
          <p:cNvPr id="3" name="Rectangle 2">
            <a:extLst>
              <a:ext uri="{FF2B5EF4-FFF2-40B4-BE49-F238E27FC236}">
                <a16:creationId xmlns:a16="http://schemas.microsoft.com/office/drawing/2014/main" id="{3F8E90EF-073E-580B-12E2-7B15C5C0661C}"/>
              </a:ext>
            </a:extLst>
          </p:cNvPr>
          <p:cNvSpPr>
            <a:spLocks noChangeArrowheads="1"/>
          </p:cNvSpPr>
          <p:nvPr/>
        </p:nvSpPr>
        <p:spPr bwMode="auto">
          <a:xfrm>
            <a:off x="108296" y="3847579"/>
            <a:ext cx="8800184" cy="83099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180340" lvl="1" indent="-113665">
              <a:spcAft>
                <a:spcPts val="300"/>
              </a:spcAft>
              <a:defRPr/>
            </a:pPr>
            <a:r>
              <a:rPr lang="en-US" sz="1050" b="1" dirty="0">
                <a:solidFill>
                  <a:srgbClr val="000000"/>
                </a:solidFill>
                <a:latin typeface="Arial"/>
                <a:ea typeface="Open Sans Light"/>
                <a:cs typeface="Arial"/>
              </a:rPr>
              <a:t>Commercial Airplanes</a:t>
            </a:r>
            <a:r>
              <a:rPr lang="en-US" sz="1000" dirty="0">
                <a:solidFill>
                  <a:srgbClr val="000000"/>
                </a:solidFill>
                <a:latin typeface="Arial"/>
                <a:ea typeface="Open Sans Light"/>
                <a:cs typeface="Arial"/>
              </a:rPr>
              <a:t>: First Quarter revenue of $4.7 billion and operating margin of (24.6) percent primarily reflect lower 737 deliveries and 737-9 </a:t>
            </a:r>
          </a:p>
          <a:p>
            <a:pPr marL="180340" lvl="1" indent="-113665">
              <a:spcAft>
                <a:spcPts val="300"/>
              </a:spcAft>
              <a:defRPr/>
            </a:pPr>
            <a:r>
              <a:rPr lang="en-US" sz="1000" dirty="0">
                <a:solidFill>
                  <a:srgbClr val="000000"/>
                </a:solidFill>
                <a:latin typeface="Arial"/>
                <a:ea typeface="Open Sans Light"/>
                <a:cs typeface="Arial"/>
              </a:rPr>
              <a:t>grounding customer considerations </a:t>
            </a:r>
            <a:endParaRPr lang="en-US" sz="1000" dirty="0">
              <a:solidFill>
                <a:srgbClr val="000000"/>
              </a:solidFill>
              <a:latin typeface="Arial"/>
              <a:ea typeface="Open Sans Light"/>
              <a:cs typeface="Open Sans Light"/>
            </a:endParaRPr>
          </a:p>
          <a:p>
            <a:pPr marL="180340" lvl="1" indent="-113665">
              <a:spcAft>
                <a:spcPts val="300"/>
              </a:spcAft>
              <a:defRPr/>
            </a:pPr>
            <a:r>
              <a:rPr lang="en-US" sz="1000" dirty="0">
                <a:solidFill>
                  <a:srgbClr val="000000"/>
                </a:solidFill>
                <a:latin typeface="Arial"/>
                <a:ea typeface="Open Sans Light"/>
                <a:cs typeface="Open Sans Light"/>
              </a:rPr>
              <a:t>Even after the FAA audit on the 737, it managed to secure 125 net orders in 2024 Q1.</a:t>
            </a:r>
          </a:p>
          <a:p>
            <a:pPr marL="180340" lvl="1" indent="-113665">
              <a:spcAft>
                <a:spcPts val="300"/>
              </a:spcAft>
              <a:defRPr/>
            </a:pPr>
            <a:r>
              <a:rPr lang="en-US" sz="1000" dirty="0">
                <a:latin typeface="Arial"/>
                <a:ea typeface="Open Sans Light"/>
                <a:cs typeface="Open Sans Light"/>
              </a:rPr>
              <a:t>There exists a Backlog of $448 Billion, suggesting a positive free cash flow for 2024</a:t>
            </a:r>
          </a:p>
        </p:txBody>
      </p:sp>
      <p:sp>
        <p:nvSpPr>
          <p:cNvPr id="8" name="Rectangle 1">
            <a:extLst>
              <a:ext uri="{FF2B5EF4-FFF2-40B4-BE49-F238E27FC236}">
                <a16:creationId xmlns:a16="http://schemas.microsoft.com/office/drawing/2014/main" id="{28A6E580-CF2A-76F6-A645-E7D4F2D754BC}"/>
              </a:ext>
            </a:extLst>
          </p:cNvPr>
          <p:cNvSpPr>
            <a:spLocks noChangeArrowheads="1"/>
          </p:cNvSpPr>
          <p:nvPr/>
        </p:nvSpPr>
        <p:spPr bwMode="auto">
          <a:xfrm>
            <a:off x="100738" y="4724667"/>
            <a:ext cx="8800184" cy="6386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180340" lvl="1" indent="-113665">
              <a:spcAft>
                <a:spcPts val="300"/>
              </a:spcAft>
              <a:buClr>
                <a:srgbClr val="003399"/>
              </a:buClr>
              <a:defRPr/>
            </a:pPr>
            <a:r>
              <a:rPr lang="en-US" sz="1050" b="1" dirty="0">
                <a:solidFill>
                  <a:srgbClr val="000000"/>
                </a:solidFill>
                <a:latin typeface="Arial"/>
                <a:ea typeface="Open Sans Light"/>
                <a:cs typeface="Open Sans Light"/>
              </a:rPr>
              <a:t>Defense and Space</a:t>
            </a:r>
            <a:r>
              <a:rPr lang="en-US" sz="1000" b="1" dirty="0">
                <a:solidFill>
                  <a:srgbClr val="000000"/>
                </a:solidFill>
                <a:latin typeface="Open Sans Light"/>
                <a:ea typeface="Open Sans Light"/>
                <a:cs typeface="Open Sans Light"/>
              </a:rPr>
              <a:t>: </a:t>
            </a:r>
            <a:r>
              <a:rPr lang="en-US" sz="1000" dirty="0">
                <a:solidFill>
                  <a:srgbClr val="000000"/>
                </a:solidFill>
                <a:latin typeface="Arial"/>
                <a:ea typeface="Open Sans Light"/>
                <a:cs typeface="Arial"/>
              </a:rPr>
              <a:t>Awarded 17 P-8 aircraft for Canada and Germany, Secured final contract from the U.S. Navy for 17 F/A-18 production aircraft </a:t>
            </a:r>
            <a:endParaRPr lang="en-US" sz="1000" dirty="0">
              <a:latin typeface="Open Sans Light"/>
              <a:ea typeface="Open Sans Light"/>
              <a:cs typeface="Open Sans Light"/>
            </a:endParaRPr>
          </a:p>
          <a:p>
            <a:pPr marL="180340" lvl="1" indent="-113665">
              <a:spcAft>
                <a:spcPts val="300"/>
              </a:spcAft>
              <a:defRPr/>
            </a:pPr>
            <a:r>
              <a:rPr lang="en-US" sz="1000" dirty="0">
                <a:solidFill>
                  <a:srgbClr val="000000"/>
                </a:solidFill>
                <a:latin typeface="Arial"/>
                <a:ea typeface="Open Sans Light"/>
                <a:cs typeface="Arial"/>
              </a:rPr>
              <a:t>Q1 2024 was another quarter of sequential improvement. Backlog grew to $61 Billion</a:t>
            </a:r>
          </a:p>
          <a:p>
            <a:pPr marL="180340" lvl="1" indent="-113665">
              <a:spcAft>
                <a:spcPts val="300"/>
              </a:spcAft>
              <a:defRPr/>
            </a:pPr>
            <a:r>
              <a:rPr lang="en-US" sz="1000" dirty="0">
                <a:solidFill>
                  <a:srgbClr val="000000"/>
                </a:solidFill>
                <a:latin typeface="Arial"/>
                <a:ea typeface="Open Sans Light"/>
                <a:cs typeface="Arial"/>
              </a:rPr>
              <a:t>Management plans to increase margins to high single digits by 2025 assuming a forecasted growth rate of 20%</a:t>
            </a:r>
            <a:endParaRPr lang="en-US" sz="1000" dirty="0">
              <a:solidFill>
                <a:srgbClr val="000000"/>
              </a:solidFill>
              <a:latin typeface="Arial"/>
              <a:ea typeface="Open Sans Light" panose="020B0306030504020204" pitchFamily="34" charset="0"/>
              <a:cs typeface="Arial"/>
            </a:endParaRPr>
          </a:p>
        </p:txBody>
      </p:sp>
      <p:sp>
        <p:nvSpPr>
          <p:cNvPr id="12" name="Rectangle 1">
            <a:extLst>
              <a:ext uri="{FF2B5EF4-FFF2-40B4-BE49-F238E27FC236}">
                <a16:creationId xmlns:a16="http://schemas.microsoft.com/office/drawing/2014/main" id="{9FE8F30B-2479-DCA8-9C50-A4FF7E5E53A8}"/>
              </a:ext>
            </a:extLst>
          </p:cNvPr>
          <p:cNvSpPr>
            <a:spLocks noChangeArrowheads="1"/>
          </p:cNvSpPr>
          <p:nvPr/>
        </p:nvSpPr>
        <p:spPr bwMode="auto">
          <a:xfrm>
            <a:off x="100738" y="5447867"/>
            <a:ext cx="8769067" cy="6386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180340" lvl="1" indent="-113665">
              <a:spcAft>
                <a:spcPts val="300"/>
              </a:spcAft>
              <a:buClr>
                <a:srgbClr val="003399"/>
              </a:buClr>
              <a:defRPr/>
            </a:pPr>
            <a:r>
              <a:rPr lang="en-US" sz="1050" b="1">
                <a:solidFill>
                  <a:srgbClr val="000000"/>
                </a:solidFill>
                <a:latin typeface="Arial"/>
                <a:ea typeface="Open Sans Light"/>
                <a:cs typeface="Open Sans Light"/>
              </a:rPr>
              <a:t>Global Services</a:t>
            </a:r>
            <a:r>
              <a:rPr lang="en-US" sz="1000" b="1">
                <a:solidFill>
                  <a:srgbClr val="000000"/>
                </a:solidFill>
                <a:latin typeface="Open Sans Light"/>
                <a:ea typeface="Open Sans Light"/>
                <a:cs typeface="Open Sans Light"/>
              </a:rPr>
              <a:t>: </a:t>
            </a:r>
            <a:r>
              <a:rPr lang="en-US" sz="1000">
                <a:latin typeface="Arial"/>
                <a:ea typeface="Open Sans Light"/>
                <a:cs typeface="Arial"/>
              </a:rPr>
              <a:t>Q1 2024 was another strong quarter for this segment with a strong operating margin of 18.2%</a:t>
            </a:r>
            <a:endParaRPr lang="fr-FR" sz="1000">
              <a:latin typeface="Arial"/>
              <a:ea typeface="Open Sans Light"/>
              <a:cs typeface="Arial"/>
            </a:endParaRPr>
          </a:p>
          <a:p>
            <a:pPr marL="180340" lvl="1" indent="-113665">
              <a:spcAft>
                <a:spcPts val="300"/>
              </a:spcAft>
              <a:defRPr/>
            </a:pPr>
            <a:r>
              <a:rPr lang="en-US" sz="1000">
                <a:latin typeface="Arial"/>
                <a:ea typeface="Open Sans Light"/>
                <a:cs typeface="Arial"/>
              </a:rPr>
              <a:t>Boeing opened another maintenance facility in Jacksonville, Florida, to support military customers</a:t>
            </a:r>
          </a:p>
          <a:p>
            <a:pPr marL="66040" lvl="1" fontAlgn="base">
              <a:spcBef>
                <a:spcPct val="0"/>
              </a:spcBef>
              <a:spcAft>
                <a:spcPts val="300"/>
              </a:spcAft>
              <a:buClr>
                <a:srgbClr val="1E3448"/>
              </a:buClr>
              <a:buSzPct val="150000"/>
              <a:defRPr/>
            </a:pPr>
            <a:endParaRPr lang="en-US" sz="1000">
              <a:solidFill>
                <a:srgbClr val="000000"/>
              </a:solidFill>
              <a:latin typeface="Arial"/>
              <a:ea typeface="Open Sans Light" panose="020B0306030504020204" pitchFamily="34" charset="0"/>
              <a:cs typeface="Open Sans Light" panose="020B0306030504020204" pitchFamily="34" charset="0"/>
            </a:endParaRPr>
          </a:p>
        </p:txBody>
      </p:sp>
      <p:sp>
        <p:nvSpPr>
          <p:cNvPr id="14" name="TextBox 13">
            <a:extLst>
              <a:ext uri="{FF2B5EF4-FFF2-40B4-BE49-F238E27FC236}">
                <a16:creationId xmlns:a16="http://schemas.microsoft.com/office/drawing/2014/main" id="{CD892770-6174-4229-C237-FE76C97176A3}"/>
              </a:ext>
            </a:extLst>
          </p:cNvPr>
          <p:cNvSpPr txBox="1"/>
          <p:nvPr/>
        </p:nvSpPr>
        <p:spPr>
          <a:xfrm>
            <a:off x="228371" y="1208735"/>
            <a:ext cx="2246722" cy="261610"/>
          </a:xfrm>
          <a:prstGeom prst="rect">
            <a:avLst/>
          </a:prstGeom>
          <a:solidFill>
            <a:srgbClr val="113D63"/>
          </a:solidFill>
        </p:spPr>
        <p:txBody>
          <a:bodyPr wrap="square" rtlCol="0">
            <a:spAutoFit/>
          </a:bodyPr>
          <a:lstStyle/>
          <a:p>
            <a:r>
              <a:rPr lang="en-US" altLang="zh-CN" sz="1100" b="1" dirty="0">
                <a:solidFill>
                  <a:schemeClr val="bg1"/>
                </a:solidFill>
              </a:rPr>
              <a:t>Revenue Drivers</a:t>
            </a:r>
          </a:p>
        </p:txBody>
      </p:sp>
      <p:sp>
        <p:nvSpPr>
          <p:cNvPr id="16" name="TextBox 15">
            <a:extLst>
              <a:ext uri="{FF2B5EF4-FFF2-40B4-BE49-F238E27FC236}">
                <a16:creationId xmlns:a16="http://schemas.microsoft.com/office/drawing/2014/main" id="{B53F6940-5DAA-FE91-BA9B-00DF4BBE390F}"/>
              </a:ext>
            </a:extLst>
          </p:cNvPr>
          <p:cNvSpPr txBox="1"/>
          <p:nvPr/>
        </p:nvSpPr>
        <p:spPr>
          <a:xfrm>
            <a:off x="2546593" y="1208735"/>
            <a:ext cx="6442879" cy="261610"/>
          </a:xfrm>
          <a:prstGeom prst="rect">
            <a:avLst/>
          </a:prstGeom>
          <a:solidFill>
            <a:srgbClr val="113D63"/>
          </a:solidFill>
        </p:spPr>
        <p:txBody>
          <a:bodyPr wrap="square" rtlCol="0">
            <a:spAutoFit/>
          </a:bodyPr>
          <a:lstStyle/>
          <a:p>
            <a:r>
              <a:rPr lang="en-US" sz="1100" b="1">
                <a:solidFill>
                  <a:schemeClr val="bg1"/>
                </a:solidFill>
              </a:rPr>
              <a:t>Revenue &amp; EBITDA Forecast</a:t>
            </a:r>
            <a:endParaRPr lang="en-CA" sz="1100" b="1">
              <a:solidFill>
                <a:schemeClr val="bg1"/>
              </a:solidFill>
            </a:endParaRPr>
          </a:p>
        </p:txBody>
      </p:sp>
      <p:sp>
        <p:nvSpPr>
          <p:cNvPr id="17" name="TextBox 16">
            <a:extLst>
              <a:ext uri="{FF2B5EF4-FFF2-40B4-BE49-F238E27FC236}">
                <a16:creationId xmlns:a16="http://schemas.microsoft.com/office/drawing/2014/main" id="{93227038-6F4D-3EBB-8CF1-979492E665A7}"/>
              </a:ext>
            </a:extLst>
          </p:cNvPr>
          <p:cNvSpPr txBox="1"/>
          <p:nvPr/>
        </p:nvSpPr>
        <p:spPr>
          <a:xfrm>
            <a:off x="5096034" y="2334787"/>
            <a:ext cx="1347912" cy="369332"/>
          </a:xfrm>
          <a:prstGeom prst="rect">
            <a:avLst/>
          </a:prstGeom>
          <a:noFill/>
        </p:spPr>
        <p:txBody>
          <a:bodyPr wrap="square" rtlCol="0">
            <a:spAutoFit/>
          </a:bodyPr>
          <a:lstStyle/>
          <a:p>
            <a:r>
              <a:rPr lang="es-PE" b="1">
                <a:solidFill>
                  <a:srgbClr val="C00000"/>
                </a:solidFill>
              </a:rPr>
              <a:t>EXAMPLE</a:t>
            </a:r>
            <a:endParaRPr lang="en-GB" b="1">
              <a:solidFill>
                <a:srgbClr val="C00000"/>
              </a:solidFill>
            </a:endParaRPr>
          </a:p>
        </p:txBody>
      </p:sp>
      <p:pic>
        <p:nvPicPr>
          <p:cNvPr id="4" name="Image 3" descr="Une image contenant texte, capture d’écran, Police, nombre&#10;&#10;Description générée automatiquement">
            <a:extLst>
              <a:ext uri="{FF2B5EF4-FFF2-40B4-BE49-F238E27FC236}">
                <a16:creationId xmlns:a16="http://schemas.microsoft.com/office/drawing/2014/main" id="{F78A61D3-372D-A52E-2F35-49DA03493875}"/>
              </a:ext>
            </a:extLst>
          </p:cNvPr>
          <p:cNvPicPr>
            <a:picLocks noChangeAspect="1"/>
          </p:cNvPicPr>
          <p:nvPr/>
        </p:nvPicPr>
        <p:blipFill>
          <a:blip r:embed="rId3"/>
          <a:stretch>
            <a:fillRect/>
          </a:stretch>
        </p:blipFill>
        <p:spPr>
          <a:xfrm>
            <a:off x="2546593" y="1506649"/>
            <a:ext cx="6442879" cy="2268766"/>
          </a:xfrm>
          <a:prstGeom prst="rect">
            <a:avLst/>
          </a:prstGeom>
        </p:spPr>
      </p:pic>
    </p:spTree>
    <p:extLst>
      <p:ext uri="{BB962C8B-B14F-4D97-AF65-F5344CB8AC3E}">
        <p14:creationId xmlns:p14="http://schemas.microsoft.com/office/powerpoint/2010/main" val="800818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DB5AE6F-DBEE-3268-5BB6-DC44C6C0D91E}"/>
              </a:ext>
            </a:extLst>
          </p:cNvPr>
          <p:cNvSpPr>
            <a:spLocks noGrp="1"/>
          </p:cNvSpPr>
          <p:nvPr/>
        </p:nvSpPr>
        <p:spPr>
          <a:xfrm>
            <a:off x="0" y="396096"/>
            <a:ext cx="4572000"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dirty="0">
                <a:solidFill>
                  <a:srgbClr val="333F44"/>
                </a:solidFill>
              </a:rPr>
              <a:t>Shareholder Ownership Analysis</a:t>
            </a:r>
          </a:p>
        </p:txBody>
      </p:sp>
      <p:sp>
        <p:nvSpPr>
          <p:cNvPr id="4" name="Rectangle 1">
            <a:extLst>
              <a:ext uri="{FF2B5EF4-FFF2-40B4-BE49-F238E27FC236}">
                <a16:creationId xmlns:a16="http://schemas.microsoft.com/office/drawing/2014/main" id="{71E110EC-6A42-A327-B7DD-415CD06C4DF2}"/>
              </a:ext>
            </a:extLst>
          </p:cNvPr>
          <p:cNvSpPr>
            <a:spLocks noChangeArrowheads="1"/>
          </p:cNvSpPr>
          <p:nvPr/>
        </p:nvSpPr>
        <p:spPr bwMode="auto">
          <a:xfrm>
            <a:off x="212670" y="1514828"/>
            <a:ext cx="8837062" cy="55399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66673" lvl="1" algn="just" fontAlgn="base">
              <a:spcBef>
                <a:spcPct val="0"/>
              </a:spcBef>
              <a:spcAft>
                <a:spcPts val="300"/>
              </a:spcAft>
              <a:buClr>
                <a:srgbClr val="132E57"/>
              </a:buClr>
              <a:buSzPct val="150000"/>
              <a:defRPr/>
            </a:pPr>
            <a:r>
              <a:rPr lang="en-US" sz="1000" dirty="0">
                <a:solidFill>
                  <a:srgbClr val="000000"/>
                </a:solidFill>
                <a:latin typeface="Arial" panose="020B0604020202020204" pitchFamily="34" charset="0"/>
                <a:ea typeface="MS PGothic"/>
                <a:cs typeface="Arial" panose="020B0604020202020204" pitchFamily="34" charset="0"/>
              </a:rPr>
              <a:t>Boeing's ownership structure reveals a significant concentration of institutional investors, with major players like Vanguard Group and BlackRock leading the pack. The high percentage of institutional shareholders indicates stability, with a long-term holding pattern, suggesting that float turnover is relatively low. Insiders, including executives and board members, also hold shares, but to a lesser extent. Retail investors account for a smaller share.</a:t>
            </a:r>
          </a:p>
        </p:txBody>
      </p:sp>
      <p:sp>
        <p:nvSpPr>
          <p:cNvPr id="6" name="TextBox 5">
            <a:extLst>
              <a:ext uri="{FF2B5EF4-FFF2-40B4-BE49-F238E27FC236}">
                <a16:creationId xmlns:a16="http://schemas.microsoft.com/office/drawing/2014/main" id="{DE1C28CC-CC94-624D-AA57-EAE02C1B8F3D}"/>
              </a:ext>
            </a:extLst>
          </p:cNvPr>
          <p:cNvSpPr txBox="1"/>
          <p:nvPr/>
        </p:nvSpPr>
        <p:spPr>
          <a:xfrm>
            <a:off x="212670" y="1236771"/>
            <a:ext cx="8837062" cy="261610"/>
          </a:xfrm>
          <a:prstGeom prst="rect">
            <a:avLst/>
          </a:prstGeom>
          <a:solidFill>
            <a:srgbClr val="113D63"/>
          </a:solidFill>
        </p:spPr>
        <p:txBody>
          <a:bodyPr wrap="square" rtlCol="0">
            <a:spAutoFit/>
          </a:bodyPr>
          <a:lstStyle/>
          <a:p>
            <a:r>
              <a:rPr lang="en-US" altLang="zh-CN" sz="1100" b="1">
                <a:solidFill>
                  <a:schemeClr val="bg1"/>
                </a:solidFill>
              </a:rPr>
              <a:t>Ownership Analysis</a:t>
            </a:r>
            <a:endParaRPr lang="en-CA" sz="1100" b="1">
              <a:solidFill>
                <a:schemeClr val="bg1"/>
              </a:solidFill>
            </a:endParaRPr>
          </a:p>
        </p:txBody>
      </p:sp>
      <p:graphicFrame>
        <p:nvGraphicFramePr>
          <p:cNvPr id="10" name="Graphique 9">
            <a:extLst>
              <a:ext uri="{FF2B5EF4-FFF2-40B4-BE49-F238E27FC236}">
                <a16:creationId xmlns:a16="http://schemas.microsoft.com/office/drawing/2014/main" id="{03866FDA-2864-A3EE-0CC9-60AE4331CBAF}"/>
              </a:ext>
            </a:extLst>
          </p:cNvPr>
          <p:cNvGraphicFramePr>
            <a:graphicFrameLocks/>
          </p:cNvGraphicFramePr>
          <p:nvPr>
            <p:extLst>
              <p:ext uri="{D42A27DB-BD31-4B8C-83A1-F6EECF244321}">
                <p14:modId xmlns:p14="http://schemas.microsoft.com/office/powerpoint/2010/main" val="2405486477"/>
              </p:ext>
            </p:extLst>
          </p:nvPr>
        </p:nvGraphicFramePr>
        <p:xfrm>
          <a:off x="212670" y="2084303"/>
          <a:ext cx="8594446" cy="391223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50763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286;p2">
            <a:extLst>
              <a:ext uri="{FF2B5EF4-FFF2-40B4-BE49-F238E27FC236}">
                <a16:creationId xmlns:a16="http://schemas.microsoft.com/office/drawing/2014/main" id="{09F1F76A-1C03-8CA7-524E-3FCE525C29A1}"/>
              </a:ext>
            </a:extLst>
          </p:cNvPr>
          <p:cNvSpPr/>
          <p:nvPr/>
        </p:nvSpPr>
        <p:spPr>
          <a:xfrm>
            <a:off x="3249216" y="2296996"/>
            <a:ext cx="2645569" cy="316292"/>
          </a:xfrm>
          <a:prstGeom prst="rect">
            <a:avLst/>
          </a:prstGeom>
          <a:solidFill>
            <a:srgbClr val="333F44"/>
          </a:solidFill>
          <a:ln>
            <a:solidFill>
              <a:srgbClr val="333F44"/>
            </a:solidFill>
          </a:ln>
        </p:spPr>
        <p:txBody>
          <a:bodyPr spcFirstLastPara="1" wrap="square" lIns="68569" tIns="34275" rIns="68569" bIns="34275" anchor="ctr" anchorCtr="0">
            <a:noAutofit/>
          </a:bodyPr>
          <a:lstStyle/>
          <a:p>
            <a:pPr algn="ctr" defTabSz="685800" fontAlgn="auto">
              <a:spcBef>
                <a:spcPts val="0"/>
              </a:spcBef>
              <a:spcAft>
                <a:spcPts val="0"/>
              </a:spcAft>
              <a:buClr>
                <a:srgbClr val="000000"/>
              </a:buClr>
              <a:buSzPts val="1800"/>
              <a:defRPr/>
            </a:pPr>
            <a:endParaRPr sz="1350" kern="0">
              <a:solidFill>
                <a:srgbClr val="FFFFFF"/>
              </a:solidFill>
              <a:latin typeface="Arial"/>
              <a:ea typeface="Arial"/>
              <a:cs typeface="Arial"/>
              <a:sym typeface="Arial"/>
            </a:endParaRPr>
          </a:p>
        </p:txBody>
      </p:sp>
      <p:sp>
        <p:nvSpPr>
          <p:cNvPr id="31" name="Google Shape;289;p2">
            <a:extLst>
              <a:ext uri="{FF2B5EF4-FFF2-40B4-BE49-F238E27FC236}">
                <a16:creationId xmlns:a16="http://schemas.microsoft.com/office/drawing/2014/main" id="{95C79D31-49D9-CF5C-C5CC-2018D877B6EA}"/>
              </a:ext>
            </a:extLst>
          </p:cNvPr>
          <p:cNvSpPr txBox="1">
            <a:spLocks/>
          </p:cNvSpPr>
          <p:nvPr/>
        </p:nvSpPr>
        <p:spPr>
          <a:xfrm>
            <a:off x="3265160" y="2296996"/>
            <a:ext cx="236495" cy="316292"/>
          </a:xfrm>
          <a:prstGeom prst="rect">
            <a:avLst/>
          </a:prstGeom>
          <a:no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500" kern="0">
                <a:solidFill>
                  <a:srgbClr val="FFFFFF"/>
                </a:solidFill>
              </a:rPr>
              <a:t>1</a:t>
            </a:r>
            <a:endParaRPr lang="en-CA" sz="1500" kern="0">
              <a:solidFill>
                <a:srgbClr val="000000"/>
              </a:solidFill>
            </a:endParaRPr>
          </a:p>
        </p:txBody>
      </p:sp>
      <p:sp>
        <p:nvSpPr>
          <p:cNvPr id="33" name="Google Shape;291;p2">
            <a:extLst>
              <a:ext uri="{FF2B5EF4-FFF2-40B4-BE49-F238E27FC236}">
                <a16:creationId xmlns:a16="http://schemas.microsoft.com/office/drawing/2014/main" id="{10A39BE7-5957-0E8F-6913-0D4EADABB8CF}"/>
              </a:ext>
            </a:extLst>
          </p:cNvPr>
          <p:cNvSpPr txBox="1">
            <a:spLocks/>
          </p:cNvSpPr>
          <p:nvPr/>
        </p:nvSpPr>
        <p:spPr>
          <a:xfrm>
            <a:off x="3265160" y="3181354"/>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3</a:t>
            </a:r>
          </a:p>
        </p:txBody>
      </p:sp>
      <p:sp>
        <p:nvSpPr>
          <p:cNvPr id="34" name="Google Shape;292;p2">
            <a:extLst>
              <a:ext uri="{FF2B5EF4-FFF2-40B4-BE49-F238E27FC236}">
                <a16:creationId xmlns:a16="http://schemas.microsoft.com/office/drawing/2014/main" id="{C96A2CB4-25D5-A6DB-7F9E-0AC28C1BC798}"/>
              </a:ext>
            </a:extLst>
          </p:cNvPr>
          <p:cNvSpPr txBox="1">
            <a:spLocks/>
          </p:cNvSpPr>
          <p:nvPr/>
        </p:nvSpPr>
        <p:spPr>
          <a:xfrm>
            <a:off x="3265160" y="3640266"/>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4</a:t>
            </a:r>
          </a:p>
        </p:txBody>
      </p:sp>
      <p:sp>
        <p:nvSpPr>
          <p:cNvPr id="35" name="Google Shape;293;p2">
            <a:extLst>
              <a:ext uri="{FF2B5EF4-FFF2-40B4-BE49-F238E27FC236}">
                <a16:creationId xmlns:a16="http://schemas.microsoft.com/office/drawing/2014/main" id="{24082908-437D-EAD2-5694-48F1B986A9AD}"/>
              </a:ext>
            </a:extLst>
          </p:cNvPr>
          <p:cNvSpPr txBox="1">
            <a:spLocks/>
          </p:cNvSpPr>
          <p:nvPr/>
        </p:nvSpPr>
        <p:spPr>
          <a:xfrm>
            <a:off x="3265159" y="4099177"/>
            <a:ext cx="377597"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5</a:t>
            </a:r>
          </a:p>
        </p:txBody>
      </p:sp>
      <p:sp>
        <p:nvSpPr>
          <p:cNvPr id="36" name="Google Shape;294;p2">
            <a:extLst>
              <a:ext uri="{FF2B5EF4-FFF2-40B4-BE49-F238E27FC236}">
                <a16:creationId xmlns:a16="http://schemas.microsoft.com/office/drawing/2014/main" id="{CF2671DB-5AF7-0C85-8B70-85157CC6FB21}"/>
              </a:ext>
            </a:extLst>
          </p:cNvPr>
          <p:cNvSpPr txBox="1">
            <a:spLocks/>
          </p:cNvSpPr>
          <p:nvPr/>
        </p:nvSpPr>
        <p:spPr>
          <a:xfrm>
            <a:off x="3583212" y="2296996"/>
            <a:ext cx="2311573" cy="316292"/>
          </a:xfrm>
          <a:prstGeom prst="rect">
            <a:avLst/>
          </a:prstGeom>
          <a:no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050" kern="0">
                <a:solidFill>
                  <a:srgbClr val="FFFFFF"/>
                </a:solidFill>
              </a:rPr>
              <a:t>Company Overview</a:t>
            </a:r>
            <a:endParaRPr lang="en-CA" sz="1050" kern="0">
              <a:solidFill>
                <a:srgbClr val="000000"/>
              </a:solidFill>
            </a:endParaRPr>
          </a:p>
        </p:txBody>
      </p:sp>
      <p:sp>
        <p:nvSpPr>
          <p:cNvPr id="38" name="Google Shape;296;p2">
            <a:extLst>
              <a:ext uri="{FF2B5EF4-FFF2-40B4-BE49-F238E27FC236}">
                <a16:creationId xmlns:a16="http://schemas.microsoft.com/office/drawing/2014/main" id="{16617FB7-4C3A-DAF9-0D17-D17A495F8E61}"/>
              </a:ext>
            </a:extLst>
          </p:cNvPr>
          <p:cNvSpPr txBox="1">
            <a:spLocks/>
          </p:cNvSpPr>
          <p:nvPr/>
        </p:nvSpPr>
        <p:spPr>
          <a:xfrm>
            <a:off x="3583212" y="3181354"/>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Investment Thesis</a:t>
            </a:r>
          </a:p>
        </p:txBody>
      </p:sp>
      <p:sp>
        <p:nvSpPr>
          <p:cNvPr id="39" name="Google Shape;297;p2">
            <a:extLst>
              <a:ext uri="{FF2B5EF4-FFF2-40B4-BE49-F238E27FC236}">
                <a16:creationId xmlns:a16="http://schemas.microsoft.com/office/drawing/2014/main" id="{6206F5AB-F41E-171A-3BAE-D697B7D553FD}"/>
              </a:ext>
            </a:extLst>
          </p:cNvPr>
          <p:cNvSpPr txBox="1">
            <a:spLocks/>
          </p:cNvSpPr>
          <p:nvPr/>
        </p:nvSpPr>
        <p:spPr>
          <a:xfrm>
            <a:off x="3583212" y="3640266"/>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Valuation</a:t>
            </a:r>
          </a:p>
        </p:txBody>
      </p:sp>
      <p:sp>
        <p:nvSpPr>
          <p:cNvPr id="40" name="Google Shape;298;p2">
            <a:extLst>
              <a:ext uri="{FF2B5EF4-FFF2-40B4-BE49-F238E27FC236}">
                <a16:creationId xmlns:a16="http://schemas.microsoft.com/office/drawing/2014/main" id="{161C3D2D-BDE3-7B7C-CB18-B945EF99F61B}"/>
              </a:ext>
            </a:extLst>
          </p:cNvPr>
          <p:cNvSpPr txBox="1">
            <a:spLocks/>
          </p:cNvSpPr>
          <p:nvPr/>
        </p:nvSpPr>
        <p:spPr>
          <a:xfrm>
            <a:off x="3583212" y="4099177"/>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Catalysts and Risks</a:t>
            </a:r>
          </a:p>
        </p:txBody>
      </p:sp>
      <p:sp>
        <p:nvSpPr>
          <p:cNvPr id="41" name="Google Shape;299;p2">
            <a:extLst>
              <a:ext uri="{FF2B5EF4-FFF2-40B4-BE49-F238E27FC236}">
                <a16:creationId xmlns:a16="http://schemas.microsoft.com/office/drawing/2014/main" id="{E6BE0CC5-6BE6-0D72-C757-18F26E148BC6}"/>
              </a:ext>
            </a:extLst>
          </p:cNvPr>
          <p:cNvSpPr txBox="1">
            <a:spLocks/>
          </p:cNvSpPr>
          <p:nvPr/>
        </p:nvSpPr>
        <p:spPr>
          <a:xfrm>
            <a:off x="3265160" y="4558088"/>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6</a:t>
            </a:r>
          </a:p>
        </p:txBody>
      </p:sp>
      <p:sp>
        <p:nvSpPr>
          <p:cNvPr id="42" name="Google Shape;300;p2">
            <a:extLst>
              <a:ext uri="{FF2B5EF4-FFF2-40B4-BE49-F238E27FC236}">
                <a16:creationId xmlns:a16="http://schemas.microsoft.com/office/drawing/2014/main" id="{35732484-D305-8AA4-0F59-695F60F3B982}"/>
              </a:ext>
            </a:extLst>
          </p:cNvPr>
          <p:cNvSpPr txBox="1">
            <a:spLocks/>
          </p:cNvSpPr>
          <p:nvPr/>
        </p:nvSpPr>
        <p:spPr>
          <a:xfrm>
            <a:off x="3583212" y="4558088"/>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Recommendation</a:t>
            </a:r>
          </a:p>
        </p:txBody>
      </p:sp>
      <p:sp>
        <p:nvSpPr>
          <p:cNvPr id="44" name="Google Shape;291;p2">
            <a:extLst>
              <a:ext uri="{FF2B5EF4-FFF2-40B4-BE49-F238E27FC236}">
                <a16:creationId xmlns:a16="http://schemas.microsoft.com/office/drawing/2014/main" id="{CB77208E-5651-7606-E45F-77D2F4B4D5BC}"/>
              </a:ext>
            </a:extLst>
          </p:cNvPr>
          <p:cNvSpPr txBox="1">
            <a:spLocks/>
          </p:cNvSpPr>
          <p:nvPr/>
        </p:nvSpPr>
        <p:spPr>
          <a:xfrm>
            <a:off x="3249215" y="2739175"/>
            <a:ext cx="320246"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2</a:t>
            </a:r>
          </a:p>
        </p:txBody>
      </p:sp>
      <p:sp>
        <p:nvSpPr>
          <p:cNvPr id="45" name="Google Shape;296;p2">
            <a:extLst>
              <a:ext uri="{FF2B5EF4-FFF2-40B4-BE49-F238E27FC236}">
                <a16:creationId xmlns:a16="http://schemas.microsoft.com/office/drawing/2014/main" id="{F9427E1B-D6C0-48F8-D050-0EB50DEF52EF}"/>
              </a:ext>
            </a:extLst>
          </p:cNvPr>
          <p:cNvSpPr txBox="1">
            <a:spLocks/>
          </p:cNvSpPr>
          <p:nvPr/>
        </p:nvSpPr>
        <p:spPr>
          <a:xfrm>
            <a:off x="3567267" y="2739175"/>
            <a:ext cx="2327517"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Industry Overview</a:t>
            </a:r>
          </a:p>
        </p:txBody>
      </p:sp>
      <p:cxnSp>
        <p:nvCxnSpPr>
          <p:cNvPr id="6" name="Straight Connector 5">
            <a:extLst>
              <a:ext uri="{FF2B5EF4-FFF2-40B4-BE49-F238E27FC236}">
                <a16:creationId xmlns:a16="http://schemas.microsoft.com/office/drawing/2014/main" id="{1321AB69-9C51-5164-B0B1-6812CDB2C0D2}"/>
              </a:ext>
            </a:extLst>
          </p:cNvPr>
          <p:cNvCxnSpPr/>
          <p:nvPr/>
        </p:nvCxnSpPr>
        <p:spPr>
          <a:xfrm>
            <a:off x="1" y="2191249"/>
            <a:ext cx="1638860" cy="0"/>
          </a:xfrm>
          <a:prstGeom prst="line">
            <a:avLst/>
          </a:prstGeom>
          <a:ln w="19050">
            <a:solidFill>
              <a:srgbClr val="2A90BC"/>
            </a:solidFill>
          </a:ln>
        </p:spPr>
        <p:style>
          <a:lnRef idx="1">
            <a:schemeClr val="accent2"/>
          </a:lnRef>
          <a:fillRef idx="0">
            <a:schemeClr val="accent2"/>
          </a:fillRef>
          <a:effectRef idx="0">
            <a:schemeClr val="accent2"/>
          </a:effectRef>
          <a:fontRef idx="minor">
            <a:schemeClr val="tx1"/>
          </a:fontRef>
        </p:style>
      </p:cxnSp>
      <p:sp>
        <p:nvSpPr>
          <p:cNvPr id="7" name="Title 1">
            <a:extLst>
              <a:ext uri="{FF2B5EF4-FFF2-40B4-BE49-F238E27FC236}">
                <a16:creationId xmlns:a16="http://schemas.microsoft.com/office/drawing/2014/main" id="{72F3F4C0-2015-02FA-707B-ADB6E8246C8D}"/>
              </a:ext>
            </a:extLst>
          </p:cNvPr>
          <p:cNvSpPr>
            <a:spLocks noGrp="1"/>
          </p:cNvSpPr>
          <p:nvPr/>
        </p:nvSpPr>
        <p:spPr>
          <a:xfrm>
            <a:off x="465270" y="1619532"/>
            <a:ext cx="2457450" cy="401648"/>
          </a:xfrm>
          <a:prstGeom prst="rect">
            <a:avLst/>
          </a:prstGeom>
        </p:spPr>
        <p:txBody>
          <a:bodyPr vert="horz"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a:solidFill>
                  <a:srgbClr val="333F44"/>
                </a:solidFill>
              </a:rPr>
              <a:t>Agenda</a:t>
            </a:r>
          </a:p>
        </p:txBody>
      </p:sp>
      <p:pic>
        <p:nvPicPr>
          <p:cNvPr id="2" name="Picture 6">
            <a:extLst>
              <a:ext uri="{FF2B5EF4-FFF2-40B4-BE49-F238E27FC236}">
                <a16:creationId xmlns:a16="http://schemas.microsoft.com/office/drawing/2014/main" id="{33D80154-6335-4AE2-966E-1157EBA067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5159" y="1534720"/>
            <a:ext cx="2457450" cy="571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19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graphicFrame>
        <p:nvGraphicFramePr>
          <p:cNvPr id="41" name="Google Shape;41;p4"/>
          <p:cNvGraphicFramePr/>
          <p:nvPr>
            <p:extLst>
              <p:ext uri="{D42A27DB-BD31-4B8C-83A1-F6EECF244321}">
                <p14:modId xmlns:p14="http://schemas.microsoft.com/office/powerpoint/2010/main" val="779030349"/>
              </p:ext>
            </p:extLst>
          </p:nvPr>
        </p:nvGraphicFramePr>
        <p:xfrm>
          <a:off x="212004" y="1174378"/>
          <a:ext cx="8676502" cy="4736623"/>
        </p:xfrm>
        <a:graphic>
          <a:graphicData uri="http://schemas.openxmlformats.org/drawingml/2006/table">
            <a:tbl>
              <a:tblPr>
                <a:noFill/>
              </a:tblPr>
              <a:tblGrid>
                <a:gridCol w="866295">
                  <a:extLst>
                    <a:ext uri="{9D8B030D-6E8A-4147-A177-3AD203B41FA5}">
                      <a16:colId xmlns:a16="http://schemas.microsoft.com/office/drawing/2014/main" val="20000"/>
                    </a:ext>
                  </a:extLst>
                </a:gridCol>
                <a:gridCol w="815389">
                  <a:extLst>
                    <a:ext uri="{9D8B030D-6E8A-4147-A177-3AD203B41FA5}">
                      <a16:colId xmlns:a16="http://schemas.microsoft.com/office/drawing/2014/main" val="20001"/>
                    </a:ext>
                  </a:extLst>
                </a:gridCol>
                <a:gridCol w="815389">
                  <a:extLst>
                    <a:ext uri="{9D8B030D-6E8A-4147-A177-3AD203B41FA5}">
                      <a16:colId xmlns:a16="http://schemas.microsoft.com/office/drawing/2014/main" val="20002"/>
                    </a:ext>
                  </a:extLst>
                </a:gridCol>
                <a:gridCol w="3893930">
                  <a:extLst>
                    <a:ext uri="{9D8B030D-6E8A-4147-A177-3AD203B41FA5}">
                      <a16:colId xmlns:a16="http://schemas.microsoft.com/office/drawing/2014/main" val="20003"/>
                    </a:ext>
                  </a:extLst>
                </a:gridCol>
                <a:gridCol w="2285499">
                  <a:extLst>
                    <a:ext uri="{9D8B030D-6E8A-4147-A177-3AD203B41FA5}">
                      <a16:colId xmlns:a16="http://schemas.microsoft.com/office/drawing/2014/main" val="20004"/>
                    </a:ext>
                  </a:extLst>
                </a:gridCol>
              </a:tblGrid>
              <a:tr h="331436">
                <a:tc>
                  <a:txBody>
                    <a:bodyPr/>
                    <a:lstStyle/>
                    <a:p>
                      <a:pPr marL="0" marR="0" lvl="0" indent="0" algn="ctr" rtl="0">
                        <a:spcBef>
                          <a:spcPts val="0"/>
                        </a:spcBef>
                        <a:spcAft>
                          <a:spcPts val="0"/>
                        </a:spcAft>
                        <a:buNone/>
                      </a:pPr>
                      <a:r>
                        <a:rPr lang="en-US" sz="900" b="1" u="none" strike="noStrike" cap="none" dirty="0">
                          <a:solidFill>
                            <a:schemeClr val="bg1"/>
                          </a:solidFill>
                          <a:latin typeface="Arial" panose="020B0604020202020204" pitchFamily="34" charset="0"/>
                          <a:cs typeface="Arial" panose="020B0604020202020204" pitchFamily="34" charset="0"/>
                        </a:rPr>
                        <a:t>Company</a:t>
                      </a:r>
                      <a:endParaRPr sz="900" b="1" i="0" u="none" strike="noStrike" cap="none" dirty="0">
                        <a:solidFill>
                          <a:schemeClr val="bg1"/>
                        </a:solidFill>
                        <a:latin typeface="Arial" panose="020B0604020202020204" pitchFamily="34" charset="0"/>
                        <a:ea typeface="Calibri"/>
                        <a:cs typeface="Arial" panose="020B0604020202020204" pitchFamily="34" charset="0"/>
                        <a:sym typeface="Calibri"/>
                      </a:endParaRPr>
                    </a:p>
                  </a:txBody>
                  <a:tcPr marL="457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113D63"/>
                    </a:solidFill>
                  </a:tcPr>
                </a:tc>
                <a:tc>
                  <a:txBody>
                    <a:bodyPr/>
                    <a:lstStyle/>
                    <a:p>
                      <a:pPr marL="0" marR="0" lvl="0" indent="0" algn="ctr" rtl="0">
                        <a:spcBef>
                          <a:spcPts val="0"/>
                        </a:spcBef>
                        <a:spcAft>
                          <a:spcPts val="0"/>
                        </a:spcAft>
                        <a:buNone/>
                      </a:pPr>
                      <a:r>
                        <a:rPr lang="en-US" sz="900" b="1" u="none" strike="noStrike" cap="none" dirty="0">
                          <a:solidFill>
                            <a:schemeClr val="bg1"/>
                          </a:solidFill>
                          <a:latin typeface="Arial" panose="020B0604020202020204" pitchFamily="34" charset="0"/>
                          <a:cs typeface="Arial" panose="020B0604020202020204" pitchFamily="34" charset="0"/>
                        </a:rPr>
                        <a:t>EV/ LTM Sales</a:t>
                      </a:r>
                      <a:endParaRPr sz="900" b="1" i="0" u="none" strike="noStrike" cap="none" dirty="0">
                        <a:solidFill>
                          <a:schemeClr val="bg1"/>
                        </a:solidFill>
                        <a:latin typeface="Arial" panose="020B0604020202020204" pitchFamily="34" charset="0"/>
                        <a:ea typeface="Calibri"/>
                        <a:cs typeface="Arial" panose="020B0604020202020204" pitchFamily="34" charset="0"/>
                        <a:sym typeface="Calibri"/>
                      </a:endParaRPr>
                    </a:p>
                  </a:txBody>
                  <a:tcPr marL="0"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113D63"/>
                    </a:solidFill>
                  </a:tcPr>
                </a:tc>
                <a:tc>
                  <a:txBody>
                    <a:bodyPr/>
                    <a:lstStyle/>
                    <a:p>
                      <a:pPr marL="0" marR="0" lvl="0" indent="0" algn="ctr" rtl="0">
                        <a:spcBef>
                          <a:spcPts val="0"/>
                        </a:spcBef>
                        <a:spcAft>
                          <a:spcPts val="0"/>
                        </a:spcAft>
                        <a:buNone/>
                      </a:pPr>
                      <a:r>
                        <a:rPr lang="en-US" sz="900" b="1" u="none" strike="noStrike" cap="none" dirty="0">
                          <a:solidFill>
                            <a:schemeClr val="bg1"/>
                          </a:solidFill>
                          <a:latin typeface="Arial" panose="020B0604020202020204" pitchFamily="34" charset="0"/>
                          <a:cs typeface="Arial" panose="020B0604020202020204" pitchFamily="34" charset="0"/>
                        </a:rPr>
                        <a:t>EV/ LTM EBITDA</a:t>
                      </a:r>
                      <a:endParaRPr sz="900" b="1" i="0" u="none" strike="noStrike" cap="none" dirty="0">
                        <a:solidFill>
                          <a:schemeClr val="bg1"/>
                        </a:solidFill>
                        <a:latin typeface="Arial" panose="020B0604020202020204" pitchFamily="34" charset="0"/>
                        <a:ea typeface="Calibri"/>
                        <a:cs typeface="Arial" panose="020B0604020202020204" pitchFamily="34" charset="0"/>
                        <a:sym typeface="Calibri"/>
                      </a:endParaRPr>
                    </a:p>
                  </a:txBody>
                  <a:tcPr marL="0"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113D63"/>
                    </a:solidFill>
                  </a:tcPr>
                </a:tc>
                <a:tc>
                  <a:txBody>
                    <a:bodyPr/>
                    <a:lstStyle/>
                    <a:p>
                      <a:pPr marL="0" marR="0" lvl="0" indent="0" algn="ctr" rtl="0">
                        <a:spcBef>
                          <a:spcPts val="0"/>
                        </a:spcBef>
                        <a:spcAft>
                          <a:spcPts val="0"/>
                        </a:spcAft>
                        <a:buNone/>
                      </a:pPr>
                      <a:r>
                        <a:rPr lang="en-US" sz="900" b="1" u="none" strike="noStrike" cap="none" dirty="0">
                          <a:solidFill>
                            <a:schemeClr val="bg1"/>
                          </a:solidFill>
                          <a:latin typeface="Arial" panose="020B0604020202020204" pitchFamily="34" charset="0"/>
                          <a:cs typeface="Arial" panose="020B0604020202020204" pitchFamily="34" charset="0"/>
                        </a:rPr>
                        <a:t>Strategy</a:t>
                      </a:r>
                      <a:endParaRPr sz="900" b="1" i="0" u="none" strike="noStrike" cap="none" dirty="0">
                        <a:solidFill>
                          <a:schemeClr val="bg1"/>
                        </a:solidFill>
                        <a:latin typeface="Arial" panose="020B0604020202020204" pitchFamily="34" charset="0"/>
                        <a:ea typeface="Calibri"/>
                        <a:cs typeface="Arial" panose="020B0604020202020204" pitchFamily="34" charset="0"/>
                        <a:sym typeface="Calibri"/>
                      </a:endParaRPr>
                    </a:p>
                  </a:txBody>
                  <a:tcPr marL="0"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113D63"/>
                    </a:solidFill>
                  </a:tcPr>
                </a:tc>
                <a:tc>
                  <a:txBody>
                    <a:bodyPr/>
                    <a:lstStyle/>
                    <a:p>
                      <a:pPr marL="0" marR="0" lvl="0" indent="0" algn="ctr" rtl="0">
                        <a:lnSpc>
                          <a:spcPct val="100000"/>
                        </a:lnSpc>
                        <a:spcBef>
                          <a:spcPts val="0"/>
                        </a:spcBef>
                        <a:spcAft>
                          <a:spcPts val="0"/>
                        </a:spcAft>
                        <a:buClr>
                          <a:schemeClr val="dk1"/>
                        </a:buClr>
                        <a:buSzPts val="1000"/>
                        <a:buFont typeface="Calibri"/>
                        <a:buNone/>
                      </a:pPr>
                      <a:r>
                        <a:rPr lang="en-US" sz="900" b="1" u="none" strike="noStrike" cap="none" dirty="0">
                          <a:solidFill>
                            <a:schemeClr val="bg1"/>
                          </a:solidFill>
                          <a:latin typeface="Arial" panose="020B0604020202020204" pitchFamily="34" charset="0"/>
                          <a:cs typeface="Arial" panose="020B0604020202020204" pitchFamily="34" charset="0"/>
                        </a:rPr>
                        <a:t>Structure</a:t>
                      </a:r>
                      <a:endParaRPr sz="900" b="1" i="0" u="none" strike="noStrike" cap="none" dirty="0">
                        <a:solidFill>
                          <a:schemeClr val="bg1"/>
                        </a:solidFill>
                        <a:latin typeface="Arial" panose="020B0604020202020204" pitchFamily="34" charset="0"/>
                        <a:ea typeface="Calibri"/>
                        <a:cs typeface="Arial" panose="020B0604020202020204" pitchFamily="34" charset="0"/>
                        <a:sym typeface="Calibri"/>
                      </a:endParaRPr>
                    </a:p>
                  </a:txBody>
                  <a:tcPr marL="0"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rgbClr val="113D63"/>
                    </a:solidFill>
                  </a:tcPr>
                </a:tc>
                <a:extLst>
                  <a:ext uri="{0D108BD9-81ED-4DB2-BD59-A6C34878D82A}">
                    <a16:rowId xmlns:a16="http://schemas.microsoft.com/office/drawing/2014/main" val="10000"/>
                  </a:ext>
                </a:extLst>
              </a:tr>
              <a:tr h="923246">
                <a:tc>
                  <a:txBody>
                    <a:bodyPr/>
                    <a:lstStyle/>
                    <a:p>
                      <a:pPr marL="0" marR="0" lvl="0" indent="0" algn="just" rtl="0">
                        <a:spcBef>
                          <a:spcPts val="0"/>
                        </a:spcBef>
                        <a:spcAft>
                          <a:spcPts val="0"/>
                        </a:spcAft>
                        <a:buNone/>
                      </a:pPr>
                      <a:endParaRPr sz="900" b="1" i="0" u="none" strike="noStrike" cap="none" dirty="0">
                        <a:solidFill>
                          <a:srgbClr val="444960"/>
                        </a:solidFill>
                        <a:latin typeface="Arial" panose="020B0604020202020204" pitchFamily="34" charset="0"/>
                        <a:ea typeface="Calibri"/>
                        <a:cs typeface="Arial" panose="020B0604020202020204" pitchFamily="34" charset="0"/>
                        <a:sym typeface="Calibri"/>
                      </a:endParaRPr>
                    </a:p>
                  </a:txBody>
                  <a:tcPr marL="457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15888" marR="0" lvl="0" indent="-115888" algn="ctr" rtl="0">
                        <a:lnSpc>
                          <a:spcPct val="100000"/>
                        </a:lnSpc>
                        <a:spcBef>
                          <a:spcPts val="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EV/Sales: 1,81</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P/E: 28,54</a:t>
                      </a:r>
                      <a:endParaRPr sz="1600" dirty="0">
                        <a:latin typeface="Arial" panose="020B0604020202020204" pitchFamily="34" charset="0"/>
                        <a:cs typeface="Arial" panose="020B0604020202020204" pitchFamily="34" charset="0"/>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15888" marR="0" lvl="0" indent="-115888" algn="ctr" rtl="0">
                        <a:lnSpc>
                          <a:spcPct val="100000"/>
                        </a:lnSpc>
                        <a:spcBef>
                          <a:spcPts val="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EV/Revenue: 1.72</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EV/EBITDA: 14.33</a:t>
                      </a:r>
                      <a:endParaRPr sz="1600" dirty="0">
                        <a:latin typeface="Arial" panose="020B0604020202020204" pitchFamily="34" charset="0"/>
                        <a:cs typeface="Arial" panose="020B0604020202020204" pitchFamily="34" charset="0"/>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1E3448"/>
                        </a:buClr>
                        <a:buSzPts val="1500"/>
                        <a:buFont typeface="Arial"/>
                        <a:buNone/>
                      </a:pPr>
                      <a:r>
                        <a:rPr lang="en-US" sz="900" b="0" u="none" strike="noStrike" cap="none" dirty="0">
                          <a:solidFill>
                            <a:schemeClr val="dk1"/>
                          </a:solidFill>
                          <a:latin typeface="Arial" panose="020B0604020202020204" pitchFamily="34" charset="0"/>
                          <a:cs typeface="Arial" panose="020B0604020202020204" pitchFamily="34" charset="0"/>
                        </a:rPr>
                        <a:t>Airbus recently increased production rates for A320 family to meet high demand.  They also </a:t>
                      </a:r>
                      <a:r>
                        <a:rPr lang="en-US" sz="900" dirty="0">
                          <a:latin typeface="Arial" panose="020B0604020202020204" pitchFamily="34" charset="0"/>
                          <a:cs typeface="Arial" panose="020B0604020202020204" pitchFamily="34" charset="0"/>
                        </a:rPr>
                        <a:t>f</a:t>
                      </a:r>
                      <a:r>
                        <a:rPr lang="en-US" sz="900" b="0" u="none" strike="noStrike" cap="none" dirty="0">
                          <a:solidFill>
                            <a:schemeClr val="dk1"/>
                          </a:solidFill>
                          <a:latin typeface="Arial" panose="020B0604020202020204" pitchFamily="34" charset="0"/>
                          <a:cs typeface="Arial" panose="020B0604020202020204" pitchFamily="34" charset="0"/>
                        </a:rPr>
                        <a:t>ocus on developing hydrogen-powered aircraft. Analysts see strong commercial business but are cautious on the defense sector. Their </a:t>
                      </a:r>
                      <a:r>
                        <a:rPr lang="en-US" sz="900" dirty="0">
                          <a:latin typeface="Arial" panose="020B0604020202020204" pitchFamily="34" charset="0"/>
                          <a:cs typeface="Arial" panose="020B0604020202020204" pitchFamily="34" charset="0"/>
                        </a:rPr>
                        <a:t>g</a:t>
                      </a:r>
                      <a:r>
                        <a:rPr lang="en-US" sz="900" b="0" u="none" strike="noStrike" cap="none" dirty="0">
                          <a:solidFill>
                            <a:schemeClr val="dk1"/>
                          </a:solidFill>
                          <a:latin typeface="Arial" panose="020B0604020202020204" pitchFamily="34" charset="0"/>
                          <a:cs typeface="Arial" panose="020B0604020202020204" pitchFamily="34" charset="0"/>
                        </a:rPr>
                        <a:t>rowth strategy consist around the exploration of new technologies like electric and hydrogen propulsion. Airbus is a direct competitor across commercial aircraft, defense &amp; space sectors.</a:t>
                      </a: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a:lnSpc>
                          <a:spcPct val="100000"/>
                        </a:lnSpc>
                        <a:spcBef>
                          <a:spcPts val="0"/>
                        </a:spcBef>
                        <a:spcAft>
                          <a:spcPts val="0"/>
                        </a:spcAft>
                        <a:buClr>
                          <a:srgbClr val="1E3448"/>
                        </a:buClr>
                        <a:buSzPts val="1500"/>
                        <a:buFont typeface="Arial"/>
                        <a:buChar char="•"/>
                      </a:pPr>
                      <a:r>
                        <a:rPr lang="en-US" sz="900" b="0" u="none" strike="noStrike" cap="none" dirty="0">
                          <a:solidFill>
                            <a:schemeClr val="dk1"/>
                          </a:solidFill>
                          <a:latin typeface="Arial" panose="020B0604020202020204" pitchFamily="34" charset="0"/>
                          <a:cs typeface="Arial" panose="020B0604020202020204" pitchFamily="34" charset="0"/>
                        </a:rPr>
                        <a:t>Commercial Aircraft, Defense and space technology, Helicopters  </a:t>
                      </a:r>
                      <a:endParaRPr sz="1600" dirty="0">
                        <a:latin typeface="Arial" panose="020B0604020202020204" pitchFamily="34" charset="0"/>
                        <a:cs typeface="Arial" panose="020B0604020202020204" pitchFamily="34" charset="0"/>
                      </a:endParaRPr>
                    </a:p>
                    <a:p>
                      <a:pPr marL="171450" marR="0" lvl="0" indent="-171450" algn="l" rtl="0">
                        <a:lnSpc>
                          <a:spcPct val="100000"/>
                        </a:lnSpc>
                        <a:spcBef>
                          <a:spcPts val="300"/>
                        </a:spcBef>
                        <a:spcAft>
                          <a:spcPts val="0"/>
                        </a:spcAft>
                        <a:buClr>
                          <a:srgbClr val="1E3448"/>
                        </a:buClr>
                        <a:buSzPts val="1500"/>
                        <a:buFont typeface="Arial"/>
                        <a:buChar char="•"/>
                      </a:pPr>
                      <a:r>
                        <a:rPr lang="en-US" sz="900" b="0" u="none" strike="noStrike" cap="none" dirty="0">
                          <a:solidFill>
                            <a:schemeClr val="dk1"/>
                          </a:solidFill>
                          <a:latin typeface="Arial" panose="020B0604020202020204" pitchFamily="34" charset="0"/>
                          <a:cs typeface="Arial" panose="020B0604020202020204" pitchFamily="34" charset="0"/>
                        </a:rPr>
                        <a:t>Airbus 72%, Airbus defense and space 17% , airbus helicopters 11% </a:t>
                      </a: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67506">
                <a:tc>
                  <a:txBody>
                    <a:bodyPr/>
                    <a:lstStyle/>
                    <a:p>
                      <a:pPr marL="0" marR="0" lvl="0" indent="0" algn="just" rtl="0">
                        <a:spcBef>
                          <a:spcPts val="0"/>
                        </a:spcBef>
                        <a:spcAft>
                          <a:spcPts val="0"/>
                        </a:spcAft>
                        <a:buNone/>
                      </a:pPr>
                      <a:endParaRPr sz="900" b="1" i="0" u="none" strike="noStrike" cap="none" dirty="0">
                        <a:solidFill>
                          <a:srgbClr val="444960"/>
                        </a:solidFill>
                        <a:latin typeface="Arial" panose="020B0604020202020204" pitchFamily="34" charset="0"/>
                        <a:ea typeface="Calibri"/>
                        <a:cs typeface="Arial" panose="020B0604020202020204" pitchFamily="34" charset="0"/>
                        <a:sym typeface="Calibri"/>
                      </a:endParaRPr>
                    </a:p>
                  </a:txBody>
                  <a:tcPr marL="457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15887" marR="0" lvl="0" indent="-115887" algn="ctr" rtl="0">
                        <a:lnSpc>
                          <a:spcPct val="100000"/>
                        </a:lnSpc>
                        <a:spcBef>
                          <a:spcPts val="0"/>
                        </a:spcBef>
                        <a:spcAft>
                          <a:spcPts val="0"/>
                        </a:spcAft>
                        <a:buClr>
                          <a:srgbClr val="003399"/>
                        </a:buClr>
                        <a:buSzPts val="700"/>
                        <a:buFont typeface="Noto Sans Symbols"/>
                        <a:buNone/>
                      </a:pPr>
                      <a:endParaRPr sz="900" dirty="0">
                        <a:latin typeface="Arial" panose="020B0604020202020204" pitchFamily="34" charset="0"/>
                        <a:cs typeface="Arial" panose="020B0604020202020204" pitchFamily="34" charset="0"/>
                      </a:endParaRPr>
                    </a:p>
                    <a:p>
                      <a:pPr marL="115888" marR="0" lvl="0" indent="-115888" algn="ctr" rtl="0">
                        <a:lnSpc>
                          <a:spcPct val="100000"/>
                        </a:lnSpc>
                        <a:spcBef>
                          <a:spcPts val="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EV/Sales: 1,69</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P/E: 16,51</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15887" marR="0" lvl="0" indent="-115887" algn="ctr" rtl="0">
                        <a:lnSpc>
                          <a:spcPct val="100000"/>
                        </a:lnSpc>
                        <a:spcBef>
                          <a:spcPts val="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EV/Revenue: 1.86</a:t>
                      </a:r>
                      <a:endParaRPr sz="9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EV/EBITDA: 11.71</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1E3448"/>
                        </a:buClr>
                        <a:buSzPts val="1500"/>
                        <a:buFont typeface="Arial"/>
                        <a:buNone/>
                      </a:pPr>
                      <a:r>
                        <a:rPr lang="en-US" sz="900" b="0" u="none" strike="noStrike" cap="none" dirty="0">
                          <a:solidFill>
                            <a:schemeClr val="dk1"/>
                          </a:solidFill>
                          <a:latin typeface="Arial" panose="020B0604020202020204" pitchFamily="34" charset="0"/>
                          <a:cs typeface="Arial" panose="020B0604020202020204" pitchFamily="34" charset="0"/>
                        </a:rPr>
                        <a:t>Lockheed Martin is a major defense player, recently winning a big F-35 contract and developing hypersonic weapons. Analysts are bullish due to rising defense spending and the F-35 program. Their focus is on core defense and benefi</a:t>
                      </a:r>
                      <a:r>
                        <a:rPr lang="en-US" sz="900" dirty="0">
                          <a:latin typeface="Arial" panose="020B0604020202020204" pitchFamily="34" charset="0"/>
                          <a:cs typeface="Arial" panose="020B0604020202020204" pitchFamily="34" charset="0"/>
                        </a:rPr>
                        <a:t>ts</a:t>
                      </a:r>
                      <a:r>
                        <a:rPr lang="en-US" sz="900" b="0" u="none" strike="noStrike" cap="none" dirty="0">
                          <a:solidFill>
                            <a:schemeClr val="dk1"/>
                          </a:solidFill>
                          <a:latin typeface="Arial" panose="020B0604020202020204" pitchFamily="34" charset="0"/>
                          <a:cs typeface="Arial" panose="020B0604020202020204" pitchFamily="34" charset="0"/>
                        </a:rPr>
                        <a:t> from geopolitical tensions. They are competitor in defense &amp; space sector but not commercial aircraft.</a:t>
                      </a: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a:lnSpc>
                          <a:spcPct val="100000"/>
                        </a:lnSpc>
                        <a:spcBef>
                          <a:spcPts val="0"/>
                        </a:spcBef>
                        <a:spcAft>
                          <a:spcPts val="0"/>
                        </a:spcAft>
                        <a:buClr>
                          <a:srgbClr val="1E3448"/>
                        </a:buClr>
                        <a:buSzPts val="1500"/>
                        <a:buFont typeface="Arial"/>
                        <a:buChar char="•"/>
                      </a:pPr>
                      <a:r>
                        <a:rPr lang="en-US" sz="900" b="0" u="none" strike="noStrike" cap="none" dirty="0">
                          <a:solidFill>
                            <a:schemeClr val="dk1"/>
                          </a:solidFill>
                          <a:latin typeface="Arial" panose="020B0604020202020204" pitchFamily="34" charset="0"/>
                          <a:cs typeface="Arial" panose="020B0604020202020204" pitchFamily="34" charset="0"/>
                        </a:rPr>
                        <a:t>Aeronautics, Missiles and Fire Control, Rotary and Mission systems, Space</a:t>
                      </a:r>
                      <a:endParaRPr sz="1600" dirty="0">
                        <a:latin typeface="Arial" panose="020B0604020202020204" pitchFamily="34" charset="0"/>
                        <a:cs typeface="Arial" panose="020B0604020202020204" pitchFamily="34" charset="0"/>
                      </a:endParaRPr>
                    </a:p>
                    <a:p>
                      <a:pPr marL="171450" marR="0" lvl="0" indent="-171450" algn="l" rtl="0">
                        <a:lnSpc>
                          <a:spcPct val="100000"/>
                        </a:lnSpc>
                        <a:spcBef>
                          <a:spcPts val="300"/>
                        </a:spcBef>
                        <a:spcAft>
                          <a:spcPts val="0"/>
                        </a:spcAft>
                        <a:buClr>
                          <a:srgbClr val="1E3448"/>
                        </a:buClr>
                        <a:buSzPts val="1500"/>
                        <a:buFont typeface="Arial"/>
                        <a:buChar char="•"/>
                      </a:pPr>
                      <a:r>
                        <a:rPr lang="en-US" sz="900" b="0" u="none" strike="noStrike" cap="none" dirty="0">
                          <a:solidFill>
                            <a:schemeClr val="dk1"/>
                          </a:solidFill>
                          <a:latin typeface="Arial" panose="020B0604020202020204" pitchFamily="34" charset="0"/>
                          <a:cs typeface="Arial" panose="020B0604020202020204" pitchFamily="34" charset="0"/>
                        </a:rPr>
                        <a:t>Aeronautics 40%, Rotary and mission systems 26%, space 18%, missile and fire control 16%</a:t>
                      </a: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867506">
                <a:tc>
                  <a:txBody>
                    <a:bodyPr/>
                    <a:lstStyle/>
                    <a:p>
                      <a:pPr marL="0" marR="0" lvl="0" indent="0" algn="just" rtl="0">
                        <a:lnSpc>
                          <a:spcPct val="100000"/>
                        </a:lnSpc>
                        <a:spcBef>
                          <a:spcPts val="0"/>
                        </a:spcBef>
                        <a:spcAft>
                          <a:spcPts val="0"/>
                        </a:spcAft>
                        <a:buClr>
                          <a:schemeClr val="dk1"/>
                        </a:buClr>
                        <a:buSzPts val="1000"/>
                        <a:buFont typeface="Calibri"/>
                        <a:buNone/>
                      </a:pPr>
                      <a:endParaRPr sz="900" b="1" i="0" u="none" strike="noStrike" cap="none" dirty="0">
                        <a:solidFill>
                          <a:srgbClr val="444960"/>
                        </a:solidFill>
                        <a:latin typeface="Arial" panose="020B0604020202020204" pitchFamily="34" charset="0"/>
                        <a:ea typeface="Calibri"/>
                        <a:cs typeface="Arial" panose="020B0604020202020204" pitchFamily="34" charset="0"/>
                        <a:sym typeface="Calibri"/>
                      </a:endParaRPr>
                    </a:p>
                  </a:txBody>
                  <a:tcPr marL="457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15887" marR="0" lvl="0" indent="-115887" algn="ctr" rtl="0">
                        <a:lnSpc>
                          <a:spcPct val="100000"/>
                        </a:lnSpc>
                        <a:spcBef>
                          <a:spcPts val="0"/>
                        </a:spcBef>
                        <a:spcAft>
                          <a:spcPts val="0"/>
                        </a:spcAft>
                        <a:buClr>
                          <a:srgbClr val="003399"/>
                        </a:buClr>
                        <a:buSzPts val="700"/>
                        <a:buFont typeface="Noto Sans Symbols"/>
                        <a:buNone/>
                      </a:pPr>
                      <a:endParaRPr sz="900" dirty="0">
                        <a:latin typeface="Arial" panose="020B0604020202020204" pitchFamily="34" charset="0"/>
                        <a:cs typeface="Arial" panose="020B0604020202020204" pitchFamily="34" charset="0"/>
                      </a:endParaRPr>
                    </a:p>
                    <a:p>
                      <a:pPr marL="115888" marR="0" lvl="0" indent="-115888" algn="ctr" rtl="0">
                        <a:lnSpc>
                          <a:spcPct val="100000"/>
                        </a:lnSpc>
                        <a:spcBef>
                          <a:spcPts val="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EV/Sales: 1,85</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P/E: 15,39</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15888" marR="0" lvl="0" indent="-115888" algn="ctr" rtl="0">
                        <a:lnSpc>
                          <a:spcPct val="100000"/>
                        </a:lnSpc>
                        <a:spcBef>
                          <a:spcPts val="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EV/Revenue: 2.17</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EV/EBITDA: 11.20</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1E3448"/>
                        </a:buClr>
                        <a:buSzPts val="1500"/>
                        <a:buFont typeface="Arial"/>
                        <a:buNone/>
                      </a:pPr>
                      <a:r>
                        <a:rPr lang="en-US" sz="900" b="0" u="none" strike="noStrike" cap="none" dirty="0">
                          <a:solidFill>
                            <a:schemeClr val="dk1"/>
                          </a:solidFill>
                          <a:latin typeface="Arial" panose="020B0604020202020204" pitchFamily="34" charset="0"/>
                          <a:cs typeface="Arial" panose="020B0604020202020204" pitchFamily="34" charset="0"/>
                        </a:rPr>
                        <a:t>Northrop Grumman is another defense giant, recently awarded the B-21 bomber program</a:t>
                      </a:r>
                      <a:r>
                        <a:rPr lang="en-US" sz="900" dirty="0">
                          <a:latin typeface="Arial" panose="020B0604020202020204" pitchFamily="34" charset="0"/>
                          <a:cs typeface="Arial" panose="020B0604020202020204" pitchFamily="34" charset="0"/>
                        </a:rPr>
                        <a:t>. They also </a:t>
                      </a:r>
                      <a:r>
                        <a:rPr lang="en-US" sz="900" b="0" u="none" strike="noStrike" cap="none" dirty="0">
                          <a:solidFill>
                            <a:schemeClr val="dk1"/>
                          </a:solidFill>
                          <a:latin typeface="Arial" panose="020B0604020202020204" pitchFamily="34" charset="0"/>
                          <a:cs typeface="Arial" panose="020B0604020202020204" pitchFamily="34" charset="0"/>
                        </a:rPr>
                        <a:t>mak</a:t>
                      </a:r>
                      <a:r>
                        <a:rPr lang="en-US" sz="900" dirty="0">
                          <a:latin typeface="Arial" panose="020B0604020202020204" pitchFamily="34" charset="0"/>
                          <a:cs typeface="Arial" panose="020B0604020202020204" pitchFamily="34" charset="0"/>
                        </a:rPr>
                        <a:t>e</a:t>
                      </a:r>
                      <a:r>
                        <a:rPr lang="en-US" sz="900" b="0" u="none" strike="noStrike" cap="none" dirty="0">
                          <a:solidFill>
                            <a:schemeClr val="dk1"/>
                          </a:solidFill>
                          <a:latin typeface="Arial" panose="020B0604020202020204" pitchFamily="34" charset="0"/>
                          <a:cs typeface="Arial" panose="020B0604020202020204" pitchFamily="34" charset="0"/>
                        </a:rPr>
                        <a:t> headway in drones. Analysts are positive on their growth potential, particularly in the B-21 program. They focus on core defense and expanding in autonomous tech and space. They are competitors in defense &amp; space sector.</a:t>
                      </a: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a:lnSpc>
                          <a:spcPct val="100000"/>
                        </a:lnSpc>
                        <a:spcBef>
                          <a:spcPts val="0"/>
                        </a:spcBef>
                        <a:spcAft>
                          <a:spcPts val="0"/>
                        </a:spcAft>
                        <a:buClr>
                          <a:srgbClr val="1E3448"/>
                        </a:buClr>
                        <a:buSzPts val="1500"/>
                        <a:buFont typeface="Arial"/>
                        <a:buChar char="•"/>
                      </a:pPr>
                      <a:r>
                        <a:rPr lang="en-US" sz="900" b="0" u="none" strike="noStrike" cap="none" dirty="0">
                          <a:solidFill>
                            <a:schemeClr val="dk1"/>
                          </a:solidFill>
                          <a:latin typeface="Arial" panose="020B0604020202020204" pitchFamily="34" charset="0"/>
                          <a:cs typeface="Arial" panose="020B0604020202020204" pitchFamily="34" charset="0"/>
                        </a:rPr>
                        <a:t>Aerospace systems, Mission systems, Technology services, Innovation Systems  </a:t>
                      </a:r>
                      <a:endParaRPr sz="1600" dirty="0">
                        <a:latin typeface="Arial" panose="020B0604020202020204" pitchFamily="34" charset="0"/>
                        <a:cs typeface="Arial" panose="020B0604020202020204" pitchFamily="34" charset="0"/>
                      </a:endParaRPr>
                    </a:p>
                    <a:p>
                      <a:pPr marL="171450" marR="0" lvl="0" indent="-171450" algn="l" rtl="0">
                        <a:lnSpc>
                          <a:spcPct val="100000"/>
                        </a:lnSpc>
                        <a:spcBef>
                          <a:spcPts val="300"/>
                        </a:spcBef>
                        <a:spcAft>
                          <a:spcPts val="0"/>
                        </a:spcAft>
                        <a:buClr>
                          <a:srgbClr val="1E3448"/>
                        </a:buClr>
                        <a:buSzPts val="1500"/>
                        <a:buFont typeface="Arial"/>
                        <a:buChar char="•"/>
                      </a:pPr>
                      <a:r>
                        <a:rPr lang="en-US" sz="900" b="0" u="none" strike="noStrike" cap="none" dirty="0">
                          <a:solidFill>
                            <a:schemeClr val="dk1"/>
                          </a:solidFill>
                          <a:latin typeface="Arial" panose="020B0604020202020204" pitchFamily="34" charset="0"/>
                          <a:cs typeface="Arial" panose="020B0604020202020204" pitchFamily="34" charset="0"/>
                        </a:rPr>
                        <a:t>Space systems 34%, missions' systems 27%, aeronautics systems 26%, defense systems 13%, </a:t>
                      </a: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867506">
                <a:tc>
                  <a:txBody>
                    <a:bodyPr/>
                    <a:lstStyle/>
                    <a:p>
                      <a:pPr marL="0" marR="0" lvl="0" indent="0" algn="just" rtl="0">
                        <a:spcBef>
                          <a:spcPts val="0"/>
                        </a:spcBef>
                        <a:spcAft>
                          <a:spcPts val="0"/>
                        </a:spcAft>
                        <a:buNone/>
                      </a:pPr>
                      <a:endParaRPr sz="900" b="1" i="0" u="none" strike="noStrike" cap="none" dirty="0">
                        <a:solidFill>
                          <a:srgbClr val="444960"/>
                        </a:solidFill>
                        <a:latin typeface="Arial" panose="020B0604020202020204" pitchFamily="34" charset="0"/>
                        <a:ea typeface="Calibri"/>
                        <a:cs typeface="Arial" panose="020B0604020202020204" pitchFamily="34" charset="0"/>
                        <a:sym typeface="Calibri"/>
                      </a:endParaRPr>
                    </a:p>
                  </a:txBody>
                  <a:tcPr marL="457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15887" marR="0" lvl="0" indent="-115887" algn="ctr" rtl="0">
                        <a:lnSpc>
                          <a:spcPct val="100000"/>
                        </a:lnSpc>
                        <a:spcBef>
                          <a:spcPts val="0"/>
                        </a:spcBef>
                        <a:spcAft>
                          <a:spcPts val="0"/>
                        </a:spcAft>
                        <a:buClr>
                          <a:srgbClr val="003399"/>
                        </a:buClr>
                        <a:buSzPts val="700"/>
                        <a:buFont typeface="Noto Sans Symbols"/>
                        <a:buNone/>
                      </a:pPr>
                      <a:endParaRPr sz="900" dirty="0">
                        <a:latin typeface="Arial" panose="020B0604020202020204" pitchFamily="34" charset="0"/>
                        <a:cs typeface="Arial" panose="020B0604020202020204" pitchFamily="34" charset="0"/>
                      </a:endParaRPr>
                    </a:p>
                    <a:p>
                      <a:pPr marL="115888" marR="0" lvl="0" indent="-115888" algn="ctr" rtl="0">
                        <a:lnSpc>
                          <a:spcPct val="100000"/>
                        </a:lnSpc>
                        <a:spcBef>
                          <a:spcPts val="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EV/Sales: 1,62</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P/E: 18,81</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15888" marR="0" lvl="0" indent="-115888" algn="ctr" rtl="0">
                        <a:lnSpc>
                          <a:spcPct val="100000"/>
                        </a:lnSpc>
                        <a:spcBef>
                          <a:spcPts val="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EV/Revenue: 1.74</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EV/EBITDA: 13.59</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1E3448"/>
                        </a:buClr>
                        <a:buSzPts val="1500"/>
                        <a:buFont typeface="Arial"/>
                        <a:buNone/>
                      </a:pPr>
                      <a:r>
                        <a:rPr lang="en-US" sz="900" b="0" u="none" strike="noStrike" cap="none" dirty="0">
                          <a:solidFill>
                            <a:schemeClr val="dk1"/>
                          </a:solidFill>
                          <a:latin typeface="Arial" panose="020B0604020202020204" pitchFamily="34" charset="0"/>
                          <a:cs typeface="Arial" panose="020B0604020202020204" pitchFamily="34" charset="0"/>
                        </a:rPr>
                        <a:t>BAE Systems (merged with Raytheon) is a powerhouse in defense &amp; aerospace. Analysts are optimistic regarding the recent merger and their competitive edge. Their plan is to focus on consolidation in defense and expanding into cyber security. They are competitors in defense &amp; space sector. </a:t>
                      </a: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a:lnSpc>
                          <a:spcPct val="100000"/>
                        </a:lnSpc>
                        <a:spcBef>
                          <a:spcPts val="0"/>
                        </a:spcBef>
                        <a:spcAft>
                          <a:spcPts val="0"/>
                        </a:spcAft>
                        <a:buClr>
                          <a:srgbClr val="1E3448"/>
                        </a:buClr>
                        <a:buSzPts val="1500"/>
                        <a:buFont typeface="Arial"/>
                        <a:buChar char="•"/>
                      </a:pPr>
                      <a:r>
                        <a:rPr lang="en-US" sz="900" b="0" u="none" strike="noStrike" cap="none" dirty="0">
                          <a:solidFill>
                            <a:schemeClr val="dk1"/>
                          </a:solidFill>
                          <a:latin typeface="Arial" panose="020B0604020202020204" pitchFamily="34" charset="0"/>
                          <a:cs typeface="Arial" panose="020B0604020202020204" pitchFamily="34" charset="0"/>
                        </a:rPr>
                        <a:t>Electronic systems, Cybersecurity, Industrial manufacturing, Maritime</a:t>
                      </a:r>
                      <a:endParaRPr sz="1600" dirty="0">
                        <a:latin typeface="Arial" panose="020B0604020202020204" pitchFamily="34" charset="0"/>
                        <a:cs typeface="Arial" panose="020B0604020202020204" pitchFamily="34" charset="0"/>
                      </a:endParaRPr>
                    </a:p>
                    <a:p>
                      <a:pPr marL="171450" marR="0" lvl="0" indent="-171450" algn="l" rtl="0">
                        <a:lnSpc>
                          <a:spcPct val="100000"/>
                        </a:lnSpc>
                        <a:spcBef>
                          <a:spcPts val="300"/>
                        </a:spcBef>
                        <a:spcAft>
                          <a:spcPts val="0"/>
                        </a:spcAft>
                        <a:buClr>
                          <a:srgbClr val="1E3448"/>
                        </a:buClr>
                        <a:buSzPts val="1500"/>
                        <a:buFont typeface="Arial"/>
                        <a:buChar char="•"/>
                      </a:pPr>
                      <a:r>
                        <a:rPr lang="en-US" sz="900" b="0" u="none" strike="noStrike" cap="none" dirty="0">
                          <a:solidFill>
                            <a:schemeClr val="dk1"/>
                          </a:solidFill>
                          <a:latin typeface="Arial" panose="020B0604020202020204" pitchFamily="34" charset="0"/>
                          <a:cs typeface="Arial" panose="020B0604020202020204" pitchFamily="34" charset="0"/>
                        </a:rPr>
                        <a:t>Air 28%, Electronic systems 23%, maritime 23%, </a:t>
                      </a:r>
                      <a:r>
                        <a:rPr lang="en-US" sz="900" b="0" u="none" strike="noStrike" cap="none" dirty="0" err="1">
                          <a:solidFill>
                            <a:schemeClr val="dk1"/>
                          </a:solidFill>
                          <a:latin typeface="Arial" panose="020B0604020202020204" pitchFamily="34" charset="0"/>
                          <a:cs typeface="Arial" panose="020B0604020202020204" pitchFamily="34" charset="0"/>
                        </a:rPr>
                        <a:t>plateform</a:t>
                      </a:r>
                      <a:r>
                        <a:rPr lang="en-US" sz="900" b="0" u="none" strike="noStrike" cap="none" dirty="0">
                          <a:solidFill>
                            <a:schemeClr val="dk1"/>
                          </a:solidFill>
                          <a:latin typeface="Arial" panose="020B0604020202020204" pitchFamily="34" charset="0"/>
                          <a:cs typeface="Arial" panose="020B0604020202020204" pitchFamily="34" charset="0"/>
                        </a:rPr>
                        <a:t> &amp; services 16%, cybersecurity &amp; intelligence 10% </a:t>
                      </a: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849269">
                <a:tc>
                  <a:txBody>
                    <a:bodyPr/>
                    <a:lstStyle/>
                    <a:p>
                      <a:pPr marL="0" marR="0" lvl="0" indent="0" algn="just" rtl="0">
                        <a:spcBef>
                          <a:spcPts val="0"/>
                        </a:spcBef>
                        <a:spcAft>
                          <a:spcPts val="0"/>
                        </a:spcAft>
                        <a:buNone/>
                      </a:pPr>
                      <a:endParaRPr sz="900" b="1" i="0" u="none" strike="noStrike" cap="none" dirty="0">
                        <a:solidFill>
                          <a:srgbClr val="444960"/>
                        </a:solidFill>
                        <a:latin typeface="Arial" panose="020B0604020202020204" pitchFamily="34" charset="0"/>
                        <a:ea typeface="Calibri"/>
                        <a:cs typeface="Arial" panose="020B0604020202020204" pitchFamily="34" charset="0"/>
                        <a:sym typeface="Calibri"/>
                      </a:endParaRPr>
                    </a:p>
                  </a:txBody>
                  <a:tcPr marL="457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15888" marR="0" lvl="0" indent="-115888" algn="ctr" rtl="0">
                        <a:lnSpc>
                          <a:spcPct val="100000"/>
                        </a:lnSpc>
                        <a:spcBef>
                          <a:spcPts val="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EV/Sales: 1,73</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P/E: 21,69</a:t>
                      </a:r>
                      <a:endParaRPr sz="1600" dirty="0">
                        <a:latin typeface="Arial" panose="020B0604020202020204" pitchFamily="34" charset="0"/>
                        <a:cs typeface="Arial" panose="020B0604020202020204" pitchFamily="34" charset="0"/>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15888" marR="0" lvl="0" indent="-115888" algn="ctr" rtl="0">
                        <a:lnSpc>
                          <a:spcPct val="100000"/>
                        </a:lnSpc>
                        <a:spcBef>
                          <a:spcPts val="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EV/Revenue: 1.94</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r>
                        <a:rPr lang="en-US" sz="900" b="0" u="none" strike="noStrike" cap="none" dirty="0">
                          <a:solidFill>
                            <a:schemeClr val="dk1"/>
                          </a:solidFill>
                          <a:latin typeface="Arial" panose="020B0604020202020204" pitchFamily="34" charset="0"/>
                          <a:ea typeface="Calibri"/>
                          <a:cs typeface="Arial" panose="020B0604020202020204" pitchFamily="34" charset="0"/>
                          <a:sym typeface="Calibri"/>
                        </a:rPr>
                        <a:t>EV/EBITDA: 15.02</a:t>
                      </a:r>
                      <a:endParaRPr sz="1600" dirty="0">
                        <a:latin typeface="Arial" panose="020B0604020202020204" pitchFamily="34" charset="0"/>
                        <a:cs typeface="Arial" panose="020B0604020202020204" pitchFamily="34" charset="0"/>
                      </a:endParaRPr>
                    </a:p>
                    <a:p>
                      <a:pPr marL="115888" marR="0" lvl="0" indent="-115888" algn="ctr" rtl="0">
                        <a:lnSpc>
                          <a:spcPct val="100000"/>
                        </a:lnSpc>
                        <a:spcBef>
                          <a:spcPts val="300"/>
                        </a:spcBef>
                        <a:spcAft>
                          <a:spcPts val="0"/>
                        </a:spcAft>
                        <a:buClr>
                          <a:srgbClr val="003399"/>
                        </a:buClr>
                        <a:buSzPts val="700"/>
                        <a:buFont typeface="Noto Sans Symbols"/>
                        <a:buNone/>
                      </a:pP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1E3448"/>
                        </a:buClr>
                        <a:buSzPts val="1500"/>
                        <a:buFont typeface="Arial"/>
                        <a:buNone/>
                      </a:pPr>
                      <a:r>
                        <a:rPr lang="en-US" sz="900" b="0" u="none" strike="noStrike" cap="none" dirty="0">
                          <a:solidFill>
                            <a:schemeClr val="dk1"/>
                          </a:solidFill>
                          <a:latin typeface="Arial" panose="020B0604020202020204" pitchFamily="34" charset="0"/>
                          <a:cs typeface="Arial" panose="020B0604020202020204" pitchFamily="34" charset="0"/>
                        </a:rPr>
                        <a:t>General Dynamics balances business jets with its core defense business. They're investing in AI for military applications, with analysts mostly holding due to the solid performance in business jets but some uncertainty in defense. They compete with Boeing in business jets but not large commercial aircraft. </a:t>
                      </a: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a:lnSpc>
                          <a:spcPct val="100000"/>
                        </a:lnSpc>
                        <a:spcBef>
                          <a:spcPts val="0"/>
                        </a:spcBef>
                        <a:spcAft>
                          <a:spcPts val="0"/>
                        </a:spcAft>
                        <a:buClr>
                          <a:srgbClr val="1E3448"/>
                        </a:buClr>
                        <a:buSzPts val="1500"/>
                        <a:buFont typeface="Arial"/>
                        <a:buChar char="•"/>
                      </a:pPr>
                      <a:r>
                        <a:rPr lang="en-US" sz="900" b="0" u="none" strike="noStrike" cap="none" dirty="0">
                          <a:solidFill>
                            <a:schemeClr val="dk1"/>
                          </a:solidFill>
                          <a:latin typeface="Arial" panose="020B0604020202020204" pitchFamily="34" charset="0"/>
                          <a:cs typeface="Arial" panose="020B0604020202020204" pitchFamily="34" charset="0"/>
                        </a:rPr>
                        <a:t>Aerospace, Combat systems, IT, Marine systems </a:t>
                      </a:r>
                      <a:endParaRPr sz="1600" dirty="0">
                        <a:latin typeface="Arial" panose="020B0604020202020204" pitchFamily="34" charset="0"/>
                        <a:cs typeface="Arial" panose="020B0604020202020204" pitchFamily="34" charset="0"/>
                      </a:endParaRPr>
                    </a:p>
                    <a:p>
                      <a:pPr marL="171450" marR="0" lvl="0" indent="-171450" algn="l" rtl="0">
                        <a:lnSpc>
                          <a:spcPct val="100000"/>
                        </a:lnSpc>
                        <a:spcBef>
                          <a:spcPts val="300"/>
                        </a:spcBef>
                        <a:spcAft>
                          <a:spcPts val="0"/>
                        </a:spcAft>
                        <a:buClr>
                          <a:srgbClr val="1E3448"/>
                        </a:buClr>
                        <a:buSzPts val="1500"/>
                        <a:buFont typeface="Arial"/>
                        <a:buChar char="•"/>
                      </a:pPr>
                      <a:r>
                        <a:rPr lang="en-US" sz="900" b="0" u="none" strike="noStrike" cap="none" dirty="0">
                          <a:solidFill>
                            <a:schemeClr val="dk1"/>
                          </a:solidFill>
                          <a:latin typeface="Arial" panose="020B0604020202020204" pitchFamily="34" charset="0"/>
                          <a:cs typeface="Arial" panose="020B0604020202020204" pitchFamily="34" charset="0"/>
                        </a:rPr>
                        <a:t>Technologies 30%, marine systems 29%, aerospace 21%; combat systems 20%</a:t>
                      </a:r>
                      <a:endParaRPr sz="900" b="0" u="none" strike="noStrike" cap="none" dirty="0">
                        <a:solidFill>
                          <a:schemeClr val="dk1"/>
                        </a:solidFill>
                        <a:latin typeface="Arial" panose="020B0604020202020204" pitchFamily="34" charset="0"/>
                        <a:ea typeface="Calibri"/>
                        <a:cs typeface="Arial" panose="020B0604020202020204" pitchFamily="34" charset="0"/>
                        <a:sym typeface="Calibri"/>
                      </a:endParaRPr>
                    </a:p>
                  </a:txBody>
                  <a:tcPr marL="27425" marR="0" marT="18300" marB="18300" anchor="ctr">
                    <a:lnL w="12700" cap="flat" cmpd="sng">
                      <a:noFill/>
                      <a:prstDash val="solid"/>
                      <a:round/>
                      <a:headEnd type="none" w="sm" len="sm"/>
                      <a:tailEnd type="none" w="sm" len="sm"/>
                    </a:lnL>
                    <a:lnR w="12700" cap="flat" cmpd="sng">
                      <a:noFill/>
                      <a:prstDash val="solid"/>
                      <a:round/>
                      <a:headEnd type="none" w="sm" len="sm"/>
                      <a:tailEnd type="none" w="sm" len="sm"/>
                    </a:lnR>
                    <a:lnT w="6350" cap="flat" cmpd="sng" algn="ctr">
                      <a:solidFill>
                        <a:srgbClr val="113D63"/>
                      </a:solidFill>
                      <a:prstDash val="dash"/>
                      <a:round/>
                      <a:headEnd type="none" w="med" len="med"/>
                      <a:tailEnd type="none" w="med" len="med"/>
                    </a:lnT>
                    <a:lnB w="6350" cap="flat" cmpd="sng" algn="ctr">
                      <a:solidFill>
                        <a:srgbClr val="113D63"/>
                      </a:solid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42" name="Google Shape;42;p4"/>
          <p:cNvSpPr/>
          <p:nvPr/>
        </p:nvSpPr>
        <p:spPr>
          <a:xfrm>
            <a:off x="0" y="396096"/>
            <a:ext cx="4114261" cy="401648"/>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rgbClr val="333F44"/>
              </a:buClr>
              <a:buSzPts val="2400"/>
              <a:buFont typeface="Open Sans Light"/>
              <a:buNone/>
            </a:pPr>
            <a:r>
              <a:rPr lang="en-US" sz="2400">
                <a:solidFill>
                  <a:srgbClr val="333F44"/>
                </a:solidFill>
                <a:latin typeface="Open Sans Light"/>
                <a:ea typeface="Open Sans Light"/>
                <a:cs typeface="Open Sans Light"/>
                <a:sym typeface="Open Sans Light"/>
              </a:rPr>
              <a:t>Competitive Landscape</a:t>
            </a:r>
            <a:endParaRPr/>
          </a:p>
        </p:txBody>
      </p:sp>
      <p:pic>
        <p:nvPicPr>
          <p:cNvPr id="45" name="Google Shape;45;p4"/>
          <p:cNvPicPr preferRelativeResize="0"/>
          <p:nvPr/>
        </p:nvPicPr>
        <p:blipFill rotWithShape="1">
          <a:blip r:embed="rId3">
            <a:alphaModFix/>
          </a:blip>
          <a:srcRect/>
          <a:stretch/>
        </p:blipFill>
        <p:spPr>
          <a:xfrm>
            <a:off x="255494" y="1836443"/>
            <a:ext cx="781929" cy="194961"/>
          </a:xfrm>
          <a:prstGeom prst="rect">
            <a:avLst/>
          </a:prstGeom>
          <a:noFill/>
          <a:ln>
            <a:noFill/>
          </a:ln>
        </p:spPr>
      </p:pic>
      <p:pic>
        <p:nvPicPr>
          <p:cNvPr id="46" name="Google Shape;46;p4"/>
          <p:cNvPicPr preferRelativeResize="0"/>
          <p:nvPr/>
        </p:nvPicPr>
        <p:blipFill rotWithShape="1">
          <a:blip r:embed="rId4">
            <a:alphaModFix/>
          </a:blip>
          <a:srcRect/>
          <a:stretch/>
        </p:blipFill>
        <p:spPr>
          <a:xfrm>
            <a:off x="255494" y="2550786"/>
            <a:ext cx="713125" cy="549965"/>
          </a:xfrm>
          <a:prstGeom prst="rect">
            <a:avLst/>
          </a:prstGeom>
          <a:noFill/>
          <a:ln>
            <a:noFill/>
          </a:ln>
        </p:spPr>
      </p:pic>
      <p:pic>
        <p:nvPicPr>
          <p:cNvPr id="47" name="Google Shape;47;p4"/>
          <p:cNvPicPr preferRelativeResize="0"/>
          <p:nvPr/>
        </p:nvPicPr>
        <p:blipFill rotWithShape="1">
          <a:blip r:embed="rId5">
            <a:alphaModFix/>
          </a:blip>
          <a:srcRect/>
          <a:stretch/>
        </p:blipFill>
        <p:spPr>
          <a:xfrm>
            <a:off x="217391" y="3542689"/>
            <a:ext cx="751228" cy="317344"/>
          </a:xfrm>
          <a:prstGeom prst="rect">
            <a:avLst/>
          </a:prstGeom>
          <a:noFill/>
          <a:ln>
            <a:noFill/>
          </a:ln>
        </p:spPr>
      </p:pic>
      <p:pic>
        <p:nvPicPr>
          <p:cNvPr id="48" name="Google Shape;48;p4"/>
          <p:cNvPicPr preferRelativeResize="0"/>
          <p:nvPr/>
        </p:nvPicPr>
        <p:blipFill rotWithShape="1">
          <a:blip r:embed="rId6">
            <a:alphaModFix/>
          </a:blip>
          <a:srcRect/>
          <a:stretch/>
        </p:blipFill>
        <p:spPr>
          <a:xfrm>
            <a:off x="164115" y="5291004"/>
            <a:ext cx="749458" cy="392618"/>
          </a:xfrm>
          <a:prstGeom prst="rect">
            <a:avLst/>
          </a:prstGeom>
          <a:noFill/>
          <a:ln>
            <a:noFill/>
          </a:ln>
        </p:spPr>
      </p:pic>
      <p:pic>
        <p:nvPicPr>
          <p:cNvPr id="49" name="Google Shape;49;p4"/>
          <p:cNvPicPr preferRelativeResize="0"/>
          <p:nvPr/>
        </p:nvPicPr>
        <p:blipFill rotWithShape="1">
          <a:blip r:embed="rId7">
            <a:alphaModFix/>
          </a:blip>
          <a:srcRect/>
          <a:stretch/>
        </p:blipFill>
        <p:spPr>
          <a:xfrm>
            <a:off x="217391" y="4301971"/>
            <a:ext cx="642907" cy="306479"/>
          </a:xfrm>
          <a:prstGeom prst="rect">
            <a:avLst/>
          </a:prstGeom>
          <a:noFill/>
          <a:ln>
            <a:noFill/>
          </a:ln>
        </p:spPr>
      </p:pic>
      <p:pic>
        <p:nvPicPr>
          <p:cNvPr id="50" name="Google Shape;50;p4"/>
          <p:cNvPicPr preferRelativeResize="0"/>
          <p:nvPr/>
        </p:nvPicPr>
        <p:blipFill rotWithShape="1">
          <a:blip r:embed="rId8">
            <a:alphaModFix/>
          </a:blip>
          <a:srcRect t="31366" b="26537"/>
          <a:stretch/>
        </p:blipFill>
        <p:spPr>
          <a:xfrm>
            <a:off x="212004" y="4618006"/>
            <a:ext cx="751229" cy="39261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DB5AE6F-DBEE-3268-5BB6-DC44C6C0D91E}"/>
              </a:ext>
            </a:extLst>
          </p:cNvPr>
          <p:cNvSpPr>
            <a:spLocks noGrp="1"/>
          </p:cNvSpPr>
          <p:nvPr/>
        </p:nvSpPr>
        <p:spPr>
          <a:xfrm>
            <a:off x="0" y="396095"/>
            <a:ext cx="8588188"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GB" sz="2400" dirty="0">
                <a:solidFill>
                  <a:srgbClr val="333F44"/>
                </a:solidFill>
              </a:rPr>
              <a:t>Resilience Amid Challenges: Industry Performance &amp; Recovery</a:t>
            </a:r>
            <a:endParaRPr lang="en-US" sz="2400" dirty="0">
              <a:solidFill>
                <a:srgbClr val="333F44"/>
              </a:solidFill>
            </a:endParaRPr>
          </a:p>
        </p:txBody>
      </p:sp>
      <p:sp>
        <p:nvSpPr>
          <p:cNvPr id="4" name="TextBox 3">
            <a:extLst>
              <a:ext uri="{FF2B5EF4-FFF2-40B4-BE49-F238E27FC236}">
                <a16:creationId xmlns:a16="http://schemas.microsoft.com/office/drawing/2014/main" id="{A5BF1091-17AD-F1AD-6C83-CF8F2D87C86E}"/>
              </a:ext>
            </a:extLst>
          </p:cNvPr>
          <p:cNvSpPr txBox="1"/>
          <p:nvPr/>
        </p:nvSpPr>
        <p:spPr>
          <a:xfrm>
            <a:off x="-37742" y="1355581"/>
            <a:ext cx="1543813" cy="261610"/>
          </a:xfrm>
          <a:prstGeom prst="rect">
            <a:avLst/>
          </a:prstGeom>
          <a:solidFill>
            <a:srgbClr val="113D63"/>
          </a:solidFill>
        </p:spPr>
        <p:txBody>
          <a:bodyPr wrap="square" rtlCol="0">
            <a:spAutoFit/>
          </a:bodyPr>
          <a:lstStyle/>
          <a:p>
            <a:pPr algn="r"/>
            <a:r>
              <a:rPr lang="en-US" altLang="zh-CN" sz="1100" b="1" dirty="0">
                <a:solidFill>
                  <a:schemeClr val="bg1"/>
                </a:solidFill>
              </a:rPr>
              <a:t>          Key Figures</a:t>
            </a:r>
            <a:endParaRPr lang="en-CA" sz="1100" b="1" dirty="0">
              <a:solidFill>
                <a:schemeClr val="bg1"/>
              </a:solidFill>
            </a:endParaRPr>
          </a:p>
        </p:txBody>
      </p:sp>
      <p:graphicFrame>
        <p:nvGraphicFramePr>
          <p:cNvPr id="24" name="Chart 23">
            <a:extLst>
              <a:ext uri="{FF2B5EF4-FFF2-40B4-BE49-F238E27FC236}">
                <a16:creationId xmlns:a16="http://schemas.microsoft.com/office/drawing/2014/main" id="{41855278-D5EE-D46C-2A33-6215360E594E}"/>
              </a:ext>
            </a:extLst>
          </p:cNvPr>
          <p:cNvGraphicFramePr>
            <a:graphicFrameLocks/>
          </p:cNvGraphicFramePr>
          <p:nvPr>
            <p:extLst>
              <p:ext uri="{D42A27DB-BD31-4B8C-83A1-F6EECF244321}">
                <p14:modId xmlns:p14="http://schemas.microsoft.com/office/powerpoint/2010/main" val="2603712182"/>
              </p:ext>
            </p:extLst>
          </p:nvPr>
        </p:nvGraphicFramePr>
        <p:xfrm>
          <a:off x="4844867" y="1573006"/>
          <a:ext cx="4172283" cy="220113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Chart 25">
            <a:extLst>
              <a:ext uri="{FF2B5EF4-FFF2-40B4-BE49-F238E27FC236}">
                <a16:creationId xmlns:a16="http://schemas.microsoft.com/office/drawing/2014/main" id="{1D1DB640-9CE7-E2FC-BDDF-A7CEBCE16CBA}"/>
              </a:ext>
            </a:extLst>
          </p:cNvPr>
          <p:cNvGraphicFramePr>
            <a:graphicFrameLocks/>
          </p:cNvGraphicFramePr>
          <p:nvPr>
            <p:extLst>
              <p:ext uri="{D42A27DB-BD31-4B8C-83A1-F6EECF244321}">
                <p14:modId xmlns:p14="http://schemas.microsoft.com/office/powerpoint/2010/main" val="3442190611"/>
              </p:ext>
            </p:extLst>
          </p:nvPr>
        </p:nvGraphicFramePr>
        <p:xfrm>
          <a:off x="85509" y="1565706"/>
          <a:ext cx="4636108" cy="233052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Chart 27">
            <a:extLst>
              <a:ext uri="{FF2B5EF4-FFF2-40B4-BE49-F238E27FC236}">
                <a16:creationId xmlns:a16="http://schemas.microsoft.com/office/drawing/2014/main" id="{A19F056B-3904-C002-67AC-B0CF186DF434}"/>
              </a:ext>
            </a:extLst>
          </p:cNvPr>
          <p:cNvGraphicFramePr>
            <a:graphicFrameLocks/>
          </p:cNvGraphicFramePr>
          <p:nvPr>
            <p:extLst>
              <p:ext uri="{D42A27DB-BD31-4B8C-83A1-F6EECF244321}">
                <p14:modId xmlns:p14="http://schemas.microsoft.com/office/powerpoint/2010/main" val="548385296"/>
              </p:ext>
            </p:extLst>
          </p:nvPr>
        </p:nvGraphicFramePr>
        <p:xfrm>
          <a:off x="4844868" y="3851679"/>
          <a:ext cx="4172282" cy="2436311"/>
        </p:xfrm>
        <a:graphic>
          <a:graphicData uri="http://schemas.openxmlformats.org/drawingml/2006/chart">
            <c:chart xmlns:c="http://schemas.openxmlformats.org/drawingml/2006/chart" xmlns:r="http://schemas.openxmlformats.org/officeDocument/2006/relationships" r:id="rId5"/>
          </a:graphicData>
        </a:graphic>
      </p:graphicFrame>
      <p:grpSp>
        <p:nvGrpSpPr>
          <p:cNvPr id="53" name="Group 52">
            <a:extLst>
              <a:ext uri="{FF2B5EF4-FFF2-40B4-BE49-F238E27FC236}">
                <a16:creationId xmlns:a16="http://schemas.microsoft.com/office/drawing/2014/main" id="{171DD20B-190B-BDA6-D8A2-02169FCFBC58}"/>
              </a:ext>
            </a:extLst>
          </p:cNvPr>
          <p:cNvGrpSpPr/>
          <p:nvPr/>
        </p:nvGrpSpPr>
        <p:grpSpPr>
          <a:xfrm>
            <a:off x="317421" y="4247917"/>
            <a:ext cx="4172283" cy="1979718"/>
            <a:chOff x="547953" y="4172071"/>
            <a:chExt cx="3856407" cy="1979718"/>
          </a:xfrm>
        </p:grpSpPr>
        <p:grpSp>
          <p:nvGrpSpPr>
            <p:cNvPr id="44" name="Group 43">
              <a:extLst>
                <a:ext uri="{FF2B5EF4-FFF2-40B4-BE49-F238E27FC236}">
                  <a16:creationId xmlns:a16="http://schemas.microsoft.com/office/drawing/2014/main" id="{1B99C10E-9506-E476-F35C-C53EE9A3C6EA}"/>
                </a:ext>
              </a:extLst>
            </p:cNvPr>
            <p:cNvGrpSpPr/>
            <p:nvPr/>
          </p:nvGrpSpPr>
          <p:grpSpPr>
            <a:xfrm>
              <a:off x="547953" y="4172071"/>
              <a:ext cx="3856407" cy="1789244"/>
              <a:chOff x="161873" y="4001532"/>
              <a:chExt cx="4327831" cy="2079971"/>
            </a:xfrm>
          </p:grpSpPr>
          <p:pic>
            <p:nvPicPr>
              <p:cNvPr id="37" name="Picture 36">
                <a:extLst>
                  <a:ext uri="{FF2B5EF4-FFF2-40B4-BE49-F238E27FC236}">
                    <a16:creationId xmlns:a16="http://schemas.microsoft.com/office/drawing/2014/main" id="{6F80F78D-7F50-7134-9F35-A64C6BA3EAF8}"/>
                  </a:ext>
                </a:extLst>
              </p:cNvPr>
              <p:cNvPicPr>
                <a:picLocks noChangeAspect="1"/>
              </p:cNvPicPr>
              <p:nvPr/>
            </p:nvPicPr>
            <p:blipFill>
              <a:blip r:embed="rId6"/>
              <a:stretch>
                <a:fillRect/>
              </a:stretch>
            </p:blipFill>
            <p:spPr>
              <a:xfrm>
                <a:off x="161874" y="4136088"/>
                <a:ext cx="4327830" cy="1921421"/>
              </a:xfrm>
              <a:prstGeom prst="rect">
                <a:avLst/>
              </a:prstGeom>
            </p:spPr>
          </p:pic>
          <p:sp>
            <p:nvSpPr>
              <p:cNvPr id="38" name="TextBox 37">
                <a:extLst>
                  <a:ext uri="{FF2B5EF4-FFF2-40B4-BE49-F238E27FC236}">
                    <a16:creationId xmlns:a16="http://schemas.microsoft.com/office/drawing/2014/main" id="{3F526DD2-C989-B021-D63C-CFC73C153888}"/>
                  </a:ext>
                </a:extLst>
              </p:cNvPr>
              <p:cNvSpPr txBox="1"/>
              <p:nvPr/>
            </p:nvSpPr>
            <p:spPr>
              <a:xfrm>
                <a:off x="202719" y="5848942"/>
                <a:ext cx="242374" cy="232561"/>
              </a:xfrm>
              <a:prstGeom prst="rect">
                <a:avLst/>
              </a:prstGeom>
              <a:noFill/>
            </p:spPr>
            <p:txBody>
              <a:bodyPr wrap="square" rtlCol="0">
                <a:spAutoFit/>
              </a:bodyPr>
              <a:lstStyle/>
              <a:p>
                <a:r>
                  <a:rPr lang="en-US" sz="700" dirty="0"/>
                  <a:t>0</a:t>
                </a:r>
                <a:endParaRPr lang="en-GB" sz="700" dirty="0"/>
              </a:p>
            </p:txBody>
          </p:sp>
          <p:sp>
            <p:nvSpPr>
              <p:cNvPr id="39" name="TextBox 38">
                <a:extLst>
                  <a:ext uri="{FF2B5EF4-FFF2-40B4-BE49-F238E27FC236}">
                    <a16:creationId xmlns:a16="http://schemas.microsoft.com/office/drawing/2014/main" id="{A8AEEBF0-C43A-B015-6F1F-99B7E223342A}"/>
                  </a:ext>
                </a:extLst>
              </p:cNvPr>
              <p:cNvSpPr txBox="1"/>
              <p:nvPr/>
            </p:nvSpPr>
            <p:spPr>
              <a:xfrm>
                <a:off x="161873" y="5481868"/>
                <a:ext cx="369012" cy="232561"/>
              </a:xfrm>
              <a:prstGeom prst="rect">
                <a:avLst/>
              </a:prstGeom>
              <a:noFill/>
            </p:spPr>
            <p:txBody>
              <a:bodyPr wrap="square" rtlCol="0">
                <a:spAutoFit/>
              </a:bodyPr>
              <a:lstStyle/>
              <a:p>
                <a:r>
                  <a:rPr lang="en-US" sz="700" dirty="0"/>
                  <a:t>10K</a:t>
                </a:r>
                <a:endParaRPr lang="en-GB" sz="700" dirty="0"/>
              </a:p>
            </p:txBody>
          </p:sp>
          <p:sp>
            <p:nvSpPr>
              <p:cNvPr id="40" name="TextBox 39">
                <a:extLst>
                  <a:ext uri="{FF2B5EF4-FFF2-40B4-BE49-F238E27FC236}">
                    <a16:creationId xmlns:a16="http://schemas.microsoft.com/office/drawing/2014/main" id="{DC0E8AE8-98B6-850C-BFC1-35B3A6677476}"/>
                  </a:ext>
                </a:extLst>
              </p:cNvPr>
              <p:cNvSpPr txBox="1"/>
              <p:nvPr/>
            </p:nvSpPr>
            <p:spPr>
              <a:xfrm>
                <a:off x="161874" y="5116746"/>
                <a:ext cx="369012" cy="232561"/>
              </a:xfrm>
              <a:prstGeom prst="rect">
                <a:avLst/>
              </a:prstGeom>
              <a:noFill/>
            </p:spPr>
            <p:txBody>
              <a:bodyPr wrap="square" rtlCol="0">
                <a:spAutoFit/>
              </a:bodyPr>
              <a:lstStyle/>
              <a:p>
                <a:r>
                  <a:rPr lang="en-US" sz="700" dirty="0"/>
                  <a:t>20K</a:t>
                </a:r>
                <a:endParaRPr lang="en-GB" sz="700" dirty="0"/>
              </a:p>
            </p:txBody>
          </p:sp>
          <p:sp>
            <p:nvSpPr>
              <p:cNvPr id="41" name="TextBox 40">
                <a:extLst>
                  <a:ext uri="{FF2B5EF4-FFF2-40B4-BE49-F238E27FC236}">
                    <a16:creationId xmlns:a16="http://schemas.microsoft.com/office/drawing/2014/main" id="{69CFBF74-6348-C9AA-3C92-01F6B475E468}"/>
                  </a:ext>
                </a:extLst>
              </p:cNvPr>
              <p:cNvSpPr txBox="1"/>
              <p:nvPr/>
            </p:nvSpPr>
            <p:spPr>
              <a:xfrm>
                <a:off x="161874" y="4749866"/>
                <a:ext cx="369012" cy="232561"/>
              </a:xfrm>
              <a:prstGeom prst="rect">
                <a:avLst/>
              </a:prstGeom>
              <a:noFill/>
            </p:spPr>
            <p:txBody>
              <a:bodyPr wrap="square" rtlCol="0">
                <a:spAutoFit/>
              </a:bodyPr>
              <a:lstStyle/>
              <a:p>
                <a:r>
                  <a:rPr lang="en-US" sz="700" dirty="0"/>
                  <a:t>30K</a:t>
                </a:r>
                <a:endParaRPr lang="en-GB" sz="700" dirty="0"/>
              </a:p>
            </p:txBody>
          </p:sp>
          <p:sp>
            <p:nvSpPr>
              <p:cNvPr id="42" name="TextBox 41">
                <a:extLst>
                  <a:ext uri="{FF2B5EF4-FFF2-40B4-BE49-F238E27FC236}">
                    <a16:creationId xmlns:a16="http://schemas.microsoft.com/office/drawing/2014/main" id="{753BD92A-0719-AE24-741D-9C57298628F9}"/>
                  </a:ext>
                </a:extLst>
              </p:cNvPr>
              <p:cNvSpPr txBox="1"/>
              <p:nvPr/>
            </p:nvSpPr>
            <p:spPr>
              <a:xfrm>
                <a:off x="161874" y="4376596"/>
                <a:ext cx="369012" cy="232561"/>
              </a:xfrm>
              <a:prstGeom prst="rect">
                <a:avLst/>
              </a:prstGeom>
              <a:noFill/>
            </p:spPr>
            <p:txBody>
              <a:bodyPr wrap="square" rtlCol="0">
                <a:spAutoFit/>
              </a:bodyPr>
              <a:lstStyle/>
              <a:p>
                <a:r>
                  <a:rPr lang="en-US" sz="700" dirty="0"/>
                  <a:t>40K</a:t>
                </a:r>
                <a:endParaRPr lang="en-GB" sz="700" dirty="0"/>
              </a:p>
            </p:txBody>
          </p:sp>
          <p:sp>
            <p:nvSpPr>
              <p:cNvPr id="43" name="TextBox 42">
                <a:extLst>
                  <a:ext uri="{FF2B5EF4-FFF2-40B4-BE49-F238E27FC236}">
                    <a16:creationId xmlns:a16="http://schemas.microsoft.com/office/drawing/2014/main" id="{7E51D81D-A55D-A39A-1BC2-1CE1ACEF35C3}"/>
                  </a:ext>
                </a:extLst>
              </p:cNvPr>
              <p:cNvSpPr txBox="1"/>
              <p:nvPr/>
            </p:nvSpPr>
            <p:spPr>
              <a:xfrm>
                <a:off x="173297" y="4001532"/>
                <a:ext cx="369012" cy="232561"/>
              </a:xfrm>
              <a:prstGeom prst="rect">
                <a:avLst/>
              </a:prstGeom>
              <a:noFill/>
            </p:spPr>
            <p:txBody>
              <a:bodyPr wrap="square" rtlCol="0">
                <a:spAutoFit/>
              </a:bodyPr>
              <a:lstStyle/>
              <a:p>
                <a:r>
                  <a:rPr lang="en-US" sz="700" dirty="0"/>
                  <a:t>50K</a:t>
                </a:r>
                <a:endParaRPr lang="en-GB" sz="600" dirty="0"/>
              </a:p>
            </p:txBody>
          </p:sp>
        </p:grpSp>
        <p:sp>
          <p:nvSpPr>
            <p:cNvPr id="45" name="TextBox 44">
              <a:extLst>
                <a:ext uri="{FF2B5EF4-FFF2-40B4-BE49-F238E27FC236}">
                  <a16:creationId xmlns:a16="http://schemas.microsoft.com/office/drawing/2014/main" id="{EBD4DA02-E73E-8BD4-A97D-71D2597BC2DE}"/>
                </a:ext>
              </a:extLst>
            </p:cNvPr>
            <p:cNvSpPr txBox="1"/>
            <p:nvPr/>
          </p:nvSpPr>
          <p:spPr>
            <a:xfrm>
              <a:off x="950976" y="5951734"/>
              <a:ext cx="560832" cy="200055"/>
            </a:xfrm>
            <a:prstGeom prst="rect">
              <a:avLst/>
            </a:prstGeom>
            <a:noFill/>
          </p:spPr>
          <p:txBody>
            <a:bodyPr wrap="square" rtlCol="0">
              <a:spAutoFit/>
            </a:bodyPr>
            <a:lstStyle/>
            <a:p>
              <a:r>
                <a:rPr lang="en-US" sz="700" dirty="0"/>
                <a:t>2022 Fleet</a:t>
              </a:r>
              <a:endParaRPr lang="en-GB" sz="700" dirty="0"/>
            </a:p>
          </p:txBody>
        </p:sp>
        <p:sp>
          <p:nvSpPr>
            <p:cNvPr id="47" name="TextBox 46">
              <a:extLst>
                <a:ext uri="{FF2B5EF4-FFF2-40B4-BE49-F238E27FC236}">
                  <a16:creationId xmlns:a16="http://schemas.microsoft.com/office/drawing/2014/main" id="{83D20077-EEC9-0E31-7ACA-2DAC92097AF4}"/>
                </a:ext>
              </a:extLst>
            </p:cNvPr>
            <p:cNvSpPr txBox="1"/>
            <p:nvPr/>
          </p:nvSpPr>
          <p:spPr>
            <a:xfrm>
              <a:off x="1559260" y="5951734"/>
              <a:ext cx="713015" cy="200055"/>
            </a:xfrm>
            <a:prstGeom prst="rect">
              <a:avLst/>
            </a:prstGeom>
            <a:noFill/>
          </p:spPr>
          <p:txBody>
            <a:bodyPr wrap="square" rtlCol="0">
              <a:spAutoFit/>
            </a:bodyPr>
            <a:lstStyle/>
            <a:p>
              <a:r>
                <a:rPr lang="en-US" sz="700" dirty="0"/>
                <a:t>Retained Fleet</a:t>
              </a:r>
              <a:endParaRPr lang="en-GB" sz="700" dirty="0"/>
            </a:p>
          </p:txBody>
        </p:sp>
        <p:sp>
          <p:nvSpPr>
            <p:cNvPr id="48" name="TextBox 47">
              <a:extLst>
                <a:ext uri="{FF2B5EF4-FFF2-40B4-BE49-F238E27FC236}">
                  <a16:creationId xmlns:a16="http://schemas.microsoft.com/office/drawing/2014/main" id="{1FEAE1A0-F8F4-3740-07A0-B1F79B4ADDCB}"/>
                </a:ext>
              </a:extLst>
            </p:cNvPr>
            <p:cNvSpPr txBox="1"/>
            <p:nvPr/>
          </p:nvSpPr>
          <p:spPr>
            <a:xfrm>
              <a:off x="2244852" y="5951734"/>
              <a:ext cx="685592" cy="200055"/>
            </a:xfrm>
            <a:prstGeom prst="rect">
              <a:avLst/>
            </a:prstGeom>
            <a:noFill/>
          </p:spPr>
          <p:txBody>
            <a:bodyPr wrap="square" rtlCol="0">
              <a:spAutoFit/>
            </a:bodyPr>
            <a:lstStyle/>
            <a:p>
              <a:pPr algn="ctr"/>
              <a:r>
                <a:rPr lang="en-US" sz="700" dirty="0"/>
                <a:t>Replacement</a:t>
              </a:r>
              <a:endParaRPr lang="en-GB" sz="600" dirty="0"/>
            </a:p>
          </p:txBody>
        </p:sp>
        <p:sp>
          <p:nvSpPr>
            <p:cNvPr id="49" name="TextBox 48">
              <a:extLst>
                <a:ext uri="{FF2B5EF4-FFF2-40B4-BE49-F238E27FC236}">
                  <a16:creationId xmlns:a16="http://schemas.microsoft.com/office/drawing/2014/main" id="{642A5C1D-8FB5-256A-B882-4000D8D3F581}"/>
                </a:ext>
              </a:extLst>
            </p:cNvPr>
            <p:cNvSpPr txBox="1"/>
            <p:nvPr/>
          </p:nvSpPr>
          <p:spPr>
            <a:xfrm>
              <a:off x="3011520" y="5951734"/>
              <a:ext cx="490936" cy="200055"/>
            </a:xfrm>
            <a:prstGeom prst="rect">
              <a:avLst/>
            </a:prstGeom>
            <a:noFill/>
          </p:spPr>
          <p:txBody>
            <a:bodyPr wrap="square" rtlCol="0">
              <a:spAutoFit/>
            </a:bodyPr>
            <a:lstStyle/>
            <a:p>
              <a:pPr algn="ctr"/>
              <a:r>
                <a:rPr lang="en-US" sz="700" dirty="0"/>
                <a:t>Growth</a:t>
              </a:r>
              <a:endParaRPr lang="en-GB" sz="700" dirty="0"/>
            </a:p>
          </p:txBody>
        </p:sp>
        <p:sp>
          <p:nvSpPr>
            <p:cNvPr id="50" name="TextBox 49">
              <a:extLst>
                <a:ext uri="{FF2B5EF4-FFF2-40B4-BE49-F238E27FC236}">
                  <a16:creationId xmlns:a16="http://schemas.microsoft.com/office/drawing/2014/main" id="{31CBBA98-17E3-E203-7D58-B5596D4DC792}"/>
                </a:ext>
              </a:extLst>
            </p:cNvPr>
            <p:cNvSpPr txBox="1"/>
            <p:nvPr/>
          </p:nvSpPr>
          <p:spPr>
            <a:xfrm>
              <a:off x="3616036" y="5951734"/>
              <a:ext cx="562772" cy="200055"/>
            </a:xfrm>
            <a:prstGeom prst="rect">
              <a:avLst/>
            </a:prstGeom>
            <a:noFill/>
          </p:spPr>
          <p:txBody>
            <a:bodyPr wrap="square" rtlCol="0">
              <a:spAutoFit/>
            </a:bodyPr>
            <a:lstStyle/>
            <a:p>
              <a:pPr algn="ctr"/>
              <a:r>
                <a:rPr lang="en-US" sz="700" dirty="0"/>
                <a:t>2042 Fleet</a:t>
              </a:r>
              <a:endParaRPr lang="en-GB" sz="700" dirty="0"/>
            </a:p>
          </p:txBody>
        </p:sp>
      </p:grpSp>
      <p:sp>
        <p:nvSpPr>
          <p:cNvPr id="55" name="TextBox 54">
            <a:extLst>
              <a:ext uri="{FF2B5EF4-FFF2-40B4-BE49-F238E27FC236}">
                <a16:creationId xmlns:a16="http://schemas.microsoft.com/office/drawing/2014/main" id="{4CC1A5B8-DDD9-6874-E585-AD3AC2959B16}"/>
              </a:ext>
            </a:extLst>
          </p:cNvPr>
          <p:cNvSpPr txBox="1"/>
          <p:nvPr/>
        </p:nvSpPr>
        <p:spPr>
          <a:xfrm>
            <a:off x="85509" y="820841"/>
            <a:ext cx="9054890" cy="400110"/>
          </a:xfrm>
          <a:prstGeom prst="rect">
            <a:avLst/>
          </a:prstGeom>
          <a:noFill/>
        </p:spPr>
        <p:txBody>
          <a:bodyPr wrap="square">
            <a:spAutoFit/>
          </a:bodyPr>
          <a:lstStyle/>
          <a:p>
            <a:r>
              <a:rPr lang="en-GB" sz="1000" b="1" i="1" dirty="0">
                <a:solidFill>
                  <a:srgbClr val="111111"/>
                </a:solidFill>
                <a:effectLst/>
                <a:highlight>
                  <a:srgbClr val="FFFFFF"/>
                </a:highlight>
                <a:latin typeface="Arial" panose="020B0604020202020204" pitchFamily="34" charset="0"/>
                <a:cs typeface="Arial" panose="020B0604020202020204" pitchFamily="34" charset="0"/>
              </a:rPr>
              <a:t>Despite macro-economic challenges, the aviation industry demonstrated resilience, with strong performance driven by pent-up demand. Industry-wide revenue passenger-kilometres (RPKs) reached 87.8% of the 2019 level, and cargo remained a significant revenue contributor.</a:t>
            </a:r>
            <a:endParaRPr lang="en-GB" sz="1000" b="1" i="1" dirty="0">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88ECB9F8-D111-DBC4-AE0E-43D8CD1269F1}"/>
              </a:ext>
            </a:extLst>
          </p:cNvPr>
          <p:cNvSpPr txBox="1"/>
          <p:nvPr/>
        </p:nvSpPr>
        <p:spPr>
          <a:xfrm>
            <a:off x="2581336" y="6298768"/>
            <a:ext cx="4970084" cy="553998"/>
          </a:xfrm>
          <a:prstGeom prst="rect">
            <a:avLst/>
          </a:prstGeom>
          <a:noFill/>
        </p:spPr>
        <p:txBody>
          <a:bodyPr wrap="square" rtlCol="0">
            <a:spAutoFit/>
          </a:bodyPr>
          <a:lstStyle/>
          <a:p>
            <a:r>
              <a:rPr lang="en-GB" sz="500" dirty="0"/>
              <a:t>SOURCES:</a:t>
            </a:r>
          </a:p>
          <a:p>
            <a:r>
              <a:rPr lang="en-GB" sz="500" dirty="0"/>
              <a:t>https://www.visionresearchreports.com/commercial-aircraft-market/40228 </a:t>
            </a:r>
          </a:p>
          <a:p>
            <a:r>
              <a:rPr lang="en-GB" sz="500" dirty="0"/>
              <a:t>https://investors.boeing.com/investors/reports/</a:t>
            </a:r>
          </a:p>
          <a:p>
            <a:r>
              <a:rPr lang="en-GB" sz="500" dirty="0"/>
              <a:t>https://www.airbus.com/en/investors/financial-results-annual-reports</a:t>
            </a:r>
          </a:p>
          <a:p>
            <a:r>
              <a:rPr lang="en-GB" sz="500" dirty="0"/>
              <a:t>https://www.precedenceresearch.com/aerospace-market</a:t>
            </a:r>
          </a:p>
          <a:p>
            <a:r>
              <a:rPr lang="en-GB" sz="500" dirty="0"/>
              <a:t>https://www.boeing.com/content/dam/boeing/boeingdotcom/market/assets/downloads/2023-Commercial-Market-Outlook-Executive-Summary.pdf</a:t>
            </a:r>
          </a:p>
        </p:txBody>
      </p:sp>
      <p:sp>
        <p:nvSpPr>
          <p:cNvPr id="7" name="TextBox 6">
            <a:extLst>
              <a:ext uri="{FF2B5EF4-FFF2-40B4-BE49-F238E27FC236}">
                <a16:creationId xmlns:a16="http://schemas.microsoft.com/office/drawing/2014/main" id="{4ED28727-F157-2604-1E20-024498FB4151}"/>
              </a:ext>
            </a:extLst>
          </p:cNvPr>
          <p:cNvSpPr txBox="1"/>
          <p:nvPr/>
        </p:nvSpPr>
        <p:spPr>
          <a:xfrm>
            <a:off x="745809" y="3925849"/>
            <a:ext cx="3195434" cy="400110"/>
          </a:xfrm>
          <a:prstGeom prst="rect">
            <a:avLst/>
          </a:prstGeom>
          <a:noFill/>
        </p:spPr>
        <p:txBody>
          <a:bodyPr wrap="square">
            <a:spAutoFit/>
          </a:bodyPr>
          <a:lstStyle/>
          <a:p>
            <a:pPr algn="ctr"/>
            <a:r>
              <a:rPr lang="en-SG" sz="1000" b="0" u="none" strike="noStrike" cap="none" dirty="0">
                <a:solidFill>
                  <a:schemeClr val="dk1"/>
                </a:solidFill>
                <a:latin typeface="Arial" panose="020B0604020202020204" pitchFamily="34" charset="0"/>
                <a:ea typeface="Calibri"/>
                <a:cs typeface="Arial" panose="020B0604020202020204" pitchFamily="34" charset="0"/>
                <a:sym typeface="Calibri"/>
              </a:rPr>
              <a:t>Global Outlook 2023-2042: Global fleet will double, nearly half of deliveries for replacement</a:t>
            </a:r>
            <a:endParaRPr lang="en-IE" sz="1000" dirty="0"/>
          </a:p>
        </p:txBody>
      </p:sp>
    </p:spTree>
    <p:extLst>
      <p:ext uri="{BB962C8B-B14F-4D97-AF65-F5344CB8AC3E}">
        <p14:creationId xmlns:p14="http://schemas.microsoft.com/office/powerpoint/2010/main" val="2739765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286;p2">
            <a:extLst>
              <a:ext uri="{FF2B5EF4-FFF2-40B4-BE49-F238E27FC236}">
                <a16:creationId xmlns:a16="http://schemas.microsoft.com/office/drawing/2014/main" id="{09F1F76A-1C03-8CA7-524E-3FCE525C29A1}"/>
              </a:ext>
            </a:extLst>
          </p:cNvPr>
          <p:cNvSpPr/>
          <p:nvPr/>
        </p:nvSpPr>
        <p:spPr>
          <a:xfrm>
            <a:off x="3249216" y="2296996"/>
            <a:ext cx="2645569" cy="316292"/>
          </a:xfrm>
          <a:prstGeom prst="rect">
            <a:avLst/>
          </a:prstGeom>
          <a:solidFill>
            <a:srgbClr val="333F44"/>
          </a:solidFill>
          <a:ln>
            <a:solidFill>
              <a:srgbClr val="333F44"/>
            </a:solidFill>
          </a:ln>
        </p:spPr>
        <p:txBody>
          <a:bodyPr spcFirstLastPara="1" wrap="square" lIns="68569" tIns="34275" rIns="68569" bIns="34275" anchor="ctr" anchorCtr="0">
            <a:noAutofit/>
          </a:bodyPr>
          <a:lstStyle/>
          <a:p>
            <a:pPr algn="ctr" defTabSz="685800" fontAlgn="auto">
              <a:spcBef>
                <a:spcPts val="0"/>
              </a:spcBef>
              <a:spcAft>
                <a:spcPts val="0"/>
              </a:spcAft>
              <a:buClr>
                <a:srgbClr val="000000"/>
              </a:buClr>
              <a:buSzPts val="1800"/>
              <a:defRPr/>
            </a:pPr>
            <a:endParaRPr sz="1350" kern="0">
              <a:solidFill>
                <a:srgbClr val="FFFFFF"/>
              </a:solidFill>
              <a:latin typeface="Arial"/>
              <a:ea typeface="Arial"/>
              <a:cs typeface="Arial"/>
              <a:sym typeface="Arial"/>
            </a:endParaRPr>
          </a:p>
        </p:txBody>
      </p:sp>
      <p:sp>
        <p:nvSpPr>
          <p:cNvPr id="31" name="Google Shape;289;p2">
            <a:extLst>
              <a:ext uri="{FF2B5EF4-FFF2-40B4-BE49-F238E27FC236}">
                <a16:creationId xmlns:a16="http://schemas.microsoft.com/office/drawing/2014/main" id="{95C79D31-49D9-CF5C-C5CC-2018D877B6EA}"/>
              </a:ext>
            </a:extLst>
          </p:cNvPr>
          <p:cNvSpPr txBox="1">
            <a:spLocks/>
          </p:cNvSpPr>
          <p:nvPr/>
        </p:nvSpPr>
        <p:spPr>
          <a:xfrm>
            <a:off x="3265160" y="2296996"/>
            <a:ext cx="236495" cy="316292"/>
          </a:xfrm>
          <a:prstGeom prst="rect">
            <a:avLst/>
          </a:prstGeom>
          <a:no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500" kern="0">
                <a:solidFill>
                  <a:srgbClr val="FFFFFF"/>
                </a:solidFill>
              </a:rPr>
              <a:t>1</a:t>
            </a:r>
            <a:endParaRPr lang="en-CA" sz="1500" kern="0">
              <a:solidFill>
                <a:srgbClr val="000000"/>
              </a:solidFill>
            </a:endParaRPr>
          </a:p>
        </p:txBody>
      </p:sp>
      <p:sp>
        <p:nvSpPr>
          <p:cNvPr id="33" name="Google Shape;291;p2">
            <a:extLst>
              <a:ext uri="{FF2B5EF4-FFF2-40B4-BE49-F238E27FC236}">
                <a16:creationId xmlns:a16="http://schemas.microsoft.com/office/drawing/2014/main" id="{10A39BE7-5957-0E8F-6913-0D4EADABB8CF}"/>
              </a:ext>
            </a:extLst>
          </p:cNvPr>
          <p:cNvSpPr txBox="1">
            <a:spLocks/>
          </p:cNvSpPr>
          <p:nvPr/>
        </p:nvSpPr>
        <p:spPr>
          <a:xfrm>
            <a:off x="3265160" y="3181354"/>
            <a:ext cx="318052"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3</a:t>
            </a:r>
          </a:p>
        </p:txBody>
      </p:sp>
      <p:sp>
        <p:nvSpPr>
          <p:cNvPr id="34" name="Google Shape;292;p2">
            <a:extLst>
              <a:ext uri="{FF2B5EF4-FFF2-40B4-BE49-F238E27FC236}">
                <a16:creationId xmlns:a16="http://schemas.microsoft.com/office/drawing/2014/main" id="{C96A2CB4-25D5-A6DB-7F9E-0AC28C1BC798}"/>
              </a:ext>
            </a:extLst>
          </p:cNvPr>
          <p:cNvSpPr txBox="1">
            <a:spLocks/>
          </p:cNvSpPr>
          <p:nvPr/>
        </p:nvSpPr>
        <p:spPr>
          <a:xfrm>
            <a:off x="3265160" y="3640266"/>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4</a:t>
            </a:r>
          </a:p>
        </p:txBody>
      </p:sp>
      <p:sp>
        <p:nvSpPr>
          <p:cNvPr id="35" name="Google Shape;293;p2">
            <a:extLst>
              <a:ext uri="{FF2B5EF4-FFF2-40B4-BE49-F238E27FC236}">
                <a16:creationId xmlns:a16="http://schemas.microsoft.com/office/drawing/2014/main" id="{24082908-437D-EAD2-5694-48F1B986A9AD}"/>
              </a:ext>
            </a:extLst>
          </p:cNvPr>
          <p:cNvSpPr txBox="1">
            <a:spLocks/>
          </p:cNvSpPr>
          <p:nvPr/>
        </p:nvSpPr>
        <p:spPr>
          <a:xfrm>
            <a:off x="3265159" y="4099177"/>
            <a:ext cx="377597"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5</a:t>
            </a:r>
          </a:p>
        </p:txBody>
      </p:sp>
      <p:sp>
        <p:nvSpPr>
          <p:cNvPr id="36" name="Google Shape;294;p2">
            <a:extLst>
              <a:ext uri="{FF2B5EF4-FFF2-40B4-BE49-F238E27FC236}">
                <a16:creationId xmlns:a16="http://schemas.microsoft.com/office/drawing/2014/main" id="{CF2671DB-5AF7-0C85-8B70-85157CC6FB21}"/>
              </a:ext>
            </a:extLst>
          </p:cNvPr>
          <p:cNvSpPr txBox="1">
            <a:spLocks/>
          </p:cNvSpPr>
          <p:nvPr/>
        </p:nvSpPr>
        <p:spPr>
          <a:xfrm>
            <a:off x="3583212" y="2296996"/>
            <a:ext cx="2311573" cy="316292"/>
          </a:xfrm>
          <a:prstGeom prst="rect">
            <a:avLst/>
          </a:prstGeom>
          <a:no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050" kern="0">
                <a:solidFill>
                  <a:srgbClr val="FFFFFF"/>
                </a:solidFill>
              </a:rPr>
              <a:t>Company Overview</a:t>
            </a:r>
            <a:endParaRPr lang="en-CA" sz="1050" kern="0">
              <a:solidFill>
                <a:srgbClr val="000000"/>
              </a:solidFill>
            </a:endParaRPr>
          </a:p>
        </p:txBody>
      </p:sp>
      <p:sp>
        <p:nvSpPr>
          <p:cNvPr id="38" name="Google Shape;296;p2">
            <a:extLst>
              <a:ext uri="{FF2B5EF4-FFF2-40B4-BE49-F238E27FC236}">
                <a16:creationId xmlns:a16="http://schemas.microsoft.com/office/drawing/2014/main" id="{16617FB7-4C3A-DAF9-0D17-D17A495F8E61}"/>
              </a:ext>
            </a:extLst>
          </p:cNvPr>
          <p:cNvSpPr txBox="1">
            <a:spLocks/>
          </p:cNvSpPr>
          <p:nvPr/>
        </p:nvSpPr>
        <p:spPr>
          <a:xfrm>
            <a:off x="3583212" y="3181354"/>
            <a:ext cx="2311573"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Investment Thesis</a:t>
            </a:r>
          </a:p>
        </p:txBody>
      </p:sp>
      <p:sp>
        <p:nvSpPr>
          <p:cNvPr id="39" name="Google Shape;297;p2">
            <a:extLst>
              <a:ext uri="{FF2B5EF4-FFF2-40B4-BE49-F238E27FC236}">
                <a16:creationId xmlns:a16="http://schemas.microsoft.com/office/drawing/2014/main" id="{6206F5AB-F41E-171A-3BAE-D697B7D553FD}"/>
              </a:ext>
            </a:extLst>
          </p:cNvPr>
          <p:cNvSpPr txBox="1">
            <a:spLocks/>
          </p:cNvSpPr>
          <p:nvPr/>
        </p:nvSpPr>
        <p:spPr>
          <a:xfrm>
            <a:off x="3583212" y="3640266"/>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Valuation</a:t>
            </a:r>
          </a:p>
        </p:txBody>
      </p:sp>
      <p:sp>
        <p:nvSpPr>
          <p:cNvPr id="40" name="Google Shape;298;p2">
            <a:extLst>
              <a:ext uri="{FF2B5EF4-FFF2-40B4-BE49-F238E27FC236}">
                <a16:creationId xmlns:a16="http://schemas.microsoft.com/office/drawing/2014/main" id="{161C3D2D-BDE3-7B7C-CB18-B945EF99F61B}"/>
              </a:ext>
            </a:extLst>
          </p:cNvPr>
          <p:cNvSpPr txBox="1">
            <a:spLocks/>
          </p:cNvSpPr>
          <p:nvPr/>
        </p:nvSpPr>
        <p:spPr>
          <a:xfrm>
            <a:off x="3583212" y="4099177"/>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Catalysts and Risks</a:t>
            </a:r>
          </a:p>
        </p:txBody>
      </p:sp>
      <p:sp>
        <p:nvSpPr>
          <p:cNvPr id="41" name="Google Shape;299;p2">
            <a:extLst>
              <a:ext uri="{FF2B5EF4-FFF2-40B4-BE49-F238E27FC236}">
                <a16:creationId xmlns:a16="http://schemas.microsoft.com/office/drawing/2014/main" id="{E6BE0CC5-6BE6-0D72-C757-18F26E148BC6}"/>
              </a:ext>
            </a:extLst>
          </p:cNvPr>
          <p:cNvSpPr txBox="1">
            <a:spLocks/>
          </p:cNvSpPr>
          <p:nvPr/>
        </p:nvSpPr>
        <p:spPr>
          <a:xfrm>
            <a:off x="3265160" y="4558088"/>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6</a:t>
            </a:r>
          </a:p>
        </p:txBody>
      </p:sp>
      <p:sp>
        <p:nvSpPr>
          <p:cNvPr id="42" name="Google Shape;300;p2">
            <a:extLst>
              <a:ext uri="{FF2B5EF4-FFF2-40B4-BE49-F238E27FC236}">
                <a16:creationId xmlns:a16="http://schemas.microsoft.com/office/drawing/2014/main" id="{35732484-D305-8AA4-0F59-695F60F3B982}"/>
              </a:ext>
            </a:extLst>
          </p:cNvPr>
          <p:cNvSpPr txBox="1">
            <a:spLocks/>
          </p:cNvSpPr>
          <p:nvPr/>
        </p:nvSpPr>
        <p:spPr>
          <a:xfrm>
            <a:off x="3583212" y="4558088"/>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Recommendation</a:t>
            </a:r>
          </a:p>
        </p:txBody>
      </p:sp>
      <p:sp>
        <p:nvSpPr>
          <p:cNvPr id="44" name="Google Shape;291;p2">
            <a:extLst>
              <a:ext uri="{FF2B5EF4-FFF2-40B4-BE49-F238E27FC236}">
                <a16:creationId xmlns:a16="http://schemas.microsoft.com/office/drawing/2014/main" id="{CB77208E-5651-7606-E45F-77D2F4B4D5BC}"/>
              </a:ext>
            </a:extLst>
          </p:cNvPr>
          <p:cNvSpPr txBox="1">
            <a:spLocks/>
          </p:cNvSpPr>
          <p:nvPr/>
        </p:nvSpPr>
        <p:spPr>
          <a:xfrm>
            <a:off x="3249215" y="2739175"/>
            <a:ext cx="320246"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2</a:t>
            </a:r>
          </a:p>
        </p:txBody>
      </p:sp>
      <p:sp>
        <p:nvSpPr>
          <p:cNvPr id="45" name="Google Shape;296;p2">
            <a:extLst>
              <a:ext uri="{FF2B5EF4-FFF2-40B4-BE49-F238E27FC236}">
                <a16:creationId xmlns:a16="http://schemas.microsoft.com/office/drawing/2014/main" id="{F9427E1B-D6C0-48F8-D050-0EB50DEF52EF}"/>
              </a:ext>
            </a:extLst>
          </p:cNvPr>
          <p:cNvSpPr txBox="1">
            <a:spLocks/>
          </p:cNvSpPr>
          <p:nvPr/>
        </p:nvSpPr>
        <p:spPr>
          <a:xfrm>
            <a:off x="3567267" y="2739175"/>
            <a:ext cx="2327517"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Industry Overview</a:t>
            </a:r>
          </a:p>
        </p:txBody>
      </p:sp>
      <p:cxnSp>
        <p:nvCxnSpPr>
          <p:cNvPr id="6" name="Straight Connector 5">
            <a:extLst>
              <a:ext uri="{FF2B5EF4-FFF2-40B4-BE49-F238E27FC236}">
                <a16:creationId xmlns:a16="http://schemas.microsoft.com/office/drawing/2014/main" id="{4BBE35AD-32FE-2630-E925-CC9DC10FB414}"/>
              </a:ext>
            </a:extLst>
          </p:cNvPr>
          <p:cNvCxnSpPr/>
          <p:nvPr/>
        </p:nvCxnSpPr>
        <p:spPr>
          <a:xfrm>
            <a:off x="1" y="2191249"/>
            <a:ext cx="1638860" cy="0"/>
          </a:xfrm>
          <a:prstGeom prst="line">
            <a:avLst/>
          </a:prstGeom>
          <a:ln w="19050">
            <a:solidFill>
              <a:srgbClr val="2A90BC"/>
            </a:solidFill>
          </a:ln>
        </p:spPr>
        <p:style>
          <a:lnRef idx="1">
            <a:schemeClr val="accent2"/>
          </a:lnRef>
          <a:fillRef idx="0">
            <a:schemeClr val="accent2"/>
          </a:fillRef>
          <a:effectRef idx="0">
            <a:schemeClr val="accent2"/>
          </a:effectRef>
          <a:fontRef idx="minor">
            <a:schemeClr val="tx1"/>
          </a:fontRef>
        </p:style>
      </p:cxnSp>
      <p:sp>
        <p:nvSpPr>
          <p:cNvPr id="7" name="Title 1">
            <a:extLst>
              <a:ext uri="{FF2B5EF4-FFF2-40B4-BE49-F238E27FC236}">
                <a16:creationId xmlns:a16="http://schemas.microsoft.com/office/drawing/2014/main" id="{F8152860-1D4E-D686-D7E7-C30665975302}"/>
              </a:ext>
            </a:extLst>
          </p:cNvPr>
          <p:cNvSpPr>
            <a:spLocks noGrp="1"/>
          </p:cNvSpPr>
          <p:nvPr/>
        </p:nvSpPr>
        <p:spPr>
          <a:xfrm>
            <a:off x="465270" y="1619532"/>
            <a:ext cx="2457450" cy="401648"/>
          </a:xfrm>
          <a:prstGeom prst="rect">
            <a:avLst/>
          </a:prstGeom>
        </p:spPr>
        <p:txBody>
          <a:bodyPr vert="horz"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a:solidFill>
                  <a:srgbClr val="333F44"/>
                </a:solidFill>
              </a:rPr>
              <a:t>Agenda</a:t>
            </a:r>
          </a:p>
        </p:txBody>
      </p:sp>
      <p:pic>
        <p:nvPicPr>
          <p:cNvPr id="2" name="Picture 6">
            <a:extLst>
              <a:ext uri="{FF2B5EF4-FFF2-40B4-BE49-F238E27FC236}">
                <a16:creationId xmlns:a16="http://schemas.microsoft.com/office/drawing/2014/main" id="{A62C834F-07F7-6A8B-A0B5-8242A144C9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5159" y="1534720"/>
            <a:ext cx="2457450" cy="571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8606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DB5AE6F-DBEE-3268-5BB6-DC44C6C0D91E}"/>
              </a:ext>
            </a:extLst>
          </p:cNvPr>
          <p:cNvSpPr>
            <a:spLocks noGrp="1"/>
          </p:cNvSpPr>
          <p:nvPr/>
        </p:nvSpPr>
        <p:spPr>
          <a:xfrm>
            <a:off x="0" y="396096"/>
            <a:ext cx="4114261"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dirty="0">
                <a:solidFill>
                  <a:srgbClr val="333F44"/>
                </a:solidFill>
              </a:rPr>
              <a:t>Investment Thesis</a:t>
            </a:r>
          </a:p>
        </p:txBody>
      </p:sp>
      <p:sp>
        <p:nvSpPr>
          <p:cNvPr id="2" name="Rectangle 1">
            <a:extLst>
              <a:ext uri="{FF2B5EF4-FFF2-40B4-BE49-F238E27FC236}">
                <a16:creationId xmlns:a16="http://schemas.microsoft.com/office/drawing/2014/main" id="{890B6907-CCB4-6854-542A-5D642B370203}"/>
              </a:ext>
            </a:extLst>
          </p:cNvPr>
          <p:cNvSpPr/>
          <p:nvPr/>
        </p:nvSpPr>
        <p:spPr>
          <a:xfrm>
            <a:off x="513443" y="1257299"/>
            <a:ext cx="1758042" cy="4633683"/>
          </a:xfrm>
          <a:prstGeom prst="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3038" indent="-173038" algn="ctr">
              <a:buFont typeface="Wingdings" panose="05000000000000000000" pitchFamily="2" charset="2"/>
              <a:buChar char="§"/>
            </a:pPr>
            <a:endParaRPr lang="fr-FR" sz="1200">
              <a:solidFill>
                <a:schemeClr val="tx1"/>
              </a:solidFill>
              <a:latin typeface="Arial" panose="020B0604020202020204" pitchFamily="34" charset="0"/>
              <a:cs typeface="Arial" panose="020B0604020202020204" pitchFamily="34" charset="0"/>
            </a:endParaRPr>
          </a:p>
        </p:txBody>
      </p:sp>
      <p:grpSp>
        <p:nvGrpSpPr>
          <p:cNvPr id="12" name="Group 11">
            <a:extLst>
              <a:ext uri="{FF2B5EF4-FFF2-40B4-BE49-F238E27FC236}">
                <a16:creationId xmlns:a16="http://schemas.microsoft.com/office/drawing/2014/main" id="{D6E00753-3989-DC01-E9AF-9ECA64A92BF9}"/>
              </a:ext>
            </a:extLst>
          </p:cNvPr>
          <p:cNvGrpSpPr/>
          <p:nvPr/>
        </p:nvGrpSpPr>
        <p:grpSpPr>
          <a:xfrm>
            <a:off x="775607" y="1375245"/>
            <a:ext cx="7864020" cy="1386113"/>
            <a:chOff x="775607" y="1257299"/>
            <a:chExt cx="7864020" cy="1386113"/>
          </a:xfrm>
        </p:grpSpPr>
        <p:sp>
          <p:nvSpPr>
            <p:cNvPr id="4" name="ZoneTexte 3">
              <a:extLst>
                <a:ext uri="{FF2B5EF4-FFF2-40B4-BE49-F238E27FC236}">
                  <a16:creationId xmlns:a16="http://schemas.microsoft.com/office/drawing/2014/main" id="{FD2A060B-4F4D-3E9D-0FE1-6F7B2B74104D}"/>
                </a:ext>
              </a:extLst>
            </p:cNvPr>
            <p:cNvSpPr txBox="1"/>
            <p:nvPr/>
          </p:nvSpPr>
          <p:spPr>
            <a:xfrm>
              <a:off x="775607" y="1398139"/>
              <a:ext cx="2358569" cy="110443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sz="1600" b="1" dirty="0">
                <a:latin typeface="Arial"/>
                <a:cs typeface="Arial"/>
              </a:endParaRPr>
            </a:p>
            <a:p>
              <a:pPr algn="ctr"/>
              <a:r>
                <a:rPr lang="en-US" sz="1600" b="1" dirty="0">
                  <a:latin typeface="Arial"/>
                  <a:cs typeface="Arial"/>
                </a:rPr>
                <a:t>Resilience Amidst Challenges</a:t>
              </a:r>
              <a:endParaRPr lang="en-US" sz="1600" b="1" dirty="0"/>
            </a:p>
            <a:p>
              <a:pPr algn="ctr"/>
              <a:endParaRPr lang="en-US" sz="1600" dirty="0">
                <a:cs typeface="Arial" charset="0"/>
              </a:endParaRPr>
            </a:p>
          </p:txBody>
        </p:sp>
        <p:sp>
          <p:nvSpPr>
            <p:cNvPr id="7" name="Rectangle 6">
              <a:extLst>
                <a:ext uri="{FF2B5EF4-FFF2-40B4-BE49-F238E27FC236}">
                  <a16:creationId xmlns:a16="http://schemas.microsoft.com/office/drawing/2014/main" id="{89276E08-3316-0FA0-2ED5-E1E8FA40AB03}"/>
                </a:ext>
              </a:extLst>
            </p:cNvPr>
            <p:cNvSpPr/>
            <p:nvPr/>
          </p:nvSpPr>
          <p:spPr>
            <a:xfrm>
              <a:off x="3407228" y="1257299"/>
              <a:ext cx="5232399" cy="1386113"/>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2720" indent="-172720">
                <a:buFont typeface="Wingdings" panose="05000000000000000000" pitchFamily="2" charset="2"/>
                <a:buChar char="§"/>
              </a:pPr>
              <a:r>
                <a:rPr lang="en-US" sz="1200" dirty="0">
                  <a:solidFill>
                    <a:srgbClr val="111111"/>
                  </a:solidFill>
                  <a:latin typeface="Arial" panose="020B0604020202020204" pitchFamily="34" charset="0"/>
                  <a:ea typeface="+mn-lt"/>
                  <a:cs typeface="Arial" panose="020B0604020202020204" pitchFamily="34" charset="0"/>
                </a:rPr>
                <a:t>Given recent investor panic relating to the grounding of the 737 Max, Boeing Co. (NYSE:BA) is undervalued in the market with potential 24–36-month upside.</a:t>
              </a:r>
            </a:p>
            <a:p>
              <a:pPr marL="172720" indent="-172720">
                <a:buFont typeface="Wingdings" panose="05000000000000000000" pitchFamily="2" charset="2"/>
                <a:buChar char="§"/>
              </a:pPr>
              <a:r>
                <a:rPr lang="en-US" sz="1200" dirty="0">
                  <a:solidFill>
                    <a:srgbClr val="111111"/>
                  </a:solidFill>
                  <a:latin typeface="Arial" panose="020B0604020202020204" pitchFamily="34" charset="0"/>
                  <a:ea typeface="+mn-lt"/>
                  <a:cs typeface="Arial" panose="020B0604020202020204" pitchFamily="34" charset="0"/>
                </a:rPr>
                <a:t>Boeing remains a dominant player in the airline industry and will continue to be so given the high switching costs in the Airline Manufacturing Industry.</a:t>
              </a:r>
            </a:p>
          </p:txBody>
        </p:sp>
      </p:grpSp>
      <p:grpSp>
        <p:nvGrpSpPr>
          <p:cNvPr id="11" name="Group 10">
            <a:extLst>
              <a:ext uri="{FF2B5EF4-FFF2-40B4-BE49-F238E27FC236}">
                <a16:creationId xmlns:a16="http://schemas.microsoft.com/office/drawing/2014/main" id="{D165863B-BA45-5CA1-1877-2FCD4F9ED556}"/>
              </a:ext>
            </a:extLst>
          </p:cNvPr>
          <p:cNvGrpSpPr/>
          <p:nvPr/>
        </p:nvGrpSpPr>
        <p:grpSpPr>
          <a:xfrm>
            <a:off x="811891" y="2962736"/>
            <a:ext cx="7827735" cy="1340756"/>
            <a:chOff x="811891" y="2908299"/>
            <a:chExt cx="7827735" cy="1340756"/>
          </a:xfrm>
        </p:grpSpPr>
        <p:sp>
          <p:nvSpPr>
            <p:cNvPr id="5" name="ZoneTexte 4">
              <a:extLst>
                <a:ext uri="{FF2B5EF4-FFF2-40B4-BE49-F238E27FC236}">
                  <a16:creationId xmlns:a16="http://schemas.microsoft.com/office/drawing/2014/main" id="{5AF27E76-F8F8-F7AC-CA16-80110D6683E9}"/>
                </a:ext>
              </a:extLst>
            </p:cNvPr>
            <p:cNvSpPr txBox="1"/>
            <p:nvPr/>
          </p:nvSpPr>
          <p:spPr>
            <a:xfrm>
              <a:off x="811891" y="3024679"/>
              <a:ext cx="2385784" cy="110799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sz="1600" b="1" dirty="0">
                <a:latin typeface="Arial"/>
                <a:cs typeface="Arial"/>
              </a:endParaRPr>
            </a:p>
            <a:p>
              <a:pPr algn="ctr"/>
              <a:r>
                <a:rPr lang="en-US" sz="1600" b="1" dirty="0">
                  <a:latin typeface="Arial"/>
                  <a:cs typeface="Arial"/>
                </a:rPr>
                <a:t>Product Improvement and Stability</a:t>
              </a:r>
            </a:p>
            <a:p>
              <a:pPr algn="ctr"/>
              <a:endParaRPr lang="en-US" dirty="0">
                <a:cs typeface="Arial" charset="0"/>
              </a:endParaRPr>
            </a:p>
          </p:txBody>
        </p:sp>
        <p:sp>
          <p:nvSpPr>
            <p:cNvPr id="8" name="Rectangle 7">
              <a:extLst>
                <a:ext uri="{FF2B5EF4-FFF2-40B4-BE49-F238E27FC236}">
                  <a16:creationId xmlns:a16="http://schemas.microsoft.com/office/drawing/2014/main" id="{76030AE5-672D-78C3-A1B6-442C9CAA0239}"/>
                </a:ext>
              </a:extLst>
            </p:cNvPr>
            <p:cNvSpPr/>
            <p:nvPr/>
          </p:nvSpPr>
          <p:spPr>
            <a:xfrm>
              <a:off x="3398155" y="2908299"/>
              <a:ext cx="5241471" cy="1340756"/>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2720" indent="-172720">
                <a:buFont typeface="Wingdings" panose="05000000000000000000" pitchFamily="2" charset="2"/>
                <a:buChar char="§"/>
              </a:pPr>
              <a:r>
                <a:rPr lang="en-US" sz="1200" dirty="0">
                  <a:solidFill>
                    <a:schemeClr val="tx1"/>
                  </a:solidFill>
                  <a:latin typeface="Arial"/>
                  <a:cs typeface="Arial"/>
                </a:rPr>
                <a:t>Current issues across Boeing’s production line are now known and being tackled, future scaling up will be more effective.</a:t>
              </a:r>
            </a:p>
            <a:p>
              <a:pPr marL="172720" indent="-172720">
                <a:buFont typeface="Wingdings" panose="05000000000000000000" pitchFamily="2" charset="2"/>
                <a:buChar char="§"/>
              </a:pPr>
              <a:r>
                <a:rPr lang="en-US" sz="1200" dirty="0">
                  <a:solidFill>
                    <a:schemeClr val="tx1"/>
                  </a:solidFill>
                  <a:latin typeface="Arial"/>
                  <a:cs typeface="Arial"/>
                </a:rPr>
                <a:t>Boeing has temporarily reduced production rates to focus on quality and quality control, putting their production line in better shape.</a:t>
              </a:r>
            </a:p>
          </p:txBody>
        </p:sp>
      </p:grpSp>
      <p:grpSp>
        <p:nvGrpSpPr>
          <p:cNvPr id="10" name="Group 9">
            <a:extLst>
              <a:ext uri="{FF2B5EF4-FFF2-40B4-BE49-F238E27FC236}">
                <a16:creationId xmlns:a16="http://schemas.microsoft.com/office/drawing/2014/main" id="{C0D01EB7-FEE7-DE02-9164-D8D81691BD5A}"/>
              </a:ext>
            </a:extLst>
          </p:cNvPr>
          <p:cNvGrpSpPr/>
          <p:nvPr/>
        </p:nvGrpSpPr>
        <p:grpSpPr>
          <a:xfrm>
            <a:off x="757462" y="4504870"/>
            <a:ext cx="7882164" cy="1386113"/>
            <a:chOff x="757462" y="4504870"/>
            <a:chExt cx="7882164" cy="1386113"/>
          </a:xfrm>
        </p:grpSpPr>
        <p:sp>
          <p:nvSpPr>
            <p:cNvPr id="6" name="ZoneTexte 5">
              <a:extLst>
                <a:ext uri="{FF2B5EF4-FFF2-40B4-BE49-F238E27FC236}">
                  <a16:creationId xmlns:a16="http://schemas.microsoft.com/office/drawing/2014/main" id="{1C1519A7-D924-63C8-C789-9B93507F0F54}"/>
                </a:ext>
              </a:extLst>
            </p:cNvPr>
            <p:cNvSpPr txBox="1"/>
            <p:nvPr/>
          </p:nvSpPr>
          <p:spPr>
            <a:xfrm>
              <a:off x="757462" y="4659317"/>
              <a:ext cx="2494642" cy="1077218"/>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sz="1600" dirty="0">
                <a:latin typeface="Arial"/>
                <a:cs typeface="Arial"/>
              </a:endParaRPr>
            </a:p>
            <a:p>
              <a:pPr algn="ctr"/>
              <a:r>
                <a:rPr lang="en-US" sz="1600" b="1" dirty="0">
                  <a:latin typeface="Arial"/>
                  <a:cs typeface="Arial"/>
                </a:rPr>
                <a:t>Short-Term Volatility VS Long-Term Potential</a:t>
              </a:r>
            </a:p>
            <a:p>
              <a:pPr algn="ctr"/>
              <a:endParaRPr lang="en-US" sz="1600" dirty="0">
                <a:cs typeface="Arial" charset="0"/>
              </a:endParaRPr>
            </a:p>
          </p:txBody>
        </p:sp>
        <p:sp>
          <p:nvSpPr>
            <p:cNvPr id="9" name="Rectangle 8">
              <a:extLst>
                <a:ext uri="{FF2B5EF4-FFF2-40B4-BE49-F238E27FC236}">
                  <a16:creationId xmlns:a16="http://schemas.microsoft.com/office/drawing/2014/main" id="{D606C21D-C977-8754-A07F-1DCE1E30ABEA}"/>
                </a:ext>
              </a:extLst>
            </p:cNvPr>
            <p:cNvSpPr/>
            <p:nvPr/>
          </p:nvSpPr>
          <p:spPr>
            <a:xfrm>
              <a:off x="3407227" y="4504870"/>
              <a:ext cx="5232399" cy="1386113"/>
            </a:xfrm>
            <a:prstGeom prst="rect">
              <a:avLst/>
            </a:prstGeom>
            <a:solidFill>
              <a:schemeClr val="bg1">
                <a:lumMod val="8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2720" indent="-172720">
                <a:buFont typeface="Wingdings" panose="05000000000000000000" pitchFamily="2" charset="2"/>
                <a:buChar char="§"/>
              </a:pPr>
              <a:r>
                <a:rPr lang="en-US" sz="1200" dirty="0">
                  <a:solidFill>
                    <a:schemeClr val="tx1"/>
                  </a:solidFill>
                  <a:latin typeface="Arial"/>
                  <a:cs typeface="Arial"/>
                </a:rPr>
                <a:t>Even with the airline industry recovering since the pandemic, and the grounding of the 737 Max, Boeing's first quarter performance was relatively unaffected.</a:t>
              </a:r>
            </a:p>
            <a:p>
              <a:pPr marL="172720" indent="-172720">
                <a:buFont typeface="Wingdings" panose="05000000000000000000" pitchFamily="2" charset="2"/>
                <a:buChar char="§"/>
              </a:pPr>
              <a:r>
                <a:rPr lang="en-US" sz="1200" dirty="0">
                  <a:solidFill>
                    <a:schemeClr val="tx1"/>
                  </a:solidFill>
                  <a:latin typeface="Arial"/>
                  <a:cs typeface="Arial"/>
                </a:rPr>
                <a:t>The company has a huge backlog for the next decade, meaning Boeing has incredible upside potential.</a:t>
              </a:r>
            </a:p>
          </p:txBody>
        </p:sp>
      </p:grpSp>
    </p:spTree>
    <p:extLst>
      <p:ext uri="{BB962C8B-B14F-4D97-AF65-F5344CB8AC3E}">
        <p14:creationId xmlns:p14="http://schemas.microsoft.com/office/powerpoint/2010/main" val="2053994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286;p2">
            <a:extLst>
              <a:ext uri="{FF2B5EF4-FFF2-40B4-BE49-F238E27FC236}">
                <a16:creationId xmlns:a16="http://schemas.microsoft.com/office/drawing/2014/main" id="{09F1F76A-1C03-8CA7-524E-3FCE525C29A1}"/>
              </a:ext>
            </a:extLst>
          </p:cNvPr>
          <p:cNvSpPr/>
          <p:nvPr/>
        </p:nvSpPr>
        <p:spPr>
          <a:xfrm>
            <a:off x="3249216" y="2296996"/>
            <a:ext cx="2645569" cy="316292"/>
          </a:xfrm>
          <a:prstGeom prst="rect">
            <a:avLst/>
          </a:prstGeom>
          <a:solidFill>
            <a:srgbClr val="333F44"/>
          </a:solidFill>
          <a:ln>
            <a:solidFill>
              <a:srgbClr val="333F44"/>
            </a:solidFill>
          </a:ln>
        </p:spPr>
        <p:txBody>
          <a:bodyPr spcFirstLastPara="1" wrap="square" lIns="68569" tIns="34275" rIns="68569" bIns="34275" anchor="ctr" anchorCtr="0">
            <a:noAutofit/>
          </a:bodyPr>
          <a:lstStyle/>
          <a:p>
            <a:pPr algn="ctr" defTabSz="685800" fontAlgn="auto">
              <a:spcBef>
                <a:spcPts val="0"/>
              </a:spcBef>
              <a:spcAft>
                <a:spcPts val="0"/>
              </a:spcAft>
              <a:buClr>
                <a:srgbClr val="000000"/>
              </a:buClr>
              <a:buSzPts val="1800"/>
              <a:defRPr/>
            </a:pPr>
            <a:endParaRPr sz="1350" kern="0">
              <a:solidFill>
                <a:srgbClr val="FFFFFF"/>
              </a:solidFill>
              <a:latin typeface="Arial"/>
              <a:ea typeface="Arial"/>
              <a:cs typeface="Arial"/>
              <a:sym typeface="Arial"/>
            </a:endParaRPr>
          </a:p>
        </p:txBody>
      </p:sp>
      <p:sp>
        <p:nvSpPr>
          <p:cNvPr id="31" name="Google Shape;289;p2">
            <a:extLst>
              <a:ext uri="{FF2B5EF4-FFF2-40B4-BE49-F238E27FC236}">
                <a16:creationId xmlns:a16="http://schemas.microsoft.com/office/drawing/2014/main" id="{95C79D31-49D9-CF5C-C5CC-2018D877B6EA}"/>
              </a:ext>
            </a:extLst>
          </p:cNvPr>
          <p:cNvSpPr txBox="1">
            <a:spLocks/>
          </p:cNvSpPr>
          <p:nvPr/>
        </p:nvSpPr>
        <p:spPr>
          <a:xfrm>
            <a:off x="3265160" y="2296996"/>
            <a:ext cx="236495" cy="316292"/>
          </a:xfrm>
          <a:prstGeom prst="rect">
            <a:avLst/>
          </a:prstGeom>
          <a:no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500" kern="0">
                <a:solidFill>
                  <a:srgbClr val="FFFFFF"/>
                </a:solidFill>
              </a:rPr>
              <a:t>1</a:t>
            </a:r>
            <a:endParaRPr lang="en-CA" sz="1500" kern="0">
              <a:solidFill>
                <a:srgbClr val="000000"/>
              </a:solidFill>
            </a:endParaRPr>
          </a:p>
        </p:txBody>
      </p:sp>
      <p:sp>
        <p:nvSpPr>
          <p:cNvPr id="33" name="Google Shape;291;p2">
            <a:extLst>
              <a:ext uri="{FF2B5EF4-FFF2-40B4-BE49-F238E27FC236}">
                <a16:creationId xmlns:a16="http://schemas.microsoft.com/office/drawing/2014/main" id="{10A39BE7-5957-0E8F-6913-0D4EADABB8CF}"/>
              </a:ext>
            </a:extLst>
          </p:cNvPr>
          <p:cNvSpPr txBox="1">
            <a:spLocks/>
          </p:cNvSpPr>
          <p:nvPr/>
        </p:nvSpPr>
        <p:spPr>
          <a:xfrm>
            <a:off x="3265160" y="3181354"/>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3</a:t>
            </a:r>
          </a:p>
        </p:txBody>
      </p:sp>
      <p:sp>
        <p:nvSpPr>
          <p:cNvPr id="34" name="Google Shape;292;p2">
            <a:extLst>
              <a:ext uri="{FF2B5EF4-FFF2-40B4-BE49-F238E27FC236}">
                <a16:creationId xmlns:a16="http://schemas.microsoft.com/office/drawing/2014/main" id="{C96A2CB4-25D5-A6DB-7F9E-0AC28C1BC798}"/>
              </a:ext>
            </a:extLst>
          </p:cNvPr>
          <p:cNvSpPr txBox="1">
            <a:spLocks/>
          </p:cNvSpPr>
          <p:nvPr/>
        </p:nvSpPr>
        <p:spPr>
          <a:xfrm>
            <a:off x="3265160" y="3640266"/>
            <a:ext cx="318052"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4</a:t>
            </a:r>
          </a:p>
        </p:txBody>
      </p:sp>
      <p:sp>
        <p:nvSpPr>
          <p:cNvPr id="35" name="Google Shape;293;p2">
            <a:extLst>
              <a:ext uri="{FF2B5EF4-FFF2-40B4-BE49-F238E27FC236}">
                <a16:creationId xmlns:a16="http://schemas.microsoft.com/office/drawing/2014/main" id="{24082908-437D-EAD2-5694-48F1B986A9AD}"/>
              </a:ext>
            </a:extLst>
          </p:cNvPr>
          <p:cNvSpPr txBox="1">
            <a:spLocks/>
          </p:cNvSpPr>
          <p:nvPr/>
        </p:nvSpPr>
        <p:spPr>
          <a:xfrm>
            <a:off x="3265159" y="4099177"/>
            <a:ext cx="377597"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5</a:t>
            </a:r>
          </a:p>
        </p:txBody>
      </p:sp>
      <p:sp>
        <p:nvSpPr>
          <p:cNvPr id="36" name="Google Shape;294;p2">
            <a:extLst>
              <a:ext uri="{FF2B5EF4-FFF2-40B4-BE49-F238E27FC236}">
                <a16:creationId xmlns:a16="http://schemas.microsoft.com/office/drawing/2014/main" id="{CF2671DB-5AF7-0C85-8B70-85157CC6FB21}"/>
              </a:ext>
            </a:extLst>
          </p:cNvPr>
          <p:cNvSpPr txBox="1">
            <a:spLocks/>
          </p:cNvSpPr>
          <p:nvPr/>
        </p:nvSpPr>
        <p:spPr>
          <a:xfrm>
            <a:off x="3583212" y="2296996"/>
            <a:ext cx="2311573" cy="316292"/>
          </a:xfrm>
          <a:prstGeom prst="rect">
            <a:avLst/>
          </a:prstGeom>
          <a:no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050" kern="0" dirty="0">
                <a:solidFill>
                  <a:srgbClr val="FFFFFF"/>
                </a:solidFill>
              </a:rPr>
              <a:t>Company Overview</a:t>
            </a:r>
            <a:endParaRPr lang="en-CA" sz="1050" kern="0" dirty="0">
              <a:solidFill>
                <a:srgbClr val="000000"/>
              </a:solidFill>
            </a:endParaRPr>
          </a:p>
        </p:txBody>
      </p:sp>
      <p:sp>
        <p:nvSpPr>
          <p:cNvPr id="38" name="Google Shape;296;p2">
            <a:extLst>
              <a:ext uri="{FF2B5EF4-FFF2-40B4-BE49-F238E27FC236}">
                <a16:creationId xmlns:a16="http://schemas.microsoft.com/office/drawing/2014/main" id="{16617FB7-4C3A-DAF9-0D17-D17A495F8E61}"/>
              </a:ext>
            </a:extLst>
          </p:cNvPr>
          <p:cNvSpPr txBox="1">
            <a:spLocks/>
          </p:cNvSpPr>
          <p:nvPr/>
        </p:nvSpPr>
        <p:spPr>
          <a:xfrm>
            <a:off x="3583212" y="3181354"/>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Investment Thesis</a:t>
            </a:r>
          </a:p>
        </p:txBody>
      </p:sp>
      <p:sp>
        <p:nvSpPr>
          <p:cNvPr id="39" name="Google Shape;297;p2">
            <a:extLst>
              <a:ext uri="{FF2B5EF4-FFF2-40B4-BE49-F238E27FC236}">
                <a16:creationId xmlns:a16="http://schemas.microsoft.com/office/drawing/2014/main" id="{6206F5AB-F41E-171A-3BAE-D697B7D553FD}"/>
              </a:ext>
            </a:extLst>
          </p:cNvPr>
          <p:cNvSpPr txBox="1">
            <a:spLocks/>
          </p:cNvSpPr>
          <p:nvPr/>
        </p:nvSpPr>
        <p:spPr>
          <a:xfrm>
            <a:off x="3583212" y="3640266"/>
            <a:ext cx="2311573"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Valuation</a:t>
            </a:r>
          </a:p>
        </p:txBody>
      </p:sp>
      <p:sp>
        <p:nvSpPr>
          <p:cNvPr id="40" name="Google Shape;298;p2">
            <a:extLst>
              <a:ext uri="{FF2B5EF4-FFF2-40B4-BE49-F238E27FC236}">
                <a16:creationId xmlns:a16="http://schemas.microsoft.com/office/drawing/2014/main" id="{161C3D2D-BDE3-7B7C-CB18-B945EF99F61B}"/>
              </a:ext>
            </a:extLst>
          </p:cNvPr>
          <p:cNvSpPr txBox="1">
            <a:spLocks/>
          </p:cNvSpPr>
          <p:nvPr/>
        </p:nvSpPr>
        <p:spPr>
          <a:xfrm>
            <a:off x="3583212" y="4099177"/>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Catalysts and Risks</a:t>
            </a:r>
          </a:p>
        </p:txBody>
      </p:sp>
      <p:sp>
        <p:nvSpPr>
          <p:cNvPr id="41" name="Google Shape;299;p2">
            <a:extLst>
              <a:ext uri="{FF2B5EF4-FFF2-40B4-BE49-F238E27FC236}">
                <a16:creationId xmlns:a16="http://schemas.microsoft.com/office/drawing/2014/main" id="{E6BE0CC5-6BE6-0D72-C757-18F26E148BC6}"/>
              </a:ext>
            </a:extLst>
          </p:cNvPr>
          <p:cNvSpPr txBox="1">
            <a:spLocks/>
          </p:cNvSpPr>
          <p:nvPr/>
        </p:nvSpPr>
        <p:spPr>
          <a:xfrm>
            <a:off x="3265160" y="4558088"/>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6</a:t>
            </a:r>
          </a:p>
        </p:txBody>
      </p:sp>
      <p:sp>
        <p:nvSpPr>
          <p:cNvPr id="42" name="Google Shape;300;p2">
            <a:extLst>
              <a:ext uri="{FF2B5EF4-FFF2-40B4-BE49-F238E27FC236}">
                <a16:creationId xmlns:a16="http://schemas.microsoft.com/office/drawing/2014/main" id="{35732484-D305-8AA4-0F59-695F60F3B982}"/>
              </a:ext>
            </a:extLst>
          </p:cNvPr>
          <p:cNvSpPr txBox="1">
            <a:spLocks/>
          </p:cNvSpPr>
          <p:nvPr/>
        </p:nvSpPr>
        <p:spPr>
          <a:xfrm>
            <a:off x="3583212" y="4558088"/>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Recommendation</a:t>
            </a:r>
          </a:p>
        </p:txBody>
      </p:sp>
      <p:sp>
        <p:nvSpPr>
          <p:cNvPr id="44" name="Google Shape;291;p2">
            <a:extLst>
              <a:ext uri="{FF2B5EF4-FFF2-40B4-BE49-F238E27FC236}">
                <a16:creationId xmlns:a16="http://schemas.microsoft.com/office/drawing/2014/main" id="{CB77208E-5651-7606-E45F-77D2F4B4D5BC}"/>
              </a:ext>
            </a:extLst>
          </p:cNvPr>
          <p:cNvSpPr txBox="1">
            <a:spLocks/>
          </p:cNvSpPr>
          <p:nvPr/>
        </p:nvSpPr>
        <p:spPr>
          <a:xfrm>
            <a:off x="3249215" y="2739175"/>
            <a:ext cx="320246"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2</a:t>
            </a:r>
          </a:p>
        </p:txBody>
      </p:sp>
      <p:sp>
        <p:nvSpPr>
          <p:cNvPr id="45" name="Google Shape;296;p2">
            <a:extLst>
              <a:ext uri="{FF2B5EF4-FFF2-40B4-BE49-F238E27FC236}">
                <a16:creationId xmlns:a16="http://schemas.microsoft.com/office/drawing/2014/main" id="{F9427E1B-D6C0-48F8-D050-0EB50DEF52EF}"/>
              </a:ext>
            </a:extLst>
          </p:cNvPr>
          <p:cNvSpPr txBox="1">
            <a:spLocks/>
          </p:cNvSpPr>
          <p:nvPr/>
        </p:nvSpPr>
        <p:spPr>
          <a:xfrm>
            <a:off x="3567267" y="2739175"/>
            <a:ext cx="2327517"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Investment</a:t>
            </a:r>
            <a:r>
              <a:rPr lang="en-CA" sz="1050" kern="0">
                <a:solidFill>
                  <a:srgbClr val="000000"/>
                </a:solidFill>
              </a:rPr>
              <a:t> </a:t>
            </a:r>
            <a:r>
              <a:rPr lang="en-CA" sz="1050" kern="0">
                <a:solidFill>
                  <a:schemeClr val="bg1"/>
                </a:solidFill>
              </a:rPr>
              <a:t>Thesis</a:t>
            </a:r>
          </a:p>
        </p:txBody>
      </p:sp>
      <p:cxnSp>
        <p:nvCxnSpPr>
          <p:cNvPr id="6" name="Straight Connector 5">
            <a:extLst>
              <a:ext uri="{FF2B5EF4-FFF2-40B4-BE49-F238E27FC236}">
                <a16:creationId xmlns:a16="http://schemas.microsoft.com/office/drawing/2014/main" id="{B6235505-9DF4-26AB-030F-B7F3B6D9FAD9}"/>
              </a:ext>
            </a:extLst>
          </p:cNvPr>
          <p:cNvCxnSpPr/>
          <p:nvPr/>
        </p:nvCxnSpPr>
        <p:spPr>
          <a:xfrm>
            <a:off x="1" y="2191249"/>
            <a:ext cx="1638860" cy="0"/>
          </a:xfrm>
          <a:prstGeom prst="line">
            <a:avLst/>
          </a:prstGeom>
          <a:ln w="19050">
            <a:solidFill>
              <a:srgbClr val="2A90BC"/>
            </a:solidFill>
          </a:ln>
        </p:spPr>
        <p:style>
          <a:lnRef idx="1">
            <a:schemeClr val="accent2"/>
          </a:lnRef>
          <a:fillRef idx="0">
            <a:schemeClr val="accent2"/>
          </a:fillRef>
          <a:effectRef idx="0">
            <a:schemeClr val="accent2"/>
          </a:effectRef>
          <a:fontRef idx="minor">
            <a:schemeClr val="tx1"/>
          </a:fontRef>
        </p:style>
      </p:cxnSp>
      <p:sp>
        <p:nvSpPr>
          <p:cNvPr id="7" name="Title 1">
            <a:extLst>
              <a:ext uri="{FF2B5EF4-FFF2-40B4-BE49-F238E27FC236}">
                <a16:creationId xmlns:a16="http://schemas.microsoft.com/office/drawing/2014/main" id="{C1CC4826-3AD7-31DE-909B-58CFC0BCBFC8}"/>
              </a:ext>
            </a:extLst>
          </p:cNvPr>
          <p:cNvSpPr>
            <a:spLocks noGrp="1"/>
          </p:cNvSpPr>
          <p:nvPr/>
        </p:nvSpPr>
        <p:spPr>
          <a:xfrm>
            <a:off x="465270" y="1619532"/>
            <a:ext cx="2457450" cy="401648"/>
          </a:xfrm>
          <a:prstGeom prst="rect">
            <a:avLst/>
          </a:prstGeom>
        </p:spPr>
        <p:txBody>
          <a:bodyPr vert="horz"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a:solidFill>
                  <a:srgbClr val="333F44"/>
                </a:solidFill>
              </a:rPr>
              <a:t>Agenda</a:t>
            </a:r>
          </a:p>
        </p:txBody>
      </p:sp>
      <p:pic>
        <p:nvPicPr>
          <p:cNvPr id="2" name="Picture 6">
            <a:extLst>
              <a:ext uri="{FF2B5EF4-FFF2-40B4-BE49-F238E27FC236}">
                <a16:creationId xmlns:a16="http://schemas.microsoft.com/office/drawing/2014/main" id="{02CEE241-E9F6-8345-17BD-DAC42CCD24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5159" y="1534720"/>
            <a:ext cx="2457450" cy="571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83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DB5AE6F-DBEE-3268-5BB6-DC44C6C0D91E}"/>
              </a:ext>
            </a:extLst>
          </p:cNvPr>
          <p:cNvSpPr>
            <a:spLocks noGrp="1"/>
          </p:cNvSpPr>
          <p:nvPr/>
        </p:nvSpPr>
        <p:spPr>
          <a:xfrm>
            <a:off x="0" y="396096"/>
            <a:ext cx="4489704"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dirty="0">
                <a:solidFill>
                  <a:srgbClr val="333F44"/>
                </a:solidFill>
              </a:rPr>
              <a:t>Historical Share Price Analysis</a:t>
            </a:r>
          </a:p>
        </p:txBody>
      </p:sp>
      <p:sp>
        <p:nvSpPr>
          <p:cNvPr id="2" name="Rectangle 1">
            <a:extLst>
              <a:ext uri="{FF2B5EF4-FFF2-40B4-BE49-F238E27FC236}">
                <a16:creationId xmlns:a16="http://schemas.microsoft.com/office/drawing/2014/main" id="{977CA7B7-D86F-BEEC-6566-97AB5ABBBE2D}"/>
              </a:ext>
            </a:extLst>
          </p:cNvPr>
          <p:cNvSpPr/>
          <p:nvPr/>
        </p:nvSpPr>
        <p:spPr>
          <a:xfrm>
            <a:off x="269396" y="4873697"/>
            <a:ext cx="4220308" cy="1131720"/>
          </a:xfrm>
          <a:prstGeom prst="rect">
            <a:avLst/>
          </a:prstGeom>
        </p:spPr>
        <p:txBody>
          <a:bodyPr wrap="square">
            <a:spAutoFit/>
          </a:bodyPr>
          <a:lstStyle/>
          <a:p>
            <a:pPr marL="171450" indent="-171450">
              <a:spcBef>
                <a:spcPts val="600"/>
              </a:spcBef>
              <a:buClr>
                <a:srgbClr val="132E57"/>
              </a:buClr>
              <a:buSzPct val="150000"/>
              <a:buFont typeface="Arial" panose="020B0604020202020204" pitchFamily="34" charset="0"/>
              <a:buChar char="•"/>
              <a:defRPr/>
            </a:pPr>
            <a:r>
              <a:rPr lang="en-US" sz="951" b="1" dirty="0">
                <a:solidFill>
                  <a:srgbClr val="000000"/>
                </a:solidFill>
              </a:rPr>
              <a:t>2011 </a:t>
            </a:r>
            <a:r>
              <a:rPr lang="en-US" sz="951" dirty="0">
                <a:solidFill>
                  <a:srgbClr val="000000"/>
                </a:solidFill>
              </a:rPr>
              <a:t>– </a:t>
            </a:r>
            <a:r>
              <a:rPr lang="fr-FR" sz="951" dirty="0">
                <a:solidFill>
                  <a:srgbClr val="000000"/>
                </a:solidFill>
              </a:rPr>
              <a:t>Boeing </a:t>
            </a:r>
            <a:r>
              <a:rPr lang="fr-FR" sz="951" dirty="0" err="1">
                <a:solidFill>
                  <a:srgbClr val="000000"/>
                </a:solidFill>
              </a:rPr>
              <a:t>launches</a:t>
            </a:r>
            <a:r>
              <a:rPr lang="fr-FR" sz="951" dirty="0">
                <a:solidFill>
                  <a:srgbClr val="000000"/>
                </a:solidFill>
              </a:rPr>
              <a:t> the 737 Max program</a:t>
            </a:r>
            <a:endParaRPr lang="en-US" sz="951" dirty="0">
              <a:solidFill>
                <a:srgbClr val="000000"/>
              </a:solidFill>
            </a:endParaRPr>
          </a:p>
          <a:p>
            <a:pPr marL="171450" indent="-171450">
              <a:spcBef>
                <a:spcPts val="600"/>
              </a:spcBef>
              <a:buClr>
                <a:srgbClr val="132E57"/>
              </a:buClr>
              <a:buSzPct val="150000"/>
              <a:buFont typeface="Arial" panose="020B0604020202020204" pitchFamily="34" charset="0"/>
              <a:buChar char="•"/>
              <a:defRPr/>
            </a:pPr>
            <a:r>
              <a:rPr lang="en-US" sz="951" b="1" dirty="0">
                <a:solidFill>
                  <a:srgbClr val="000000"/>
                </a:solidFill>
              </a:rPr>
              <a:t>July 2020 </a:t>
            </a:r>
            <a:r>
              <a:rPr lang="en-US" sz="951" dirty="0">
                <a:solidFill>
                  <a:srgbClr val="000000"/>
                </a:solidFill>
              </a:rPr>
              <a:t>– </a:t>
            </a:r>
            <a:r>
              <a:rPr lang="fr-FR" sz="951" dirty="0">
                <a:solidFill>
                  <a:srgbClr val="000000"/>
                </a:solidFill>
              </a:rPr>
              <a:t>Dennis </a:t>
            </a:r>
            <a:r>
              <a:rPr lang="fr-FR" sz="951" dirty="0" err="1">
                <a:solidFill>
                  <a:srgbClr val="000000"/>
                </a:solidFill>
              </a:rPr>
              <a:t>Muilenburg</a:t>
            </a:r>
            <a:r>
              <a:rPr lang="fr-FR" sz="951" dirty="0">
                <a:solidFill>
                  <a:srgbClr val="000000"/>
                </a:solidFill>
              </a:rPr>
              <a:t> </a:t>
            </a:r>
            <a:r>
              <a:rPr lang="fr-FR" sz="951" dirty="0" err="1">
                <a:solidFill>
                  <a:srgbClr val="000000"/>
                </a:solidFill>
              </a:rPr>
              <a:t>becomes</a:t>
            </a:r>
            <a:r>
              <a:rPr lang="fr-FR" sz="951" dirty="0">
                <a:solidFill>
                  <a:srgbClr val="000000"/>
                </a:solidFill>
              </a:rPr>
              <a:t> CEO</a:t>
            </a:r>
            <a:endParaRPr lang="en-US" sz="951" dirty="0">
              <a:solidFill>
                <a:srgbClr val="000000"/>
              </a:solidFill>
            </a:endParaRPr>
          </a:p>
          <a:p>
            <a:pPr marL="171450" indent="-171450">
              <a:spcBef>
                <a:spcPts val="600"/>
              </a:spcBef>
              <a:buClr>
                <a:srgbClr val="132E57"/>
              </a:buClr>
              <a:buSzPct val="150000"/>
              <a:buFont typeface="Arial" panose="020B0604020202020204" pitchFamily="34" charset="0"/>
              <a:buChar char="•"/>
              <a:defRPr/>
            </a:pPr>
            <a:r>
              <a:rPr lang="en-US" sz="951" b="1" dirty="0">
                <a:solidFill>
                  <a:srgbClr val="000000"/>
                </a:solidFill>
              </a:rPr>
              <a:t>Oct 2018 </a:t>
            </a:r>
            <a:r>
              <a:rPr lang="en-US" sz="951" dirty="0">
                <a:solidFill>
                  <a:srgbClr val="000000"/>
                </a:solidFill>
              </a:rPr>
              <a:t>– </a:t>
            </a:r>
            <a:r>
              <a:rPr lang="fr-FR" sz="951" dirty="0">
                <a:solidFill>
                  <a:srgbClr val="000000"/>
                </a:solidFill>
              </a:rPr>
              <a:t>Lion Air crash</a:t>
            </a:r>
            <a:endParaRPr lang="en-US" sz="951" dirty="0">
              <a:solidFill>
                <a:srgbClr val="000000"/>
              </a:solidFill>
            </a:endParaRPr>
          </a:p>
          <a:p>
            <a:pPr marL="171450" indent="-171450">
              <a:spcBef>
                <a:spcPts val="600"/>
              </a:spcBef>
              <a:buClr>
                <a:srgbClr val="132E57"/>
              </a:buClr>
              <a:buSzPct val="150000"/>
              <a:buFont typeface="Arial" panose="020B0604020202020204" pitchFamily="34" charset="0"/>
              <a:buChar char="•"/>
              <a:defRPr/>
            </a:pPr>
            <a:r>
              <a:rPr lang="en-US" sz="951" b="1" dirty="0">
                <a:solidFill>
                  <a:srgbClr val="000000"/>
                </a:solidFill>
              </a:rPr>
              <a:t>March 2019 </a:t>
            </a:r>
            <a:r>
              <a:rPr lang="en-US" sz="951" dirty="0">
                <a:solidFill>
                  <a:srgbClr val="000000"/>
                </a:solidFill>
              </a:rPr>
              <a:t>– </a:t>
            </a:r>
            <a:r>
              <a:rPr lang="fr-FR" sz="951" dirty="0">
                <a:solidFill>
                  <a:srgbClr val="000000"/>
                </a:solidFill>
              </a:rPr>
              <a:t>Ethiopian Airlines crash</a:t>
            </a:r>
            <a:endParaRPr lang="en-US" sz="951" dirty="0">
              <a:solidFill>
                <a:srgbClr val="000000"/>
              </a:solidFill>
            </a:endParaRPr>
          </a:p>
          <a:p>
            <a:pPr marL="171450" indent="-171450">
              <a:spcBef>
                <a:spcPts val="600"/>
              </a:spcBef>
              <a:buClr>
                <a:srgbClr val="132E57"/>
              </a:buClr>
              <a:buSzPct val="150000"/>
              <a:buFont typeface="Arial" panose="020B0604020202020204" pitchFamily="34" charset="0"/>
              <a:buChar char="•"/>
              <a:defRPr/>
            </a:pPr>
            <a:r>
              <a:rPr lang="en-US" sz="951" b="1" dirty="0">
                <a:solidFill>
                  <a:srgbClr val="000000"/>
                </a:solidFill>
              </a:rPr>
              <a:t>Jan 2020 </a:t>
            </a:r>
            <a:r>
              <a:rPr lang="en-US" sz="951" dirty="0">
                <a:solidFill>
                  <a:srgbClr val="000000"/>
                </a:solidFill>
              </a:rPr>
              <a:t>– </a:t>
            </a:r>
            <a:r>
              <a:rPr lang="fr-FR" sz="951" dirty="0">
                <a:solidFill>
                  <a:srgbClr val="000000"/>
                </a:solidFill>
              </a:rPr>
              <a:t>Dave Calhoun </a:t>
            </a:r>
            <a:r>
              <a:rPr lang="fr-FR" sz="951" dirty="0" err="1">
                <a:solidFill>
                  <a:srgbClr val="000000"/>
                </a:solidFill>
              </a:rPr>
              <a:t>becomes</a:t>
            </a:r>
            <a:r>
              <a:rPr lang="fr-FR" sz="951" dirty="0">
                <a:solidFill>
                  <a:srgbClr val="000000"/>
                </a:solidFill>
              </a:rPr>
              <a:t> CEO</a:t>
            </a:r>
            <a:endParaRPr lang="en-US" sz="951" dirty="0">
              <a:solidFill>
                <a:srgbClr val="000000"/>
              </a:solidFill>
            </a:endParaRPr>
          </a:p>
        </p:txBody>
      </p:sp>
      <p:sp>
        <p:nvSpPr>
          <p:cNvPr id="4" name="TextBox 3">
            <a:extLst>
              <a:ext uri="{FF2B5EF4-FFF2-40B4-BE49-F238E27FC236}">
                <a16:creationId xmlns:a16="http://schemas.microsoft.com/office/drawing/2014/main" id="{A5BF1091-17AD-F1AD-6C83-CF8F2D87C86E}"/>
              </a:ext>
            </a:extLst>
          </p:cNvPr>
          <p:cNvSpPr txBox="1"/>
          <p:nvPr/>
        </p:nvSpPr>
        <p:spPr>
          <a:xfrm>
            <a:off x="1200" y="1262760"/>
            <a:ext cx="2476529" cy="261610"/>
          </a:xfrm>
          <a:prstGeom prst="rect">
            <a:avLst/>
          </a:prstGeom>
          <a:solidFill>
            <a:srgbClr val="113D63"/>
          </a:solidFill>
        </p:spPr>
        <p:txBody>
          <a:bodyPr wrap="square" rtlCol="0">
            <a:spAutoFit/>
          </a:bodyPr>
          <a:lstStyle/>
          <a:p>
            <a:r>
              <a:rPr lang="en-US" altLang="zh-CN" sz="1100" b="1" dirty="0">
                <a:solidFill>
                  <a:schemeClr val="bg1"/>
                </a:solidFill>
              </a:rPr>
              <a:t>Key Events &amp; Share Price Drivers</a:t>
            </a:r>
            <a:endParaRPr lang="en-CA" sz="1100" b="1" dirty="0">
              <a:solidFill>
                <a:schemeClr val="bg1"/>
              </a:solidFill>
            </a:endParaRPr>
          </a:p>
        </p:txBody>
      </p:sp>
      <p:pic>
        <p:nvPicPr>
          <p:cNvPr id="12" name="Image 11" descr="Une image contenant diagramme, texte, ligne, Tracé&#10;&#10;Description générée automatiquement">
            <a:extLst>
              <a:ext uri="{FF2B5EF4-FFF2-40B4-BE49-F238E27FC236}">
                <a16:creationId xmlns:a16="http://schemas.microsoft.com/office/drawing/2014/main" id="{B1D01555-71B6-0B17-0EFC-8C033D69074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3970"/>
          <a:stretch/>
        </p:blipFill>
        <p:spPr>
          <a:xfrm>
            <a:off x="271761" y="1658867"/>
            <a:ext cx="8599277" cy="3041861"/>
          </a:xfrm>
          <a:prstGeom prst="rect">
            <a:avLst/>
          </a:prstGeom>
        </p:spPr>
      </p:pic>
      <p:sp>
        <p:nvSpPr>
          <p:cNvPr id="13" name="Rectangle 12">
            <a:extLst>
              <a:ext uri="{FF2B5EF4-FFF2-40B4-BE49-F238E27FC236}">
                <a16:creationId xmlns:a16="http://schemas.microsoft.com/office/drawing/2014/main" id="{BB92C04F-BAFF-A4AB-603A-0D1BF485D659}"/>
              </a:ext>
            </a:extLst>
          </p:cNvPr>
          <p:cNvSpPr/>
          <p:nvPr/>
        </p:nvSpPr>
        <p:spPr>
          <a:xfrm>
            <a:off x="4489704" y="4873697"/>
            <a:ext cx="4220308" cy="1054776"/>
          </a:xfrm>
          <a:prstGeom prst="rect">
            <a:avLst/>
          </a:prstGeom>
        </p:spPr>
        <p:txBody>
          <a:bodyPr wrap="square">
            <a:spAutoFit/>
          </a:bodyPr>
          <a:lstStyle/>
          <a:p>
            <a:pPr marL="171450" indent="-171450">
              <a:spcBef>
                <a:spcPts val="600"/>
              </a:spcBef>
              <a:buClr>
                <a:srgbClr val="132E57"/>
              </a:buClr>
              <a:buSzPct val="150000"/>
              <a:buFont typeface="Arial" panose="020B0604020202020204" pitchFamily="34" charset="0"/>
              <a:buChar char="•"/>
              <a:defRPr/>
            </a:pPr>
            <a:r>
              <a:rPr lang="en-US" sz="951" b="1" dirty="0">
                <a:solidFill>
                  <a:srgbClr val="000000"/>
                </a:solidFill>
              </a:rPr>
              <a:t>Feb 2020</a:t>
            </a:r>
            <a:r>
              <a:rPr lang="en-US" sz="951" dirty="0">
                <a:solidFill>
                  <a:srgbClr val="000000"/>
                </a:solidFill>
              </a:rPr>
              <a:t>– </a:t>
            </a:r>
            <a:r>
              <a:rPr lang="fr-FR" sz="951" dirty="0">
                <a:solidFill>
                  <a:srgbClr val="000000"/>
                </a:solidFill>
              </a:rPr>
              <a:t>Covid Crisis</a:t>
            </a:r>
            <a:endParaRPr lang="en-US" sz="951" dirty="0">
              <a:solidFill>
                <a:srgbClr val="000000"/>
              </a:solidFill>
            </a:endParaRPr>
          </a:p>
          <a:p>
            <a:pPr marL="171450" indent="-171450">
              <a:spcBef>
                <a:spcPts val="600"/>
              </a:spcBef>
              <a:buClr>
                <a:srgbClr val="132E57"/>
              </a:buClr>
              <a:buSzPct val="150000"/>
              <a:buFont typeface="Arial" panose="020B0604020202020204" pitchFamily="34" charset="0"/>
              <a:buChar char="•"/>
              <a:defRPr/>
            </a:pPr>
            <a:r>
              <a:rPr lang="en-US" sz="951" b="1" dirty="0">
                <a:solidFill>
                  <a:srgbClr val="000000"/>
                </a:solidFill>
              </a:rPr>
              <a:t>Jan 2021</a:t>
            </a:r>
            <a:r>
              <a:rPr lang="en-US" sz="951" dirty="0">
                <a:solidFill>
                  <a:srgbClr val="000000"/>
                </a:solidFill>
              </a:rPr>
              <a:t>– </a:t>
            </a:r>
            <a:r>
              <a:rPr lang="fr-FR" sz="951" dirty="0">
                <a:solidFill>
                  <a:srgbClr val="000000"/>
                </a:solidFill>
              </a:rPr>
              <a:t>Boeing </a:t>
            </a:r>
            <a:r>
              <a:rPr lang="en-US" sz="951" dirty="0">
                <a:solidFill>
                  <a:srgbClr val="000000"/>
                </a:solidFill>
              </a:rPr>
              <a:t>settled</a:t>
            </a:r>
            <a:r>
              <a:rPr lang="fr-FR" sz="951" dirty="0">
                <a:solidFill>
                  <a:srgbClr val="000000"/>
                </a:solidFill>
              </a:rPr>
              <a:t> for $2.5 Billion in court </a:t>
            </a:r>
            <a:r>
              <a:rPr lang="en-US" sz="951" dirty="0">
                <a:solidFill>
                  <a:srgbClr val="000000"/>
                </a:solidFill>
              </a:rPr>
              <a:t>after</a:t>
            </a:r>
            <a:r>
              <a:rPr lang="fr-FR" sz="951" dirty="0">
                <a:solidFill>
                  <a:srgbClr val="000000"/>
                </a:solidFill>
              </a:rPr>
              <a:t> </a:t>
            </a:r>
            <a:r>
              <a:rPr lang="en-US" sz="951" dirty="0">
                <a:solidFill>
                  <a:srgbClr val="000000"/>
                </a:solidFill>
              </a:rPr>
              <a:t>fraud</a:t>
            </a:r>
            <a:r>
              <a:rPr lang="fr-FR" sz="951" dirty="0">
                <a:solidFill>
                  <a:srgbClr val="000000"/>
                </a:solidFill>
              </a:rPr>
              <a:t> </a:t>
            </a:r>
            <a:r>
              <a:rPr lang="en-US" sz="951" dirty="0">
                <a:solidFill>
                  <a:srgbClr val="000000"/>
                </a:solidFill>
              </a:rPr>
              <a:t>allegations</a:t>
            </a:r>
          </a:p>
          <a:p>
            <a:pPr marL="171450" indent="-171450">
              <a:spcBef>
                <a:spcPts val="600"/>
              </a:spcBef>
              <a:buClr>
                <a:srgbClr val="132E57"/>
              </a:buClr>
              <a:buSzPct val="150000"/>
              <a:buFont typeface="Arial" panose="020B0604020202020204" pitchFamily="34" charset="0"/>
              <a:buChar char="•"/>
              <a:defRPr/>
            </a:pPr>
            <a:r>
              <a:rPr lang="en-US" sz="951" b="1" dirty="0">
                <a:solidFill>
                  <a:srgbClr val="000000"/>
                </a:solidFill>
              </a:rPr>
              <a:t>Jan 2024 </a:t>
            </a:r>
            <a:r>
              <a:rPr lang="en-US" sz="951" dirty="0">
                <a:solidFill>
                  <a:srgbClr val="000000"/>
                </a:solidFill>
              </a:rPr>
              <a:t>– Grounding of 171 aircrafts after the Alaska Airlines door plug blowout.</a:t>
            </a:r>
            <a:endParaRPr lang="en-US" sz="300" dirty="0">
              <a:solidFill>
                <a:srgbClr val="000000"/>
              </a:solidFill>
            </a:endParaRPr>
          </a:p>
          <a:p>
            <a:pPr marL="171450" indent="-171450">
              <a:spcBef>
                <a:spcPts val="600"/>
              </a:spcBef>
              <a:buClr>
                <a:srgbClr val="132E57"/>
              </a:buClr>
              <a:buSzPct val="150000"/>
              <a:buFont typeface="Arial" panose="020B0604020202020204" pitchFamily="34" charset="0"/>
              <a:buChar char="•"/>
              <a:defRPr/>
            </a:pPr>
            <a:r>
              <a:rPr lang="en-US" sz="951" b="1" dirty="0">
                <a:solidFill>
                  <a:srgbClr val="000000"/>
                </a:solidFill>
              </a:rPr>
              <a:t>March 2024 </a:t>
            </a:r>
            <a:r>
              <a:rPr lang="en-US" sz="951" dirty="0">
                <a:solidFill>
                  <a:srgbClr val="000000"/>
                </a:solidFill>
              </a:rPr>
              <a:t>– CEO Dave Calhoun announces he will be stepping down.</a:t>
            </a:r>
            <a:endParaRPr lang="en-US" sz="300" dirty="0">
              <a:solidFill>
                <a:srgbClr val="000000"/>
              </a:solidFill>
            </a:endParaRPr>
          </a:p>
        </p:txBody>
      </p:sp>
    </p:spTree>
    <p:extLst>
      <p:ext uri="{BB962C8B-B14F-4D97-AF65-F5344CB8AC3E}">
        <p14:creationId xmlns:p14="http://schemas.microsoft.com/office/powerpoint/2010/main" val="3352009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Chart 34">
            <a:extLst>
              <a:ext uri="{FF2B5EF4-FFF2-40B4-BE49-F238E27FC236}">
                <a16:creationId xmlns:a16="http://schemas.microsoft.com/office/drawing/2014/main" id="{70EDA2CB-4B59-4018-19E7-4478E98394A8}"/>
              </a:ext>
            </a:extLst>
          </p:cNvPr>
          <p:cNvGraphicFramePr>
            <a:graphicFrameLocks/>
          </p:cNvGraphicFramePr>
          <p:nvPr>
            <p:extLst>
              <p:ext uri="{D42A27DB-BD31-4B8C-83A1-F6EECF244321}">
                <p14:modId xmlns:p14="http://schemas.microsoft.com/office/powerpoint/2010/main" val="2013144034"/>
              </p:ext>
            </p:extLst>
          </p:nvPr>
        </p:nvGraphicFramePr>
        <p:xfrm>
          <a:off x="4917494" y="1544823"/>
          <a:ext cx="3861579" cy="2542989"/>
        </p:xfrm>
        <a:graphic>
          <a:graphicData uri="http://schemas.openxmlformats.org/drawingml/2006/chart">
            <c:chart xmlns:c="http://schemas.openxmlformats.org/drawingml/2006/chart" xmlns:r="http://schemas.openxmlformats.org/officeDocument/2006/relationships" r:id="rId2"/>
          </a:graphicData>
        </a:graphic>
      </p:graphicFrame>
      <p:sp>
        <p:nvSpPr>
          <p:cNvPr id="15" name="Title 1">
            <a:extLst>
              <a:ext uri="{FF2B5EF4-FFF2-40B4-BE49-F238E27FC236}">
                <a16:creationId xmlns:a16="http://schemas.microsoft.com/office/drawing/2014/main" id="{9DB5AE6F-DBEE-3268-5BB6-DC44C6C0D91E}"/>
              </a:ext>
            </a:extLst>
          </p:cNvPr>
          <p:cNvSpPr>
            <a:spLocks noGrp="1"/>
          </p:cNvSpPr>
          <p:nvPr/>
        </p:nvSpPr>
        <p:spPr>
          <a:xfrm>
            <a:off x="0" y="396096"/>
            <a:ext cx="4114261"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a:solidFill>
                  <a:srgbClr val="333F44"/>
                </a:solidFill>
              </a:rPr>
              <a:t>Valuation Summary</a:t>
            </a:r>
          </a:p>
        </p:txBody>
      </p:sp>
      <p:graphicFrame>
        <p:nvGraphicFramePr>
          <p:cNvPr id="7" name="Content Placeholder 5">
            <a:extLst>
              <a:ext uri="{FF2B5EF4-FFF2-40B4-BE49-F238E27FC236}">
                <a16:creationId xmlns:a16="http://schemas.microsoft.com/office/drawing/2014/main" id="{0ADC9016-2ED5-ED44-E126-94ED21FF012F}"/>
              </a:ext>
            </a:extLst>
          </p:cNvPr>
          <p:cNvGraphicFramePr>
            <a:graphicFrameLocks/>
          </p:cNvGraphicFramePr>
          <p:nvPr>
            <p:extLst>
              <p:ext uri="{D42A27DB-BD31-4B8C-83A1-F6EECF244321}">
                <p14:modId xmlns:p14="http://schemas.microsoft.com/office/powerpoint/2010/main" val="970200268"/>
              </p:ext>
            </p:extLst>
          </p:nvPr>
        </p:nvGraphicFramePr>
        <p:xfrm>
          <a:off x="4897437" y="4087812"/>
          <a:ext cx="3883486" cy="1956816"/>
        </p:xfrm>
        <a:graphic>
          <a:graphicData uri="http://schemas.openxmlformats.org/drawingml/2006/table">
            <a:tbl>
              <a:tblPr firstRow="1" bandRow="1"/>
              <a:tblGrid>
                <a:gridCol w="1158940">
                  <a:extLst>
                    <a:ext uri="{9D8B030D-6E8A-4147-A177-3AD203B41FA5}">
                      <a16:colId xmlns:a16="http://schemas.microsoft.com/office/drawing/2014/main" val="20000"/>
                    </a:ext>
                  </a:extLst>
                </a:gridCol>
                <a:gridCol w="906215">
                  <a:extLst>
                    <a:ext uri="{9D8B030D-6E8A-4147-A177-3AD203B41FA5}">
                      <a16:colId xmlns:a16="http://schemas.microsoft.com/office/drawing/2014/main" val="20001"/>
                    </a:ext>
                  </a:extLst>
                </a:gridCol>
                <a:gridCol w="935168">
                  <a:extLst>
                    <a:ext uri="{9D8B030D-6E8A-4147-A177-3AD203B41FA5}">
                      <a16:colId xmlns:a16="http://schemas.microsoft.com/office/drawing/2014/main" val="20004"/>
                    </a:ext>
                  </a:extLst>
                </a:gridCol>
                <a:gridCol w="883163">
                  <a:extLst>
                    <a:ext uri="{9D8B030D-6E8A-4147-A177-3AD203B41FA5}">
                      <a16:colId xmlns:a16="http://schemas.microsoft.com/office/drawing/2014/main" val="20005"/>
                    </a:ext>
                  </a:extLst>
                </a:gridCol>
              </a:tblGrid>
              <a:tr h="202974">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algn="l">
                        <a:spcBef>
                          <a:spcPts val="100"/>
                        </a:spcBef>
                        <a:spcAft>
                          <a:spcPts val="100"/>
                        </a:spcAft>
                      </a:pPr>
                      <a:r>
                        <a:rPr lang="en-AU" sz="1000" b="1" dirty="0">
                          <a:solidFill>
                            <a:schemeClr val="bg1"/>
                          </a:solidFill>
                          <a:latin typeface="+mn-lt"/>
                        </a:rPr>
                        <a:t>Broker Estimates</a:t>
                      </a:r>
                      <a:endParaRPr lang="en-US" sz="1000" b="1" dirty="0">
                        <a:solidFill>
                          <a:schemeClr val="bg1"/>
                        </a:solidFill>
                        <a:latin typeface="+mn-lt"/>
                      </a:endParaRPr>
                    </a:p>
                  </a:txBody>
                  <a:tcPr marL="90000" marR="90000" marT="18288" marB="18288"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113D63"/>
                    </a:solidFill>
                  </a:tcPr>
                </a:tc>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algn="ctr">
                        <a:spcBef>
                          <a:spcPts val="100"/>
                        </a:spcBef>
                        <a:spcAft>
                          <a:spcPts val="100"/>
                        </a:spcAft>
                      </a:pPr>
                      <a:r>
                        <a:rPr lang="en-AU" sz="1000" b="1">
                          <a:solidFill>
                            <a:schemeClr val="bg1"/>
                          </a:solidFill>
                          <a:latin typeface="+mn-lt"/>
                        </a:rPr>
                        <a:t>Target Prices </a:t>
                      </a:r>
                      <a:r>
                        <a:rPr lang="en-AU" sz="1000" b="0" i="1">
                          <a:solidFill>
                            <a:schemeClr val="bg1"/>
                          </a:solidFill>
                          <a:latin typeface="+mn-lt"/>
                        </a:rPr>
                        <a:t>($)</a:t>
                      </a:r>
                      <a:endParaRPr lang="en-US" sz="1000" b="0" i="1">
                        <a:solidFill>
                          <a:schemeClr val="bg1"/>
                        </a:solidFill>
                        <a:latin typeface="+mn-lt"/>
                      </a:endParaRPr>
                    </a:p>
                  </a:txBody>
                  <a:tcPr marL="45720" marR="27432"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113D63"/>
                    </a:solidFill>
                  </a:tcPr>
                </a:tc>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lvl="0" algn="ctr">
                        <a:spcBef>
                          <a:spcPts val="100"/>
                        </a:spcBef>
                        <a:spcAft>
                          <a:spcPts val="100"/>
                        </a:spcAft>
                        <a:buNone/>
                      </a:pPr>
                      <a:r>
                        <a:rPr lang="en-AU" sz="1000" b="1" dirty="0">
                          <a:solidFill>
                            <a:schemeClr val="bg1"/>
                          </a:solidFill>
                          <a:latin typeface="+mn-lt"/>
                        </a:rPr>
                        <a:t>Upside </a:t>
                      </a:r>
                      <a:r>
                        <a:rPr lang="en-AU" sz="1000" b="0" dirty="0">
                          <a:solidFill>
                            <a:schemeClr val="bg1"/>
                          </a:solidFill>
                          <a:latin typeface="+mn-lt"/>
                        </a:rPr>
                        <a:t>(%)</a:t>
                      </a:r>
                    </a:p>
                  </a:txBody>
                  <a:tcPr marL="45720" marR="27432" marT="18288" marB="18288" anchor="ctr">
                    <a:lnL w="1270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113D63"/>
                    </a:solidFill>
                  </a:tcPr>
                </a:tc>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lvl="0" algn="ctr">
                        <a:spcBef>
                          <a:spcPts val="100"/>
                        </a:spcBef>
                        <a:spcAft>
                          <a:spcPts val="100"/>
                        </a:spcAft>
                        <a:buNone/>
                      </a:pPr>
                      <a:r>
                        <a:rPr lang="en-AU" sz="1000" b="1" dirty="0">
                          <a:solidFill>
                            <a:schemeClr val="bg1"/>
                          </a:solidFill>
                          <a:latin typeface="+mn-lt"/>
                        </a:rPr>
                        <a:t>Rating</a:t>
                      </a:r>
                      <a:endParaRPr lang="fr-FR" dirty="0"/>
                    </a:p>
                  </a:txBody>
                  <a:tcPr marL="45720" marR="27432" marT="18288" marB="18288"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113D63"/>
                    </a:solidFill>
                  </a:tcPr>
                </a:tc>
                <a:extLst>
                  <a:ext uri="{0D108BD9-81ED-4DB2-BD59-A6C34878D82A}">
                    <a16:rowId xmlns:a16="http://schemas.microsoft.com/office/drawing/2014/main" val="10000"/>
                  </a:ext>
                </a:extLst>
              </a:tr>
              <a:tr h="192826">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marL="0" marR="0" indent="0" algn="l" rtl="0" eaLnBrk="1" fontAlgn="auto" latinLnBrk="0" hangingPunct="1">
                        <a:lnSpc>
                          <a:spcPct val="100000"/>
                        </a:lnSpc>
                        <a:spcBef>
                          <a:spcPts val="100"/>
                        </a:spcBef>
                        <a:spcAft>
                          <a:spcPts val="100"/>
                        </a:spcAft>
                        <a:buClrTx/>
                        <a:buSzTx/>
                        <a:buFontTx/>
                        <a:buNone/>
                      </a:pPr>
                      <a:r>
                        <a:rPr lang="en-AU" sz="1000" b="0">
                          <a:solidFill>
                            <a:schemeClr val="tx1"/>
                          </a:solidFill>
                          <a:latin typeface="+mn-lt"/>
                        </a:rPr>
                        <a:t>Citigroup (25/04/2024)</a:t>
                      </a:r>
                      <a:endParaRPr lang="en-US" sz="1000" b="0">
                        <a:solidFill>
                          <a:schemeClr val="tx1"/>
                        </a:solidFill>
                        <a:latin typeface="+mn-lt"/>
                      </a:endParaRPr>
                    </a:p>
                  </a:txBody>
                  <a:tcPr marL="90000" marR="90000" marT="9144" marB="9144" anchor="ctr">
                    <a:lnL>
                      <a:noFill/>
                    </a:lnL>
                    <a:lnR>
                      <a:noFill/>
                    </a:lnR>
                    <a:lnT w="6350" cap="flat" cmpd="sng" algn="ctr">
                      <a:no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algn="ctr">
                        <a:spcBef>
                          <a:spcPts val="100"/>
                        </a:spcBef>
                        <a:spcAft>
                          <a:spcPts val="100"/>
                        </a:spcAft>
                      </a:pPr>
                      <a:r>
                        <a:rPr lang="en-US" sz="1000" b="0">
                          <a:solidFill>
                            <a:schemeClr val="tx1"/>
                          </a:solidFill>
                          <a:latin typeface="+mn-lt"/>
                        </a:rPr>
                        <a:t>$224</a:t>
                      </a:r>
                    </a:p>
                  </a:txBody>
                  <a:tcPr marL="45720" marR="27432" marT="9144" marB="9144" anchor="ctr">
                    <a:lnL>
                      <a:noFill/>
                    </a:lnL>
                    <a:lnR>
                      <a:noFill/>
                    </a:lnR>
                    <a:lnT w="6350" cap="flat" cmpd="sng" algn="ctr">
                      <a:no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4D4D4D">
                        <a:lumMod val="20000"/>
                        <a:lumOff val="80000"/>
                      </a:srgbClr>
                    </a:solidFill>
                  </a:tcPr>
                </a:tc>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algn="ctr">
                        <a:spcBef>
                          <a:spcPts val="100"/>
                        </a:spcBef>
                        <a:spcAft>
                          <a:spcPts val="100"/>
                        </a:spcAft>
                      </a:pPr>
                      <a:r>
                        <a:rPr lang="en-US" sz="1000" b="1">
                          <a:solidFill>
                            <a:schemeClr val="tx1"/>
                          </a:solidFill>
                          <a:latin typeface="+mn-lt"/>
                        </a:rPr>
                        <a:t>+32.55%</a:t>
                      </a:r>
                    </a:p>
                  </a:txBody>
                  <a:tcPr marL="45720" marR="27432" marT="9144" marB="9144"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algn="ctr">
                        <a:spcBef>
                          <a:spcPts val="100"/>
                        </a:spcBef>
                        <a:spcAft>
                          <a:spcPts val="100"/>
                        </a:spcAft>
                      </a:pPr>
                      <a:r>
                        <a:rPr lang="en-US" sz="1000" b="1">
                          <a:solidFill>
                            <a:srgbClr val="00B050"/>
                          </a:solidFill>
                          <a:latin typeface="+mn-lt"/>
                        </a:rPr>
                        <a:t>Strong Buy</a:t>
                      </a:r>
                    </a:p>
                  </a:txBody>
                  <a:tcPr marL="45720" marR="27432" marT="9144" marB="9144" anchor="ctr">
                    <a:lnL>
                      <a:noFill/>
                    </a:lnL>
                    <a:lnR>
                      <a:noFill/>
                    </a:lnR>
                    <a:lnT w="6350" cap="flat" cmpd="sng" algn="ctr">
                      <a:no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92826">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marL="0" marR="0" lvl="0" indent="0" algn="l">
                        <a:lnSpc>
                          <a:spcPct val="100000"/>
                        </a:lnSpc>
                        <a:spcBef>
                          <a:spcPts val="100"/>
                        </a:spcBef>
                        <a:spcAft>
                          <a:spcPts val="100"/>
                        </a:spcAft>
                        <a:buNone/>
                      </a:pPr>
                      <a:r>
                        <a:rPr lang="en-AU" sz="1000" b="0" i="0" u="none" strike="noStrike" noProof="0">
                          <a:solidFill>
                            <a:schemeClr val="tx1"/>
                          </a:solidFill>
                          <a:latin typeface="Calibri"/>
                        </a:rPr>
                        <a:t>Deutsche Bank (25/04/2024)</a:t>
                      </a:r>
                      <a:endParaRPr lang="fr-FR" i="0" u="none" strike="noStrike" noProof="0">
                        <a:latin typeface="Calibri"/>
                      </a:endParaRPr>
                    </a:p>
                  </a:txBody>
                  <a:tcPr marL="90000" marR="90000"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lvl="0" algn="ctr">
                        <a:spcBef>
                          <a:spcPts val="100"/>
                        </a:spcBef>
                        <a:spcAft>
                          <a:spcPts val="100"/>
                        </a:spcAft>
                        <a:buNone/>
                      </a:pPr>
                      <a:r>
                        <a:rPr lang="en-US" sz="1000" b="0" i="0" u="none" strike="noStrike" noProof="0">
                          <a:solidFill>
                            <a:schemeClr val="tx1"/>
                          </a:solidFill>
                          <a:latin typeface="Calibri"/>
                        </a:rPr>
                        <a:t>$225</a:t>
                      </a:r>
                      <a:endParaRPr lang="fr-FR"/>
                    </a:p>
                  </a:txBody>
                  <a:tcPr marL="45720" marR="27432"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4D4D4D">
                        <a:lumMod val="20000"/>
                        <a:lumOff val="80000"/>
                      </a:srgbClr>
                    </a:solidFill>
                  </a:tcPr>
                </a:tc>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algn="ctr">
                        <a:spcBef>
                          <a:spcPts val="100"/>
                        </a:spcBef>
                        <a:spcAft>
                          <a:spcPts val="100"/>
                        </a:spcAft>
                      </a:pPr>
                      <a:r>
                        <a:rPr lang="en-US" sz="1000" b="1">
                          <a:solidFill>
                            <a:schemeClr val="tx1"/>
                          </a:solidFill>
                          <a:latin typeface="+mn-lt"/>
                        </a:rPr>
                        <a:t>+33.14%</a:t>
                      </a:r>
                    </a:p>
                  </a:txBody>
                  <a:tcPr marL="45720" marR="27432" marT="9144" marB="9144" anchor="ctr">
                    <a:lnL w="6350" cap="flat" cmpd="sng" algn="ctr">
                      <a:noFill/>
                      <a:prstDash val="solid"/>
                      <a:round/>
                      <a:headEnd type="none" w="med" len="med"/>
                      <a:tailEnd type="none" w="med" len="med"/>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en-US"/>
                      </a:defPPr>
                      <a:lvl1pPr marL="0" algn="l" defTabSz="914400" rtl="0" eaLnBrk="1" latinLnBrk="0" hangingPunct="1">
                        <a:defRPr sz="1800" kern="1200">
                          <a:solidFill>
                            <a:schemeClr val="tx1"/>
                          </a:solidFill>
                          <a:latin typeface="HelveticaNeue LT 45 Lt"/>
                        </a:defRPr>
                      </a:lvl1pPr>
                      <a:lvl2pPr marL="457200" algn="l" defTabSz="914400" rtl="0" eaLnBrk="1" latinLnBrk="0" hangingPunct="1">
                        <a:defRPr sz="1800" kern="1200">
                          <a:solidFill>
                            <a:schemeClr val="tx1"/>
                          </a:solidFill>
                          <a:latin typeface="HelveticaNeue LT 45 Lt"/>
                        </a:defRPr>
                      </a:lvl2pPr>
                      <a:lvl3pPr marL="914400" algn="l" defTabSz="914400" rtl="0" eaLnBrk="1" latinLnBrk="0" hangingPunct="1">
                        <a:defRPr sz="1800" kern="1200">
                          <a:solidFill>
                            <a:schemeClr val="tx1"/>
                          </a:solidFill>
                          <a:latin typeface="HelveticaNeue LT 45 Lt"/>
                        </a:defRPr>
                      </a:lvl3pPr>
                      <a:lvl4pPr marL="1371600" algn="l" defTabSz="914400" rtl="0" eaLnBrk="1" latinLnBrk="0" hangingPunct="1">
                        <a:defRPr sz="1800" kern="1200">
                          <a:solidFill>
                            <a:schemeClr val="tx1"/>
                          </a:solidFill>
                          <a:latin typeface="HelveticaNeue LT 45 Lt"/>
                        </a:defRPr>
                      </a:lvl4pPr>
                      <a:lvl5pPr marL="1828800" algn="l" defTabSz="914400" rtl="0" eaLnBrk="1" latinLnBrk="0" hangingPunct="1">
                        <a:defRPr sz="1800" kern="1200">
                          <a:solidFill>
                            <a:schemeClr val="tx1"/>
                          </a:solidFill>
                          <a:latin typeface="HelveticaNeue LT 45 Lt"/>
                        </a:defRPr>
                      </a:lvl5pPr>
                      <a:lvl6pPr marL="2286000" algn="l" defTabSz="914400" rtl="0" eaLnBrk="1" latinLnBrk="0" hangingPunct="1">
                        <a:defRPr sz="1800" kern="1200">
                          <a:solidFill>
                            <a:schemeClr val="tx1"/>
                          </a:solidFill>
                          <a:latin typeface="HelveticaNeue LT 45 Lt"/>
                        </a:defRPr>
                      </a:lvl6pPr>
                      <a:lvl7pPr marL="2743200" algn="l" defTabSz="914400" rtl="0" eaLnBrk="1" latinLnBrk="0" hangingPunct="1">
                        <a:defRPr sz="1800" kern="1200">
                          <a:solidFill>
                            <a:schemeClr val="tx1"/>
                          </a:solidFill>
                          <a:latin typeface="HelveticaNeue LT 45 Lt"/>
                        </a:defRPr>
                      </a:lvl7pPr>
                      <a:lvl8pPr marL="3200400" algn="l" defTabSz="914400" rtl="0" eaLnBrk="1" latinLnBrk="0" hangingPunct="1">
                        <a:defRPr sz="1800" kern="1200">
                          <a:solidFill>
                            <a:schemeClr val="tx1"/>
                          </a:solidFill>
                          <a:latin typeface="HelveticaNeue LT 45 Lt"/>
                        </a:defRPr>
                      </a:lvl8pPr>
                      <a:lvl9pPr marL="3657600" algn="l" defTabSz="914400" rtl="0" eaLnBrk="1" latinLnBrk="0" hangingPunct="1">
                        <a:defRPr sz="1800" kern="1200">
                          <a:solidFill>
                            <a:schemeClr val="tx1"/>
                          </a:solidFill>
                          <a:latin typeface="HelveticaNeue LT 45 Lt"/>
                        </a:defRPr>
                      </a:lvl9pPr>
                    </a:lstStyle>
                    <a:p>
                      <a:pPr lvl="0" algn="ctr">
                        <a:spcBef>
                          <a:spcPts val="100"/>
                        </a:spcBef>
                        <a:spcAft>
                          <a:spcPts val="100"/>
                        </a:spcAft>
                        <a:buNone/>
                      </a:pPr>
                      <a:r>
                        <a:rPr lang="en-US" sz="1000" b="1" i="0" u="none" strike="noStrike" noProof="0">
                          <a:solidFill>
                            <a:srgbClr val="00B050"/>
                          </a:solidFill>
                          <a:latin typeface="Calibri"/>
                        </a:rPr>
                        <a:t>Strong Buy</a:t>
                      </a:r>
                      <a:endParaRPr lang="fr-FR" b="1">
                        <a:solidFill>
                          <a:srgbClr val="00B050"/>
                        </a:solidFill>
                      </a:endParaRPr>
                    </a:p>
                  </a:txBody>
                  <a:tcPr marL="45720" marR="27432"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92826">
                <a:tc>
                  <a:txBody>
                    <a:bodyPr/>
                    <a:lstStyle/>
                    <a:p>
                      <a:pPr lvl="0" algn="l">
                        <a:spcBef>
                          <a:spcPts val="100"/>
                        </a:spcBef>
                        <a:spcAft>
                          <a:spcPts val="100"/>
                        </a:spcAft>
                        <a:buNone/>
                      </a:pPr>
                      <a:r>
                        <a:rPr lang="en-AU" sz="1000" b="0" i="0" u="none" strike="noStrike" noProof="0">
                          <a:solidFill>
                            <a:schemeClr val="tx1"/>
                          </a:solidFill>
                          <a:latin typeface="Calibri"/>
                        </a:rPr>
                        <a:t>Barclays (22/04/2024)</a:t>
                      </a:r>
                    </a:p>
                  </a:txBody>
                  <a:tcPr marL="90000" marR="90000"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spcBef>
                          <a:spcPts val="100"/>
                        </a:spcBef>
                        <a:spcAft>
                          <a:spcPts val="100"/>
                        </a:spcAft>
                      </a:pPr>
                      <a:r>
                        <a:rPr lang="en-US" sz="1000" b="0">
                          <a:solidFill>
                            <a:schemeClr val="tx1"/>
                          </a:solidFill>
                          <a:latin typeface="+mn-lt"/>
                        </a:rPr>
                        <a:t>$190</a:t>
                      </a:r>
                    </a:p>
                  </a:txBody>
                  <a:tcPr marL="45720" marR="27432"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4D4D4D">
                        <a:lumMod val="20000"/>
                        <a:lumOff val="80000"/>
                      </a:srgbClr>
                    </a:solidFill>
                  </a:tcPr>
                </a:tc>
                <a:tc>
                  <a:txBody>
                    <a:bodyPr/>
                    <a:lstStyle/>
                    <a:p>
                      <a:pPr algn="ctr">
                        <a:spcBef>
                          <a:spcPts val="100"/>
                        </a:spcBef>
                        <a:spcAft>
                          <a:spcPts val="100"/>
                        </a:spcAft>
                      </a:pPr>
                      <a:r>
                        <a:rPr lang="en-US" sz="1000" b="1">
                          <a:solidFill>
                            <a:schemeClr val="tx1"/>
                          </a:solidFill>
                          <a:latin typeface="+mn-lt"/>
                        </a:rPr>
                        <a:t>+12.43%</a:t>
                      </a:r>
                    </a:p>
                  </a:txBody>
                  <a:tcPr marL="45720" marR="27432" marT="9144" marB="9144" anchor="ctr">
                    <a:lnL w="6350" cap="flat" cmpd="sng" algn="ctr">
                      <a:noFill/>
                      <a:prstDash val="solid"/>
                      <a:round/>
                      <a:headEnd type="none" w="med" len="med"/>
                      <a:tailEnd type="none" w="med" len="med"/>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spcBef>
                          <a:spcPts val="100"/>
                        </a:spcBef>
                        <a:spcAft>
                          <a:spcPts val="100"/>
                        </a:spcAft>
                        <a:buNone/>
                      </a:pPr>
                      <a:r>
                        <a:rPr lang="en-US" sz="1000" b="1" i="0" u="none" strike="noStrike" noProof="0">
                          <a:solidFill>
                            <a:schemeClr val="tx1"/>
                          </a:solidFill>
                          <a:latin typeface="Calibri"/>
                        </a:rPr>
                        <a:t>Hold</a:t>
                      </a:r>
                    </a:p>
                  </a:txBody>
                  <a:tcPr marL="45720" marR="27432"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8596827"/>
                  </a:ext>
                </a:extLst>
              </a:tr>
              <a:tr h="192826">
                <a:tc>
                  <a:txBody>
                    <a:bodyPr/>
                    <a:lstStyle/>
                    <a:p>
                      <a:pPr lvl="0" algn="l">
                        <a:spcBef>
                          <a:spcPts val="100"/>
                        </a:spcBef>
                        <a:spcAft>
                          <a:spcPts val="100"/>
                        </a:spcAft>
                        <a:buNone/>
                      </a:pPr>
                      <a:r>
                        <a:rPr lang="en-AU" sz="1000" b="0" i="0" u="none" strike="noStrike" noProof="0">
                          <a:solidFill>
                            <a:schemeClr val="tx1"/>
                          </a:solidFill>
                          <a:latin typeface="Calibri"/>
                        </a:rPr>
                        <a:t>JP Morgan (17/04/2024)</a:t>
                      </a:r>
                    </a:p>
                  </a:txBody>
                  <a:tcPr marL="90000" marR="90000"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spcBef>
                          <a:spcPts val="100"/>
                        </a:spcBef>
                        <a:spcAft>
                          <a:spcPts val="100"/>
                        </a:spcAft>
                      </a:pPr>
                      <a:r>
                        <a:rPr lang="en-US" sz="1000" b="0">
                          <a:solidFill>
                            <a:schemeClr val="tx1"/>
                          </a:solidFill>
                          <a:latin typeface="+mn-lt"/>
                        </a:rPr>
                        <a:t>$230</a:t>
                      </a:r>
                    </a:p>
                  </a:txBody>
                  <a:tcPr marL="45720" marR="27432"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4D4D4D">
                        <a:lumMod val="20000"/>
                        <a:lumOff val="80000"/>
                      </a:srgbClr>
                    </a:solidFill>
                  </a:tcPr>
                </a:tc>
                <a:tc>
                  <a:txBody>
                    <a:bodyPr/>
                    <a:lstStyle/>
                    <a:p>
                      <a:pPr algn="ctr">
                        <a:spcBef>
                          <a:spcPts val="100"/>
                        </a:spcBef>
                        <a:spcAft>
                          <a:spcPts val="100"/>
                        </a:spcAft>
                      </a:pPr>
                      <a:r>
                        <a:rPr lang="en-US" sz="1000" b="1">
                          <a:solidFill>
                            <a:schemeClr val="tx1"/>
                          </a:solidFill>
                          <a:latin typeface="+mn-lt"/>
                        </a:rPr>
                        <a:t>+35.78%</a:t>
                      </a:r>
                    </a:p>
                  </a:txBody>
                  <a:tcPr marL="45720" marR="27432" marT="9144" marB="9144" anchor="ctr">
                    <a:lnL w="6350" cap="flat" cmpd="sng" algn="ctr">
                      <a:noFill/>
                      <a:prstDash val="solid"/>
                      <a:round/>
                      <a:headEnd type="none" w="med" len="med"/>
                      <a:tailEnd type="none" w="med" len="med"/>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spcBef>
                          <a:spcPts val="100"/>
                        </a:spcBef>
                        <a:spcAft>
                          <a:spcPts val="100"/>
                        </a:spcAft>
                        <a:buNone/>
                      </a:pPr>
                      <a:r>
                        <a:rPr lang="en-US" sz="1000" b="1" i="0" u="none" strike="noStrike" noProof="0">
                          <a:solidFill>
                            <a:srgbClr val="00B050"/>
                          </a:solidFill>
                          <a:latin typeface="Calibri"/>
                        </a:rPr>
                        <a:t>Strong Buy</a:t>
                      </a:r>
                      <a:endParaRPr lang="fr-FR" b="1">
                        <a:solidFill>
                          <a:srgbClr val="00B050"/>
                        </a:solidFill>
                      </a:endParaRPr>
                    </a:p>
                  </a:txBody>
                  <a:tcPr marL="45720" marR="27432"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2854948"/>
                  </a:ext>
                </a:extLst>
              </a:tr>
              <a:tr h="192826">
                <a:tc>
                  <a:txBody>
                    <a:bodyPr/>
                    <a:lstStyle/>
                    <a:p>
                      <a:pPr lvl="0" algn="l">
                        <a:spcBef>
                          <a:spcPts val="100"/>
                        </a:spcBef>
                        <a:spcAft>
                          <a:spcPts val="100"/>
                        </a:spcAft>
                        <a:buNone/>
                      </a:pPr>
                      <a:r>
                        <a:rPr lang="en-AU" sz="1000" b="0" i="0" u="none" strike="noStrike" noProof="0">
                          <a:solidFill>
                            <a:schemeClr val="tx1"/>
                          </a:solidFill>
                          <a:latin typeface="Calibri"/>
                        </a:rPr>
                        <a:t>RBC Capital (16/04/2024)</a:t>
                      </a:r>
                    </a:p>
                  </a:txBody>
                  <a:tcPr marL="90000" marR="90000"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spcBef>
                          <a:spcPts val="100"/>
                        </a:spcBef>
                        <a:spcAft>
                          <a:spcPts val="100"/>
                        </a:spcAft>
                      </a:pPr>
                      <a:r>
                        <a:rPr lang="en-US" sz="1000" b="0">
                          <a:solidFill>
                            <a:schemeClr val="tx1"/>
                          </a:solidFill>
                          <a:latin typeface="+mn-lt"/>
                        </a:rPr>
                        <a:t>$215</a:t>
                      </a:r>
                    </a:p>
                  </a:txBody>
                  <a:tcPr marL="45720" marR="27432"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4D4D4D">
                        <a:lumMod val="20000"/>
                        <a:lumOff val="80000"/>
                      </a:srgbClr>
                    </a:solidFill>
                  </a:tcPr>
                </a:tc>
                <a:tc>
                  <a:txBody>
                    <a:bodyPr/>
                    <a:lstStyle/>
                    <a:p>
                      <a:pPr algn="ctr">
                        <a:spcBef>
                          <a:spcPts val="100"/>
                        </a:spcBef>
                        <a:spcAft>
                          <a:spcPts val="100"/>
                        </a:spcAft>
                      </a:pPr>
                      <a:r>
                        <a:rPr lang="en-US" sz="1000" b="1">
                          <a:solidFill>
                            <a:schemeClr val="tx1"/>
                          </a:solidFill>
                          <a:latin typeface="+mn-lt"/>
                        </a:rPr>
                        <a:t>+27.23%</a:t>
                      </a:r>
                    </a:p>
                  </a:txBody>
                  <a:tcPr marL="45720" marR="27432" marT="9144" marB="9144" anchor="ctr">
                    <a:lnL w="6350" cap="flat" cmpd="sng" algn="ctr">
                      <a:noFill/>
                      <a:prstDash val="solid"/>
                      <a:round/>
                      <a:headEnd type="none" w="med" len="med"/>
                      <a:tailEnd type="none" w="med" len="med"/>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spcBef>
                          <a:spcPts val="100"/>
                        </a:spcBef>
                        <a:spcAft>
                          <a:spcPts val="100"/>
                        </a:spcAft>
                      </a:pPr>
                      <a:r>
                        <a:rPr lang="en-US" sz="1000" b="1" dirty="0">
                          <a:solidFill>
                            <a:srgbClr val="00B050"/>
                          </a:solidFill>
                          <a:latin typeface="+mn-lt"/>
                        </a:rPr>
                        <a:t>Buy</a:t>
                      </a:r>
                    </a:p>
                  </a:txBody>
                  <a:tcPr marL="45720" marR="27432" marT="9144" marB="9144" anchor="ctr">
                    <a:lnL>
                      <a:noFill/>
                    </a:lnL>
                    <a:lnR>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300755"/>
                  </a:ext>
                </a:extLst>
              </a:tr>
            </a:tbl>
          </a:graphicData>
        </a:graphic>
      </p:graphicFrame>
      <p:sp>
        <p:nvSpPr>
          <p:cNvPr id="8" name="Rectangle 7">
            <a:extLst>
              <a:ext uri="{FF2B5EF4-FFF2-40B4-BE49-F238E27FC236}">
                <a16:creationId xmlns:a16="http://schemas.microsoft.com/office/drawing/2014/main" id="{DCEBD9AF-DAF3-DB53-DD19-2FD773E716D0}"/>
              </a:ext>
            </a:extLst>
          </p:cNvPr>
          <p:cNvSpPr/>
          <p:nvPr/>
        </p:nvSpPr>
        <p:spPr>
          <a:xfrm>
            <a:off x="1199" y="1533672"/>
            <a:ext cx="4225308" cy="3016210"/>
          </a:xfrm>
          <a:prstGeom prst="rect">
            <a:avLst/>
          </a:prstGeom>
        </p:spPr>
        <p:txBody>
          <a:bodyPr wrap="square" lIns="91440" tIns="45720" rIns="91440" bIns="45720" anchor="ctr">
            <a:spAutoFit/>
          </a:bodyPr>
          <a:lstStyle/>
          <a:p>
            <a:pPr defTabSz="457189">
              <a:buClr>
                <a:srgbClr val="132E57"/>
              </a:buClr>
              <a:buSzPct val="150000"/>
              <a:defRPr/>
            </a:pPr>
            <a:r>
              <a:rPr lang="en-CA" sz="900" b="1" dirty="0">
                <a:solidFill>
                  <a:srgbClr val="000000"/>
                </a:solidFill>
                <a:latin typeface="Arial"/>
                <a:ea typeface="ＭＳ Ｐゴシック"/>
                <a:cs typeface="Arial"/>
              </a:rPr>
              <a:t>Relative underperformance:</a:t>
            </a:r>
            <a:endParaRPr lang="en-CA" dirty="0">
              <a:solidFill>
                <a:srgbClr val="000000"/>
              </a:solidFill>
              <a:latin typeface="Arial"/>
              <a:ea typeface="ＭＳ Ｐゴシック"/>
              <a:cs typeface="Arial"/>
            </a:endParaRPr>
          </a:p>
          <a:p>
            <a:pPr defTabSz="457189">
              <a:defRPr/>
            </a:pPr>
            <a:endParaRPr lang="en-US" sz="400" b="1" dirty="0">
              <a:solidFill>
                <a:srgbClr val="000000"/>
              </a:solidFill>
              <a:latin typeface="Arial"/>
              <a:ea typeface="ＭＳ Ｐゴシック"/>
              <a:cs typeface="Arial"/>
            </a:endParaRPr>
          </a:p>
          <a:p>
            <a:pPr marL="171450" indent="-171450" defTabSz="457189">
              <a:buFont typeface="Arial"/>
              <a:buChar char="•"/>
              <a:defRPr/>
            </a:pPr>
            <a:r>
              <a:rPr lang="en-US" sz="900" b="1" dirty="0">
                <a:solidFill>
                  <a:srgbClr val="000000"/>
                </a:solidFill>
                <a:latin typeface="Arial"/>
                <a:ea typeface="ＭＳ Ｐゴシック"/>
                <a:cs typeface="Arial"/>
              </a:rPr>
              <a:t>YTD:</a:t>
            </a:r>
            <a:r>
              <a:rPr lang="en-US" sz="900" dirty="0">
                <a:solidFill>
                  <a:srgbClr val="000000"/>
                </a:solidFill>
                <a:latin typeface="Arial"/>
                <a:ea typeface="ＭＳ Ｐゴシック"/>
                <a:cs typeface="Arial"/>
              </a:rPr>
              <a:t> While the S&amp;P 500 is up around 6% year-to-date, BA stock is down over 32%.</a:t>
            </a:r>
          </a:p>
          <a:p>
            <a:pPr marL="171450" indent="-171450" defTabSz="457189">
              <a:buFont typeface="Arial"/>
              <a:buChar char="•"/>
              <a:defRPr/>
            </a:pPr>
            <a:r>
              <a:rPr lang="en-US" sz="900" b="1" dirty="0">
                <a:solidFill>
                  <a:srgbClr val="000000"/>
                </a:solidFill>
                <a:latin typeface="Arial"/>
                <a:ea typeface="ＭＳ Ｐゴシック"/>
                <a:cs typeface="Arial"/>
              </a:rPr>
              <a:t>3Y:</a:t>
            </a:r>
            <a:r>
              <a:rPr lang="en-US" sz="900" dirty="0">
                <a:solidFill>
                  <a:srgbClr val="000000"/>
                </a:solidFill>
                <a:latin typeface="Arial"/>
                <a:ea typeface="ＭＳ Ｐゴシック"/>
                <a:cs typeface="Arial"/>
              </a:rPr>
              <a:t> BA is down roughly 25% compared to a 35% gain for the S&amp;P 500 since 2021.</a:t>
            </a:r>
            <a:endParaRPr lang="en-CA" dirty="0">
              <a:latin typeface="Arial"/>
              <a:ea typeface="ＭＳ Ｐゴシック"/>
              <a:cs typeface="Arial"/>
            </a:endParaRPr>
          </a:p>
          <a:p>
            <a:pPr marL="171450" indent="-171450" defTabSz="457189">
              <a:buFont typeface="Arial"/>
              <a:buChar char="•"/>
              <a:defRPr/>
            </a:pPr>
            <a:r>
              <a:rPr lang="en-US" sz="900" b="1" dirty="0">
                <a:latin typeface="Arial"/>
                <a:ea typeface="ＭＳ Ｐゴシック"/>
                <a:cs typeface="Arial"/>
              </a:rPr>
              <a:t>Trading near lows:</a:t>
            </a:r>
            <a:r>
              <a:rPr lang="en-US" sz="900" dirty="0">
                <a:latin typeface="Arial"/>
                <a:ea typeface="ＭＳ Ｐゴシック"/>
                <a:cs typeface="Arial"/>
              </a:rPr>
              <a:t> BA is currently trading near its 52-week low of $150, indicating a weak sentiment. </a:t>
            </a:r>
            <a:br>
              <a:rPr lang="en-US" sz="900" dirty="0">
                <a:latin typeface="Arial"/>
                <a:ea typeface="ＭＳ Ｐゴシック"/>
                <a:cs typeface="Arial"/>
              </a:rPr>
            </a:br>
            <a:endParaRPr lang="en-CA" dirty="0">
              <a:latin typeface="Arial"/>
              <a:ea typeface="ＭＳ Ｐゴシック"/>
              <a:cs typeface="Arial"/>
            </a:endParaRPr>
          </a:p>
          <a:p>
            <a:pPr defTabSz="457189">
              <a:defRPr/>
            </a:pPr>
            <a:r>
              <a:rPr lang="en-CA" sz="900" b="1" dirty="0">
                <a:solidFill>
                  <a:srgbClr val="000000"/>
                </a:solidFill>
                <a:latin typeface="Arial"/>
                <a:ea typeface="ＭＳ Ｐゴシック"/>
                <a:cs typeface="Arial"/>
              </a:rPr>
              <a:t>Market sentiment:</a:t>
            </a:r>
            <a:endParaRPr lang="en-CA" dirty="0">
              <a:latin typeface="Arial"/>
              <a:ea typeface="ＭＳ Ｐゴシック"/>
              <a:cs typeface="Arial"/>
            </a:endParaRPr>
          </a:p>
          <a:p>
            <a:pPr defTabSz="457189">
              <a:defRPr/>
            </a:pPr>
            <a:endParaRPr lang="en-CA" sz="400" b="1" dirty="0">
              <a:solidFill>
                <a:srgbClr val="000000"/>
              </a:solidFill>
              <a:latin typeface="Arial"/>
              <a:ea typeface="ＭＳ Ｐゴシック"/>
              <a:cs typeface="Arial"/>
            </a:endParaRPr>
          </a:p>
          <a:p>
            <a:pPr marL="171450" indent="-171450" defTabSz="457189">
              <a:buFont typeface="Arial"/>
              <a:buChar char="•"/>
              <a:defRPr/>
            </a:pPr>
            <a:r>
              <a:rPr lang="en-US" sz="900" b="1" dirty="0">
                <a:solidFill>
                  <a:srgbClr val="000000"/>
                </a:solidFill>
                <a:latin typeface="Arial"/>
                <a:ea typeface="ＭＳ Ｐゴシック"/>
                <a:cs typeface="Arial"/>
              </a:rPr>
              <a:t>Priced-in catalysts:</a:t>
            </a:r>
            <a:r>
              <a:rPr lang="en-US" sz="900" dirty="0">
                <a:solidFill>
                  <a:srgbClr val="000000"/>
                </a:solidFill>
                <a:latin typeface="Arial"/>
                <a:ea typeface="ＭＳ Ｐゴシック"/>
                <a:cs typeface="Arial"/>
              </a:rPr>
              <a:t> The current price reflects Boeing's issues faced with the 737 MAX and expectations for increased commercial airplane deliveries in the coming years.</a:t>
            </a:r>
            <a:endParaRPr lang="en-CA" dirty="0">
              <a:latin typeface="Arial"/>
              <a:ea typeface="ＭＳ Ｐゴシック"/>
              <a:cs typeface="Arial"/>
            </a:endParaRPr>
          </a:p>
          <a:p>
            <a:pPr marL="171450" indent="-171450" defTabSz="457189">
              <a:buFont typeface="Arial"/>
              <a:buChar char="•"/>
              <a:defRPr/>
            </a:pPr>
            <a:r>
              <a:rPr lang="en-US" sz="900" b="1" dirty="0">
                <a:solidFill>
                  <a:srgbClr val="000000"/>
                </a:solidFill>
                <a:latin typeface="Arial"/>
                <a:ea typeface="ＭＳ Ｐゴシック"/>
                <a:cs typeface="Arial"/>
              </a:rPr>
              <a:t>Loss of confidence:</a:t>
            </a:r>
            <a:r>
              <a:rPr lang="en-US" sz="900" dirty="0">
                <a:solidFill>
                  <a:srgbClr val="000000"/>
                </a:solidFill>
                <a:latin typeface="Arial"/>
                <a:ea typeface="ＭＳ Ｐゴシック"/>
                <a:cs typeface="Arial"/>
              </a:rPr>
              <a:t> The stock price is not reflecting the strong Q1 revenue that beat analyst estimates. This could be due to loss in confidence and the wait for a full recovery in commercial airplane production.</a:t>
            </a:r>
            <a:endParaRPr lang="en-CA" dirty="0">
              <a:latin typeface="Arial"/>
              <a:ea typeface="ＭＳ Ｐゴシック"/>
              <a:cs typeface="Arial"/>
            </a:endParaRPr>
          </a:p>
          <a:p>
            <a:pPr defTabSz="457189">
              <a:buFont typeface="Arial" panose="020B0604020202020204" pitchFamily="34" charset="0"/>
              <a:buChar char="•"/>
              <a:defRPr/>
            </a:pPr>
            <a:endParaRPr lang="en-US" sz="900" dirty="0">
              <a:ea typeface="ＭＳ Ｐゴシック"/>
              <a:cs typeface="Arial"/>
            </a:endParaRPr>
          </a:p>
          <a:p>
            <a:pPr defTabSz="457189">
              <a:buFont typeface="Arial" panose="020B0604020202020204" pitchFamily="34" charset="0"/>
              <a:buChar char="•"/>
              <a:defRPr/>
            </a:pPr>
            <a:endParaRPr lang="en-CA" dirty="0">
              <a:cs typeface="Arial" charset="0"/>
            </a:endParaRPr>
          </a:p>
          <a:p>
            <a:pPr marL="171450" indent="-171450" defTabSz="457189">
              <a:spcBef>
                <a:spcPct val="0"/>
              </a:spcBef>
              <a:spcAft>
                <a:spcPts val="200"/>
              </a:spcAft>
              <a:buClr>
                <a:srgbClr val="132E57"/>
              </a:buClr>
              <a:buSzPct val="150000"/>
              <a:buFont typeface="Arial" panose="020B0604020202020204" pitchFamily="34" charset="0"/>
              <a:buChar char="•"/>
              <a:defRPr/>
            </a:pPr>
            <a:endParaRPr lang="en-CA" sz="900" dirty="0">
              <a:solidFill>
                <a:srgbClr val="000000"/>
              </a:solidFill>
              <a:ea typeface="ＭＳ Ｐゴシック" pitchFamily="34" charset="-128"/>
              <a:cs typeface="Helvetica" panose="020B0604020202020204" pitchFamily="34" charset="0"/>
            </a:endParaRPr>
          </a:p>
        </p:txBody>
      </p:sp>
      <p:sp>
        <p:nvSpPr>
          <p:cNvPr id="12" name="TextBox 11">
            <a:extLst>
              <a:ext uri="{FF2B5EF4-FFF2-40B4-BE49-F238E27FC236}">
                <a16:creationId xmlns:a16="http://schemas.microsoft.com/office/drawing/2014/main" id="{E44012A4-EF46-FF3E-7EA5-8D324EC7748B}"/>
              </a:ext>
            </a:extLst>
          </p:cNvPr>
          <p:cNvSpPr txBox="1"/>
          <p:nvPr/>
        </p:nvSpPr>
        <p:spPr>
          <a:xfrm>
            <a:off x="1" y="1265746"/>
            <a:ext cx="4225308" cy="261610"/>
          </a:xfrm>
          <a:prstGeom prst="rect">
            <a:avLst/>
          </a:prstGeom>
          <a:solidFill>
            <a:srgbClr val="113D63"/>
          </a:solidFill>
        </p:spPr>
        <p:txBody>
          <a:bodyPr wrap="square" rtlCol="0">
            <a:spAutoFit/>
          </a:bodyPr>
          <a:lstStyle/>
          <a:p>
            <a:r>
              <a:rPr lang="en-US" sz="1100" b="1">
                <a:solidFill>
                  <a:schemeClr val="bg1"/>
                </a:solidFill>
              </a:rPr>
              <a:t>Stock Price Performance</a:t>
            </a:r>
            <a:endParaRPr lang="en-CA" sz="1100" b="1">
              <a:solidFill>
                <a:schemeClr val="bg1"/>
              </a:solidFill>
            </a:endParaRPr>
          </a:p>
        </p:txBody>
      </p:sp>
      <p:sp>
        <p:nvSpPr>
          <p:cNvPr id="13" name="TextBox 12">
            <a:extLst>
              <a:ext uri="{FF2B5EF4-FFF2-40B4-BE49-F238E27FC236}">
                <a16:creationId xmlns:a16="http://schemas.microsoft.com/office/drawing/2014/main" id="{8B1D2D56-BCD2-11AA-4296-36EC5EEE9140}"/>
              </a:ext>
            </a:extLst>
          </p:cNvPr>
          <p:cNvSpPr txBox="1"/>
          <p:nvPr/>
        </p:nvSpPr>
        <p:spPr>
          <a:xfrm>
            <a:off x="4920284" y="1265746"/>
            <a:ext cx="3861579" cy="261610"/>
          </a:xfrm>
          <a:prstGeom prst="rect">
            <a:avLst/>
          </a:prstGeom>
          <a:solidFill>
            <a:srgbClr val="113D63"/>
          </a:solidFill>
        </p:spPr>
        <p:txBody>
          <a:bodyPr wrap="square" rtlCol="0">
            <a:spAutoFit/>
          </a:bodyPr>
          <a:lstStyle/>
          <a:p>
            <a:r>
              <a:rPr lang="en-US" sz="1100" b="1" dirty="0">
                <a:solidFill>
                  <a:schemeClr val="bg1"/>
                </a:solidFill>
              </a:rPr>
              <a:t>Valuation Football Field </a:t>
            </a:r>
            <a:endParaRPr lang="en-CA" sz="1100" b="1" dirty="0">
              <a:solidFill>
                <a:schemeClr val="bg1"/>
              </a:solidFill>
            </a:endParaRPr>
          </a:p>
        </p:txBody>
      </p:sp>
      <p:pic>
        <p:nvPicPr>
          <p:cNvPr id="6" name="Image 5" descr="Une image contenant texte, diagramme, Tracé, ligne&#10;&#10;Description générée automatiquement">
            <a:extLst>
              <a:ext uri="{FF2B5EF4-FFF2-40B4-BE49-F238E27FC236}">
                <a16:creationId xmlns:a16="http://schemas.microsoft.com/office/drawing/2014/main" id="{11485B02-7436-38F1-BEE3-2C1F99FF15E8}"/>
              </a:ext>
            </a:extLst>
          </p:cNvPr>
          <p:cNvPicPr>
            <a:picLocks noChangeAspect="1"/>
          </p:cNvPicPr>
          <p:nvPr/>
        </p:nvPicPr>
        <p:blipFill rotWithShape="1">
          <a:blip r:embed="rId3"/>
          <a:srcRect l="173" t="-172" b="3292"/>
          <a:stretch/>
        </p:blipFill>
        <p:spPr>
          <a:xfrm>
            <a:off x="79375" y="4087812"/>
            <a:ext cx="4564078" cy="1933395"/>
          </a:xfrm>
          <a:prstGeom prst="rect">
            <a:avLst/>
          </a:prstGeom>
        </p:spPr>
      </p:pic>
      <p:sp>
        <p:nvSpPr>
          <p:cNvPr id="25" name="TextBox 24">
            <a:extLst>
              <a:ext uri="{FF2B5EF4-FFF2-40B4-BE49-F238E27FC236}">
                <a16:creationId xmlns:a16="http://schemas.microsoft.com/office/drawing/2014/main" id="{BB52C938-E2C8-2D04-98A4-9E3A72734967}"/>
              </a:ext>
            </a:extLst>
          </p:cNvPr>
          <p:cNvSpPr txBox="1"/>
          <p:nvPr/>
        </p:nvSpPr>
        <p:spPr>
          <a:xfrm>
            <a:off x="8073388" y="3454349"/>
            <a:ext cx="825770" cy="230832"/>
          </a:xfrm>
          <a:prstGeom prst="rect">
            <a:avLst/>
          </a:prstGeom>
          <a:noFill/>
        </p:spPr>
        <p:txBody>
          <a:bodyPr wrap="square" rtlCol="0">
            <a:spAutoFit/>
          </a:bodyPr>
          <a:lstStyle/>
          <a:p>
            <a:r>
              <a:rPr lang="en-US" sz="900" b="1" dirty="0"/>
              <a:t>$140</a:t>
            </a:r>
          </a:p>
        </p:txBody>
      </p:sp>
      <p:sp>
        <p:nvSpPr>
          <p:cNvPr id="26" name="TextBox 25">
            <a:extLst>
              <a:ext uri="{FF2B5EF4-FFF2-40B4-BE49-F238E27FC236}">
                <a16:creationId xmlns:a16="http://schemas.microsoft.com/office/drawing/2014/main" id="{9DC5537E-991D-F946-A487-126289B52120}"/>
              </a:ext>
            </a:extLst>
          </p:cNvPr>
          <p:cNvSpPr txBox="1"/>
          <p:nvPr/>
        </p:nvSpPr>
        <p:spPr>
          <a:xfrm>
            <a:off x="8087139" y="2080186"/>
            <a:ext cx="825770" cy="230832"/>
          </a:xfrm>
          <a:prstGeom prst="rect">
            <a:avLst/>
          </a:prstGeom>
          <a:noFill/>
        </p:spPr>
        <p:txBody>
          <a:bodyPr wrap="square" rtlCol="0">
            <a:spAutoFit/>
          </a:bodyPr>
          <a:lstStyle/>
          <a:p>
            <a:r>
              <a:rPr lang="en-US" sz="900" b="1" dirty="0"/>
              <a:t>$300</a:t>
            </a:r>
          </a:p>
        </p:txBody>
      </p:sp>
      <p:sp>
        <p:nvSpPr>
          <p:cNvPr id="27" name="TextBox 26">
            <a:extLst>
              <a:ext uri="{FF2B5EF4-FFF2-40B4-BE49-F238E27FC236}">
                <a16:creationId xmlns:a16="http://schemas.microsoft.com/office/drawing/2014/main" id="{94187E98-288F-46B9-69AB-B5C91726FF36}"/>
              </a:ext>
            </a:extLst>
          </p:cNvPr>
          <p:cNvSpPr txBox="1"/>
          <p:nvPr/>
        </p:nvSpPr>
        <p:spPr>
          <a:xfrm>
            <a:off x="7416317" y="2331129"/>
            <a:ext cx="825770" cy="230832"/>
          </a:xfrm>
          <a:prstGeom prst="rect">
            <a:avLst/>
          </a:prstGeom>
          <a:noFill/>
        </p:spPr>
        <p:txBody>
          <a:bodyPr wrap="square" rtlCol="0">
            <a:spAutoFit/>
          </a:bodyPr>
          <a:lstStyle/>
          <a:p>
            <a:r>
              <a:rPr lang="en-US" sz="900" b="1" dirty="0"/>
              <a:t>$268</a:t>
            </a:r>
          </a:p>
        </p:txBody>
      </p:sp>
      <p:sp>
        <p:nvSpPr>
          <p:cNvPr id="28" name="TextBox 27">
            <a:extLst>
              <a:ext uri="{FF2B5EF4-FFF2-40B4-BE49-F238E27FC236}">
                <a16:creationId xmlns:a16="http://schemas.microsoft.com/office/drawing/2014/main" id="{4B154312-E4E5-1631-9305-21B0B6791932}"/>
              </a:ext>
            </a:extLst>
          </p:cNvPr>
          <p:cNvSpPr txBox="1"/>
          <p:nvPr/>
        </p:nvSpPr>
        <p:spPr>
          <a:xfrm>
            <a:off x="7404088" y="3313584"/>
            <a:ext cx="825770" cy="230832"/>
          </a:xfrm>
          <a:prstGeom prst="rect">
            <a:avLst/>
          </a:prstGeom>
          <a:noFill/>
        </p:spPr>
        <p:txBody>
          <a:bodyPr wrap="square" rtlCol="0">
            <a:spAutoFit/>
          </a:bodyPr>
          <a:lstStyle/>
          <a:p>
            <a:r>
              <a:rPr lang="en-US" sz="900" b="1" dirty="0"/>
              <a:t>$160</a:t>
            </a:r>
          </a:p>
        </p:txBody>
      </p:sp>
      <p:sp>
        <p:nvSpPr>
          <p:cNvPr id="29" name="TextBox 28">
            <a:extLst>
              <a:ext uri="{FF2B5EF4-FFF2-40B4-BE49-F238E27FC236}">
                <a16:creationId xmlns:a16="http://schemas.microsoft.com/office/drawing/2014/main" id="{C57C2ADB-EEBC-12D0-3E71-A955051F83A9}"/>
              </a:ext>
            </a:extLst>
          </p:cNvPr>
          <p:cNvSpPr txBox="1"/>
          <p:nvPr/>
        </p:nvSpPr>
        <p:spPr>
          <a:xfrm>
            <a:off x="6757319" y="2858929"/>
            <a:ext cx="825770" cy="230832"/>
          </a:xfrm>
          <a:prstGeom prst="rect">
            <a:avLst/>
          </a:prstGeom>
          <a:noFill/>
        </p:spPr>
        <p:txBody>
          <a:bodyPr wrap="square" rtlCol="0">
            <a:spAutoFit/>
          </a:bodyPr>
          <a:lstStyle/>
          <a:p>
            <a:r>
              <a:rPr lang="en-US" sz="900" b="1" dirty="0"/>
              <a:t>$221</a:t>
            </a:r>
          </a:p>
        </p:txBody>
      </p:sp>
      <p:sp>
        <p:nvSpPr>
          <p:cNvPr id="30" name="TextBox 29">
            <a:extLst>
              <a:ext uri="{FF2B5EF4-FFF2-40B4-BE49-F238E27FC236}">
                <a16:creationId xmlns:a16="http://schemas.microsoft.com/office/drawing/2014/main" id="{45B86103-620D-9926-A4AA-D5DEB0CEAA1F}"/>
              </a:ext>
            </a:extLst>
          </p:cNvPr>
          <p:cNvSpPr txBox="1"/>
          <p:nvPr/>
        </p:nvSpPr>
        <p:spPr>
          <a:xfrm>
            <a:off x="6751876" y="2472171"/>
            <a:ext cx="825770" cy="230832"/>
          </a:xfrm>
          <a:prstGeom prst="rect">
            <a:avLst/>
          </a:prstGeom>
          <a:noFill/>
        </p:spPr>
        <p:txBody>
          <a:bodyPr wrap="square" rtlCol="0">
            <a:spAutoFit/>
          </a:bodyPr>
          <a:lstStyle/>
          <a:p>
            <a:r>
              <a:rPr lang="en-US" sz="900" b="1" dirty="0"/>
              <a:t>$247</a:t>
            </a:r>
          </a:p>
        </p:txBody>
      </p:sp>
      <p:sp>
        <p:nvSpPr>
          <p:cNvPr id="31" name="TextBox 30">
            <a:extLst>
              <a:ext uri="{FF2B5EF4-FFF2-40B4-BE49-F238E27FC236}">
                <a16:creationId xmlns:a16="http://schemas.microsoft.com/office/drawing/2014/main" id="{E50037C1-963F-6165-225D-8D1FC23D2352}"/>
              </a:ext>
            </a:extLst>
          </p:cNvPr>
          <p:cNvSpPr txBox="1"/>
          <p:nvPr/>
        </p:nvSpPr>
        <p:spPr>
          <a:xfrm>
            <a:off x="6066213" y="2349427"/>
            <a:ext cx="825770" cy="230832"/>
          </a:xfrm>
          <a:prstGeom prst="rect">
            <a:avLst/>
          </a:prstGeom>
          <a:noFill/>
        </p:spPr>
        <p:txBody>
          <a:bodyPr wrap="square" rtlCol="0">
            <a:spAutoFit/>
          </a:bodyPr>
          <a:lstStyle/>
          <a:p>
            <a:r>
              <a:rPr lang="en-US" sz="900" b="1" dirty="0"/>
              <a:t>$264</a:t>
            </a:r>
          </a:p>
        </p:txBody>
      </p:sp>
      <p:sp>
        <p:nvSpPr>
          <p:cNvPr id="32" name="TextBox 31">
            <a:extLst>
              <a:ext uri="{FF2B5EF4-FFF2-40B4-BE49-F238E27FC236}">
                <a16:creationId xmlns:a16="http://schemas.microsoft.com/office/drawing/2014/main" id="{2BB30410-CCB8-EFA2-EACA-B40B317E9205}"/>
              </a:ext>
            </a:extLst>
          </p:cNvPr>
          <p:cNvSpPr txBox="1"/>
          <p:nvPr/>
        </p:nvSpPr>
        <p:spPr>
          <a:xfrm>
            <a:off x="6066332" y="2779581"/>
            <a:ext cx="825770" cy="230832"/>
          </a:xfrm>
          <a:prstGeom prst="rect">
            <a:avLst/>
          </a:prstGeom>
          <a:noFill/>
        </p:spPr>
        <p:txBody>
          <a:bodyPr wrap="square" rtlCol="0">
            <a:spAutoFit/>
          </a:bodyPr>
          <a:lstStyle/>
          <a:p>
            <a:r>
              <a:rPr lang="en-US" sz="900" b="1" dirty="0"/>
              <a:t>$231</a:t>
            </a:r>
          </a:p>
        </p:txBody>
      </p:sp>
      <p:sp>
        <p:nvSpPr>
          <p:cNvPr id="33" name="TextBox 32">
            <a:extLst>
              <a:ext uri="{FF2B5EF4-FFF2-40B4-BE49-F238E27FC236}">
                <a16:creationId xmlns:a16="http://schemas.microsoft.com/office/drawing/2014/main" id="{7B92BFEB-32CC-784D-C5B5-C091E720FDF2}"/>
              </a:ext>
            </a:extLst>
          </p:cNvPr>
          <p:cNvSpPr txBox="1"/>
          <p:nvPr/>
        </p:nvSpPr>
        <p:spPr>
          <a:xfrm>
            <a:off x="5390396" y="3339858"/>
            <a:ext cx="825770" cy="230832"/>
          </a:xfrm>
          <a:prstGeom prst="rect">
            <a:avLst/>
          </a:prstGeom>
          <a:noFill/>
        </p:spPr>
        <p:txBody>
          <a:bodyPr wrap="square" rtlCol="0">
            <a:spAutoFit/>
          </a:bodyPr>
          <a:lstStyle/>
          <a:p>
            <a:r>
              <a:rPr lang="en-US" sz="900" b="1" dirty="0"/>
              <a:t>$159</a:t>
            </a:r>
          </a:p>
        </p:txBody>
      </p:sp>
      <p:sp>
        <p:nvSpPr>
          <p:cNvPr id="34" name="TextBox 33">
            <a:extLst>
              <a:ext uri="{FF2B5EF4-FFF2-40B4-BE49-F238E27FC236}">
                <a16:creationId xmlns:a16="http://schemas.microsoft.com/office/drawing/2014/main" id="{ED8D5AC0-7A42-0C66-960E-BE0EC9A0396B}"/>
              </a:ext>
            </a:extLst>
          </p:cNvPr>
          <p:cNvSpPr txBox="1"/>
          <p:nvPr/>
        </p:nvSpPr>
        <p:spPr>
          <a:xfrm>
            <a:off x="5390396" y="1716293"/>
            <a:ext cx="825770" cy="230832"/>
          </a:xfrm>
          <a:prstGeom prst="rect">
            <a:avLst/>
          </a:prstGeom>
          <a:noFill/>
        </p:spPr>
        <p:txBody>
          <a:bodyPr wrap="square" rtlCol="0">
            <a:spAutoFit/>
          </a:bodyPr>
          <a:lstStyle/>
          <a:p>
            <a:r>
              <a:rPr lang="en-US" sz="900" b="1" dirty="0"/>
              <a:t>$349</a:t>
            </a:r>
          </a:p>
        </p:txBody>
      </p:sp>
    </p:spTree>
    <p:extLst>
      <p:ext uri="{BB962C8B-B14F-4D97-AF65-F5344CB8AC3E}">
        <p14:creationId xmlns:p14="http://schemas.microsoft.com/office/powerpoint/2010/main" val="1487048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DB5AE6F-DBEE-3268-5BB6-DC44C6C0D91E}"/>
              </a:ext>
            </a:extLst>
          </p:cNvPr>
          <p:cNvSpPr>
            <a:spLocks noGrp="1"/>
          </p:cNvSpPr>
          <p:nvPr/>
        </p:nvSpPr>
        <p:spPr>
          <a:xfrm>
            <a:off x="0" y="396096"/>
            <a:ext cx="4114261"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dirty="0">
                <a:solidFill>
                  <a:srgbClr val="333F44"/>
                </a:solidFill>
              </a:rPr>
              <a:t>Comparables Analysis</a:t>
            </a:r>
          </a:p>
        </p:txBody>
      </p:sp>
      <p:sp>
        <p:nvSpPr>
          <p:cNvPr id="2" name="Rectangle 1">
            <a:extLst>
              <a:ext uri="{FF2B5EF4-FFF2-40B4-BE49-F238E27FC236}">
                <a16:creationId xmlns:a16="http://schemas.microsoft.com/office/drawing/2014/main" id="{09CC0F17-4271-1563-ADD4-884B48F0A76E}"/>
              </a:ext>
            </a:extLst>
          </p:cNvPr>
          <p:cNvSpPr>
            <a:spLocks noChangeArrowheads="1"/>
          </p:cNvSpPr>
          <p:nvPr/>
        </p:nvSpPr>
        <p:spPr bwMode="auto">
          <a:xfrm>
            <a:off x="0" y="1556835"/>
            <a:ext cx="9144000" cy="113107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66673" lvl="1" algn="just" fontAlgn="base">
              <a:spcBef>
                <a:spcPct val="0"/>
              </a:spcBef>
              <a:spcAft>
                <a:spcPts val="300"/>
              </a:spcAft>
              <a:buClr>
                <a:srgbClr val="132E57"/>
              </a:buClr>
              <a:buSzPct val="150000"/>
              <a:defRPr/>
            </a:pPr>
            <a:r>
              <a:rPr lang="en-GB" sz="1000" dirty="0">
                <a:solidFill>
                  <a:srgbClr val="000000"/>
                </a:solidFill>
                <a:latin typeface="Arial" panose="020B0604020202020204" pitchFamily="34" charset="0"/>
                <a:ea typeface="MS PGothic"/>
                <a:cs typeface="Arial" panose="020B0604020202020204" pitchFamily="34" charset="0"/>
              </a:rPr>
              <a:t>These companies operate in the aerospace and defence sector, making them direct competitors or collaborators with Boeing.</a:t>
            </a:r>
          </a:p>
          <a:p>
            <a:pPr marL="238123" lvl="1" indent="-171450" algn="just" fontAlgn="base">
              <a:spcBef>
                <a:spcPct val="0"/>
              </a:spcBef>
              <a:spcAft>
                <a:spcPts val="300"/>
              </a:spcAft>
              <a:buClr>
                <a:srgbClr val="132E57"/>
              </a:buClr>
              <a:buSzPct val="150000"/>
              <a:buFontTx/>
              <a:buChar char="-"/>
              <a:defRPr/>
            </a:pPr>
            <a:r>
              <a:rPr lang="en-GB" sz="1000" b="1" dirty="0">
                <a:solidFill>
                  <a:srgbClr val="000000"/>
                </a:solidFill>
                <a:latin typeface="Arial" panose="020B0604020202020204" pitchFamily="34" charset="0"/>
                <a:ea typeface="MS PGothic"/>
                <a:cs typeface="Arial" panose="020B0604020202020204" pitchFamily="34" charset="0"/>
              </a:rPr>
              <a:t>Key Similarities and Differences: </a:t>
            </a:r>
            <a:r>
              <a:rPr lang="en-GB" sz="1000" dirty="0">
                <a:solidFill>
                  <a:srgbClr val="000000"/>
                </a:solidFill>
                <a:latin typeface="Arial" panose="020B0604020202020204" pitchFamily="34" charset="0"/>
                <a:ea typeface="MS PGothic"/>
                <a:cs typeface="Arial" panose="020B0604020202020204" pitchFamily="34" charset="0"/>
              </a:rPr>
              <a:t>All focus on aerospace/defence manufacturing and rely on government contracts. Companies like General Electric have more diversified portfolios, while TransDigm specializes in aerospace components, contrasting with Boeing's comprehensive aircraft manufacturing.</a:t>
            </a:r>
          </a:p>
          <a:p>
            <a:pPr marL="238123" lvl="1" indent="-171450" algn="just" fontAlgn="base">
              <a:spcBef>
                <a:spcPct val="0"/>
              </a:spcBef>
              <a:spcAft>
                <a:spcPts val="300"/>
              </a:spcAft>
              <a:buClr>
                <a:srgbClr val="132E57"/>
              </a:buClr>
              <a:buSzPct val="150000"/>
              <a:buFontTx/>
              <a:buChar char="-"/>
              <a:defRPr/>
            </a:pPr>
            <a:r>
              <a:rPr lang="en-GB" sz="1000" b="1" dirty="0">
                <a:solidFill>
                  <a:srgbClr val="000000"/>
                </a:solidFill>
                <a:latin typeface="Arial" panose="020B0604020202020204" pitchFamily="34" charset="0"/>
                <a:ea typeface="MS PGothic"/>
                <a:cs typeface="Arial" panose="020B0604020202020204" pitchFamily="34" charset="0"/>
              </a:rPr>
              <a:t>Boeing</a:t>
            </a:r>
            <a:r>
              <a:rPr lang="en-GB" sz="1000" dirty="0">
                <a:solidFill>
                  <a:srgbClr val="000000"/>
                </a:solidFill>
                <a:latin typeface="Arial" panose="020B0604020202020204" pitchFamily="34" charset="0"/>
                <a:ea typeface="MS PGothic"/>
                <a:cs typeface="Arial" panose="020B0604020202020204" pitchFamily="34" charset="0"/>
              </a:rPr>
              <a:t> can enhance safety measures and diversify technology to regain market trust and strengthen competitiveness against industry leaders like Lockheed  </a:t>
            </a:r>
          </a:p>
          <a:p>
            <a:pPr marL="66673" lvl="1" algn="just" fontAlgn="base">
              <a:spcBef>
                <a:spcPct val="0"/>
              </a:spcBef>
              <a:spcAft>
                <a:spcPts val="300"/>
              </a:spcAft>
              <a:buClr>
                <a:srgbClr val="132E57"/>
              </a:buClr>
              <a:buSzPct val="150000"/>
              <a:defRPr/>
            </a:pPr>
            <a:r>
              <a:rPr lang="en-GB" sz="1000" dirty="0">
                <a:solidFill>
                  <a:srgbClr val="000000"/>
                </a:solidFill>
                <a:latin typeface="Arial" panose="020B0604020202020204" pitchFamily="34" charset="0"/>
                <a:ea typeface="MS PGothic"/>
                <a:cs typeface="Arial" panose="020B0604020202020204" pitchFamily="34" charset="0"/>
              </a:rPr>
              <a:t>Martin.</a:t>
            </a:r>
            <a:endParaRPr lang="en-US" sz="1000" dirty="0">
              <a:solidFill>
                <a:srgbClr val="000000"/>
              </a:solidFill>
              <a:latin typeface="Arial" panose="020B0604020202020204" pitchFamily="34" charset="0"/>
              <a:ea typeface="MS PGothic"/>
              <a:cs typeface="Arial" panose="020B0604020202020204" pitchFamily="34" charset="0"/>
            </a:endParaRPr>
          </a:p>
        </p:txBody>
      </p:sp>
      <p:sp>
        <p:nvSpPr>
          <p:cNvPr id="3" name="TextBox 2">
            <a:extLst>
              <a:ext uri="{FF2B5EF4-FFF2-40B4-BE49-F238E27FC236}">
                <a16:creationId xmlns:a16="http://schemas.microsoft.com/office/drawing/2014/main" id="{85255DEB-F4C8-7D9B-471A-1C2793533540}"/>
              </a:ext>
            </a:extLst>
          </p:cNvPr>
          <p:cNvSpPr txBox="1"/>
          <p:nvPr/>
        </p:nvSpPr>
        <p:spPr>
          <a:xfrm>
            <a:off x="-1200" y="1294121"/>
            <a:ext cx="9144000" cy="261610"/>
          </a:xfrm>
          <a:prstGeom prst="rect">
            <a:avLst/>
          </a:prstGeom>
          <a:solidFill>
            <a:srgbClr val="113D63"/>
          </a:solidFill>
        </p:spPr>
        <p:txBody>
          <a:bodyPr wrap="square" rtlCol="0">
            <a:spAutoFit/>
          </a:bodyPr>
          <a:lstStyle/>
          <a:p>
            <a:r>
              <a:rPr lang="en-US" sz="1100" b="1" dirty="0">
                <a:solidFill>
                  <a:schemeClr val="bg1"/>
                </a:solidFill>
                <a:latin typeface="Arial" panose="020B0604020202020204" pitchFamily="34" charset="0"/>
                <a:cs typeface="Arial" panose="020B0604020202020204" pitchFamily="34" charset="0"/>
              </a:rPr>
              <a:t>Comparable Company Rationale</a:t>
            </a:r>
            <a:endParaRPr lang="en-CA" sz="1100" b="1" dirty="0">
              <a:solidFill>
                <a:schemeClr val="bg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BC0C897-9B4C-6D57-2A17-7815A0D2C2B8}"/>
              </a:ext>
            </a:extLst>
          </p:cNvPr>
          <p:cNvSpPr txBox="1"/>
          <p:nvPr/>
        </p:nvSpPr>
        <p:spPr>
          <a:xfrm>
            <a:off x="3879047" y="3490522"/>
            <a:ext cx="1320398" cy="369332"/>
          </a:xfrm>
          <a:prstGeom prst="rect">
            <a:avLst/>
          </a:prstGeom>
          <a:noFill/>
        </p:spPr>
        <p:txBody>
          <a:bodyPr wrap="square">
            <a:spAutoFit/>
          </a:bodyPr>
          <a:lstStyle/>
          <a:p>
            <a:r>
              <a:rPr lang="es-PE" b="1" dirty="0">
                <a:solidFill>
                  <a:srgbClr val="C00000"/>
                </a:solidFill>
                <a:latin typeface="Arial" panose="020B0604020202020204" pitchFamily="34" charset="0"/>
                <a:cs typeface="Arial" panose="020B0604020202020204" pitchFamily="34" charset="0"/>
              </a:rPr>
              <a:t>EXAMPLE</a:t>
            </a:r>
            <a:endParaRPr lang="en-GB" b="1" dirty="0">
              <a:solidFill>
                <a:srgbClr val="C00000"/>
              </a:solidFill>
              <a:latin typeface="Arial" panose="020B0604020202020204" pitchFamily="34" charset="0"/>
              <a:cs typeface="Arial" panose="020B0604020202020204" pitchFamily="34" charset="0"/>
            </a:endParaRPr>
          </a:p>
        </p:txBody>
      </p:sp>
      <p:grpSp>
        <p:nvGrpSpPr>
          <p:cNvPr id="7" name="Group 4">
            <a:extLst>
              <a:ext uri="{FF2B5EF4-FFF2-40B4-BE49-F238E27FC236}">
                <a16:creationId xmlns:a16="http://schemas.microsoft.com/office/drawing/2014/main" id="{CC55C9A7-17E1-6C47-0EEA-9CA86E89CCFD}"/>
              </a:ext>
            </a:extLst>
          </p:cNvPr>
          <p:cNvGrpSpPr>
            <a:grpSpLocks noChangeAspect="1"/>
          </p:cNvGrpSpPr>
          <p:nvPr/>
        </p:nvGrpSpPr>
        <p:grpSpPr bwMode="auto">
          <a:xfrm>
            <a:off x="0" y="2514722"/>
            <a:ext cx="9144000" cy="3219450"/>
            <a:chOff x="0" y="1589"/>
            <a:chExt cx="5760" cy="2028"/>
          </a:xfrm>
        </p:grpSpPr>
        <p:sp>
          <p:nvSpPr>
            <p:cNvPr id="8" name="AutoShape 3">
              <a:extLst>
                <a:ext uri="{FF2B5EF4-FFF2-40B4-BE49-F238E27FC236}">
                  <a16:creationId xmlns:a16="http://schemas.microsoft.com/office/drawing/2014/main" id="{F2470B66-5A51-0CF5-4EB4-25B380897784}"/>
                </a:ext>
              </a:extLst>
            </p:cNvPr>
            <p:cNvSpPr>
              <a:spLocks noChangeAspect="1" noChangeArrowheads="1" noTextEdit="1"/>
            </p:cNvSpPr>
            <p:nvPr/>
          </p:nvSpPr>
          <p:spPr bwMode="auto">
            <a:xfrm>
              <a:off x="0" y="1589"/>
              <a:ext cx="5760" cy="2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nvGrpSpPr>
            <p:cNvPr id="9" name="Group 205">
              <a:extLst>
                <a:ext uri="{FF2B5EF4-FFF2-40B4-BE49-F238E27FC236}">
                  <a16:creationId xmlns:a16="http://schemas.microsoft.com/office/drawing/2014/main" id="{D91D0B03-F14C-C815-AD08-E97BEE810BF8}"/>
                </a:ext>
              </a:extLst>
            </p:cNvPr>
            <p:cNvGrpSpPr>
              <a:grpSpLocks/>
            </p:cNvGrpSpPr>
            <p:nvPr/>
          </p:nvGrpSpPr>
          <p:grpSpPr bwMode="auto">
            <a:xfrm>
              <a:off x="0" y="1589"/>
              <a:ext cx="5760" cy="2028"/>
              <a:chOff x="0" y="1589"/>
              <a:chExt cx="5760" cy="2028"/>
            </a:xfrm>
          </p:grpSpPr>
          <p:sp>
            <p:nvSpPr>
              <p:cNvPr id="78" name="Rectangle 5">
                <a:extLst>
                  <a:ext uri="{FF2B5EF4-FFF2-40B4-BE49-F238E27FC236}">
                    <a16:creationId xmlns:a16="http://schemas.microsoft.com/office/drawing/2014/main" id="{DCC2D326-1022-90B5-D579-2D0BF3FE453A}"/>
                  </a:ext>
                </a:extLst>
              </p:cNvPr>
              <p:cNvSpPr>
                <a:spLocks noChangeArrowheads="1"/>
              </p:cNvSpPr>
              <p:nvPr/>
            </p:nvSpPr>
            <p:spPr bwMode="auto">
              <a:xfrm>
                <a:off x="0" y="1589"/>
                <a:ext cx="5760" cy="249"/>
              </a:xfrm>
              <a:prstGeom prst="rect">
                <a:avLst/>
              </a:prstGeom>
              <a:solidFill>
                <a:srgbClr val="113D6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bg1"/>
                  </a:solidFill>
                  <a:latin typeface="Arial" panose="020B0604020202020204" pitchFamily="34" charset="0"/>
                  <a:cs typeface="Arial" panose="020B0604020202020204" pitchFamily="34" charset="0"/>
                </a:endParaRPr>
              </a:p>
            </p:txBody>
          </p:sp>
          <p:sp>
            <p:nvSpPr>
              <p:cNvPr id="79" name="Rectangle 6">
                <a:extLst>
                  <a:ext uri="{FF2B5EF4-FFF2-40B4-BE49-F238E27FC236}">
                    <a16:creationId xmlns:a16="http://schemas.microsoft.com/office/drawing/2014/main" id="{2963F1A1-B6B2-9992-B2F4-11B53F1EAFCB}"/>
                  </a:ext>
                </a:extLst>
              </p:cNvPr>
              <p:cNvSpPr>
                <a:spLocks noChangeArrowheads="1"/>
              </p:cNvSpPr>
              <p:nvPr/>
            </p:nvSpPr>
            <p:spPr bwMode="auto">
              <a:xfrm>
                <a:off x="0" y="1872"/>
                <a:ext cx="5760" cy="1074"/>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latin typeface="Arial" panose="020B0604020202020204" pitchFamily="34" charset="0"/>
                  <a:cs typeface="Arial" panose="020B0604020202020204" pitchFamily="34" charset="0"/>
                </a:endParaRPr>
              </a:p>
            </p:txBody>
          </p:sp>
          <p:sp>
            <p:nvSpPr>
              <p:cNvPr id="80" name="Rectangle 7">
                <a:extLst>
                  <a:ext uri="{FF2B5EF4-FFF2-40B4-BE49-F238E27FC236}">
                    <a16:creationId xmlns:a16="http://schemas.microsoft.com/office/drawing/2014/main" id="{C9F5C550-0C37-ABB8-34E8-ADD457E1F23B}"/>
                  </a:ext>
                </a:extLst>
              </p:cNvPr>
              <p:cNvSpPr>
                <a:spLocks noChangeArrowheads="1"/>
              </p:cNvSpPr>
              <p:nvPr/>
            </p:nvSpPr>
            <p:spPr bwMode="auto">
              <a:xfrm>
                <a:off x="0" y="2980"/>
                <a:ext cx="5760" cy="124"/>
              </a:xfrm>
              <a:prstGeom prst="rect">
                <a:avLst/>
              </a:prstGeom>
              <a:solidFill>
                <a:srgbClr val="ED942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81" name="Rectangle 8">
                <a:extLst>
                  <a:ext uri="{FF2B5EF4-FFF2-40B4-BE49-F238E27FC236}">
                    <a16:creationId xmlns:a16="http://schemas.microsoft.com/office/drawing/2014/main" id="{40C139FD-5F7F-4776-3493-B713FBBA4143}"/>
                  </a:ext>
                </a:extLst>
              </p:cNvPr>
              <p:cNvSpPr>
                <a:spLocks noChangeArrowheads="1"/>
              </p:cNvSpPr>
              <p:nvPr/>
            </p:nvSpPr>
            <p:spPr bwMode="auto">
              <a:xfrm>
                <a:off x="0" y="3138"/>
                <a:ext cx="5760" cy="479"/>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dirty="0">
                  <a:latin typeface="Arial" panose="020B0604020202020204" pitchFamily="34" charset="0"/>
                  <a:cs typeface="Arial" panose="020B0604020202020204" pitchFamily="34" charset="0"/>
                </a:endParaRPr>
              </a:p>
            </p:txBody>
          </p:sp>
          <p:sp>
            <p:nvSpPr>
              <p:cNvPr id="82" name="Rectangle 9">
                <a:extLst>
                  <a:ext uri="{FF2B5EF4-FFF2-40B4-BE49-F238E27FC236}">
                    <a16:creationId xmlns:a16="http://schemas.microsoft.com/office/drawing/2014/main" id="{D7DFCDE7-3550-6669-931C-383DF6B2B597}"/>
                  </a:ext>
                </a:extLst>
              </p:cNvPr>
              <p:cNvSpPr>
                <a:spLocks noChangeArrowheads="1"/>
              </p:cNvSpPr>
              <p:nvPr/>
            </p:nvSpPr>
            <p:spPr bwMode="auto">
              <a:xfrm>
                <a:off x="9" y="1614"/>
                <a:ext cx="752"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dirty="0">
                    <a:ln>
                      <a:noFill/>
                    </a:ln>
                    <a:solidFill>
                      <a:schemeClr val="bg1"/>
                    </a:solidFill>
                    <a:effectLst/>
                    <a:cs typeface="Arial" panose="020B0604020202020204" pitchFamily="34" charset="0"/>
                  </a:rPr>
                  <a:t>(in millions of U.S. dollars)</a:t>
                </a:r>
                <a:endParaRPr kumimoji="0" lang="en-US" altLang="en-US" sz="2000" b="0" i="0" u="none" strike="noStrike" cap="none" normalizeH="0" baseline="0" dirty="0">
                  <a:ln>
                    <a:noFill/>
                  </a:ln>
                  <a:solidFill>
                    <a:schemeClr val="bg1"/>
                  </a:solidFill>
                  <a:effectLst/>
                  <a:cs typeface="Arial" panose="020B0604020202020204" pitchFamily="34" charset="0"/>
                </a:endParaRPr>
              </a:p>
            </p:txBody>
          </p:sp>
          <p:sp>
            <p:nvSpPr>
              <p:cNvPr id="83" name="Rectangle 10">
                <a:extLst>
                  <a:ext uri="{FF2B5EF4-FFF2-40B4-BE49-F238E27FC236}">
                    <a16:creationId xmlns:a16="http://schemas.microsoft.com/office/drawing/2014/main" id="{0FD89F9A-872E-9C04-ECAA-133A22FE5058}"/>
                  </a:ext>
                </a:extLst>
              </p:cNvPr>
              <p:cNvSpPr>
                <a:spLocks noChangeArrowheads="1"/>
              </p:cNvSpPr>
              <p:nvPr/>
            </p:nvSpPr>
            <p:spPr bwMode="auto">
              <a:xfrm>
                <a:off x="1070" y="1595"/>
                <a:ext cx="21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Stock</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84" name="Rectangle 11">
                <a:extLst>
                  <a:ext uri="{FF2B5EF4-FFF2-40B4-BE49-F238E27FC236}">
                    <a16:creationId xmlns:a16="http://schemas.microsoft.com/office/drawing/2014/main" id="{0258E8C9-81D9-A2DB-37A6-4F1CEF352652}"/>
                  </a:ext>
                </a:extLst>
              </p:cNvPr>
              <p:cNvSpPr>
                <a:spLocks noChangeArrowheads="1"/>
              </p:cNvSpPr>
              <p:nvPr/>
            </p:nvSpPr>
            <p:spPr bwMode="auto">
              <a:xfrm>
                <a:off x="1402" y="1595"/>
                <a:ext cx="24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Equity</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85" name="Rectangle 12">
                <a:extLst>
                  <a:ext uri="{FF2B5EF4-FFF2-40B4-BE49-F238E27FC236}">
                    <a16:creationId xmlns:a16="http://schemas.microsoft.com/office/drawing/2014/main" id="{6848468A-3AD7-F8C2-09BF-9F3992E154AF}"/>
                  </a:ext>
                </a:extLst>
              </p:cNvPr>
              <p:cNvSpPr>
                <a:spLocks noChangeArrowheads="1"/>
              </p:cNvSpPr>
              <p:nvPr/>
            </p:nvSpPr>
            <p:spPr bwMode="auto">
              <a:xfrm>
                <a:off x="1826" y="1595"/>
                <a:ext cx="17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Firm</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86" name="Rectangle 13">
                <a:extLst>
                  <a:ext uri="{FF2B5EF4-FFF2-40B4-BE49-F238E27FC236}">
                    <a16:creationId xmlns:a16="http://schemas.microsoft.com/office/drawing/2014/main" id="{FCCBF79D-81AC-6D58-621A-13EB6FCEE73B}"/>
                  </a:ext>
                </a:extLst>
              </p:cNvPr>
              <p:cNvSpPr>
                <a:spLocks noChangeArrowheads="1"/>
              </p:cNvSpPr>
              <p:nvPr/>
            </p:nvSpPr>
            <p:spPr bwMode="auto">
              <a:xfrm>
                <a:off x="2505" y="1592"/>
                <a:ext cx="55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cs typeface="Arial" panose="020B0604020202020204" pitchFamily="34" charset="0"/>
                  </a:rPr>
                  <a:t>TEV / Revenue</a:t>
                </a:r>
                <a:endParaRPr kumimoji="0" lang="en-US" altLang="en-US" sz="1800" b="0" i="0" u="none" strike="noStrike" cap="none" normalizeH="0" baseline="0" dirty="0">
                  <a:ln>
                    <a:noFill/>
                  </a:ln>
                  <a:solidFill>
                    <a:schemeClr val="bg1"/>
                  </a:solidFill>
                  <a:effectLst/>
                  <a:cs typeface="Arial" panose="020B0604020202020204" pitchFamily="34" charset="0"/>
                </a:endParaRPr>
              </a:p>
            </p:txBody>
          </p:sp>
          <p:sp>
            <p:nvSpPr>
              <p:cNvPr id="87" name="Rectangle 14">
                <a:extLst>
                  <a:ext uri="{FF2B5EF4-FFF2-40B4-BE49-F238E27FC236}">
                    <a16:creationId xmlns:a16="http://schemas.microsoft.com/office/drawing/2014/main" id="{EB4D1540-7052-15FE-C36E-478934E3FA63}"/>
                  </a:ext>
                </a:extLst>
              </p:cNvPr>
              <p:cNvSpPr>
                <a:spLocks noChangeArrowheads="1"/>
              </p:cNvSpPr>
              <p:nvPr/>
            </p:nvSpPr>
            <p:spPr bwMode="auto">
              <a:xfrm>
                <a:off x="2109" y="1702"/>
                <a:ext cx="1197" cy="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88" name="Rectangle 15">
                <a:extLst>
                  <a:ext uri="{FF2B5EF4-FFF2-40B4-BE49-F238E27FC236}">
                    <a16:creationId xmlns:a16="http://schemas.microsoft.com/office/drawing/2014/main" id="{31AE500E-D027-FEB3-BD0A-4A0F7AB72610}"/>
                  </a:ext>
                </a:extLst>
              </p:cNvPr>
              <p:cNvSpPr>
                <a:spLocks noChangeArrowheads="1"/>
              </p:cNvSpPr>
              <p:nvPr/>
            </p:nvSpPr>
            <p:spPr bwMode="auto">
              <a:xfrm>
                <a:off x="3748" y="1592"/>
                <a:ext cx="524"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cs typeface="Arial" panose="020B0604020202020204" pitchFamily="34" charset="0"/>
                  </a:rPr>
                  <a:t>TEV / EBITDA</a:t>
                </a:r>
                <a:endParaRPr kumimoji="0" lang="en-US" altLang="en-US" sz="1800" b="0" i="0" u="none" strike="noStrike" cap="none" normalizeH="0" baseline="0" dirty="0">
                  <a:ln>
                    <a:noFill/>
                  </a:ln>
                  <a:solidFill>
                    <a:schemeClr val="bg1"/>
                  </a:solidFill>
                  <a:effectLst/>
                  <a:cs typeface="Arial" panose="020B0604020202020204" pitchFamily="34" charset="0"/>
                </a:endParaRPr>
              </a:p>
            </p:txBody>
          </p:sp>
          <p:sp>
            <p:nvSpPr>
              <p:cNvPr id="89" name="Rectangle 16">
                <a:extLst>
                  <a:ext uri="{FF2B5EF4-FFF2-40B4-BE49-F238E27FC236}">
                    <a16:creationId xmlns:a16="http://schemas.microsoft.com/office/drawing/2014/main" id="{5E1CA6B5-54FE-E2B9-5BD7-9E2DC36B377A}"/>
                  </a:ext>
                </a:extLst>
              </p:cNvPr>
              <p:cNvSpPr>
                <a:spLocks noChangeArrowheads="1"/>
              </p:cNvSpPr>
              <p:nvPr/>
            </p:nvSpPr>
            <p:spPr bwMode="auto">
              <a:xfrm>
                <a:off x="3330" y="1702"/>
                <a:ext cx="1196" cy="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90" name="Rectangle 17">
                <a:extLst>
                  <a:ext uri="{FF2B5EF4-FFF2-40B4-BE49-F238E27FC236}">
                    <a16:creationId xmlns:a16="http://schemas.microsoft.com/office/drawing/2014/main" id="{046A8FFC-183B-4237-84DE-A35F74267D29}"/>
                  </a:ext>
                </a:extLst>
              </p:cNvPr>
              <p:cNvSpPr>
                <a:spLocks noChangeArrowheads="1"/>
              </p:cNvSpPr>
              <p:nvPr/>
            </p:nvSpPr>
            <p:spPr bwMode="auto">
              <a:xfrm>
                <a:off x="4906" y="1592"/>
                <a:ext cx="60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Price / Earnings</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91" name="Rectangle 18">
                <a:extLst>
                  <a:ext uri="{FF2B5EF4-FFF2-40B4-BE49-F238E27FC236}">
                    <a16:creationId xmlns:a16="http://schemas.microsoft.com/office/drawing/2014/main" id="{C522C472-CB57-E8A0-FFF8-E5D39F0567CA}"/>
                  </a:ext>
                </a:extLst>
              </p:cNvPr>
              <p:cNvSpPr>
                <a:spLocks noChangeArrowheads="1"/>
              </p:cNvSpPr>
              <p:nvPr/>
            </p:nvSpPr>
            <p:spPr bwMode="auto">
              <a:xfrm>
                <a:off x="4550" y="1702"/>
                <a:ext cx="1197" cy="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92" name="Rectangle 19">
                <a:extLst>
                  <a:ext uri="{FF2B5EF4-FFF2-40B4-BE49-F238E27FC236}">
                    <a16:creationId xmlns:a16="http://schemas.microsoft.com/office/drawing/2014/main" id="{B9182BE4-FA94-79EF-9125-88534D96ECCF}"/>
                  </a:ext>
                </a:extLst>
              </p:cNvPr>
              <p:cNvSpPr>
                <a:spLocks noChangeArrowheads="1"/>
              </p:cNvSpPr>
              <p:nvPr/>
            </p:nvSpPr>
            <p:spPr bwMode="auto">
              <a:xfrm>
                <a:off x="104" y="1719"/>
                <a:ext cx="36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cs typeface="Arial" panose="020B0604020202020204" pitchFamily="34" charset="0"/>
                  </a:rPr>
                  <a:t>Company</a:t>
                </a:r>
                <a:endParaRPr kumimoji="0" lang="en-US" altLang="en-US" sz="1800" b="0" i="0" u="none" strike="noStrike" cap="none" normalizeH="0" baseline="0" dirty="0">
                  <a:ln>
                    <a:noFill/>
                  </a:ln>
                  <a:solidFill>
                    <a:schemeClr val="bg1"/>
                  </a:solidFill>
                  <a:effectLst/>
                  <a:cs typeface="Arial" panose="020B0604020202020204" pitchFamily="34" charset="0"/>
                </a:endParaRPr>
              </a:p>
            </p:txBody>
          </p:sp>
          <p:sp>
            <p:nvSpPr>
              <p:cNvPr id="93" name="Rectangle 20">
                <a:extLst>
                  <a:ext uri="{FF2B5EF4-FFF2-40B4-BE49-F238E27FC236}">
                    <a16:creationId xmlns:a16="http://schemas.microsoft.com/office/drawing/2014/main" id="{946F7896-8709-552A-849D-15CBEA9E8F97}"/>
                  </a:ext>
                </a:extLst>
              </p:cNvPr>
              <p:cNvSpPr>
                <a:spLocks noChangeArrowheads="1"/>
              </p:cNvSpPr>
              <p:nvPr/>
            </p:nvSpPr>
            <p:spPr bwMode="auto">
              <a:xfrm>
                <a:off x="639" y="1719"/>
                <a:ext cx="29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cs typeface="Arial" panose="020B0604020202020204" pitchFamily="34" charset="0"/>
                  </a:rPr>
                  <a:t>Symbol</a:t>
                </a:r>
                <a:endParaRPr kumimoji="0" lang="en-US" altLang="en-US" sz="1800" b="0" i="0" u="none" strike="noStrike" cap="none" normalizeH="0" baseline="0" dirty="0">
                  <a:ln>
                    <a:noFill/>
                  </a:ln>
                  <a:solidFill>
                    <a:schemeClr val="bg1"/>
                  </a:solidFill>
                  <a:effectLst/>
                  <a:cs typeface="Arial" panose="020B0604020202020204" pitchFamily="34" charset="0"/>
                </a:endParaRPr>
              </a:p>
            </p:txBody>
          </p:sp>
          <p:sp>
            <p:nvSpPr>
              <p:cNvPr id="94" name="Rectangle 21">
                <a:extLst>
                  <a:ext uri="{FF2B5EF4-FFF2-40B4-BE49-F238E27FC236}">
                    <a16:creationId xmlns:a16="http://schemas.microsoft.com/office/drawing/2014/main" id="{D32A8318-E58D-59AF-5569-79CF0E929E7D}"/>
                  </a:ext>
                </a:extLst>
              </p:cNvPr>
              <p:cNvSpPr>
                <a:spLocks noChangeArrowheads="1"/>
              </p:cNvSpPr>
              <p:nvPr/>
            </p:nvSpPr>
            <p:spPr bwMode="auto">
              <a:xfrm>
                <a:off x="1076" y="1719"/>
                <a:ext cx="1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Price</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95" name="Rectangle 22">
                <a:extLst>
                  <a:ext uri="{FF2B5EF4-FFF2-40B4-BE49-F238E27FC236}">
                    <a16:creationId xmlns:a16="http://schemas.microsoft.com/office/drawing/2014/main" id="{E70DC952-63ED-22E1-53E5-E4115D2863DE}"/>
                  </a:ext>
                </a:extLst>
              </p:cNvPr>
              <p:cNvSpPr>
                <a:spLocks noChangeArrowheads="1"/>
              </p:cNvSpPr>
              <p:nvPr/>
            </p:nvSpPr>
            <p:spPr bwMode="auto">
              <a:xfrm>
                <a:off x="1411" y="1719"/>
                <a:ext cx="214"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Value</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96" name="Rectangle 23">
                <a:extLst>
                  <a:ext uri="{FF2B5EF4-FFF2-40B4-BE49-F238E27FC236}">
                    <a16:creationId xmlns:a16="http://schemas.microsoft.com/office/drawing/2014/main" id="{D1661353-57EB-0FDB-627A-1C24734D9C9B}"/>
                  </a:ext>
                </a:extLst>
              </p:cNvPr>
              <p:cNvSpPr>
                <a:spLocks noChangeArrowheads="1"/>
              </p:cNvSpPr>
              <p:nvPr/>
            </p:nvSpPr>
            <p:spPr bwMode="auto">
              <a:xfrm>
                <a:off x="1811" y="1719"/>
                <a:ext cx="214"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Value</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97" name="Rectangle 24">
                <a:extLst>
                  <a:ext uri="{FF2B5EF4-FFF2-40B4-BE49-F238E27FC236}">
                    <a16:creationId xmlns:a16="http://schemas.microsoft.com/office/drawing/2014/main" id="{3E38A78F-E22B-08CA-3B24-58D6FA2386A8}"/>
                  </a:ext>
                </a:extLst>
              </p:cNvPr>
              <p:cNvSpPr>
                <a:spLocks noChangeArrowheads="1"/>
              </p:cNvSpPr>
              <p:nvPr/>
            </p:nvSpPr>
            <p:spPr bwMode="auto">
              <a:xfrm>
                <a:off x="2149" y="1719"/>
                <a:ext cx="234"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cs typeface="Arial" panose="020B0604020202020204" pitchFamily="34" charset="0"/>
                  </a:rPr>
                  <a:t>2021A</a:t>
                </a:r>
                <a:endParaRPr kumimoji="0" lang="en-US" altLang="en-US" sz="1800" b="0" i="0" u="none" strike="noStrike" cap="none" normalizeH="0" baseline="0" dirty="0">
                  <a:ln>
                    <a:noFill/>
                  </a:ln>
                  <a:solidFill>
                    <a:schemeClr val="bg1"/>
                  </a:solidFill>
                  <a:effectLst/>
                  <a:cs typeface="Arial" panose="020B0604020202020204" pitchFamily="34" charset="0"/>
                </a:endParaRPr>
              </a:p>
            </p:txBody>
          </p:sp>
          <p:sp>
            <p:nvSpPr>
              <p:cNvPr id="98" name="Rectangle 25">
                <a:extLst>
                  <a:ext uri="{FF2B5EF4-FFF2-40B4-BE49-F238E27FC236}">
                    <a16:creationId xmlns:a16="http://schemas.microsoft.com/office/drawing/2014/main" id="{5802DA15-CB1F-9AC9-E68C-EF8C69876B7E}"/>
                  </a:ext>
                </a:extLst>
              </p:cNvPr>
              <p:cNvSpPr>
                <a:spLocks noChangeArrowheads="1"/>
              </p:cNvSpPr>
              <p:nvPr/>
            </p:nvSpPr>
            <p:spPr bwMode="auto">
              <a:xfrm>
                <a:off x="2490" y="1719"/>
                <a:ext cx="16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cs typeface="Arial" panose="020B0604020202020204" pitchFamily="34" charset="0"/>
                  </a:rPr>
                  <a:t>LTM</a:t>
                </a:r>
                <a:endParaRPr kumimoji="0" lang="en-US" altLang="en-US" sz="1800" b="0" i="0" u="none" strike="noStrike" cap="none" normalizeH="0" baseline="0" dirty="0">
                  <a:ln>
                    <a:noFill/>
                  </a:ln>
                  <a:solidFill>
                    <a:schemeClr val="bg1"/>
                  </a:solidFill>
                  <a:effectLst/>
                  <a:cs typeface="Arial" panose="020B0604020202020204" pitchFamily="34" charset="0"/>
                </a:endParaRPr>
              </a:p>
            </p:txBody>
          </p:sp>
          <p:sp>
            <p:nvSpPr>
              <p:cNvPr id="99" name="Rectangle 26">
                <a:extLst>
                  <a:ext uri="{FF2B5EF4-FFF2-40B4-BE49-F238E27FC236}">
                    <a16:creationId xmlns:a16="http://schemas.microsoft.com/office/drawing/2014/main" id="{72F3A3CC-8B2E-A130-327A-732022A8EA4C}"/>
                  </a:ext>
                </a:extLst>
              </p:cNvPr>
              <p:cNvSpPr>
                <a:spLocks noChangeArrowheads="1"/>
              </p:cNvSpPr>
              <p:nvPr/>
            </p:nvSpPr>
            <p:spPr bwMode="auto">
              <a:xfrm>
                <a:off x="2788" y="1719"/>
                <a:ext cx="17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NTM</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100" name="Rectangle 27">
                <a:extLst>
                  <a:ext uri="{FF2B5EF4-FFF2-40B4-BE49-F238E27FC236}">
                    <a16:creationId xmlns:a16="http://schemas.microsoft.com/office/drawing/2014/main" id="{8CF1D73C-9733-50C7-5E14-84EA05DEE0F9}"/>
                  </a:ext>
                </a:extLst>
              </p:cNvPr>
              <p:cNvSpPr>
                <a:spLocks noChangeArrowheads="1"/>
              </p:cNvSpPr>
              <p:nvPr/>
            </p:nvSpPr>
            <p:spPr bwMode="auto">
              <a:xfrm>
                <a:off x="3067" y="1719"/>
                <a:ext cx="230"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cs typeface="Arial" panose="020B0604020202020204" pitchFamily="34" charset="0"/>
                  </a:rPr>
                  <a:t>2025E</a:t>
                </a:r>
                <a:endParaRPr kumimoji="0" lang="en-US" altLang="en-US" sz="1800" b="0" i="0" u="none" strike="noStrike" cap="none" normalizeH="0" baseline="0" dirty="0">
                  <a:ln>
                    <a:noFill/>
                  </a:ln>
                  <a:solidFill>
                    <a:schemeClr val="bg1"/>
                  </a:solidFill>
                  <a:effectLst/>
                  <a:cs typeface="Arial" panose="020B0604020202020204" pitchFamily="34" charset="0"/>
                </a:endParaRPr>
              </a:p>
            </p:txBody>
          </p:sp>
          <p:sp>
            <p:nvSpPr>
              <p:cNvPr id="101" name="Rectangle 28">
                <a:extLst>
                  <a:ext uri="{FF2B5EF4-FFF2-40B4-BE49-F238E27FC236}">
                    <a16:creationId xmlns:a16="http://schemas.microsoft.com/office/drawing/2014/main" id="{36B8FB7F-8B97-BB28-4A3C-8427A54BE19F}"/>
                  </a:ext>
                </a:extLst>
              </p:cNvPr>
              <p:cNvSpPr>
                <a:spLocks noChangeArrowheads="1"/>
              </p:cNvSpPr>
              <p:nvPr/>
            </p:nvSpPr>
            <p:spPr bwMode="auto">
              <a:xfrm>
                <a:off x="3370" y="1719"/>
                <a:ext cx="234"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cs typeface="Arial" panose="020B0604020202020204" pitchFamily="34" charset="0"/>
                  </a:rPr>
                  <a:t>2021A</a:t>
                </a:r>
                <a:endParaRPr kumimoji="0" lang="en-US" altLang="en-US" sz="1800" b="0" i="0" u="none" strike="noStrike" cap="none" normalizeH="0" baseline="0" dirty="0">
                  <a:ln>
                    <a:noFill/>
                  </a:ln>
                  <a:solidFill>
                    <a:schemeClr val="bg1"/>
                  </a:solidFill>
                  <a:effectLst/>
                  <a:cs typeface="Arial" panose="020B0604020202020204" pitchFamily="34" charset="0"/>
                </a:endParaRPr>
              </a:p>
            </p:txBody>
          </p:sp>
          <p:sp>
            <p:nvSpPr>
              <p:cNvPr id="102" name="Rectangle 29">
                <a:extLst>
                  <a:ext uri="{FF2B5EF4-FFF2-40B4-BE49-F238E27FC236}">
                    <a16:creationId xmlns:a16="http://schemas.microsoft.com/office/drawing/2014/main" id="{B8F1EDCE-E6FA-AA02-EFD5-BB20ECECB481}"/>
                  </a:ext>
                </a:extLst>
              </p:cNvPr>
              <p:cNvSpPr>
                <a:spLocks noChangeArrowheads="1"/>
              </p:cNvSpPr>
              <p:nvPr/>
            </p:nvSpPr>
            <p:spPr bwMode="auto">
              <a:xfrm>
                <a:off x="3710" y="1719"/>
                <a:ext cx="16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LTM</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103" name="Rectangle 30">
                <a:extLst>
                  <a:ext uri="{FF2B5EF4-FFF2-40B4-BE49-F238E27FC236}">
                    <a16:creationId xmlns:a16="http://schemas.microsoft.com/office/drawing/2014/main" id="{EB9C5007-1D11-33D4-AB9C-DFB5C8E6392E}"/>
                  </a:ext>
                </a:extLst>
              </p:cNvPr>
              <p:cNvSpPr>
                <a:spLocks noChangeArrowheads="1"/>
              </p:cNvSpPr>
              <p:nvPr/>
            </p:nvSpPr>
            <p:spPr bwMode="auto">
              <a:xfrm>
                <a:off x="4009" y="1719"/>
                <a:ext cx="17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NTM</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104" name="Rectangle 31">
                <a:extLst>
                  <a:ext uri="{FF2B5EF4-FFF2-40B4-BE49-F238E27FC236}">
                    <a16:creationId xmlns:a16="http://schemas.microsoft.com/office/drawing/2014/main" id="{11DCB600-CED5-9AEB-56E8-2713D9833440}"/>
                  </a:ext>
                </a:extLst>
              </p:cNvPr>
              <p:cNvSpPr>
                <a:spLocks noChangeArrowheads="1"/>
              </p:cNvSpPr>
              <p:nvPr/>
            </p:nvSpPr>
            <p:spPr bwMode="auto">
              <a:xfrm>
                <a:off x="4287" y="1719"/>
                <a:ext cx="230"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cs typeface="Arial" panose="020B0604020202020204" pitchFamily="34" charset="0"/>
                  </a:rPr>
                  <a:t>2025E</a:t>
                </a:r>
                <a:endParaRPr kumimoji="0" lang="en-US" altLang="en-US" sz="1800" b="0" i="0" u="none" strike="noStrike" cap="none" normalizeH="0" baseline="0" dirty="0">
                  <a:ln>
                    <a:noFill/>
                  </a:ln>
                  <a:solidFill>
                    <a:schemeClr val="bg1"/>
                  </a:solidFill>
                  <a:effectLst/>
                  <a:cs typeface="Arial" panose="020B0604020202020204" pitchFamily="34" charset="0"/>
                </a:endParaRPr>
              </a:p>
            </p:txBody>
          </p:sp>
          <p:sp>
            <p:nvSpPr>
              <p:cNvPr id="105" name="Rectangle 32">
                <a:extLst>
                  <a:ext uri="{FF2B5EF4-FFF2-40B4-BE49-F238E27FC236}">
                    <a16:creationId xmlns:a16="http://schemas.microsoft.com/office/drawing/2014/main" id="{715CB8C4-28C1-1199-BFAE-F68FB25B8210}"/>
                  </a:ext>
                </a:extLst>
              </p:cNvPr>
              <p:cNvSpPr>
                <a:spLocks noChangeArrowheads="1"/>
              </p:cNvSpPr>
              <p:nvPr/>
            </p:nvSpPr>
            <p:spPr bwMode="auto">
              <a:xfrm>
                <a:off x="4590" y="1719"/>
                <a:ext cx="234"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cs typeface="Arial" panose="020B0604020202020204" pitchFamily="34" charset="0"/>
                  </a:rPr>
                  <a:t>2021A</a:t>
                </a:r>
                <a:endParaRPr kumimoji="0" lang="en-US" altLang="en-US" sz="1800" b="0" i="0" u="none" strike="noStrike" cap="none" normalizeH="0" baseline="0" dirty="0">
                  <a:ln>
                    <a:noFill/>
                  </a:ln>
                  <a:solidFill>
                    <a:schemeClr val="bg1"/>
                  </a:solidFill>
                  <a:effectLst/>
                  <a:cs typeface="Arial" panose="020B0604020202020204" pitchFamily="34" charset="0"/>
                </a:endParaRPr>
              </a:p>
            </p:txBody>
          </p:sp>
          <p:sp>
            <p:nvSpPr>
              <p:cNvPr id="106" name="Rectangle 33">
                <a:extLst>
                  <a:ext uri="{FF2B5EF4-FFF2-40B4-BE49-F238E27FC236}">
                    <a16:creationId xmlns:a16="http://schemas.microsoft.com/office/drawing/2014/main" id="{46544778-67A8-C664-309F-FBEC6782B0E7}"/>
                  </a:ext>
                </a:extLst>
              </p:cNvPr>
              <p:cNvSpPr>
                <a:spLocks noChangeArrowheads="1"/>
              </p:cNvSpPr>
              <p:nvPr/>
            </p:nvSpPr>
            <p:spPr bwMode="auto">
              <a:xfrm>
                <a:off x="4931" y="1719"/>
                <a:ext cx="16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LTM</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107" name="Rectangle 34">
                <a:extLst>
                  <a:ext uri="{FF2B5EF4-FFF2-40B4-BE49-F238E27FC236}">
                    <a16:creationId xmlns:a16="http://schemas.microsoft.com/office/drawing/2014/main" id="{AC20CA3C-E80C-553D-EF2D-D093A8EE496A}"/>
                  </a:ext>
                </a:extLst>
              </p:cNvPr>
              <p:cNvSpPr>
                <a:spLocks noChangeArrowheads="1"/>
              </p:cNvSpPr>
              <p:nvPr/>
            </p:nvSpPr>
            <p:spPr bwMode="auto">
              <a:xfrm>
                <a:off x="5229" y="1719"/>
                <a:ext cx="17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cs typeface="Arial" panose="020B0604020202020204" pitchFamily="34" charset="0"/>
                  </a:rPr>
                  <a:t>NTM</a:t>
                </a:r>
                <a:endParaRPr kumimoji="0" lang="en-US" altLang="en-US" sz="1800" b="0" i="0" u="none" strike="noStrike" cap="none" normalizeH="0" baseline="0">
                  <a:ln>
                    <a:noFill/>
                  </a:ln>
                  <a:solidFill>
                    <a:schemeClr val="bg1"/>
                  </a:solidFill>
                  <a:effectLst/>
                  <a:cs typeface="Arial" panose="020B0604020202020204" pitchFamily="34" charset="0"/>
                </a:endParaRPr>
              </a:p>
            </p:txBody>
          </p:sp>
          <p:sp>
            <p:nvSpPr>
              <p:cNvPr id="108" name="Rectangle 35">
                <a:extLst>
                  <a:ext uri="{FF2B5EF4-FFF2-40B4-BE49-F238E27FC236}">
                    <a16:creationId xmlns:a16="http://schemas.microsoft.com/office/drawing/2014/main" id="{E8BD88B3-DD88-C611-E235-34740E9F03E5}"/>
                  </a:ext>
                </a:extLst>
              </p:cNvPr>
              <p:cNvSpPr>
                <a:spLocks noChangeArrowheads="1"/>
              </p:cNvSpPr>
              <p:nvPr/>
            </p:nvSpPr>
            <p:spPr bwMode="auto">
              <a:xfrm>
                <a:off x="5508" y="1719"/>
                <a:ext cx="230"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bg1"/>
                    </a:solidFill>
                    <a:effectLst/>
                    <a:cs typeface="Arial" panose="020B0604020202020204" pitchFamily="34" charset="0"/>
                  </a:rPr>
                  <a:t>2025E</a:t>
                </a:r>
                <a:endParaRPr kumimoji="0" lang="en-US" altLang="en-US" sz="1800" b="0" i="0" u="none" strike="noStrike" cap="none" normalizeH="0" baseline="0" dirty="0">
                  <a:ln>
                    <a:noFill/>
                  </a:ln>
                  <a:solidFill>
                    <a:schemeClr val="bg1"/>
                  </a:solidFill>
                  <a:effectLst/>
                  <a:cs typeface="Arial" panose="020B0604020202020204" pitchFamily="34" charset="0"/>
                </a:endParaRPr>
              </a:p>
            </p:txBody>
          </p:sp>
          <p:sp>
            <p:nvSpPr>
              <p:cNvPr id="109" name="Rectangle 36">
                <a:extLst>
                  <a:ext uri="{FF2B5EF4-FFF2-40B4-BE49-F238E27FC236}">
                    <a16:creationId xmlns:a16="http://schemas.microsoft.com/office/drawing/2014/main" id="{EFF59B2D-8946-E085-F89F-09D57C565C1C}"/>
                  </a:ext>
                </a:extLst>
              </p:cNvPr>
              <p:cNvSpPr>
                <a:spLocks noChangeArrowheads="1"/>
              </p:cNvSpPr>
              <p:nvPr/>
            </p:nvSpPr>
            <p:spPr bwMode="auto">
              <a:xfrm>
                <a:off x="29" y="1882"/>
                <a:ext cx="55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Northrop Grumman</a:t>
                </a:r>
              </a:p>
            </p:txBody>
          </p:sp>
          <p:sp>
            <p:nvSpPr>
              <p:cNvPr id="110" name="Rectangle 37">
                <a:extLst>
                  <a:ext uri="{FF2B5EF4-FFF2-40B4-BE49-F238E27FC236}">
                    <a16:creationId xmlns:a16="http://schemas.microsoft.com/office/drawing/2014/main" id="{54C75F79-7638-B751-A674-4B9238ADC133}"/>
                  </a:ext>
                </a:extLst>
              </p:cNvPr>
              <p:cNvSpPr>
                <a:spLocks noChangeArrowheads="1"/>
              </p:cNvSpPr>
              <p:nvPr/>
            </p:nvSpPr>
            <p:spPr bwMode="auto">
              <a:xfrm>
                <a:off x="647" y="1883"/>
                <a:ext cx="33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NYSE:NOC</a:t>
                </a:r>
              </a:p>
            </p:txBody>
          </p:sp>
          <p:sp>
            <p:nvSpPr>
              <p:cNvPr id="111" name="Rectangle 38">
                <a:extLst>
                  <a:ext uri="{FF2B5EF4-FFF2-40B4-BE49-F238E27FC236}">
                    <a16:creationId xmlns:a16="http://schemas.microsoft.com/office/drawing/2014/main" id="{FBF93EC4-D51C-D58B-2C76-A9CF1B178F90}"/>
                  </a:ext>
                </a:extLst>
              </p:cNvPr>
              <p:cNvSpPr>
                <a:spLocks noChangeArrowheads="1"/>
              </p:cNvSpPr>
              <p:nvPr/>
            </p:nvSpPr>
            <p:spPr bwMode="auto">
              <a:xfrm>
                <a:off x="1049" y="1875"/>
                <a:ext cx="25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485.03</a:t>
                </a:r>
                <a:endParaRPr kumimoji="0" lang="en-US" altLang="en-US" sz="1800" b="0" i="0" u="none" strike="noStrike" cap="none" normalizeH="0" baseline="0" dirty="0">
                  <a:ln>
                    <a:noFill/>
                  </a:ln>
                  <a:effectLst/>
                  <a:cs typeface="Arial" panose="020B0604020202020204" pitchFamily="34" charset="0"/>
                </a:endParaRPr>
              </a:p>
            </p:txBody>
          </p:sp>
          <p:sp>
            <p:nvSpPr>
              <p:cNvPr id="112" name="Rectangle 39">
                <a:extLst>
                  <a:ext uri="{FF2B5EF4-FFF2-40B4-BE49-F238E27FC236}">
                    <a16:creationId xmlns:a16="http://schemas.microsoft.com/office/drawing/2014/main" id="{BCDC3819-8DBD-70FB-65DA-13F87E7DAE1A}"/>
                  </a:ext>
                </a:extLst>
              </p:cNvPr>
              <p:cNvSpPr>
                <a:spLocks noChangeArrowheads="1"/>
              </p:cNvSpPr>
              <p:nvPr/>
            </p:nvSpPr>
            <p:spPr bwMode="auto">
              <a:xfrm>
                <a:off x="1394" y="1875"/>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$71,977</a:t>
                </a:r>
                <a:endParaRPr kumimoji="0" lang="en-US" altLang="en-US" sz="1800" b="0" i="0" u="none" strike="noStrike" cap="none" normalizeH="0" baseline="0" dirty="0">
                  <a:ln>
                    <a:noFill/>
                  </a:ln>
                  <a:effectLst/>
                  <a:cs typeface="Arial" panose="020B0604020202020204" pitchFamily="34" charset="0"/>
                </a:endParaRPr>
              </a:p>
            </p:txBody>
          </p:sp>
          <p:sp>
            <p:nvSpPr>
              <p:cNvPr id="113" name="Rectangle 40">
                <a:extLst>
                  <a:ext uri="{FF2B5EF4-FFF2-40B4-BE49-F238E27FC236}">
                    <a16:creationId xmlns:a16="http://schemas.microsoft.com/office/drawing/2014/main" id="{C2EA5321-979D-5F63-F770-7EB3B1F05B02}"/>
                  </a:ext>
                </a:extLst>
              </p:cNvPr>
              <p:cNvSpPr>
                <a:spLocks noChangeArrowheads="1"/>
              </p:cNvSpPr>
              <p:nvPr/>
            </p:nvSpPr>
            <p:spPr bwMode="auto">
              <a:xfrm>
                <a:off x="1794" y="1875"/>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$86,727</a:t>
                </a:r>
                <a:endParaRPr kumimoji="0" lang="en-US" altLang="en-US" sz="1800" b="0" i="0" u="none" strike="noStrike" cap="none" normalizeH="0" baseline="0" dirty="0">
                  <a:ln>
                    <a:noFill/>
                  </a:ln>
                  <a:effectLst/>
                  <a:cs typeface="Arial" panose="020B0604020202020204" pitchFamily="34" charset="0"/>
                </a:endParaRPr>
              </a:p>
            </p:txBody>
          </p:sp>
          <p:sp>
            <p:nvSpPr>
              <p:cNvPr id="114" name="Rectangle 41">
                <a:extLst>
                  <a:ext uri="{FF2B5EF4-FFF2-40B4-BE49-F238E27FC236}">
                    <a16:creationId xmlns:a16="http://schemas.microsoft.com/office/drawing/2014/main" id="{6D594552-0B59-EE90-AE0C-12A97CE57D99}"/>
                  </a:ext>
                </a:extLst>
              </p:cNvPr>
              <p:cNvSpPr>
                <a:spLocks noChangeArrowheads="1"/>
              </p:cNvSpPr>
              <p:nvPr/>
            </p:nvSpPr>
            <p:spPr bwMode="auto">
              <a:xfrm>
                <a:off x="2203" y="1875"/>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1.9x</a:t>
                </a:r>
                <a:endParaRPr kumimoji="0" lang="en-US" altLang="en-US" sz="1800" b="0" i="0" u="none" strike="noStrike" cap="none" normalizeH="0" baseline="0" dirty="0">
                  <a:ln>
                    <a:noFill/>
                  </a:ln>
                  <a:effectLst/>
                  <a:cs typeface="Arial" panose="020B0604020202020204" pitchFamily="34" charset="0"/>
                </a:endParaRPr>
              </a:p>
            </p:txBody>
          </p:sp>
          <p:sp>
            <p:nvSpPr>
              <p:cNvPr id="115" name="Rectangle 42">
                <a:extLst>
                  <a:ext uri="{FF2B5EF4-FFF2-40B4-BE49-F238E27FC236}">
                    <a16:creationId xmlns:a16="http://schemas.microsoft.com/office/drawing/2014/main" id="{3BCD7EA4-999B-FF28-5450-590651BA2EAC}"/>
                  </a:ext>
                </a:extLst>
              </p:cNvPr>
              <p:cNvSpPr>
                <a:spLocks noChangeArrowheads="1"/>
              </p:cNvSpPr>
              <p:nvPr/>
            </p:nvSpPr>
            <p:spPr bwMode="auto">
              <a:xfrm>
                <a:off x="2499" y="1875"/>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2.2</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16" name="Rectangle 43">
                <a:extLst>
                  <a:ext uri="{FF2B5EF4-FFF2-40B4-BE49-F238E27FC236}">
                    <a16:creationId xmlns:a16="http://schemas.microsoft.com/office/drawing/2014/main" id="{B865B54E-66FB-70E3-FF6F-7CE7BAC507D3}"/>
                  </a:ext>
                </a:extLst>
              </p:cNvPr>
              <p:cNvSpPr>
                <a:spLocks noChangeArrowheads="1"/>
              </p:cNvSpPr>
              <p:nvPr/>
            </p:nvSpPr>
            <p:spPr bwMode="auto">
              <a:xfrm>
                <a:off x="2799" y="1875"/>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2.09</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17" name="Rectangle 44">
                <a:extLst>
                  <a:ext uri="{FF2B5EF4-FFF2-40B4-BE49-F238E27FC236}">
                    <a16:creationId xmlns:a16="http://schemas.microsoft.com/office/drawing/2014/main" id="{20FB033E-D7BA-751E-1AF2-77072B56912C}"/>
                  </a:ext>
                </a:extLst>
              </p:cNvPr>
              <p:cNvSpPr>
                <a:spLocks noChangeArrowheads="1"/>
              </p:cNvSpPr>
              <p:nvPr/>
            </p:nvSpPr>
            <p:spPr bwMode="auto">
              <a:xfrm>
                <a:off x="3104" y="1875"/>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2.11</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18" name="Rectangle 45">
                <a:extLst>
                  <a:ext uri="{FF2B5EF4-FFF2-40B4-BE49-F238E27FC236}">
                    <a16:creationId xmlns:a16="http://schemas.microsoft.com/office/drawing/2014/main" id="{36AD4873-BAFA-5909-B2A4-8BBCF5CA25A5}"/>
                  </a:ext>
                </a:extLst>
              </p:cNvPr>
              <p:cNvSpPr>
                <a:spLocks noChangeArrowheads="1"/>
              </p:cNvSpPr>
              <p:nvPr/>
            </p:nvSpPr>
            <p:spPr bwMode="auto">
              <a:xfrm>
                <a:off x="3382" y="1875"/>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12.11x</a:t>
                </a:r>
                <a:endParaRPr kumimoji="0" lang="en-US" altLang="en-US" sz="1800" b="0" i="0" u="none" strike="noStrike" cap="none" normalizeH="0" baseline="0" dirty="0">
                  <a:ln>
                    <a:noFill/>
                  </a:ln>
                  <a:effectLst/>
                  <a:cs typeface="Arial" panose="020B0604020202020204" pitchFamily="34" charset="0"/>
                </a:endParaRPr>
              </a:p>
            </p:txBody>
          </p:sp>
          <p:sp>
            <p:nvSpPr>
              <p:cNvPr id="119" name="Rectangle 46">
                <a:extLst>
                  <a:ext uri="{FF2B5EF4-FFF2-40B4-BE49-F238E27FC236}">
                    <a16:creationId xmlns:a16="http://schemas.microsoft.com/office/drawing/2014/main" id="{CDB542C5-71F1-6931-D3A9-9C0A1DA0D8A1}"/>
                  </a:ext>
                </a:extLst>
              </p:cNvPr>
              <p:cNvSpPr>
                <a:spLocks noChangeArrowheads="1"/>
              </p:cNvSpPr>
              <p:nvPr/>
            </p:nvSpPr>
            <p:spPr bwMode="auto">
              <a:xfrm>
                <a:off x="3697" y="1875"/>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18.70x</a:t>
                </a:r>
                <a:endParaRPr kumimoji="0" lang="en-US" altLang="en-US" sz="1800" b="0" i="0" u="none" strike="noStrike" cap="none" normalizeH="0" baseline="0" dirty="0">
                  <a:ln>
                    <a:noFill/>
                  </a:ln>
                  <a:effectLst/>
                  <a:cs typeface="Arial" panose="020B0604020202020204" pitchFamily="34" charset="0"/>
                </a:endParaRPr>
              </a:p>
            </p:txBody>
          </p:sp>
          <p:sp>
            <p:nvSpPr>
              <p:cNvPr id="120" name="Rectangle 47">
                <a:extLst>
                  <a:ext uri="{FF2B5EF4-FFF2-40B4-BE49-F238E27FC236}">
                    <a16:creationId xmlns:a16="http://schemas.microsoft.com/office/drawing/2014/main" id="{B0A54188-FD30-3AA8-3EBE-2B4AC941C9EC}"/>
                  </a:ext>
                </a:extLst>
              </p:cNvPr>
              <p:cNvSpPr>
                <a:spLocks noChangeArrowheads="1"/>
              </p:cNvSpPr>
              <p:nvPr/>
            </p:nvSpPr>
            <p:spPr bwMode="auto">
              <a:xfrm>
                <a:off x="4005" y="1875"/>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18.95x</a:t>
                </a:r>
                <a:endParaRPr kumimoji="0" lang="en-US" altLang="en-US" sz="1800" b="0" i="0" u="none" strike="noStrike" cap="none" normalizeH="0" baseline="0" dirty="0">
                  <a:ln>
                    <a:noFill/>
                  </a:ln>
                  <a:effectLst/>
                  <a:cs typeface="Arial" panose="020B0604020202020204" pitchFamily="34" charset="0"/>
                </a:endParaRPr>
              </a:p>
            </p:txBody>
          </p:sp>
          <p:sp>
            <p:nvSpPr>
              <p:cNvPr id="121" name="Rectangle 48">
                <a:extLst>
                  <a:ext uri="{FF2B5EF4-FFF2-40B4-BE49-F238E27FC236}">
                    <a16:creationId xmlns:a16="http://schemas.microsoft.com/office/drawing/2014/main" id="{7F837836-D182-ACD4-B478-B6706AA53718}"/>
                  </a:ext>
                </a:extLst>
              </p:cNvPr>
              <p:cNvSpPr>
                <a:spLocks noChangeArrowheads="1"/>
              </p:cNvSpPr>
              <p:nvPr/>
            </p:nvSpPr>
            <p:spPr bwMode="auto">
              <a:xfrm>
                <a:off x="4301" y="1875"/>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15.38x</a:t>
                </a:r>
                <a:endParaRPr kumimoji="0" lang="en-US" altLang="en-US" sz="1800" b="0" i="0" u="none" strike="noStrike" cap="none" normalizeH="0" baseline="0" dirty="0">
                  <a:ln>
                    <a:noFill/>
                  </a:ln>
                  <a:effectLst/>
                  <a:cs typeface="Arial" panose="020B0604020202020204" pitchFamily="34" charset="0"/>
                </a:endParaRPr>
              </a:p>
            </p:txBody>
          </p:sp>
          <p:sp>
            <p:nvSpPr>
              <p:cNvPr id="122" name="Rectangle 49">
                <a:extLst>
                  <a:ext uri="{FF2B5EF4-FFF2-40B4-BE49-F238E27FC236}">
                    <a16:creationId xmlns:a16="http://schemas.microsoft.com/office/drawing/2014/main" id="{3F99154B-925B-C933-F4F6-299EE6A7FA0D}"/>
                  </a:ext>
                </a:extLst>
              </p:cNvPr>
              <p:cNvSpPr>
                <a:spLocks noChangeArrowheads="1"/>
              </p:cNvSpPr>
              <p:nvPr/>
            </p:nvSpPr>
            <p:spPr bwMode="auto">
              <a:xfrm>
                <a:off x="4620" y="1875"/>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8.59</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23" name="Rectangle 50">
                <a:extLst>
                  <a:ext uri="{FF2B5EF4-FFF2-40B4-BE49-F238E27FC236}">
                    <a16:creationId xmlns:a16="http://schemas.microsoft.com/office/drawing/2014/main" id="{0C139AAE-86B8-08C5-D5F9-62DB0E294B41}"/>
                  </a:ext>
                </a:extLst>
              </p:cNvPr>
              <p:cNvSpPr>
                <a:spLocks noChangeArrowheads="1"/>
              </p:cNvSpPr>
              <p:nvPr/>
            </p:nvSpPr>
            <p:spPr bwMode="auto">
              <a:xfrm>
                <a:off x="4903" y="1875"/>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14.35x</a:t>
                </a:r>
                <a:endParaRPr kumimoji="0" lang="en-US" altLang="en-US" sz="1800" b="0" i="0" u="none" strike="noStrike" cap="none" normalizeH="0" baseline="0" dirty="0">
                  <a:ln>
                    <a:noFill/>
                  </a:ln>
                  <a:effectLst/>
                  <a:cs typeface="Arial" panose="020B0604020202020204" pitchFamily="34" charset="0"/>
                </a:endParaRPr>
              </a:p>
            </p:txBody>
          </p:sp>
          <p:sp>
            <p:nvSpPr>
              <p:cNvPr id="124" name="Rectangle 51">
                <a:extLst>
                  <a:ext uri="{FF2B5EF4-FFF2-40B4-BE49-F238E27FC236}">
                    <a16:creationId xmlns:a16="http://schemas.microsoft.com/office/drawing/2014/main" id="{E7DB018D-3353-AD12-B779-A4443D76F6DC}"/>
                  </a:ext>
                </a:extLst>
              </p:cNvPr>
              <p:cNvSpPr>
                <a:spLocks noChangeArrowheads="1"/>
              </p:cNvSpPr>
              <p:nvPr/>
            </p:nvSpPr>
            <p:spPr bwMode="auto">
              <a:xfrm>
                <a:off x="5202" y="1875"/>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19.39</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25" name="Rectangle 52">
                <a:extLst>
                  <a:ext uri="{FF2B5EF4-FFF2-40B4-BE49-F238E27FC236}">
                    <a16:creationId xmlns:a16="http://schemas.microsoft.com/office/drawing/2014/main" id="{72179F6F-A3A4-2B47-7035-799C582977F9}"/>
                  </a:ext>
                </a:extLst>
              </p:cNvPr>
              <p:cNvSpPr>
                <a:spLocks noChangeArrowheads="1"/>
              </p:cNvSpPr>
              <p:nvPr/>
            </p:nvSpPr>
            <p:spPr bwMode="auto">
              <a:xfrm>
                <a:off x="5494" y="1875"/>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19.64</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26" name="Rectangle 53">
                <a:extLst>
                  <a:ext uri="{FF2B5EF4-FFF2-40B4-BE49-F238E27FC236}">
                    <a16:creationId xmlns:a16="http://schemas.microsoft.com/office/drawing/2014/main" id="{EC7C8CED-CB09-DC3D-19F5-5293CF088F84}"/>
                  </a:ext>
                </a:extLst>
              </p:cNvPr>
              <p:cNvSpPr>
                <a:spLocks noChangeArrowheads="1"/>
              </p:cNvSpPr>
              <p:nvPr/>
            </p:nvSpPr>
            <p:spPr bwMode="auto">
              <a:xfrm>
                <a:off x="29" y="1994"/>
                <a:ext cx="505"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RTX Corporation </a:t>
                </a:r>
              </a:p>
            </p:txBody>
          </p:sp>
          <p:sp>
            <p:nvSpPr>
              <p:cNvPr id="127" name="Rectangle 54">
                <a:extLst>
                  <a:ext uri="{FF2B5EF4-FFF2-40B4-BE49-F238E27FC236}">
                    <a16:creationId xmlns:a16="http://schemas.microsoft.com/office/drawing/2014/main" id="{C178041B-1B7A-CE78-D741-6E462AD2CF08}"/>
                  </a:ext>
                </a:extLst>
              </p:cNvPr>
              <p:cNvSpPr>
                <a:spLocks noChangeArrowheads="1"/>
              </p:cNvSpPr>
              <p:nvPr/>
            </p:nvSpPr>
            <p:spPr bwMode="auto">
              <a:xfrm>
                <a:off x="647" y="1994"/>
                <a:ext cx="324"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NYSE:RTX</a:t>
                </a:r>
              </a:p>
            </p:txBody>
          </p:sp>
          <p:sp>
            <p:nvSpPr>
              <p:cNvPr id="128" name="Rectangle 55">
                <a:extLst>
                  <a:ext uri="{FF2B5EF4-FFF2-40B4-BE49-F238E27FC236}">
                    <a16:creationId xmlns:a16="http://schemas.microsoft.com/office/drawing/2014/main" id="{71777A0F-3E6A-C4A7-44BE-AF2E01309E0A}"/>
                  </a:ext>
                </a:extLst>
              </p:cNvPr>
              <p:cNvSpPr>
                <a:spLocks noChangeArrowheads="1"/>
              </p:cNvSpPr>
              <p:nvPr/>
            </p:nvSpPr>
            <p:spPr bwMode="auto">
              <a:xfrm>
                <a:off x="1049" y="1994"/>
                <a:ext cx="25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101.52</a:t>
                </a:r>
                <a:endParaRPr kumimoji="0" lang="en-US" altLang="en-US" sz="1800" b="0" i="0" u="none" strike="noStrike" cap="none" normalizeH="0" baseline="0" dirty="0">
                  <a:ln>
                    <a:noFill/>
                  </a:ln>
                  <a:effectLst/>
                  <a:cs typeface="Arial" panose="020B0604020202020204" pitchFamily="34" charset="0"/>
                </a:endParaRPr>
              </a:p>
            </p:txBody>
          </p:sp>
          <p:sp>
            <p:nvSpPr>
              <p:cNvPr id="129" name="Rectangle 56">
                <a:extLst>
                  <a:ext uri="{FF2B5EF4-FFF2-40B4-BE49-F238E27FC236}">
                    <a16:creationId xmlns:a16="http://schemas.microsoft.com/office/drawing/2014/main" id="{81503608-E902-05CA-9373-BEDAAC7C956F}"/>
                  </a:ext>
                </a:extLst>
              </p:cNvPr>
              <p:cNvSpPr>
                <a:spLocks noChangeArrowheads="1"/>
              </p:cNvSpPr>
              <p:nvPr/>
            </p:nvSpPr>
            <p:spPr bwMode="auto">
              <a:xfrm>
                <a:off x="1394" y="1994"/>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$134,353</a:t>
                </a:r>
                <a:endParaRPr kumimoji="0" lang="en-US" altLang="en-US" sz="1800" b="0" i="0" u="none" strike="noStrike" cap="none" normalizeH="0" baseline="0" dirty="0">
                  <a:ln>
                    <a:noFill/>
                  </a:ln>
                  <a:effectLst/>
                  <a:cs typeface="Arial" panose="020B0604020202020204" pitchFamily="34" charset="0"/>
                </a:endParaRPr>
              </a:p>
            </p:txBody>
          </p:sp>
          <p:sp>
            <p:nvSpPr>
              <p:cNvPr id="130" name="Rectangle 57">
                <a:extLst>
                  <a:ext uri="{FF2B5EF4-FFF2-40B4-BE49-F238E27FC236}">
                    <a16:creationId xmlns:a16="http://schemas.microsoft.com/office/drawing/2014/main" id="{F45DDC4D-7FC9-41B2-F202-173DD1603CCA}"/>
                  </a:ext>
                </a:extLst>
              </p:cNvPr>
              <p:cNvSpPr>
                <a:spLocks noChangeArrowheads="1"/>
              </p:cNvSpPr>
              <p:nvPr/>
            </p:nvSpPr>
            <p:spPr bwMode="auto">
              <a:xfrm>
                <a:off x="1794" y="1994"/>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$174,652</a:t>
                </a:r>
                <a:endParaRPr kumimoji="0" lang="en-US" altLang="en-US" sz="1800" b="0" i="0" u="none" strike="noStrike" cap="none" normalizeH="0" baseline="0" dirty="0">
                  <a:ln>
                    <a:noFill/>
                  </a:ln>
                  <a:effectLst/>
                  <a:cs typeface="Arial" panose="020B0604020202020204" pitchFamily="34" charset="0"/>
                </a:endParaRPr>
              </a:p>
            </p:txBody>
          </p:sp>
          <p:sp>
            <p:nvSpPr>
              <p:cNvPr id="131" name="Rectangle 58">
                <a:extLst>
                  <a:ext uri="{FF2B5EF4-FFF2-40B4-BE49-F238E27FC236}">
                    <a16:creationId xmlns:a16="http://schemas.microsoft.com/office/drawing/2014/main" id="{6429D991-EEC3-10C6-FB7D-EF48E1912612}"/>
                  </a:ext>
                </a:extLst>
              </p:cNvPr>
              <p:cNvSpPr>
                <a:spLocks noChangeArrowheads="1"/>
              </p:cNvSpPr>
              <p:nvPr/>
            </p:nvSpPr>
            <p:spPr bwMode="auto">
              <a:xfrm>
                <a:off x="2203" y="1994"/>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2.4x</a:t>
                </a:r>
                <a:endParaRPr kumimoji="0" lang="en-US" altLang="en-US" sz="1800" b="0" i="0" u="none" strike="noStrike" cap="none" normalizeH="0" baseline="0" dirty="0">
                  <a:ln>
                    <a:noFill/>
                  </a:ln>
                  <a:effectLst/>
                  <a:cs typeface="Arial" panose="020B0604020202020204" pitchFamily="34" charset="0"/>
                </a:endParaRPr>
              </a:p>
            </p:txBody>
          </p:sp>
          <p:sp>
            <p:nvSpPr>
              <p:cNvPr id="132" name="Rectangle 59">
                <a:extLst>
                  <a:ext uri="{FF2B5EF4-FFF2-40B4-BE49-F238E27FC236}">
                    <a16:creationId xmlns:a16="http://schemas.microsoft.com/office/drawing/2014/main" id="{F53783C6-4ED1-D233-5AAB-FBBC25DC3956}"/>
                  </a:ext>
                </a:extLst>
              </p:cNvPr>
              <p:cNvSpPr>
                <a:spLocks noChangeArrowheads="1"/>
              </p:cNvSpPr>
              <p:nvPr/>
            </p:nvSpPr>
            <p:spPr bwMode="auto">
              <a:xfrm>
                <a:off x="2499" y="1994"/>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2.5</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33" name="Rectangle 60">
                <a:extLst>
                  <a:ext uri="{FF2B5EF4-FFF2-40B4-BE49-F238E27FC236}">
                    <a16:creationId xmlns:a16="http://schemas.microsoft.com/office/drawing/2014/main" id="{48C62D33-A902-CA70-6FE6-D196B63FEF94}"/>
                  </a:ext>
                </a:extLst>
              </p:cNvPr>
              <p:cNvSpPr>
                <a:spLocks noChangeArrowheads="1"/>
              </p:cNvSpPr>
              <p:nvPr/>
            </p:nvSpPr>
            <p:spPr bwMode="auto">
              <a:xfrm>
                <a:off x="2799" y="1994"/>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2.18</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34" name="Rectangle 61">
                <a:extLst>
                  <a:ext uri="{FF2B5EF4-FFF2-40B4-BE49-F238E27FC236}">
                    <a16:creationId xmlns:a16="http://schemas.microsoft.com/office/drawing/2014/main" id="{8E7E149D-9F47-C72C-B3ED-628A88F33DA2}"/>
                  </a:ext>
                </a:extLst>
              </p:cNvPr>
              <p:cNvSpPr>
                <a:spLocks noChangeArrowheads="1"/>
              </p:cNvSpPr>
              <p:nvPr/>
            </p:nvSpPr>
            <p:spPr bwMode="auto">
              <a:xfrm>
                <a:off x="3104" y="1994"/>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2.21</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35" name="Rectangle 62">
                <a:extLst>
                  <a:ext uri="{FF2B5EF4-FFF2-40B4-BE49-F238E27FC236}">
                    <a16:creationId xmlns:a16="http://schemas.microsoft.com/office/drawing/2014/main" id="{B7527F5C-6AFB-054F-70F8-41D6C9CE0B01}"/>
                  </a:ext>
                </a:extLst>
              </p:cNvPr>
              <p:cNvSpPr>
                <a:spLocks noChangeArrowheads="1"/>
              </p:cNvSpPr>
              <p:nvPr/>
            </p:nvSpPr>
            <p:spPr bwMode="auto">
              <a:xfrm>
                <a:off x="3382" y="1994"/>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18.30</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36" name="Rectangle 63">
                <a:extLst>
                  <a:ext uri="{FF2B5EF4-FFF2-40B4-BE49-F238E27FC236}">
                    <a16:creationId xmlns:a16="http://schemas.microsoft.com/office/drawing/2014/main" id="{53DD9C49-1246-BB73-CD28-B0D4998D78BF}"/>
                  </a:ext>
                </a:extLst>
              </p:cNvPr>
              <p:cNvSpPr>
                <a:spLocks noChangeArrowheads="1"/>
              </p:cNvSpPr>
              <p:nvPr/>
            </p:nvSpPr>
            <p:spPr bwMode="auto">
              <a:xfrm>
                <a:off x="3697" y="1994"/>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17.80x</a:t>
                </a:r>
                <a:endParaRPr kumimoji="0" lang="en-US" altLang="en-US" sz="1800" b="0" i="0" u="none" strike="noStrike" cap="none" normalizeH="0" baseline="0" dirty="0">
                  <a:ln>
                    <a:noFill/>
                  </a:ln>
                  <a:effectLst/>
                  <a:cs typeface="Arial" panose="020B0604020202020204" pitchFamily="34" charset="0"/>
                </a:endParaRPr>
              </a:p>
            </p:txBody>
          </p:sp>
          <p:sp>
            <p:nvSpPr>
              <p:cNvPr id="137" name="Rectangle 64">
                <a:extLst>
                  <a:ext uri="{FF2B5EF4-FFF2-40B4-BE49-F238E27FC236}">
                    <a16:creationId xmlns:a16="http://schemas.microsoft.com/office/drawing/2014/main" id="{526ADC02-08C2-9918-AB1A-6CD4D1D87F3E}"/>
                  </a:ext>
                </a:extLst>
              </p:cNvPr>
              <p:cNvSpPr>
                <a:spLocks noChangeArrowheads="1"/>
              </p:cNvSpPr>
              <p:nvPr/>
            </p:nvSpPr>
            <p:spPr bwMode="auto">
              <a:xfrm>
                <a:off x="4005" y="1994"/>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14.35x</a:t>
                </a:r>
                <a:endParaRPr kumimoji="0" lang="en-US" altLang="en-US" sz="1800" b="0" i="0" u="none" strike="noStrike" cap="none" normalizeH="0" baseline="0" dirty="0">
                  <a:ln>
                    <a:noFill/>
                  </a:ln>
                  <a:effectLst/>
                  <a:cs typeface="Arial" panose="020B0604020202020204" pitchFamily="34" charset="0"/>
                </a:endParaRPr>
              </a:p>
            </p:txBody>
          </p:sp>
          <p:sp>
            <p:nvSpPr>
              <p:cNvPr id="138" name="Rectangle 65">
                <a:extLst>
                  <a:ext uri="{FF2B5EF4-FFF2-40B4-BE49-F238E27FC236}">
                    <a16:creationId xmlns:a16="http://schemas.microsoft.com/office/drawing/2014/main" id="{687F786D-2854-EF7B-277C-04BDC2019363}"/>
                  </a:ext>
                </a:extLst>
              </p:cNvPr>
              <p:cNvSpPr>
                <a:spLocks noChangeArrowheads="1"/>
              </p:cNvSpPr>
              <p:nvPr/>
            </p:nvSpPr>
            <p:spPr bwMode="auto">
              <a:xfrm>
                <a:off x="4301" y="1994"/>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13.69x</a:t>
                </a:r>
                <a:endParaRPr kumimoji="0" lang="en-US" altLang="en-US" sz="1800" b="0" i="0" u="none" strike="noStrike" cap="none" normalizeH="0" baseline="0" dirty="0">
                  <a:ln>
                    <a:noFill/>
                  </a:ln>
                  <a:effectLst/>
                  <a:cs typeface="Arial" panose="020B0604020202020204" pitchFamily="34" charset="0"/>
                </a:endParaRPr>
              </a:p>
            </p:txBody>
          </p:sp>
          <p:sp>
            <p:nvSpPr>
              <p:cNvPr id="139" name="Rectangle 66">
                <a:extLst>
                  <a:ext uri="{FF2B5EF4-FFF2-40B4-BE49-F238E27FC236}">
                    <a16:creationId xmlns:a16="http://schemas.microsoft.com/office/drawing/2014/main" id="{6CFC8B36-F9CA-B0FF-DC96-BC44FCB0E050}"/>
                  </a:ext>
                </a:extLst>
              </p:cNvPr>
              <p:cNvSpPr>
                <a:spLocks noChangeArrowheads="1"/>
              </p:cNvSpPr>
              <p:nvPr/>
            </p:nvSpPr>
            <p:spPr bwMode="auto">
              <a:xfrm>
                <a:off x="4620" y="1994"/>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31.8x</a:t>
                </a:r>
                <a:endParaRPr kumimoji="0" lang="en-US" altLang="en-US" sz="1800" b="0" i="0" u="none" strike="noStrike" cap="none" normalizeH="0" baseline="0" dirty="0">
                  <a:ln>
                    <a:noFill/>
                  </a:ln>
                  <a:effectLst/>
                  <a:cs typeface="Arial" panose="020B0604020202020204" pitchFamily="34" charset="0"/>
                </a:endParaRPr>
              </a:p>
            </p:txBody>
          </p:sp>
          <p:sp>
            <p:nvSpPr>
              <p:cNvPr id="140" name="Rectangle 67">
                <a:extLst>
                  <a:ext uri="{FF2B5EF4-FFF2-40B4-BE49-F238E27FC236}">
                    <a16:creationId xmlns:a16="http://schemas.microsoft.com/office/drawing/2014/main" id="{CF7CEB99-1A3C-79FB-958F-081B0284405D}"/>
                  </a:ext>
                </a:extLst>
              </p:cNvPr>
              <p:cNvSpPr>
                <a:spLocks noChangeArrowheads="1"/>
              </p:cNvSpPr>
              <p:nvPr/>
            </p:nvSpPr>
            <p:spPr bwMode="auto">
              <a:xfrm>
                <a:off x="4903" y="1994"/>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37.48</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41" name="Rectangle 68">
                <a:extLst>
                  <a:ext uri="{FF2B5EF4-FFF2-40B4-BE49-F238E27FC236}">
                    <a16:creationId xmlns:a16="http://schemas.microsoft.com/office/drawing/2014/main" id="{EB1E5433-785E-C1DD-1AFD-9ADECCDD9EA0}"/>
                  </a:ext>
                </a:extLst>
              </p:cNvPr>
              <p:cNvSpPr>
                <a:spLocks noChangeArrowheads="1"/>
              </p:cNvSpPr>
              <p:nvPr/>
            </p:nvSpPr>
            <p:spPr bwMode="auto">
              <a:xfrm>
                <a:off x="5202" y="1994"/>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18.45</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42" name="Rectangle 69">
                <a:extLst>
                  <a:ext uri="{FF2B5EF4-FFF2-40B4-BE49-F238E27FC236}">
                    <a16:creationId xmlns:a16="http://schemas.microsoft.com/office/drawing/2014/main" id="{4B4FDBFF-75F1-05C1-0E7A-452AF6418572}"/>
                  </a:ext>
                </a:extLst>
              </p:cNvPr>
              <p:cNvSpPr>
                <a:spLocks noChangeArrowheads="1"/>
              </p:cNvSpPr>
              <p:nvPr/>
            </p:nvSpPr>
            <p:spPr bwMode="auto">
              <a:xfrm>
                <a:off x="5494" y="1994"/>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18.77</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43" name="Rectangle 70">
                <a:extLst>
                  <a:ext uri="{FF2B5EF4-FFF2-40B4-BE49-F238E27FC236}">
                    <a16:creationId xmlns:a16="http://schemas.microsoft.com/office/drawing/2014/main" id="{C15D8C81-4375-A4A1-195D-2015DB84123F}"/>
                  </a:ext>
                </a:extLst>
              </p:cNvPr>
              <p:cNvSpPr>
                <a:spLocks noChangeArrowheads="1"/>
              </p:cNvSpPr>
              <p:nvPr/>
            </p:nvSpPr>
            <p:spPr bwMode="auto">
              <a:xfrm>
                <a:off x="29" y="2110"/>
                <a:ext cx="46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General Electric</a:t>
                </a:r>
              </a:p>
            </p:txBody>
          </p:sp>
          <p:sp>
            <p:nvSpPr>
              <p:cNvPr id="144" name="Rectangle 71">
                <a:extLst>
                  <a:ext uri="{FF2B5EF4-FFF2-40B4-BE49-F238E27FC236}">
                    <a16:creationId xmlns:a16="http://schemas.microsoft.com/office/drawing/2014/main" id="{C15C0189-E215-3CD4-62C1-14C9C3B8170D}"/>
                  </a:ext>
                </a:extLst>
              </p:cNvPr>
              <p:cNvSpPr>
                <a:spLocks noChangeArrowheads="1"/>
              </p:cNvSpPr>
              <p:nvPr/>
            </p:nvSpPr>
            <p:spPr bwMode="auto">
              <a:xfrm>
                <a:off x="647" y="2113"/>
                <a:ext cx="289"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NYSE:GE</a:t>
                </a:r>
              </a:p>
            </p:txBody>
          </p:sp>
          <p:sp>
            <p:nvSpPr>
              <p:cNvPr id="145" name="Rectangle 72">
                <a:extLst>
                  <a:ext uri="{FF2B5EF4-FFF2-40B4-BE49-F238E27FC236}">
                    <a16:creationId xmlns:a16="http://schemas.microsoft.com/office/drawing/2014/main" id="{3EF6F37D-3989-F207-7B0C-B998743A8201}"/>
                  </a:ext>
                </a:extLst>
              </p:cNvPr>
              <p:cNvSpPr>
                <a:spLocks noChangeArrowheads="1"/>
              </p:cNvSpPr>
              <p:nvPr/>
            </p:nvSpPr>
            <p:spPr bwMode="auto">
              <a:xfrm>
                <a:off x="1049" y="2113"/>
                <a:ext cx="25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161.82</a:t>
                </a:r>
                <a:endParaRPr kumimoji="0" lang="en-US" altLang="en-US" sz="1800" b="0" i="0" u="none" strike="noStrike" cap="none" normalizeH="0" baseline="0" dirty="0">
                  <a:ln>
                    <a:noFill/>
                  </a:ln>
                  <a:effectLst/>
                  <a:cs typeface="Arial" panose="020B0604020202020204" pitchFamily="34" charset="0"/>
                </a:endParaRPr>
              </a:p>
            </p:txBody>
          </p:sp>
          <p:sp>
            <p:nvSpPr>
              <p:cNvPr id="146" name="Rectangle 73">
                <a:extLst>
                  <a:ext uri="{FF2B5EF4-FFF2-40B4-BE49-F238E27FC236}">
                    <a16:creationId xmlns:a16="http://schemas.microsoft.com/office/drawing/2014/main" id="{E88904F6-55B8-C45E-CD46-EFDA96E9FCD1}"/>
                  </a:ext>
                </a:extLst>
              </p:cNvPr>
              <p:cNvSpPr>
                <a:spLocks noChangeArrowheads="1"/>
              </p:cNvSpPr>
              <p:nvPr/>
            </p:nvSpPr>
            <p:spPr bwMode="auto">
              <a:xfrm>
                <a:off x="1394" y="2113"/>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$174,808</a:t>
                </a:r>
                <a:endParaRPr kumimoji="0" lang="en-US" altLang="en-US" sz="1800" b="0" i="0" u="none" strike="noStrike" cap="none" normalizeH="0" baseline="0" dirty="0">
                  <a:ln>
                    <a:noFill/>
                  </a:ln>
                  <a:effectLst/>
                  <a:cs typeface="Arial" panose="020B0604020202020204" pitchFamily="34" charset="0"/>
                </a:endParaRPr>
              </a:p>
            </p:txBody>
          </p:sp>
          <p:sp>
            <p:nvSpPr>
              <p:cNvPr id="147" name="Rectangle 74">
                <a:extLst>
                  <a:ext uri="{FF2B5EF4-FFF2-40B4-BE49-F238E27FC236}">
                    <a16:creationId xmlns:a16="http://schemas.microsoft.com/office/drawing/2014/main" id="{B4FCC8F6-DF4B-665D-8587-664D0B18E24C}"/>
                  </a:ext>
                </a:extLst>
              </p:cNvPr>
              <p:cNvSpPr>
                <a:spLocks noChangeArrowheads="1"/>
              </p:cNvSpPr>
              <p:nvPr/>
            </p:nvSpPr>
            <p:spPr bwMode="auto">
              <a:xfrm>
                <a:off x="1794" y="2113"/>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$178,205</a:t>
                </a:r>
                <a:endParaRPr kumimoji="0" lang="en-US" altLang="en-US" sz="1800" b="0" i="0" u="none" strike="noStrike" cap="none" normalizeH="0" baseline="0" dirty="0">
                  <a:ln>
                    <a:noFill/>
                  </a:ln>
                  <a:effectLst/>
                  <a:cs typeface="Arial" panose="020B0604020202020204" pitchFamily="34" charset="0"/>
                </a:endParaRPr>
              </a:p>
            </p:txBody>
          </p:sp>
          <p:sp>
            <p:nvSpPr>
              <p:cNvPr id="148" name="Rectangle 75">
                <a:extLst>
                  <a:ext uri="{FF2B5EF4-FFF2-40B4-BE49-F238E27FC236}">
                    <a16:creationId xmlns:a16="http://schemas.microsoft.com/office/drawing/2014/main" id="{E2B75C21-4DEA-797C-31CC-0A240B0C4D50}"/>
                  </a:ext>
                </a:extLst>
              </p:cNvPr>
              <p:cNvSpPr>
                <a:spLocks noChangeArrowheads="1"/>
              </p:cNvSpPr>
              <p:nvPr/>
            </p:nvSpPr>
            <p:spPr bwMode="auto">
              <a:xfrm>
                <a:off x="2203" y="2113"/>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2.0x</a:t>
                </a:r>
                <a:endParaRPr kumimoji="0" lang="en-US" altLang="en-US" sz="1800" b="0" i="0" u="none" strike="noStrike" cap="none" normalizeH="0" baseline="0" dirty="0">
                  <a:ln>
                    <a:noFill/>
                  </a:ln>
                  <a:effectLst/>
                  <a:cs typeface="Arial" panose="020B0604020202020204" pitchFamily="34" charset="0"/>
                </a:endParaRPr>
              </a:p>
            </p:txBody>
          </p:sp>
          <p:sp>
            <p:nvSpPr>
              <p:cNvPr id="149" name="Rectangle 76">
                <a:extLst>
                  <a:ext uri="{FF2B5EF4-FFF2-40B4-BE49-F238E27FC236}">
                    <a16:creationId xmlns:a16="http://schemas.microsoft.com/office/drawing/2014/main" id="{DAF28663-58FA-E0B9-9D9C-FE7B83C079A7}"/>
                  </a:ext>
                </a:extLst>
              </p:cNvPr>
              <p:cNvSpPr>
                <a:spLocks noChangeArrowheads="1"/>
              </p:cNvSpPr>
              <p:nvPr/>
            </p:nvSpPr>
            <p:spPr bwMode="auto">
              <a:xfrm>
                <a:off x="2499" y="2113"/>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2.6</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50" name="Rectangle 77">
                <a:extLst>
                  <a:ext uri="{FF2B5EF4-FFF2-40B4-BE49-F238E27FC236}">
                    <a16:creationId xmlns:a16="http://schemas.microsoft.com/office/drawing/2014/main" id="{FF262B59-DCD1-C7BB-2949-840327AF9D53}"/>
                  </a:ext>
                </a:extLst>
              </p:cNvPr>
              <p:cNvSpPr>
                <a:spLocks noChangeArrowheads="1"/>
              </p:cNvSpPr>
              <p:nvPr/>
            </p:nvSpPr>
            <p:spPr bwMode="auto">
              <a:xfrm>
                <a:off x="2799" y="2113"/>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4.74</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51" name="Rectangle 78">
                <a:extLst>
                  <a:ext uri="{FF2B5EF4-FFF2-40B4-BE49-F238E27FC236}">
                    <a16:creationId xmlns:a16="http://schemas.microsoft.com/office/drawing/2014/main" id="{BDD7551B-83E7-07E7-A99A-5AD17CAEBF68}"/>
                  </a:ext>
                </a:extLst>
              </p:cNvPr>
              <p:cNvSpPr>
                <a:spLocks noChangeArrowheads="1"/>
              </p:cNvSpPr>
              <p:nvPr/>
            </p:nvSpPr>
            <p:spPr bwMode="auto">
              <a:xfrm>
                <a:off x="3104" y="2113"/>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4.9x</a:t>
                </a:r>
                <a:endParaRPr kumimoji="0" lang="en-US" altLang="en-US" sz="1800" b="0" i="0" u="none" strike="noStrike" cap="none" normalizeH="0" baseline="0" dirty="0">
                  <a:ln>
                    <a:noFill/>
                  </a:ln>
                  <a:effectLst/>
                  <a:cs typeface="Arial" panose="020B0604020202020204" pitchFamily="34" charset="0"/>
                </a:endParaRPr>
              </a:p>
            </p:txBody>
          </p:sp>
          <p:sp>
            <p:nvSpPr>
              <p:cNvPr id="152" name="Rectangle 79">
                <a:extLst>
                  <a:ext uri="{FF2B5EF4-FFF2-40B4-BE49-F238E27FC236}">
                    <a16:creationId xmlns:a16="http://schemas.microsoft.com/office/drawing/2014/main" id="{2B00DD9D-90DA-D764-A086-3D32D3088A89}"/>
                  </a:ext>
                </a:extLst>
              </p:cNvPr>
              <p:cNvSpPr>
                <a:spLocks noChangeArrowheads="1"/>
              </p:cNvSpPr>
              <p:nvPr/>
            </p:nvSpPr>
            <p:spPr bwMode="auto">
              <a:xfrm>
                <a:off x="3382" y="2113"/>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36.20x</a:t>
                </a:r>
                <a:endParaRPr kumimoji="0" lang="en-US" altLang="en-US" sz="1800" b="0" i="0" u="none" strike="noStrike" cap="none" normalizeH="0" baseline="0" dirty="0">
                  <a:ln>
                    <a:noFill/>
                  </a:ln>
                  <a:effectLst/>
                  <a:cs typeface="Arial" panose="020B0604020202020204" pitchFamily="34" charset="0"/>
                </a:endParaRPr>
              </a:p>
            </p:txBody>
          </p:sp>
          <p:sp>
            <p:nvSpPr>
              <p:cNvPr id="153" name="Rectangle 80">
                <a:extLst>
                  <a:ext uri="{FF2B5EF4-FFF2-40B4-BE49-F238E27FC236}">
                    <a16:creationId xmlns:a16="http://schemas.microsoft.com/office/drawing/2014/main" id="{3C023475-FC18-2CAF-14A5-F54F7D97A041}"/>
                  </a:ext>
                </a:extLst>
              </p:cNvPr>
              <p:cNvSpPr>
                <a:spLocks noChangeArrowheads="1"/>
              </p:cNvSpPr>
              <p:nvPr/>
            </p:nvSpPr>
            <p:spPr bwMode="auto">
              <a:xfrm>
                <a:off x="3697" y="2113"/>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18.40x</a:t>
                </a:r>
                <a:endParaRPr kumimoji="0" lang="en-US" altLang="en-US" sz="1800" b="0" i="0" u="none" strike="noStrike" cap="none" normalizeH="0" baseline="0" dirty="0">
                  <a:ln>
                    <a:noFill/>
                  </a:ln>
                  <a:effectLst/>
                  <a:cs typeface="Arial" panose="020B0604020202020204" pitchFamily="34" charset="0"/>
                </a:endParaRPr>
              </a:p>
            </p:txBody>
          </p:sp>
          <p:sp>
            <p:nvSpPr>
              <p:cNvPr id="154" name="Rectangle 81">
                <a:extLst>
                  <a:ext uri="{FF2B5EF4-FFF2-40B4-BE49-F238E27FC236}">
                    <a16:creationId xmlns:a16="http://schemas.microsoft.com/office/drawing/2014/main" id="{93DB5C54-9E68-2EC5-D2B9-7637392BF193}"/>
                  </a:ext>
                </a:extLst>
              </p:cNvPr>
              <p:cNvSpPr>
                <a:spLocks noChangeArrowheads="1"/>
              </p:cNvSpPr>
              <p:nvPr/>
            </p:nvSpPr>
            <p:spPr bwMode="auto">
              <a:xfrm>
                <a:off x="4005" y="2113"/>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16.00</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55" name="Rectangle 82">
                <a:extLst>
                  <a:ext uri="{FF2B5EF4-FFF2-40B4-BE49-F238E27FC236}">
                    <a16:creationId xmlns:a16="http://schemas.microsoft.com/office/drawing/2014/main" id="{95F3158A-1EB7-A1FA-CA8E-C89F8DF11EBA}"/>
                  </a:ext>
                </a:extLst>
              </p:cNvPr>
              <p:cNvSpPr>
                <a:spLocks noChangeArrowheads="1"/>
              </p:cNvSpPr>
              <p:nvPr/>
            </p:nvSpPr>
            <p:spPr bwMode="auto">
              <a:xfrm>
                <a:off x="4301" y="2113"/>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22.51x</a:t>
                </a:r>
                <a:endParaRPr kumimoji="0" lang="en-US" altLang="en-US" sz="1800" b="0" i="0" u="none" strike="noStrike" cap="none" normalizeH="0" baseline="0" dirty="0">
                  <a:ln>
                    <a:noFill/>
                  </a:ln>
                  <a:effectLst/>
                  <a:cs typeface="Arial" panose="020B0604020202020204" pitchFamily="34" charset="0"/>
                </a:endParaRPr>
              </a:p>
            </p:txBody>
          </p:sp>
          <p:sp>
            <p:nvSpPr>
              <p:cNvPr id="156" name="Rectangle 83">
                <a:extLst>
                  <a:ext uri="{FF2B5EF4-FFF2-40B4-BE49-F238E27FC236}">
                    <a16:creationId xmlns:a16="http://schemas.microsoft.com/office/drawing/2014/main" id="{ECA86D9F-B06F-2C67-F5DE-70BACAC3990C}"/>
                  </a:ext>
                </a:extLst>
              </p:cNvPr>
              <p:cNvSpPr>
                <a:spLocks noChangeArrowheads="1"/>
              </p:cNvSpPr>
              <p:nvPr/>
            </p:nvSpPr>
            <p:spPr bwMode="auto">
              <a:xfrm>
                <a:off x="4620" y="2113"/>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12.9x</a:t>
                </a:r>
                <a:endParaRPr kumimoji="0" lang="en-US" altLang="en-US" sz="1800" b="0" i="0" u="none" strike="noStrike" cap="none" normalizeH="0" baseline="0" dirty="0">
                  <a:ln>
                    <a:noFill/>
                  </a:ln>
                  <a:effectLst/>
                  <a:cs typeface="Arial" panose="020B0604020202020204" pitchFamily="34" charset="0"/>
                </a:endParaRPr>
              </a:p>
            </p:txBody>
          </p:sp>
          <p:sp>
            <p:nvSpPr>
              <p:cNvPr id="157" name="Rectangle 84">
                <a:extLst>
                  <a:ext uri="{FF2B5EF4-FFF2-40B4-BE49-F238E27FC236}">
                    <a16:creationId xmlns:a16="http://schemas.microsoft.com/office/drawing/2014/main" id="{94073147-C9B7-D96F-2EEF-615645F565E4}"/>
                  </a:ext>
                </a:extLst>
              </p:cNvPr>
              <p:cNvSpPr>
                <a:spLocks noChangeArrowheads="1"/>
              </p:cNvSpPr>
              <p:nvPr/>
            </p:nvSpPr>
            <p:spPr bwMode="auto">
              <a:xfrm>
                <a:off x="4903" y="2113"/>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19.38x</a:t>
                </a:r>
                <a:endParaRPr kumimoji="0" lang="en-US" altLang="en-US" sz="1800" b="0" i="0" u="none" strike="noStrike" cap="none" normalizeH="0" baseline="0" dirty="0">
                  <a:ln>
                    <a:noFill/>
                  </a:ln>
                  <a:effectLst/>
                  <a:cs typeface="Arial" panose="020B0604020202020204" pitchFamily="34" charset="0"/>
                </a:endParaRPr>
              </a:p>
            </p:txBody>
          </p:sp>
          <p:sp>
            <p:nvSpPr>
              <p:cNvPr id="158" name="Rectangle 85">
                <a:extLst>
                  <a:ext uri="{FF2B5EF4-FFF2-40B4-BE49-F238E27FC236}">
                    <a16:creationId xmlns:a16="http://schemas.microsoft.com/office/drawing/2014/main" id="{C232A48C-A4A4-1D93-0C8A-6BBD4CE8F947}"/>
                  </a:ext>
                </a:extLst>
              </p:cNvPr>
              <p:cNvSpPr>
                <a:spLocks noChangeArrowheads="1"/>
              </p:cNvSpPr>
              <p:nvPr/>
            </p:nvSpPr>
            <p:spPr bwMode="auto">
              <a:xfrm>
                <a:off x="5202" y="2113"/>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37.73</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59" name="Rectangle 86">
                <a:extLst>
                  <a:ext uri="{FF2B5EF4-FFF2-40B4-BE49-F238E27FC236}">
                    <a16:creationId xmlns:a16="http://schemas.microsoft.com/office/drawing/2014/main" id="{37D56BC4-C409-C8ED-1242-2129D22A5F5C}"/>
                  </a:ext>
                </a:extLst>
              </p:cNvPr>
              <p:cNvSpPr>
                <a:spLocks noChangeArrowheads="1"/>
              </p:cNvSpPr>
              <p:nvPr/>
            </p:nvSpPr>
            <p:spPr bwMode="auto">
              <a:xfrm>
                <a:off x="5494" y="2113"/>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39.53</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60" name="Rectangle 87">
                <a:extLst>
                  <a:ext uri="{FF2B5EF4-FFF2-40B4-BE49-F238E27FC236}">
                    <a16:creationId xmlns:a16="http://schemas.microsoft.com/office/drawing/2014/main" id="{6EAD6FB0-DEEC-7C07-7A82-4999840D40F6}"/>
                  </a:ext>
                </a:extLst>
              </p:cNvPr>
              <p:cNvSpPr>
                <a:spLocks noChangeArrowheads="1"/>
              </p:cNvSpPr>
              <p:nvPr/>
            </p:nvSpPr>
            <p:spPr bwMode="auto">
              <a:xfrm>
                <a:off x="27" y="2199"/>
                <a:ext cx="54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L3Harris Technologies, Inc.</a:t>
                </a:r>
                <a:endParaRPr kumimoji="0" lang="en-US" altLang="en-US" sz="1400" b="0" i="0" u="none" strike="noStrike" cap="none" normalizeH="0" baseline="0" dirty="0">
                  <a:ln>
                    <a:noFill/>
                  </a:ln>
                  <a:effectLst/>
                  <a:cs typeface="Arial" panose="020B0604020202020204" pitchFamily="34" charset="0"/>
                </a:endParaRPr>
              </a:p>
            </p:txBody>
          </p:sp>
          <p:sp>
            <p:nvSpPr>
              <p:cNvPr id="161" name="Rectangle 88">
                <a:extLst>
                  <a:ext uri="{FF2B5EF4-FFF2-40B4-BE49-F238E27FC236}">
                    <a16:creationId xmlns:a16="http://schemas.microsoft.com/office/drawing/2014/main" id="{FA0E089B-3D42-76C1-C800-AEA64077FA0F}"/>
                  </a:ext>
                </a:extLst>
              </p:cNvPr>
              <p:cNvSpPr>
                <a:spLocks noChangeArrowheads="1"/>
              </p:cNvSpPr>
              <p:nvPr/>
            </p:nvSpPr>
            <p:spPr bwMode="auto">
              <a:xfrm>
                <a:off x="647" y="2232"/>
                <a:ext cx="32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NYSE:LHX</a:t>
                </a:r>
              </a:p>
            </p:txBody>
          </p:sp>
          <p:sp>
            <p:nvSpPr>
              <p:cNvPr id="162" name="Rectangle 89">
                <a:extLst>
                  <a:ext uri="{FF2B5EF4-FFF2-40B4-BE49-F238E27FC236}">
                    <a16:creationId xmlns:a16="http://schemas.microsoft.com/office/drawing/2014/main" id="{63299190-07BB-3DA5-CAAA-75338EA87150}"/>
                  </a:ext>
                </a:extLst>
              </p:cNvPr>
              <p:cNvSpPr>
                <a:spLocks noChangeArrowheads="1"/>
              </p:cNvSpPr>
              <p:nvPr/>
            </p:nvSpPr>
            <p:spPr bwMode="auto">
              <a:xfrm>
                <a:off x="1030" y="2232"/>
                <a:ext cx="28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GB" sz="700" u="none" strike="noStrike" dirty="0">
                    <a:effectLst/>
                    <a:cs typeface="Arial" panose="020B0604020202020204" pitchFamily="34" charset="0"/>
                  </a:rPr>
                  <a:t> </a:t>
                </a:r>
                <a:r>
                  <a:rPr lang="en-GB" sz="1000" dirty="0">
                    <a:cs typeface="Arial" panose="020B0604020202020204" pitchFamily="34" charset="0"/>
                  </a:rPr>
                  <a:t>214.05 </a:t>
                </a:r>
                <a:endParaRPr lang="en-US" altLang="en-US" sz="1000" dirty="0">
                  <a:cs typeface="Arial" panose="020B0604020202020204" pitchFamily="34" charset="0"/>
                </a:endParaRPr>
              </a:p>
            </p:txBody>
          </p:sp>
          <p:sp>
            <p:nvSpPr>
              <p:cNvPr id="163" name="Rectangle 90">
                <a:extLst>
                  <a:ext uri="{FF2B5EF4-FFF2-40B4-BE49-F238E27FC236}">
                    <a16:creationId xmlns:a16="http://schemas.microsoft.com/office/drawing/2014/main" id="{14327DA9-E888-4B02-434D-DDCB8EC5BE94}"/>
                  </a:ext>
                </a:extLst>
              </p:cNvPr>
              <p:cNvSpPr>
                <a:spLocks noChangeArrowheads="1"/>
              </p:cNvSpPr>
              <p:nvPr/>
            </p:nvSpPr>
            <p:spPr bwMode="auto">
              <a:xfrm>
                <a:off x="1394" y="2232"/>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$40,164</a:t>
                </a:r>
                <a:endParaRPr kumimoji="0" lang="en-US" altLang="en-US" sz="1800" b="0" i="0" u="none" strike="noStrike" cap="none" normalizeH="0" baseline="0" dirty="0">
                  <a:ln>
                    <a:noFill/>
                  </a:ln>
                  <a:effectLst/>
                  <a:cs typeface="Arial" panose="020B0604020202020204" pitchFamily="34" charset="0"/>
                </a:endParaRPr>
              </a:p>
            </p:txBody>
          </p:sp>
          <p:sp>
            <p:nvSpPr>
              <p:cNvPr id="164" name="Rectangle 91">
                <a:extLst>
                  <a:ext uri="{FF2B5EF4-FFF2-40B4-BE49-F238E27FC236}">
                    <a16:creationId xmlns:a16="http://schemas.microsoft.com/office/drawing/2014/main" id="{BE57A106-F098-D545-341B-47762C617E59}"/>
                  </a:ext>
                </a:extLst>
              </p:cNvPr>
              <p:cNvSpPr>
                <a:spLocks noChangeArrowheads="1"/>
              </p:cNvSpPr>
              <p:nvPr/>
            </p:nvSpPr>
            <p:spPr bwMode="auto">
              <a:xfrm>
                <a:off x="1794" y="2232"/>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$53,459</a:t>
                </a:r>
                <a:endParaRPr kumimoji="0" lang="en-US" altLang="en-US" sz="1800" b="0" i="0" u="none" strike="noStrike" cap="none" normalizeH="0" baseline="0" dirty="0">
                  <a:ln>
                    <a:noFill/>
                  </a:ln>
                  <a:effectLst/>
                  <a:cs typeface="Arial" panose="020B0604020202020204" pitchFamily="34" charset="0"/>
                </a:endParaRPr>
              </a:p>
            </p:txBody>
          </p:sp>
          <p:sp>
            <p:nvSpPr>
              <p:cNvPr id="165" name="Rectangle 92">
                <a:extLst>
                  <a:ext uri="{FF2B5EF4-FFF2-40B4-BE49-F238E27FC236}">
                    <a16:creationId xmlns:a16="http://schemas.microsoft.com/office/drawing/2014/main" id="{E3EBDD74-F4E5-0977-E53D-F75215EBB115}"/>
                  </a:ext>
                </a:extLst>
              </p:cNvPr>
              <p:cNvSpPr>
                <a:spLocks noChangeArrowheads="1"/>
              </p:cNvSpPr>
              <p:nvPr/>
            </p:nvSpPr>
            <p:spPr bwMode="auto">
              <a:xfrm>
                <a:off x="2203" y="2232"/>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2.7x</a:t>
                </a:r>
                <a:endParaRPr kumimoji="0" lang="en-US" altLang="en-US" sz="1800" b="0" i="0" u="none" strike="noStrike" cap="none" normalizeH="0" baseline="0" dirty="0">
                  <a:ln>
                    <a:noFill/>
                  </a:ln>
                  <a:effectLst/>
                  <a:cs typeface="Arial" panose="020B0604020202020204" pitchFamily="34" charset="0"/>
                </a:endParaRPr>
              </a:p>
            </p:txBody>
          </p:sp>
          <p:sp>
            <p:nvSpPr>
              <p:cNvPr id="166" name="Rectangle 93">
                <a:extLst>
                  <a:ext uri="{FF2B5EF4-FFF2-40B4-BE49-F238E27FC236}">
                    <a16:creationId xmlns:a16="http://schemas.microsoft.com/office/drawing/2014/main" id="{E9444C3A-FC1C-E4AB-FA46-96A1A6098A52}"/>
                  </a:ext>
                </a:extLst>
              </p:cNvPr>
              <p:cNvSpPr>
                <a:spLocks noChangeArrowheads="1"/>
              </p:cNvSpPr>
              <p:nvPr/>
            </p:nvSpPr>
            <p:spPr bwMode="auto">
              <a:xfrm>
                <a:off x="2499" y="2232"/>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2.8</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67" name="Rectangle 94">
                <a:extLst>
                  <a:ext uri="{FF2B5EF4-FFF2-40B4-BE49-F238E27FC236}">
                    <a16:creationId xmlns:a16="http://schemas.microsoft.com/office/drawing/2014/main" id="{9C28C86D-5C3D-0819-63D4-4285D7692BE0}"/>
                  </a:ext>
                </a:extLst>
              </p:cNvPr>
              <p:cNvSpPr>
                <a:spLocks noChangeArrowheads="1"/>
              </p:cNvSpPr>
              <p:nvPr/>
            </p:nvSpPr>
            <p:spPr bwMode="auto">
              <a:xfrm>
                <a:off x="2799" y="2232"/>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2.49</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68" name="Rectangle 95">
                <a:extLst>
                  <a:ext uri="{FF2B5EF4-FFF2-40B4-BE49-F238E27FC236}">
                    <a16:creationId xmlns:a16="http://schemas.microsoft.com/office/drawing/2014/main" id="{B6C8E5FE-B05D-E424-F4EC-C14517648C51}"/>
                  </a:ext>
                </a:extLst>
              </p:cNvPr>
              <p:cNvSpPr>
                <a:spLocks noChangeArrowheads="1"/>
              </p:cNvSpPr>
              <p:nvPr/>
            </p:nvSpPr>
            <p:spPr bwMode="auto">
              <a:xfrm>
                <a:off x="3104" y="2232"/>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2.52x</a:t>
                </a:r>
                <a:endParaRPr kumimoji="0" lang="en-US" altLang="en-US" sz="1800" b="0" i="0" u="none" strike="noStrike" cap="none" normalizeH="0" baseline="0" dirty="0">
                  <a:ln>
                    <a:noFill/>
                  </a:ln>
                  <a:effectLst/>
                  <a:cs typeface="Arial" panose="020B0604020202020204" pitchFamily="34" charset="0"/>
                </a:endParaRPr>
              </a:p>
            </p:txBody>
          </p:sp>
          <p:sp>
            <p:nvSpPr>
              <p:cNvPr id="169" name="Rectangle 96">
                <a:extLst>
                  <a:ext uri="{FF2B5EF4-FFF2-40B4-BE49-F238E27FC236}">
                    <a16:creationId xmlns:a16="http://schemas.microsoft.com/office/drawing/2014/main" id="{50AE1EA4-0A7B-4ED0-2B25-239C99C77257}"/>
                  </a:ext>
                </a:extLst>
              </p:cNvPr>
              <p:cNvSpPr>
                <a:spLocks noChangeArrowheads="1"/>
              </p:cNvSpPr>
              <p:nvPr/>
            </p:nvSpPr>
            <p:spPr bwMode="auto">
              <a:xfrm>
                <a:off x="3382" y="2232"/>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13.10x</a:t>
                </a:r>
                <a:endParaRPr kumimoji="0" lang="en-US" altLang="en-US" sz="1800" b="0" i="0" u="none" strike="noStrike" cap="none" normalizeH="0" baseline="0" dirty="0">
                  <a:ln>
                    <a:noFill/>
                  </a:ln>
                  <a:effectLst/>
                  <a:cs typeface="Arial" panose="020B0604020202020204" pitchFamily="34" charset="0"/>
                </a:endParaRPr>
              </a:p>
            </p:txBody>
          </p:sp>
          <p:sp>
            <p:nvSpPr>
              <p:cNvPr id="170" name="Rectangle 97">
                <a:extLst>
                  <a:ext uri="{FF2B5EF4-FFF2-40B4-BE49-F238E27FC236}">
                    <a16:creationId xmlns:a16="http://schemas.microsoft.com/office/drawing/2014/main" id="{7C476B4C-44DF-93D3-106B-622B1D369C01}"/>
                  </a:ext>
                </a:extLst>
              </p:cNvPr>
              <p:cNvSpPr>
                <a:spLocks noChangeArrowheads="1"/>
              </p:cNvSpPr>
              <p:nvPr/>
            </p:nvSpPr>
            <p:spPr bwMode="auto">
              <a:xfrm>
                <a:off x="3697" y="2232"/>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14.70x</a:t>
                </a:r>
                <a:endParaRPr kumimoji="0" lang="en-US" altLang="en-US" sz="1800" b="0" i="0" u="none" strike="noStrike" cap="none" normalizeH="0" baseline="0" dirty="0">
                  <a:ln>
                    <a:noFill/>
                  </a:ln>
                  <a:effectLst/>
                  <a:cs typeface="Arial" panose="020B0604020202020204" pitchFamily="34" charset="0"/>
                </a:endParaRPr>
              </a:p>
            </p:txBody>
          </p:sp>
          <p:sp>
            <p:nvSpPr>
              <p:cNvPr id="171" name="Rectangle 98">
                <a:extLst>
                  <a:ext uri="{FF2B5EF4-FFF2-40B4-BE49-F238E27FC236}">
                    <a16:creationId xmlns:a16="http://schemas.microsoft.com/office/drawing/2014/main" id="{7D1B2B1C-CE52-186D-497F-B955D894B2C6}"/>
                  </a:ext>
                </a:extLst>
              </p:cNvPr>
              <p:cNvSpPr>
                <a:spLocks noChangeArrowheads="1"/>
              </p:cNvSpPr>
              <p:nvPr/>
            </p:nvSpPr>
            <p:spPr bwMode="auto">
              <a:xfrm>
                <a:off x="4005" y="2232"/>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15.50x</a:t>
                </a:r>
                <a:endParaRPr kumimoji="0" lang="en-US" altLang="en-US" sz="1800" b="0" i="0" u="none" strike="noStrike" cap="none" normalizeH="0" baseline="0" dirty="0">
                  <a:ln>
                    <a:noFill/>
                  </a:ln>
                  <a:effectLst/>
                  <a:cs typeface="Arial" panose="020B0604020202020204" pitchFamily="34" charset="0"/>
                </a:endParaRPr>
              </a:p>
            </p:txBody>
          </p:sp>
          <p:sp>
            <p:nvSpPr>
              <p:cNvPr id="172" name="Rectangle 99">
                <a:extLst>
                  <a:ext uri="{FF2B5EF4-FFF2-40B4-BE49-F238E27FC236}">
                    <a16:creationId xmlns:a16="http://schemas.microsoft.com/office/drawing/2014/main" id="{5E88C478-B706-DD13-B2E6-8C428C636CA7}"/>
                  </a:ext>
                </a:extLst>
              </p:cNvPr>
              <p:cNvSpPr>
                <a:spLocks noChangeArrowheads="1"/>
              </p:cNvSpPr>
              <p:nvPr/>
            </p:nvSpPr>
            <p:spPr bwMode="auto">
              <a:xfrm>
                <a:off x="4301" y="2232"/>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13.93x</a:t>
                </a:r>
                <a:endParaRPr kumimoji="0" lang="en-US" altLang="en-US" sz="1800" b="0" i="0" u="none" strike="noStrike" cap="none" normalizeH="0" baseline="0" dirty="0">
                  <a:ln>
                    <a:noFill/>
                  </a:ln>
                  <a:effectLst/>
                  <a:cs typeface="Arial" panose="020B0604020202020204" pitchFamily="34" charset="0"/>
                </a:endParaRPr>
              </a:p>
            </p:txBody>
          </p:sp>
          <p:sp>
            <p:nvSpPr>
              <p:cNvPr id="173" name="Rectangle 100">
                <a:extLst>
                  <a:ext uri="{FF2B5EF4-FFF2-40B4-BE49-F238E27FC236}">
                    <a16:creationId xmlns:a16="http://schemas.microsoft.com/office/drawing/2014/main" id="{ADA1D7F4-6D80-1FD5-0EEF-0809F346F49D}"/>
                  </a:ext>
                </a:extLst>
              </p:cNvPr>
              <p:cNvSpPr>
                <a:spLocks noChangeArrowheads="1"/>
              </p:cNvSpPr>
              <p:nvPr/>
            </p:nvSpPr>
            <p:spPr bwMode="auto">
              <a:xfrm>
                <a:off x="4597" y="2232"/>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23.25x</a:t>
                </a:r>
                <a:endParaRPr kumimoji="0" lang="en-US" altLang="en-US" sz="1800" b="0" i="0" u="none" strike="noStrike" cap="none" normalizeH="0" baseline="0" dirty="0">
                  <a:ln>
                    <a:noFill/>
                  </a:ln>
                  <a:effectLst/>
                  <a:cs typeface="Arial" panose="020B0604020202020204" pitchFamily="34" charset="0"/>
                </a:endParaRPr>
              </a:p>
            </p:txBody>
          </p:sp>
          <p:sp>
            <p:nvSpPr>
              <p:cNvPr id="174" name="Rectangle 101">
                <a:extLst>
                  <a:ext uri="{FF2B5EF4-FFF2-40B4-BE49-F238E27FC236}">
                    <a16:creationId xmlns:a16="http://schemas.microsoft.com/office/drawing/2014/main" id="{98457126-78A5-71E7-C408-F297FF4D4853}"/>
                  </a:ext>
                </a:extLst>
              </p:cNvPr>
              <p:cNvSpPr>
                <a:spLocks noChangeArrowheads="1"/>
              </p:cNvSpPr>
              <p:nvPr/>
            </p:nvSpPr>
            <p:spPr bwMode="auto">
              <a:xfrm>
                <a:off x="4903" y="2232"/>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17.32x</a:t>
                </a:r>
                <a:endParaRPr kumimoji="0" lang="en-US" altLang="en-US" sz="1800" b="0" i="0" u="none" strike="noStrike" cap="none" normalizeH="0" baseline="0" dirty="0">
                  <a:ln>
                    <a:noFill/>
                  </a:ln>
                  <a:effectLst/>
                  <a:cs typeface="Arial" panose="020B0604020202020204" pitchFamily="34" charset="0"/>
                </a:endParaRPr>
              </a:p>
            </p:txBody>
          </p:sp>
          <p:sp>
            <p:nvSpPr>
              <p:cNvPr id="175" name="Rectangle 102">
                <a:extLst>
                  <a:ext uri="{FF2B5EF4-FFF2-40B4-BE49-F238E27FC236}">
                    <a16:creationId xmlns:a16="http://schemas.microsoft.com/office/drawing/2014/main" id="{A08B718C-2CF9-08A7-D521-D5C5D778BC49}"/>
                  </a:ext>
                </a:extLst>
              </p:cNvPr>
              <p:cNvSpPr>
                <a:spLocks noChangeArrowheads="1"/>
              </p:cNvSpPr>
              <p:nvPr/>
            </p:nvSpPr>
            <p:spPr bwMode="auto">
              <a:xfrm>
                <a:off x="5202" y="2232"/>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15.99</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76" name="Rectangle 103">
                <a:extLst>
                  <a:ext uri="{FF2B5EF4-FFF2-40B4-BE49-F238E27FC236}">
                    <a16:creationId xmlns:a16="http://schemas.microsoft.com/office/drawing/2014/main" id="{AF25D672-4F50-7295-F674-28007412CE95}"/>
                  </a:ext>
                </a:extLst>
              </p:cNvPr>
              <p:cNvSpPr>
                <a:spLocks noChangeArrowheads="1"/>
              </p:cNvSpPr>
              <p:nvPr/>
            </p:nvSpPr>
            <p:spPr bwMode="auto">
              <a:xfrm>
                <a:off x="5494" y="2232"/>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16.33</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77" name="Rectangle 104">
                <a:extLst>
                  <a:ext uri="{FF2B5EF4-FFF2-40B4-BE49-F238E27FC236}">
                    <a16:creationId xmlns:a16="http://schemas.microsoft.com/office/drawing/2014/main" id="{80FA4471-3C7F-4FC9-A6E3-FBBB3B45B02F}"/>
                  </a:ext>
                </a:extLst>
              </p:cNvPr>
              <p:cNvSpPr>
                <a:spLocks noChangeArrowheads="1"/>
              </p:cNvSpPr>
              <p:nvPr/>
            </p:nvSpPr>
            <p:spPr bwMode="auto">
              <a:xfrm>
                <a:off x="20" y="2366"/>
                <a:ext cx="533"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General Dynamics</a:t>
                </a:r>
              </a:p>
            </p:txBody>
          </p:sp>
          <p:sp>
            <p:nvSpPr>
              <p:cNvPr id="178" name="Rectangle 105">
                <a:extLst>
                  <a:ext uri="{FF2B5EF4-FFF2-40B4-BE49-F238E27FC236}">
                    <a16:creationId xmlns:a16="http://schemas.microsoft.com/office/drawing/2014/main" id="{5CD227C3-579B-9D75-2A0E-C620B3073E64}"/>
                  </a:ext>
                </a:extLst>
              </p:cNvPr>
              <p:cNvSpPr>
                <a:spLocks noChangeArrowheads="1"/>
              </p:cNvSpPr>
              <p:nvPr/>
            </p:nvSpPr>
            <p:spPr bwMode="auto">
              <a:xfrm>
                <a:off x="647" y="2351"/>
                <a:ext cx="292"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NYSE:GD</a:t>
                </a:r>
              </a:p>
            </p:txBody>
          </p:sp>
          <p:sp>
            <p:nvSpPr>
              <p:cNvPr id="179" name="Rectangle 106">
                <a:extLst>
                  <a:ext uri="{FF2B5EF4-FFF2-40B4-BE49-F238E27FC236}">
                    <a16:creationId xmlns:a16="http://schemas.microsoft.com/office/drawing/2014/main" id="{0D65A0EB-F885-23C9-FAB4-7ABFC8AD9A2E}"/>
                  </a:ext>
                </a:extLst>
              </p:cNvPr>
              <p:cNvSpPr>
                <a:spLocks noChangeArrowheads="1"/>
              </p:cNvSpPr>
              <p:nvPr/>
            </p:nvSpPr>
            <p:spPr bwMode="auto">
              <a:xfrm>
                <a:off x="1038" y="2351"/>
                <a:ext cx="27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287.09 </a:t>
                </a:r>
                <a:endParaRPr kumimoji="0" lang="en-US" altLang="en-US" sz="1800" b="0" i="0" u="none" strike="noStrike" cap="none" normalizeH="0" baseline="0" dirty="0">
                  <a:ln>
                    <a:noFill/>
                  </a:ln>
                  <a:effectLst/>
                  <a:cs typeface="Arial" panose="020B0604020202020204" pitchFamily="34" charset="0"/>
                </a:endParaRPr>
              </a:p>
            </p:txBody>
          </p:sp>
          <p:sp>
            <p:nvSpPr>
              <p:cNvPr id="180" name="Rectangle 107">
                <a:extLst>
                  <a:ext uri="{FF2B5EF4-FFF2-40B4-BE49-F238E27FC236}">
                    <a16:creationId xmlns:a16="http://schemas.microsoft.com/office/drawing/2014/main" id="{3F2BD2FF-F6EE-C21D-9FA8-723C4B17EF93}"/>
                  </a:ext>
                </a:extLst>
              </p:cNvPr>
              <p:cNvSpPr>
                <a:spLocks noChangeArrowheads="1"/>
              </p:cNvSpPr>
              <p:nvPr/>
            </p:nvSpPr>
            <p:spPr bwMode="auto">
              <a:xfrm>
                <a:off x="1394" y="2351"/>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$78,487</a:t>
                </a:r>
                <a:endParaRPr kumimoji="0" lang="en-US" altLang="en-US" sz="1800" b="0" i="0" u="none" strike="noStrike" cap="none" normalizeH="0" baseline="0" dirty="0">
                  <a:ln>
                    <a:noFill/>
                  </a:ln>
                  <a:effectLst/>
                  <a:cs typeface="Arial" panose="020B0604020202020204" pitchFamily="34" charset="0"/>
                </a:endParaRPr>
              </a:p>
            </p:txBody>
          </p:sp>
          <p:sp>
            <p:nvSpPr>
              <p:cNvPr id="181" name="Rectangle 108">
                <a:extLst>
                  <a:ext uri="{FF2B5EF4-FFF2-40B4-BE49-F238E27FC236}">
                    <a16:creationId xmlns:a16="http://schemas.microsoft.com/office/drawing/2014/main" id="{71BF736B-758A-7511-0A29-28C7B0429830}"/>
                  </a:ext>
                </a:extLst>
              </p:cNvPr>
              <p:cNvSpPr>
                <a:spLocks noChangeArrowheads="1"/>
              </p:cNvSpPr>
              <p:nvPr/>
            </p:nvSpPr>
            <p:spPr bwMode="auto">
              <a:xfrm>
                <a:off x="1794" y="2351"/>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$88,514</a:t>
                </a:r>
                <a:endParaRPr kumimoji="0" lang="en-US" altLang="en-US" sz="1800" b="0" i="0" u="none" strike="noStrike" cap="none" normalizeH="0" baseline="0" dirty="0">
                  <a:ln>
                    <a:noFill/>
                  </a:ln>
                  <a:effectLst/>
                  <a:cs typeface="Arial" panose="020B0604020202020204" pitchFamily="34" charset="0"/>
                </a:endParaRPr>
              </a:p>
            </p:txBody>
          </p:sp>
          <p:sp>
            <p:nvSpPr>
              <p:cNvPr id="182" name="Rectangle 109">
                <a:extLst>
                  <a:ext uri="{FF2B5EF4-FFF2-40B4-BE49-F238E27FC236}">
                    <a16:creationId xmlns:a16="http://schemas.microsoft.com/office/drawing/2014/main" id="{0E15580D-8B75-B654-E932-59E84F1903A3}"/>
                  </a:ext>
                </a:extLst>
              </p:cNvPr>
              <p:cNvSpPr>
                <a:spLocks noChangeArrowheads="1"/>
              </p:cNvSpPr>
              <p:nvPr/>
            </p:nvSpPr>
            <p:spPr bwMode="auto">
              <a:xfrm>
                <a:off x="2203" y="2351"/>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1.8</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83" name="Rectangle 110">
                <a:extLst>
                  <a:ext uri="{FF2B5EF4-FFF2-40B4-BE49-F238E27FC236}">
                    <a16:creationId xmlns:a16="http://schemas.microsoft.com/office/drawing/2014/main" id="{6D02E214-FA1F-FE8E-8408-501CA1E4290D}"/>
                  </a:ext>
                </a:extLst>
              </p:cNvPr>
              <p:cNvSpPr>
                <a:spLocks noChangeArrowheads="1"/>
              </p:cNvSpPr>
              <p:nvPr/>
            </p:nvSpPr>
            <p:spPr bwMode="auto">
              <a:xfrm>
                <a:off x="2499" y="2351"/>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2.1</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84" name="Rectangle 111">
                <a:extLst>
                  <a:ext uri="{FF2B5EF4-FFF2-40B4-BE49-F238E27FC236}">
                    <a16:creationId xmlns:a16="http://schemas.microsoft.com/office/drawing/2014/main" id="{F970414A-9862-DB57-5F1A-418B8B125668}"/>
                  </a:ext>
                </a:extLst>
              </p:cNvPr>
              <p:cNvSpPr>
                <a:spLocks noChangeArrowheads="1"/>
              </p:cNvSpPr>
              <p:nvPr/>
            </p:nvSpPr>
            <p:spPr bwMode="auto">
              <a:xfrm>
                <a:off x="2799" y="235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1.85</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85" name="Rectangle 112">
                <a:extLst>
                  <a:ext uri="{FF2B5EF4-FFF2-40B4-BE49-F238E27FC236}">
                    <a16:creationId xmlns:a16="http://schemas.microsoft.com/office/drawing/2014/main" id="{E00AC3BB-3173-6A5D-C6BE-B32A6BF0A660}"/>
                  </a:ext>
                </a:extLst>
              </p:cNvPr>
              <p:cNvSpPr>
                <a:spLocks noChangeArrowheads="1"/>
              </p:cNvSpPr>
              <p:nvPr/>
            </p:nvSpPr>
            <p:spPr bwMode="auto">
              <a:xfrm>
                <a:off x="3104" y="235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1.89x</a:t>
                </a:r>
                <a:endParaRPr kumimoji="0" lang="en-US" altLang="en-US" sz="1800" b="0" i="0" u="none" strike="noStrike" cap="none" normalizeH="0" baseline="0" dirty="0">
                  <a:ln>
                    <a:noFill/>
                  </a:ln>
                  <a:effectLst/>
                  <a:cs typeface="Arial" panose="020B0604020202020204" pitchFamily="34" charset="0"/>
                </a:endParaRPr>
              </a:p>
            </p:txBody>
          </p:sp>
          <p:sp>
            <p:nvSpPr>
              <p:cNvPr id="186" name="Rectangle 113">
                <a:extLst>
                  <a:ext uri="{FF2B5EF4-FFF2-40B4-BE49-F238E27FC236}">
                    <a16:creationId xmlns:a16="http://schemas.microsoft.com/office/drawing/2014/main" id="{3D9D7A3C-32A7-EC10-29C4-025C8ACA9524}"/>
                  </a:ext>
                </a:extLst>
              </p:cNvPr>
              <p:cNvSpPr>
                <a:spLocks noChangeArrowheads="1"/>
              </p:cNvSpPr>
              <p:nvPr/>
            </p:nvSpPr>
            <p:spPr bwMode="auto">
              <a:xfrm>
                <a:off x="3382" y="2351"/>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13.30</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87" name="Rectangle 114">
                <a:extLst>
                  <a:ext uri="{FF2B5EF4-FFF2-40B4-BE49-F238E27FC236}">
                    <a16:creationId xmlns:a16="http://schemas.microsoft.com/office/drawing/2014/main" id="{92FBB0B2-2634-AAC6-0A6B-1E08089E539D}"/>
                  </a:ext>
                </a:extLst>
              </p:cNvPr>
              <p:cNvSpPr>
                <a:spLocks noChangeArrowheads="1"/>
              </p:cNvSpPr>
              <p:nvPr/>
            </p:nvSpPr>
            <p:spPr bwMode="auto">
              <a:xfrm>
                <a:off x="3697" y="2351"/>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17.00x</a:t>
                </a:r>
                <a:endParaRPr kumimoji="0" lang="en-US" altLang="en-US" sz="1800" b="0" i="0" u="none" strike="noStrike" cap="none" normalizeH="0" baseline="0" dirty="0">
                  <a:ln>
                    <a:noFill/>
                  </a:ln>
                  <a:effectLst/>
                  <a:cs typeface="Arial" panose="020B0604020202020204" pitchFamily="34" charset="0"/>
                </a:endParaRPr>
              </a:p>
            </p:txBody>
          </p:sp>
          <p:sp>
            <p:nvSpPr>
              <p:cNvPr id="188" name="Rectangle 115">
                <a:extLst>
                  <a:ext uri="{FF2B5EF4-FFF2-40B4-BE49-F238E27FC236}">
                    <a16:creationId xmlns:a16="http://schemas.microsoft.com/office/drawing/2014/main" id="{A67003C4-0E15-BB24-C92A-D2DA3F18838A}"/>
                  </a:ext>
                </a:extLst>
              </p:cNvPr>
              <p:cNvSpPr>
                <a:spLocks noChangeArrowheads="1"/>
              </p:cNvSpPr>
              <p:nvPr/>
            </p:nvSpPr>
            <p:spPr bwMode="auto">
              <a:xfrm>
                <a:off x="4005" y="2351"/>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16.70x</a:t>
                </a:r>
                <a:endParaRPr kumimoji="0" lang="en-US" altLang="en-US" sz="1800" b="0" i="0" u="none" strike="noStrike" cap="none" normalizeH="0" baseline="0" dirty="0">
                  <a:ln>
                    <a:noFill/>
                  </a:ln>
                  <a:effectLst/>
                  <a:cs typeface="Arial" panose="020B0604020202020204" pitchFamily="34" charset="0"/>
                </a:endParaRPr>
              </a:p>
            </p:txBody>
          </p:sp>
          <p:sp>
            <p:nvSpPr>
              <p:cNvPr id="189" name="Rectangle 116">
                <a:extLst>
                  <a:ext uri="{FF2B5EF4-FFF2-40B4-BE49-F238E27FC236}">
                    <a16:creationId xmlns:a16="http://schemas.microsoft.com/office/drawing/2014/main" id="{32F3A665-3EAE-B5D8-F59D-DD7FEF785661}"/>
                  </a:ext>
                </a:extLst>
              </p:cNvPr>
              <p:cNvSpPr>
                <a:spLocks noChangeArrowheads="1"/>
              </p:cNvSpPr>
              <p:nvPr/>
            </p:nvSpPr>
            <p:spPr bwMode="auto">
              <a:xfrm>
                <a:off x="4301" y="2351"/>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14.78x</a:t>
                </a:r>
                <a:endParaRPr kumimoji="0" lang="en-US" altLang="en-US" sz="1800" b="0" i="0" u="none" strike="noStrike" cap="none" normalizeH="0" baseline="0" dirty="0">
                  <a:ln>
                    <a:noFill/>
                  </a:ln>
                  <a:effectLst/>
                  <a:cs typeface="Arial" panose="020B0604020202020204" pitchFamily="34" charset="0"/>
                </a:endParaRPr>
              </a:p>
            </p:txBody>
          </p:sp>
          <p:sp>
            <p:nvSpPr>
              <p:cNvPr id="190" name="Rectangle 117">
                <a:extLst>
                  <a:ext uri="{FF2B5EF4-FFF2-40B4-BE49-F238E27FC236}">
                    <a16:creationId xmlns:a16="http://schemas.microsoft.com/office/drawing/2014/main" id="{54F67C4D-B17A-8759-FFCC-4538E2F67C33}"/>
                  </a:ext>
                </a:extLst>
              </p:cNvPr>
              <p:cNvSpPr>
                <a:spLocks noChangeArrowheads="1"/>
              </p:cNvSpPr>
              <p:nvPr/>
            </p:nvSpPr>
            <p:spPr bwMode="auto">
              <a:xfrm>
                <a:off x="4597" y="2351"/>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17.07x</a:t>
                </a:r>
                <a:endParaRPr kumimoji="0" lang="en-US" altLang="en-US" sz="1800" b="0" i="0" u="none" strike="noStrike" cap="none" normalizeH="0" baseline="0" dirty="0">
                  <a:ln>
                    <a:noFill/>
                  </a:ln>
                  <a:effectLst/>
                  <a:cs typeface="Arial" panose="020B0604020202020204" pitchFamily="34" charset="0"/>
                </a:endParaRPr>
              </a:p>
            </p:txBody>
          </p:sp>
          <p:sp>
            <p:nvSpPr>
              <p:cNvPr id="191" name="Rectangle 118">
                <a:extLst>
                  <a:ext uri="{FF2B5EF4-FFF2-40B4-BE49-F238E27FC236}">
                    <a16:creationId xmlns:a16="http://schemas.microsoft.com/office/drawing/2014/main" id="{3BB95B82-C7B0-8C8D-AB2F-53B1F6320D1E}"/>
                  </a:ext>
                </a:extLst>
              </p:cNvPr>
              <p:cNvSpPr>
                <a:spLocks noChangeArrowheads="1"/>
              </p:cNvSpPr>
              <p:nvPr/>
            </p:nvSpPr>
            <p:spPr bwMode="auto">
              <a:xfrm>
                <a:off x="4903" y="2351"/>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23.88x</a:t>
                </a:r>
                <a:endParaRPr kumimoji="0" lang="en-US" altLang="en-US" sz="1800" b="0" i="0" u="none" strike="noStrike" cap="none" normalizeH="0" baseline="0" dirty="0">
                  <a:ln>
                    <a:noFill/>
                  </a:ln>
                  <a:effectLst/>
                  <a:cs typeface="Arial" panose="020B0604020202020204" pitchFamily="34" charset="0"/>
                </a:endParaRPr>
              </a:p>
            </p:txBody>
          </p:sp>
          <p:sp>
            <p:nvSpPr>
              <p:cNvPr id="192" name="Rectangle 119">
                <a:extLst>
                  <a:ext uri="{FF2B5EF4-FFF2-40B4-BE49-F238E27FC236}">
                    <a16:creationId xmlns:a16="http://schemas.microsoft.com/office/drawing/2014/main" id="{CC92F819-B7EF-AFD6-146C-D3350B4F2E42}"/>
                  </a:ext>
                </a:extLst>
              </p:cNvPr>
              <p:cNvSpPr>
                <a:spLocks noChangeArrowheads="1"/>
              </p:cNvSpPr>
              <p:nvPr/>
            </p:nvSpPr>
            <p:spPr bwMode="auto">
              <a:xfrm>
                <a:off x="5202" y="2351"/>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18.74</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93" name="Rectangle 120">
                <a:extLst>
                  <a:ext uri="{FF2B5EF4-FFF2-40B4-BE49-F238E27FC236}">
                    <a16:creationId xmlns:a16="http://schemas.microsoft.com/office/drawing/2014/main" id="{43FF886F-E538-5436-B86C-7850C4CBE4FE}"/>
                  </a:ext>
                </a:extLst>
              </p:cNvPr>
              <p:cNvSpPr>
                <a:spLocks noChangeArrowheads="1"/>
              </p:cNvSpPr>
              <p:nvPr/>
            </p:nvSpPr>
            <p:spPr bwMode="auto">
              <a:xfrm>
                <a:off x="5494" y="2351"/>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19.64</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94" name="Rectangle 121">
                <a:extLst>
                  <a:ext uri="{FF2B5EF4-FFF2-40B4-BE49-F238E27FC236}">
                    <a16:creationId xmlns:a16="http://schemas.microsoft.com/office/drawing/2014/main" id="{75DC036D-D028-C13B-63F6-2879C63C6BBC}"/>
                  </a:ext>
                </a:extLst>
              </p:cNvPr>
              <p:cNvSpPr>
                <a:spLocks noChangeArrowheads="1"/>
              </p:cNvSpPr>
              <p:nvPr/>
            </p:nvSpPr>
            <p:spPr bwMode="auto">
              <a:xfrm>
                <a:off x="29" y="2470"/>
                <a:ext cx="487"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Lockheed Martin</a:t>
                </a:r>
              </a:p>
            </p:txBody>
          </p:sp>
          <p:sp>
            <p:nvSpPr>
              <p:cNvPr id="195" name="Rectangle 122">
                <a:extLst>
                  <a:ext uri="{FF2B5EF4-FFF2-40B4-BE49-F238E27FC236}">
                    <a16:creationId xmlns:a16="http://schemas.microsoft.com/office/drawing/2014/main" id="{EC364C35-1711-9EBC-55AF-0B560D45A1EB}"/>
                  </a:ext>
                </a:extLst>
              </p:cNvPr>
              <p:cNvSpPr>
                <a:spLocks noChangeArrowheads="1"/>
              </p:cNvSpPr>
              <p:nvPr/>
            </p:nvSpPr>
            <p:spPr bwMode="auto">
              <a:xfrm>
                <a:off x="647" y="2470"/>
                <a:ext cx="324"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NYSE:LMT</a:t>
                </a:r>
              </a:p>
            </p:txBody>
          </p:sp>
          <p:sp>
            <p:nvSpPr>
              <p:cNvPr id="196" name="Rectangle 123">
                <a:extLst>
                  <a:ext uri="{FF2B5EF4-FFF2-40B4-BE49-F238E27FC236}">
                    <a16:creationId xmlns:a16="http://schemas.microsoft.com/office/drawing/2014/main" id="{F5DC37AF-7100-6400-E3EA-65E57F0C99FC}"/>
                  </a:ext>
                </a:extLst>
              </p:cNvPr>
              <p:cNvSpPr>
                <a:spLocks noChangeArrowheads="1"/>
              </p:cNvSpPr>
              <p:nvPr/>
            </p:nvSpPr>
            <p:spPr bwMode="auto">
              <a:xfrm>
                <a:off x="1049" y="2470"/>
                <a:ext cx="25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464.93</a:t>
                </a:r>
                <a:endParaRPr kumimoji="0" lang="en-US" altLang="en-US" sz="1800" b="0" i="0" u="none" strike="noStrike" cap="none" normalizeH="0" baseline="0" dirty="0">
                  <a:ln>
                    <a:noFill/>
                  </a:ln>
                  <a:effectLst/>
                  <a:cs typeface="Arial" panose="020B0604020202020204" pitchFamily="34" charset="0"/>
                </a:endParaRPr>
              </a:p>
            </p:txBody>
          </p:sp>
          <p:sp>
            <p:nvSpPr>
              <p:cNvPr id="197" name="Rectangle 124">
                <a:extLst>
                  <a:ext uri="{FF2B5EF4-FFF2-40B4-BE49-F238E27FC236}">
                    <a16:creationId xmlns:a16="http://schemas.microsoft.com/office/drawing/2014/main" id="{F8153E7D-4954-312D-6BF9-7C8BF0E0ACDC}"/>
                  </a:ext>
                </a:extLst>
              </p:cNvPr>
              <p:cNvSpPr>
                <a:spLocks noChangeArrowheads="1"/>
              </p:cNvSpPr>
              <p:nvPr/>
            </p:nvSpPr>
            <p:spPr bwMode="auto">
              <a:xfrm>
                <a:off x="1394" y="2470"/>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$110,786</a:t>
                </a:r>
                <a:endParaRPr kumimoji="0" lang="en-US" altLang="en-US" sz="1800" b="0" i="0" u="none" strike="noStrike" cap="none" normalizeH="0" baseline="0" dirty="0">
                  <a:ln>
                    <a:noFill/>
                  </a:ln>
                  <a:effectLst/>
                  <a:cs typeface="Arial" panose="020B0604020202020204" pitchFamily="34" charset="0"/>
                </a:endParaRPr>
              </a:p>
            </p:txBody>
          </p:sp>
          <p:sp>
            <p:nvSpPr>
              <p:cNvPr id="198" name="Rectangle 125">
                <a:extLst>
                  <a:ext uri="{FF2B5EF4-FFF2-40B4-BE49-F238E27FC236}">
                    <a16:creationId xmlns:a16="http://schemas.microsoft.com/office/drawing/2014/main" id="{18C75880-0AFA-7198-09A8-0784981BFBF0}"/>
                  </a:ext>
                </a:extLst>
              </p:cNvPr>
              <p:cNvSpPr>
                <a:spLocks noChangeArrowheads="1"/>
              </p:cNvSpPr>
              <p:nvPr/>
            </p:nvSpPr>
            <p:spPr bwMode="auto">
              <a:xfrm>
                <a:off x="1794" y="2470"/>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a:t>
                </a:r>
                <a:r>
                  <a:rPr lang="en-GB" sz="1000" dirty="0">
                    <a:cs typeface="Arial" panose="020B0604020202020204" pitchFamily="34" charset="0"/>
                  </a:rPr>
                  <a:t>127,414</a:t>
                </a:r>
                <a:endParaRPr lang="en-US" altLang="en-US" sz="1000" dirty="0">
                  <a:cs typeface="Arial" panose="020B0604020202020204" pitchFamily="34" charset="0"/>
                </a:endParaRPr>
              </a:p>
            </p:txBody>
          </p:sp>
          <p:sp>
            <p:nvSpPr>
              <p:cNvPr id="199" name="Rectangle 126">
                <a:extLst>
                  <a:ext uri="{FF2B5EF4-FFF2-40B4-BE49-F238E27FC236}">
                    <a16:creationId xmlns:a16="http://schemas.microsoft.com/office/drawing/2014/main" id="{EC12E461-FE33-5518-B5AC-97D4F2A02ACA}"/>
                  </a:ext>
                </a:extLst>
              </p:cNvPr>
              <p:cNvSpPr>
                <a:spLocks noChangeArrowheads="1"/>
              </p:cNvSpPr>
              <p:nvPr/>
            </p:nvSpPr>
            <p:spPr bwMode="auto">
              <a:xfrm>
                <a:off x="2203" y="2470"/>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1.6</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00" name="Rectangle 127">
                <a:extLst>
                  <a:ext uri="{FF2B5EF4-FFF2-40B4-BE49-F238E27FC236}">
                    <a16:creationId xmlns:a16="http://schemas.microsoft.com/office/drawing/2014/main" id="{BB4787C1-01B3-DBE9-DD3D-44CCDBB40A84}"/>
                  </a:ext>
                </a:extLst>
              </p:cNvPr>
              <p:cNvSpPr>
                <a:spLocks noChangeArrowheads="1"/>
              </p:cNvSpPr>
              <p:nvPr/>
            </p:nvSpPr>
            <p:spPr bwMode="auto">
              <a:xfrm>
                <a:off x="2499" y="2470"/>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a:t>
                </a:r>
                <a:r>
                  <a:rPr kumimoji="0" lang="en-US" altLang="en-US" sz="1000" b="0" i="0" u="none" strike="noStrike" cap="none" normalizeH="0" baseline="0" dirty="0">
                    <a:ln>
                      <a:noFill/>
                    </a:ln>
                    <a:effectLst/>
                    <a:cs typeface="Arial" panose="020B0604020202020204" pitchFamily="34" charset="0"/>
                  </a:rPr>
                  <a:t>.8x</a:t>
                </a:r>
                <a:endParaRPr kumimoji="0" lang="en-US" altLang="en-US" sz="1800" b="0" i="0" u="none" strike="noStrike" cap="none" normalizeH="0" baseline="0" dirty="0">
                  <a:ln>
                    <a:noFill/>
                  </a:ln>
                  <a:effectLst/>
                  <a:cs typeface="Arial" panose="020B0604020202020204" pitchFamily="34" charset="0"/>
                </a:endParaRPr>
              </a:p>
            </p:txBody>
          </p:sp>
          <p:sp>
            <p:nvSpPr>
              <p:cNvPr id="201" name="Rectangle 128">
                <a:extLst>
                  <a:ext uri="{FF2B5EF4-FFF2-40B4-BE49-F238E27FC236}">
                    <a16:creationId xmlns:a16="http://schemas.microsoft.com/office/drawing/2014/main" id="{51C44685-1105-734D-3701-14CF654E0B3C}"/>
                  </a:ext>
                </a:extLst>
              </p:cNvPr>
              <p:cNvSpPr>
                <a:spLocks noChangeArrowheads="1"/>
              </p:cNvSpPr>
              <p:nvPr/>
            </p:nvSpPr>
            <p:spPr bwMode="auto">
              <a:xfrm>
                <a:off x="2799" y="2470"/>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1.81x</a:t>
                </a:r>
                <a:endParaRPr kumimoji="0" lang="en-US" altLang="en-US" sz="1800" b="0" i="0" u="none" strike="noStrike" cap="none" normalizeH="0" baseline="0" dirty="0">
                  <a:ln>
                    <a:noFill/>
                  </a:ln>
                  <a:effectLst/>
                  <a:cs typeface="Arial" panose="020B0604020202020204" pitchFamily="34" charset="0"/>
                </a:endParaRPr>
              </a:p>
            </p:txBody>
          </p:sp>
          <p:sp>
            <p:nvSpPr>
              <p:cNvPr id="202" name="Rectangle 129">
                <a:extLst>
                  <a:ext uri="{FF2B5EF4-FFF2-40B4-BE49-F238E27FC236}">
                    <a16:creationId xmlns:a16="http://schemas.microsoft.com/office/drawing/2014/main" id="{C7DDC18F-8E47-AA25-6B26-4F4712CFA0D7}"/>
                  </a:ext>
                </a:extLst>
              </p:cNvPr>
              <p:cNvSpPr>
                <a:spLocks noChangeArrowheads="1"/>
              </p:cNvSpPr>
              <p:nvPr/>
            </p:nvSpPr>
            <p:spPr bwMode="auto">
              <a:xfrm>
                <a:off x="3104" y="2470"/>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1.83</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03" name="Rectangle 130">
                <a:extLst>
                  <a:ext uri="{FF2B5EF4-FFF2-40B4-BE49-F238E27FC236}">
                    <a16:creationId xmlns:a16="http://schemas.microsoft.com/office/drawing/2014/main" id="{C9CC04B1-959B-B848-D9A8-3765C557DC1C}"/>
                  </a:ext>
                </a:extLst>
              </p:cNvPr>
              <p:cNvSpPr>
                <a:spLocks noChangeArrowheads="1"/>
              </p:cNvSpPr>
              <p:nvPr/>
            </p:nvSpPr>
            <p:spPr bwMode="auto">
              <a:xfrm>
                <a:off x="3382" y="2470"/>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12.20</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04" name="Rectangle 131">
                <a:extLst>
                  <a:ext uri="{FF2B5EF4-FFF2-40B4-BE49-F238E27FC236}">
                    <a16:creationId xmlns:a16="http://schemas.microsoft.com/office/drawing/2014/main" id="{5E2080B9-4362-AA89-49B8-6D1A0708F8F4}"/>
                  </a:ext>
                </a:extLst>
              </p:cNvPr>
              <p:cNvSpPr>
                <a:spLocks noChangeArrowheads="1"/>
              </p:cNvSpPr>
              <p:nvPr/>
            </p:nvSpPr>
            <p:spPr bwMode="auto">
              <a:xfrm>
                <a:off x="3697" y="2470"/>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12.20x</a:t>
                </a:r>
                <a:endParaRPr kumimoji="0" lang="en-US" altLang="en-US" sz="1800" b="0" i="0" u="none" strike="noStrike" cap="none" normalizeH="0" baseline="0" dirty="0">
                  <a:ln>
                    <a:noFill/>
                  </a:ln>
                  <a:effectLst/>
                  <a:cs typeface="Arial" panose="020B0604020202020204" pitchFamily="34" charset="0"/>
                </a:endParaRPr>
              </a:p>
            </p:txBody>
          </p:sp>
          <p:sp>
            <p:nvSpPr>
              <p:cNvPr id="205" name="Rectangle 132">
                <a:extLst>
                  <a:ext uri="{FF2B5EF4-FFF2-40B4-BE49-F238E27FC236}">
                    <a16:creationId xmlns:a16="http://schemas.microsoft.com/office/drawing/2014/main" id="{C8776E95-4C49-61D3-C7F5-496C4180AE15}"/>
                  </a:ext>
                </a:extLst>
              </p:cNvPr>
              <p:cNvSpPr>
                <a:spLocks noChangeArrowheads="1"/>
              </p:cNvSpPr>
              <p:nvPr/>
            </p:nvSpPr>
            <p:spPr bwMode="auto">
              <a:xfrm>
                <a:off x="4005" y="2470"/>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12.30x</a:t>
                </a:r>
                <a:endParaRPr kumimoji="0" lang="en-US" altLang="en-US" sz="1800" b="0" i="0" u="none" strike="noStrike" cap="none" normalizeH="0" baseline="0" dirty="0">
                  <a:ln>
                    <a:noFill/>
                  </a:ln>
                  <a:effectLst/>
                  <a:cs typeface="Arial" panose="020B0604020202020204" pitchFamily="34" charset="0"/>
                </a:endParaRPr>
              </a:p>
            </p:txBody>
          </p:sp>
          <p:sp>
            <p:nvSpPr>
              <p:cNvPr id="206" name="Rectangle 133">
                <a:extLst>
                  <a:ext uri="{FF2B5EF4-FFF2-40B4-BE49-F238E27FC236}">
                    <a16:creationId xmlns:a16="http://schemas.microsoft.com/office/drawing/2014/main" id="{0FFF67B1-EDAA-D53F-9A75-311CB94AF5B1}"/>
                  </a:ext>
                </a:extLst>
              </p:cNvPr>
              <p:cNvSpPr>
                <a:spLocks noChangeArrowheads="1"/>
              </p:cNvSpPr>
              <p:nvPr/>
            </p:nvSpPr>
            <p:spPr bwMode="auto">
              <a:xfrm>
                <a:off x="4301" y="2470"/>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13.03x</a:t>
                </a:r>
                <a:endParaRPr kumimoji="0" lang="en-US" altLang="en-US" sz="1800" b="0" i="0" u="none" strike="noStrike" cap="none" normalizeH="0" baseline="0" dirty="0">
                  <a:ln>
                    <a:noFill/>
                  </a:ln>
                  <a:effectLst/>
                  <a:cs typeface="Arial" panose="020B0604020202020204" pitchFamily="34" charset="0"/>
                </a:endParaRPr>
              </a:p>
            </p:txBody>
          </p:sp>
          <p:sp>
            <p:nvSpPr>
              <p:cNvPr id="207" name="Rectangle 134">
                <a:extLst>
                  <a:ext uri="{FF2B5EF4-FFF2-40B4-BE49-F238E27FC236}">
                    <a16:creationId xmlns:a16="http://schemas.microsoft.com/office/drawing/2014/main" id="{87AD0D69-3930-DD59-40DD-35C804A39CB0}"/>
                  </a:ext>
                </a:extLst>
              </p:cNvPr>
              <p:cNvSpPr>
                <a:spLocks noChangeArrowheads="1"/>
              </p:cNvSpPr>
              <p:nvPr/>
            </p:nvSpPr>
            <p:spPr bwMode="auto">
              <a:xfrm>
                <a:off x="4597" y="2470"/>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14.71x</a:t>
                </a:r>
                <a:endParaRPr kumimoji="0" lang="en-US" altLang="en-US" sz="1800" b="0" i="0" u="none" strike="noStrike" cap="none" normalizeH="0" baseline="0" dirty="0">
                  <a:ln>
                    <a:noFill/>
                  </a:ln>
                  <a:effectLst/>
                  <a:cs typeface="Arial" panose="020B0604020202020204" pitchFamily="34" charset="0"/>
                </a:endParaRPr>
              </a:p>
            </p:txBody>
          </p:sp>
          <p:sp>
            <p:nvSpPr>
              <p:cNvPr id="208" name="Rectangle 135">
                <a:extLst>
                  <a:ext uri="{FF2B5EF4-FFF2-40B4-BE49-F238E27FC236}">
                    <a16:creationId xmlns:a16="http://schemas.microsoft.com/office/drawing/2014/main" id="{EA06D728-2674-00E2-6FA1-1EE43993B890}"/>
                  </a:ext>
                </a:extLst>
              </p:cNvPr>
              <p:cNvSpPr>
                <a:spLocks noChangeArrowheads="1"/>
              </p:cNvSpPr>
              <p:nvPr/>
            </p:nvSpPr>
            <p:spPr bwMode="auto">
              <a:xfrm>
                <a:off x="4903" y="2470"/>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16.88x</a:t>
                </a:r>
                <a:endParaRPr kumimoji="0" lang="en-US" altLang="en-US" sz="1800" b="0" i="0" u="none" strike="noStrike" cap="none" normalizeH="0" baseline="0" dirty="0">
                  <a:ln>
                    <a:noFill/>
                  </a:ln>
                  <a:effectLst/>
                  <a:cs typeface="Arial" panose="020B0604020202020204" pitchFamily="34" charset="0"/>
                </a:endParaRPr>
              </a:p>
            </p:txBody>
          </p:sp>
          <p:sp>
            <p:nvSpPr>
              <p:cNvPr id="209" name="Rectangle 136">
                <a:extLst>
                  <a:ext uri="{FF2B5EF4-FFF2-40B4-BE49-F238E27FC236}">
                    <a16:creationId xmlns:a16="http://schemas.microsoft.com/office/drawing/2014/main" id="{A8A99F83-4A52-7F54-C67E-E6A2B179BBC5}"/>
                  </a:ext>
                </a:extLst>
              </p:cNvPr>
              <p:cNvSpPr>
                <a:spLocks noChangeArrowheads="1"/>
              </p:cNvSpPr>
              <p:nvPr/>
            </p:nvSpPr>
            <p:spPr bwMode="auto">
              <a:xfrm>
                <a:off x="5202" y="2470"/>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17.42</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10" name="Rectangle 137">
                <a:extLst>
                  <a:ext uri="{FF2B5EF4-FFF2-40B4-BE49-F238E27FC236}">
                    <a16:creationId xmlns:a16="http://schemas.microsoft.com/office/drawing/2014/main" id="{4AE0CF13-1EBE-2136-7A72-977AE3DAD038}"/>
                  </a:ext>
                </a:extLst>
              </p:cNvPr>
              <p:cNvSpPr>
                <a:spLocks noChangeArrowheads="1"/>
              </p:cNvSpPr>
              <p:nvPr/>
            </p:nvSpPr>
            <p:spPr bwMode="auto">
              <a:xfrm>
                <a:off x="5494" y="2470"/>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17.62</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11" name="Rectangle 138">
                <a:extLst>
                  <a:ext uri="{FF2B5EF4-FFF2-40B4-BE49-F238E27FC236}">
                    <a16:creationId xmlns:a16="http://schemas.microsoft.com/office/drawing/2014/main" id="{A249FB6C-69CB-4C22-4DAB-F3EDAB590795}"/>
                  </a:ext>
                </a:extLst>
              </p:cNvPr>
              <p:cNvSpPr>
                <a:spLocks noChangeArrowheads="1"/>
              </p:cNvSpPr>
              <p:nvPr/>
            </p:nvSpPr>
            <p:spPr bwMode="auto">
              <a:xfrm>
                <a:off x="29" y="2589"/>
                <a:ext cx="517"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err="1">
                    <a:ln>
                      <a:noFill/>
                    </a:ln>
                    <a:effectLst/>
                    <a:cs typeface="Arial" panose="020B0604020202020204" pitchFamily="34" charset="0"/>
                  </a:rPr>
                  <a:t>TransDigm</a:t>
                </a:r>
                <a:r>
                  <a:rPr kumimoji="0" lang="en-US" altLang="en-US" sz="800" b="0" i="0" u="none" strike="noStrike" cap="none" normalizeH="0" baseline="0" dirty="0">
                    <a:ln>
                      <a:noFill/>
                    </a:ln>
                    <a:effectLst/>
                    <a:cs typeface="Arial" panose="020B0604020202020204" pitchFamily="34" charset="0"/>
                  </a:rPr>
                  <a:t> Group</a:t>
                </a:r>
              </a:p>
            </p:txBody>
          </p:sp>
          <p:sp>
            <p:nvSpPr>
              <p:cNvPr id="212" name="Rectangle 139">
                <a:extLst>
                  <a:ext uri="{FF2B5EF4-FFF2-40B4-BE49-F238E27FC236}">
                    <a16:creationId xmlns:a16="http://schemas.microsoft.com/office/drawing/2014/main" id="{7141560A-DF91-FCF9-6C76-379C170C5A1F}"/>
                  </a:ext>
                </a:extLst>
              </p:cNvPr>
              <p:cNvSpPr>
                <a:spLocks noChangeArrowheads="1"/>
              </p:cNvSpPr>
              <p:nvPr/>
            </p:nvSpPr>
            <p:spPr bwMode="auto">
              <a:xfrm>
                <a:off x="647" y="2589"/>
                <a:ext cx="33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NYSE:TDG</a:t>
                </a:r>
              </a:p>
            </p:txBody>
          </p:sp>
          <p:sp>
            <p:nvSpPr>
              <p:cNvPr id="213" name="Rectangle 140">
                <a:extLst>
                  <a:ext uri="{FF2B5EF4-FFF2-40B4-BE49-F238E27FC236}">
                    <a16:creationId xmlns:a16="http://schemas.microsoft.com/office/drawing/2014/main" id="{70A1132F-2784-0063-3F36-A3D4C35EE4D2}"/>
                  </a:ext>
                </a:extLst>
              </p:cNvPr>
              <p:cNvSpPr>
                <a:spLocks noChangeArrowheads="1"/>
              </p:cNvSpPr>
              <p:nvPr/>
            </p:nvSpPr>
            <p:spPr bwMode="auto">
              <a:xfrm>
                <a:off x="1017" y="2589"/>
                <a:ext cx="31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1,248.03</a:t>
                </a:r>
                <a:endParaRPr kumimoji="0" lang="en-US" altLang="en-US" sz="1800" b="0" i="0" u="none" strike="noStrike" cap="none" normalizeH="0" baseline="0" dirty="0">
                  <a:ln>
                    <a:noFill/>
                  </a:ln>
                  <a:effectLst/>
                  <a:cs typeface="Arial" panose="020B0604020202020204" pitchFamily="34" charset="0"/>
                </a:endParaRPr>
              </a:p>
            </p:txBody>
          </p:sp>
          <p:sp>
            <p:nvSpPr>
              <p:cNvPr id="214" name="Rectangle 141">
                <a:extLst>
                  <a:ext uri="{FF2B5EF4-FFF2-40B4-BE49-F238E27FC236}">
                    <a16:creationId xmlns:a16="http://schemas.microsoft.com/office/drawing/2014/main" id="{1718C4B0-15E6-245D-95C1-610E30CD54EE}"/>
                  </a:ext>
                </a:extLst>
              </p:cNvPr>
              <p:cNvSpPr>
                <a:spLocks noChangeArrowheads="1"/>
              </p:cNvSpPr>
              <p:nvPr/>
            </p:nvSpPr>
            <p:spPr bwMode="auto">
              <a:xfrm>
                <a:off x="1394" y="2589"/>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$69,470</a:t>
                </a:r>
                <a:endParaRPr kumimoji="0" lang="en-US" altLang="en-US" sz="1800" b="0" i="0" u="none" strike="noStrike" cap="none" normalizeH="0" baseline="0" dirty="0">
                  <a:ln>
                    <a:noFill/>
                  </a:ln>
                  <a:effectLst/>
                  <a:cs typeface="Arial" panose="020B0604020202020204" pitchFamily="34" charset="0"/>
                </a:endParaRPr>
              </a:p>
            </p:txBody>
          </p:sp>
          <p:sp>
            <p:nvSpPr>
              <p:cNvPr id="215" name="Rectangle 142">
                <a:extLst>
                  <a:ext uri="{FF2B5EF4-FFF2-40B4-BE49-F238E27FC236}">
                    <a16:creationId xmlns:a16="http://schemas.microsoft.com/office/drawing/2014/main" id="{5A69B779-B79E-465C-EA54-DE1DE2BCA77D}"/>
                  </a:ext>
                </a:extLst>
              </p:cNvPr>
              <p:cNvSpPr>
                <a:spLocks noChangeArrowheads="1"/>
              </p:cNvSpPr>
              <p:nvPr/>
            </p:nvSpPr>
            <p:spPr bwMode="auto">
              <a:xfrm>
                <a:off x="1794" y="2589"/>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$87,208</a:t>
                </a:r>
                <a:endParaRPr kumimoji="0" lang="en-US" altLang="en-US" sz="1800" b="0" i="0" u="none" strike="noStrike" cap="none" normalizeH="0" baseline="0" dirty="0">
                  <a:ln>
                    <a:noFill/>
                  </a:ln>
                  <a:effectLst/>
                  <a:cs typeface="Arial" panose="020B0604020202020204" pitchFamily="34" charset="0"/>
                </a:endParaRPr>
              </a:p>
            </p:txBody>
          </p:sp>
          <p:sp>
            <p:nvSpPr>
              <p:cNvPr id="216" name="Rectangle 143">
                <a:extLst>
                  <a:ext uri="{FF2B5EF4-FFF2-40B4-BE49-F238E27FC236}">
                    <a16:creationId xmlns:a16="http://schemas.microsoft.com/office/drawing/2014/main" id="{0DFCDE0B-8906-1018-4B5C-56C18E76B198}"/>
                  </a:ext>
                </a:extLst>
              </p:cNvPr>
              <p:cNvSpPr>
                <a:spLocks noChangeArrowheads="1"/>
              </p:cNvSpPr>
              <p:nvPr/>
            </p:nvSpPr>
            <p:spPr bwMode="auto">
              <a:xfrm>
                <a:off x="2203" y="2589"/>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10.7x</a:t>
                </a:r>
                <a:endParaRPr kumimoji="0" lang="en-US" altLang="en-US" sz="1800" b="0" i="0" u="none" strike="noStrike" cap="none" normalizeH="0" baseline="0" dirty="0">
                  <a:ln>
                    <a:noFill/>
                  </a:ln>
                  <a:effectLst/>
                  <a:cs typeface="Arial" panose="020B0604020202020204" pitchFamily="34" charset="0"/>
                </a:endParaRPr>
              </a:p>
            </p:txBody>
          </p:sp>
          <p:sp>
            <p:nvSpPr>
              <p:cNvPr id="217" name="Rectangle 144">
                <a:extLst>
                  <a:ext uri="{FF2B5EF4-FFF2-40B4-BE49-F238E27FC236}">
                    <a16:creationId xmlns:a16="http://schemas.microsoft.com/office/drawing/2014/main" id="{4B2B4061-B5D4-FA0B-1106-E1846F707EBB}"/>
                  </a:ext>
                </a:extLst>
              </p:cNvPr>
              <p:cNvSpPr>
                <a:spLocks noChangeArrowheads="1"/>
              </p:cNvSpPr>
              <p:nvPr/>
            </p:nvSpPr>
            <p:spPr bwMode="auto">
              <a:xfrm>
                <a:off x="2499" y="2589"/>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12.5</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18" name="Rectangle 145">
                <a:extLst>
                  <a:ext uri="{FF2B5EF4-FFF2-40B4-BE49-F238E27FC236}">
                    <a16:creationId xmlns:a16="http://schemas.microsoft.com/office/drawing/2014/main" id="{87A2724D-6406-76CB-332E-8B275DAF92E8}"/>
                  </a:ext>
                </a:extLst>
              </p:cNvPr>
              <p:cNvSpPr>
                <a:spLocks noChangeArrowheads="1"/>
              </p:cNvSpPr>
              <p:nvPr/>
            </p:nvSpPr>
            <p:spPr bwMode="auto">
              <a:xfrm>
                <a:off x="2799" y="2589"/>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10.98</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19" name="Rectangle 146">
                <a:extLst>
                  <a:ext uri="{FF2B5EF4-FFF2-40B4-BE49-F238E27FC236}">
                    <a16:creationId xmlns:a16="http://schemas.microsoft.com/office/drawing/2014/main" id="{5332E7A3-E025-E054-33CC-92E533E3BEA0}"/>
                  </a:ext>
                </a:extLst>
              </p:cNvPr>
              <p:cNvSpPr>
                <a:spLocks noChangeArrowheads="1"/>
              </p:cNvSpPr>
              <p:nvPr/>
            </p:nvSpPr>
            <p:spPr bwMode="auto">
              <a:xfrm>
                <a:off x="3104" y="2589"/>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11.30x</a:t>
                </a:r>
                <a:endParaRPr kumimoji="0" lang="en-US" altLang="en-US" sz="1800" b="0" i="0" u="none" strike="noStrike" cap="none" normalizeH="0" baseline="0" dirty="0">
                  <a:ln>
                    <a:noFill/>
                  </a:ln>
                  <a:effectLst/>
                  <a:cs typeface="Arial" panose="020B0604020202020204" pitchFamily="34" charset="0"/>
                </a:endParaRPr>
              </a:p>
            </p:txBody>
          </p:sp>
          <p:sp>
            <p:nvSpPr>
              <p:cNvPr id="220" name="Rectangle 147">
                <a:extLst>
                  <a:ext uri="{FF2B5EF4-FFF2-40B4-BE49-F238E27FC236}">
                    <a16:creationId xmlns:a16="http://schemas.microsoft.com/office/drawing/2014/main" id="{4C63F12A-35F3-5D20-2A69-B52E1CB6D9AF}"/>
                  </a:ext>
                </a:extLst>
              </p:cNvPr>
              <p:cNvSpPr>
                <a:spLocks noChangeArrowheads="1"/>
              </p:cNvSpPr>
              <p:nvPr/>
            </p:nvSpPr>
            <p:spPr bwMode="auto">
              <a:xfrm>
                <a:off x="3382" y="2589"/>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27.30x</a:t>
                </a:r>
                <a:endParaRPr kumimoji="0" lang="en-US" altLang="en-US" sz="1800" b="0" i="0" u="none" strike="noStrike" cap="none" normalizeH="0" baseline="0" dirty="0">
                  <a:ln>
                    <a:noFill/>
                  </a:ln>
                  <a:effectLst/>
                  <a:cs typeface="Arial" panose="020B0604020202020204" pitchFamily="34" charset="0"/>
                </a:endParaRPr>
              </a:p>
            </p:txBody>
          </p:sp>
          <p:sp>
            <p:nvSpPr>
              <p:cNvPr id="221" name="Rectangle 148">
                <a:extLst>
                  <a:ext uri="{FF2B5EF4-FFF2-40B4-BE49-F238E27FC236}">
                    <a16:creationId xmlns:a16="http://schemas.microsoft.com/office/drawing/2014/main" id="{A594B7A4-4309-E023-EE99-B61A0C40719D}"/>
                  </a:ext>
                </a:extLst>
              </p:cNvPr>
              <p:cNvSpPr>
                <a:spLocks noChangeArrowheads="1"/>
              </p:cNvSpPr>
              <p:nvPr/>
            </p:nvSpPr>
            <p:spPr bwMode="auto">
              <a:xfrm>
                <a:off x="3697" y="2589"/>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25.40x</a:t>
                </a:r>
                <a:endParaRPr kumimoji="0" lang="en-US" altLang="en-US" sz="1800" b="0" i="0" u="none" strike="noStrike" cap="none" normalizeH="0" baseline="0" dirty="0">
                  <a:ln>
                    <a:noFill/>
                  </a:ln>
                  <a:effectLst/>
                  <a:cs typeface="Arial" panose="020B0604020202020204" pitchFamily="34" charset="0"/>
                </a:endParaRPr>
              </a:p>
            </p:txBody>
          </p:sp>
          <p:sp>
            <p:nvSpPr>
              <p:cNvPr id="222" name="Rectangle 149">
                <a:extLst>
                  <a:ext uri="{FF2B5EF4-FFF2-40B4-BE49-F238E27FC236}">
                    <a16:creationId xmlns:a16="http://schemas.microsoft.com/office/drawing/2014/main" id="{FDC415E9-C961-1B1E-DC64-B254C6264CC9}"/>
                  </a:ext>
                </a:extLst>
              </p:cNvPr>
              <p:cNvSpPr>
                <a:spLocks noChangeArrowheads="1"/>
              </p:cNvSpPr>
              <p:nvPr/>
            </p:nvSpPr>
            <p:spPr bwMode="auto">
              <a:xfrm>
                <a:off x="4005" y="2589"/>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21.10x</a:t>
                </a:r>
                <a:endParaRPr kumimoji="0" lang="en-US" altLang="en-US" sz="1800" b="0" i="0" u="none" strike="noStrike" cap="none" normalizeH="0" baseline="0" dirty="0">
                  <a:ln>
                    <a:noFill/>
                  </a:ln>
                  <a:effectLst/>
                  <a:cs typeface="Arial" panose="020B0604020202020204" pitchFamily="34" charset="0"/>
                </a:endParaRPr>
              </a:p>
            </p:txBody>
          </p:sp>
          <p:sp>
            <p:nvSpPr>
              <p:cNvPr id="223" name="Rectangle 150">
                <a:extLst>
                  <a:ext uri="{FF2B5EF4-FFF2-40B4-BE49-F238E27FC236}">
                    <a16:creationId xmlns:a16="http://schemas.microsoft.com/office/drawing/2014/main" id="{42CABC0A-E151-BB4B-4A63-08982E5F917D}"/>
                  </a:ext>
                </a:extLst>
              </p:cNvPr>
              <p:cNvSpPr>
                <a:spLocks noChangeArrowheads="1"/>
              </p:cNvSpPr>
              <p:nvPr/>
            </p:nvSpPr>
            <p:spPr bwMode="auto">
              <a:xfrm>
                <a:off x="4301" y="2589"/>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21.67</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24" name="Rectangle 151">
                <a:extLst>
                  <a:ext uri="{FF2B5EF4-FFF2-40B4-BE49-F238E27FC236}">
                    <a16:creationId xmlns:a16="http://schemas.microsoft.com/office/drawing/2014/main" id="{372A4571-B99F-B890-2DE5-337C70A17F80}"/>
                  </a:ext>
                </a:extLst>
              </p:cNvPr>
              <p:cNvSpPr>
                <a:spLocks noChangeArrowheads="1"/>
              </p:cNvSpPr>
              <p:nvPr/>
            </p:nvSpPr>
            <p:spPr bwMode="auto">
              <a:xfrm>
                <a:off x="4597" y="2589"/>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46.60x</a:t>
                </a:r>
                <a:endParaRPr kumimoji="0" lang="en-US" altLang="en-US" sz="1800" b="0" i="0" u="none" strike="noStrike" cap="none" normalizeH="0" baseline="0" dirty="0">
                  <a:ln>
                    <a:noFill/>
                  </a:ln>
                  <a:effectLst/>
                  <a:cs typeface="Arial" panose="020B0604020202020204" pitchFamily="34" charset="0"/>
                </a:endParaRPr>
              </a:p>
            </p:txBody>
          </p:sp>
          <p:sp>
            <p:nvSpPr>
              <p:cNvPr id="225" name="Rectangle 152">
                <a:extLst>
                  <a:ext uri="{FF2B5EF4-FFF2-40B4-BE49-F238E27FC236}">
                    <a16:creationId xmlns:a16="http://schemas.microsoft.com/office/drawing/2014/main" id="{DAEAEA04-0AAA-0AC0-8FDD-30FE100209B6}"/>
                  </a:ext>
                </a:extLst>
              </p:cNvPr>
              <p:cNvSpPr>
                <a:spLocks noChangeArrowheads="1"/>
              </p:cNvSpPr>
              <p:nvPr/>
            </p:nvSpPr>
            <p:spPr bwMode="auto">
              <a:xfrm>
                <a:off x="4903" y="2589"/>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42.92x</a:t>
                </a:r>
                <a:endParaRPr kumimoji="0" lang="en-US" altLang="en-US" sz="1800" b="0" i="0" u="none" strike="noStrike" cap="none" normalizeH="0" baseline="0" dirty="0">
                  <a:ln>
                    <a:noFill/>
                  </a:ln>
                  <a:effectLst/>
                  <a:cs typeface="Arial" panose="020B0604020202020204" pitchFamily="34" charset="0"/>
                </a:endParaRPr>
              </a:p>
            </p:txBody>
          </p:sp>
          <p:sp>
            <p:nvSpPr>
              <p:cNvPr id="226" name="Rectangle 153">
                <a:extLst>
                  <a:ext uri="{FF2B5EF4-FFF2-40B4-BE49-F238E27FC236}">
                    <a16:creationId xmlns:a16="http://schemas.microsoft.com/office/drawing/2014/main" id="{9E02ABD1-C9AA-20AA-C4E6-33CCAAC52516}"/>
                  </a:ext>
                </a:extLst>
              </p:cNvPr>
              <p:cNvSpPr>
                <a:spLocks noChangeArrowheads="1"/>
              </p:cNvSpPr>
              <p:nvPr/>
            </p:nvSpPr>
            <p:spPr bwMode="auto">
              <a:xfrm>
                <a:off x="5202" y="2589"/>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37.96</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27" name="Rectangle 154">
                <a:extLst>
                  <a:ext uri="{FF2B5EF4-FFF2-40B4-BE49-F238E27FC236}">
                    <a16:creationId xmlns:a16="http://schemas.microsoft.com/office/drawing/2014/main" id="{5ABD4CE2-494C-5BEF-81F3-AB10A3403B75}"/>
                  </a:ext>
                </a:extLst>
              </p:cNvPr>
              <p:cNvSpPr>
                <a:spLocks noChangeArrowheads="1"/>
              </p:cNvSpPr>
              <p:nvPr/>
            </p:nvSpPr>
            <p:spPr bwMode="auto">
              <a:xfrm>
                <a:off x="5494" y="2589"/>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39.22x</a:t>
                </a:r>
                <a:endParaRPr kumimoji="0" lang="en-US" altLang="en-US" sz="1800" b="0" i="0" u="none" strike="noStrike" cap="none" normalizeH="0" baseline="0" dirty="0">
                  <a:ln>
                    <a:noFill/>
                  </a:ln>
                  <a:effectLst/>
                  <a:cs typeface="Arial" panose="020B0604020202020204" pitchFamily="34" charset="0"/>
                </a:endParaRPr>
              </a:p>
            </p:txBody>
          </p:sp>
          <p:sp>
            <p:nvSpPr>
              <p:cNvPr id="228" name="Rectangle 155">
                <a:extLst>
                  <a:ext uri="{FF2B5EF4-FFF2-40B4-BE49-F238E27FC236}">
                    <a16:creationId xmlns:a16="http://schemas.microsoft.com/office/drawing/2014/main" id="{5FCBFF47-CA4D-F9BB-49AB-7703A67B0842}"/>
                  </a:ext>
                </a:extLst>
              </p:cNvPr>
              <p:cNvSpPr>
                <a:spLocks noChangeArrowheads="1"/>
              </p:cNvSpPr>
              <p:nvPr/>
            </p:nvSpPr>
            <p:spPr bwMode="auto">
              <a:xfrm>
                <a:off x="29" y="2708"/>
                <a:ext cx="342"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Textron Inc.</a:t>
                </a:r>
              </a:p>
            </p:txBody>
          </p:sp>
          <p:sp>
            <p:nvSpPr>
              <p:cNvPr id="229" name="Rectangle 156">
                <a:extLst>
                  <a:ext uri="{FF2B5EF4-FFF2-40B4-BE49-F238E27FC236}">
                    <a16:creationId xmlns:a16="http://schemas.microsoft.com/office/drawing/2014/main" id="{EA6B3BBE-9696-65EA-79FE-72C563B3F501}"/>
                  </a:ext>
                </a:extLst>
              </p:cNvPr>
              <p:cNvSpPr>
                <a:spLocks noChangeArrowheads="1"/>
              </p:cNvSpPr>
              <p:nvPr/>
            </p:nvSpPr>
            <p:spPr bwMode="auto">
              <a:xfrm>
                <a:off x="647" y="2708"/>
                <a:ext cx="317"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NYSE:TXT</a:t>
                </a:r>
              </a:p>
            </p:txBody>
          </p:sp>
          <p:sp>
            <p:nvSpPr>
              <p:cNvPr id="230" name="Rectangle 157">
                <a:extLst>
                  <a:ext uri="{FF2B5EF4-FFF2-40B4-BE49-F238E27FC236}">
                    <a16:creationId xmlns:a16="http://schemas.microsoft.com/office/drawing/2014/main" id="{16DF704D-7256-AD20-9030-16110DB9A7E9}"/>
                  </a:ext>
                </a:extLst>
              </p:cNvPr>
              <p:cNvSpPr>
                <a:spLocks noChangeArrowheads="1"/>
              </p:cNvSpPr>
              <p:nvPr/>
            </p:nvSpPr>
            <p:spPr bwMode="auto">
              <a:xfrm>
                <a:off x="1051" y="2708"/>
                <a:ext cx="24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 84.59 </a:t>
                </a:r>
                <a:endParaRPr kumimoji="0" lang="en-US" altLang="en-US" sz="1800" b="0" i="0" u="none" strike="noStrike" cap="none" normalizeH="0" baseline="0" dirty="0">
                  <a:ln>
                    <a:noFill/>
                  </a:ln>
                  <a:effectLst/>
                  <a:cs typeface="Arial" panose="020B0604020202020204" pitchFamily="34" charset="0"/>
                </a:endParaRPr>
              </a:p>
            </p:txBody>
          </p:sp>
          <p:sp>
            <p:nvSpPr>
              <p:cNvPr id="231" name="Rectangle 158">
                <a:extLst>
                  <a:ext uri="{FF2B5EF4-FFF2-40B4-BE49-F238E27FC236}">
                    <a16:creationId xmlns:a16="http://schemas.microsoft.com/office/drawing/2014/main" id="{A98EFB1D-6D8F-29C2-A10C-D53E6AEB19A0}"/>
                  </a:ext>
                </a:extLst>
              </p:cNvPr>
              <p:cNvSpPr>
                <a:spLocks noChangeArrowheads="1"/>
              </p:cNvSpPr>
              <p:nvPr/>
            </p:nvSpPr>
            <p:spPr bwMode="auto">
              <a:xfrm>
                <a:off x="1394" y="2708"/>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$16,165</a:t>
                </a:r>
                <a:endParaRPr kumimoji="0" lang="en-US" altLang="en-US" sz="1800" b="0" i="0" u="none" strike="noStrike" cap="none" normalizeH="0" baseline="0" dirty="0">
                  <a:ln>
                    <a:noFill/>
                  </a:ln>
                  <a:effectLst/>
                  <a:cs typeface="Arial" panose="020B0604020202020204" pitchFamily="34" charset="0"/>
                </a:endParaRPr>
              </a:p>
            </p:txBody>
          </p:sp>
          <p:sp>
            <p:nvSpPr>
              <p:cNvPr id="232" name="Rectangle 159">
                <a:extLst>
                  <a:ext uri="{FF2B5EF4-FFF2-40B4-BE49-F238E27FC236}">
                    <a16:creationId xmlns:a16="http://schemas.microsoft.com/office/drawing/2014/main" id="{ECB13638-2224-7C05-767B-A8932D13263B}"/>
                  </a:ext>
                </a:extLst>
              </p:cNvPr>
              <p:cNvSpPr>
                <a:spLocks noChangeArrowheads="1"/>
              </p:cNvSpPr>
              <p:nvPr/>
            </p:nvSpPr>
            <p:spPr bwMode="auto">
              <a:xfrm>
                <a:off x="1794" y="2708"/>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$18,685</a:t>
                </a:r>
                <a:endParaRPr kumimoji="0" lang="en-US" altLang="en-US" sz="1800" b="0" i="0" u="none" strike="noStrike" cap="none" normalizeH="0" baseline="0" dirty="0">
                  <a:ln>
                    <a:noFill/>
                  </a:ln>
                  <a:effectLst/>
                  <a:cs typeface="Arial" panose="020B0604020202020204" pitchFamily="34" charset="0"/>
                </a:endParaRPr>
              </a:p>
            </p:txBody>
          </p:sp>
          <p:sp>
            <p:nvSpPr>
              <p:cNvPr id="233" name="Rectangle 160">
                <a:extLst>
                  <a:ext uri="{FF2B5EF4-FFF2-40B4-BE49-F238E27FC236}">
                    <a16:creationId xmlns:a16="http://schemas.microsoft.com/office/drawing/2014/main" id="{39634D82-2069-DE06-DDE7-7BBF33865E89}"/>
                  </a:ext>
                </a:extLst>
              </p:cNvPr>
              <p:cNvSpPr>
                <a:spLocks noChangeArrowheads="1"/>
              </p:cNvSpPr>
              <p:nvPr/>
            </p:nvSpPr>
            <p:spPr bwMode="auto">
              <a:xfrm>
                <a:off x="2203" y="2708"/>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1.5</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34" name="Rectangle 161">
                <a:extLst>
                  <a:ext uri="{FF2B5EF4-FFF2-40B4-BE49-F238E27FC236}">
                    <a16:creationId xmlns:a16="http://schemas.microsoft.com/office/drawing/2014/main" id="{CAD82A35-8EEA-AC71-05C1-4F5F77016C57}"/>
                  </a:ext>
                </a:extLst>
              </p:cNvPr>
              <p:cNvSpPr>
                <a:spLocks noChangeArrowheads="1"/>
              </p:cNvSpPr>
              <p:nvPr/>
            </p:nvSpPr>
            <p:spPr bwMode="auto">
              <a:xfrm>
                <a:off x="2499" y="2708"/>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1.4</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35" name="Rectangle 162">
                <a:extLst>
                  <a:ext uri="{FF2B5EF4-FFF2-40B4-BE49-F238E27FC236}">
                    <a16:creationId xmlns:a16="http://schemas.microsoft.com/office/drawing/2014/main" id="{3A0E84CA-1A0C-FA87-0F6B-5A56E2D77607}"/>
                  </a:ext>
                </a:extLst>
              </p:cNvPr>
              <p:cNvSpPr>
                <a:spLocks noChangeArrowheads="1"/>
              </p:cNvSpPr>
              <p:nvPr/>
            </p:nvSpPr>
            <p:spPr bwMode="auto">
              <a:xfrm>
                <a:off x="2799" y="2708"/>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1.27</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36" name="Rectangle 163">
                <a:extLst>
                  <a:ext uri="{FF2B5EF4-FFF2-40B4-BE49-F238E27FC236}">
                    <a16:creationId xmlns:a16="http://schemas.microsoft.com/office/drawing/2014/main" id="{816D0797-0F03-3F5C-1AD9-736ED687CFE5}"/>
                  </a:ext>
                </a:extLst>
              </p:cNvPr>
              <p:cNvSpPr>
                <a:spLocks noChangeArrowheads="1"/>
              </p:cNvSpPr>
              <p:nvPr/>
            </p:nvSpPr>
            <p:spPr bwMode="auto">
              <a:xfrm>
                <a:off x="3104" y="2708"/>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1.29x</a:t>
                </a:r>
                <a:endParaRPr kumimoji="0" lang="en-US" altLang="en-US" sz="1800" b="0" i="0" u="none" strike="noStrike" cap="none" normalizeH="0" baseline="0" dirty="0">
                  <a:ln>
                    <a:noFill/>
                  </a:ln>
                  <a:effectLst/>
                  <a:cs typeface="Arial" panose="020B0604020202020204" pitchFamily="34" charset="0"/>
                </a:endParaRPr>
              </a:p>
            </p:txBody>
          </p:sp>
          <p:sp>
            <p:nvSpPr>
              <p:cNvPr id="237" name="Rectangle 164">
                <a:extLst>
                  <a:ext uri="{FF2B5EF4-FFF2-40B4-BE49-F238E27FC236}">
                    <a16:creationId xmlns:a16="http://schemas.microsoft.com/office/drawing/2014/main" id="{269AE401-79AC-6E38-5929-1682D0990877}"/>
                  </a:ext>
                </a:extLst>
              </p:cNvPr>
              <p:cNvSpPr>
                <a:spLocks noChangeArrowheads="1"/>
              </p:cNvSpPr>
              <p:nvPr/>
            </p:nvSpPr>
            <p:spPr bwMode="auto">
              <a:xfrm>
                <a:off x="3382" y="2708"/>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13.80x</a:t>
                </a:r>
                <a:endParaRPr kumimoji="0" lang="en-US" altLang="en-US" sz="1800" b="0" i="0" u="none" strike="noStrike" cap="none" normalizeH="0" baseline="0" dirty="0">
                  <a:ln>
                    <a:noFill/>
                  </a:ln>
                  <a:effectLst/>
                  <a:cs typeface="Arial" panose="020B0604020202020204" pitchFamily="34" charset="0"/>
                </a:endParaRPr>
              </a:p>
            </p:txBody>
          </p:sp>
          <p:sp>
            <p:nvSpPr>
              <p:cNvPr id="238" name="Rectangle 165">
                <a:extLst>
                  <a:ext uri="{FF2B5EF4-FFF2-40B4-BE49-F238E27FC236}">
                    <a16:creationId xmlns:a16="http://schemas.microsoft.com/office/drawing/2014/main" id="{80230419-410B-CFDF-77DB-E5B7279252C7}"/>
                  </a:ext>
                </a:extLst>
              </p:cNvPr>
              <p:cNvSpPr>
                <a:spLocks noChangeArrowheads="1"/>
              </p:cNvSpPr>
              <p:nvPr/>
            </p:nvSpPr>
            <p:spPr bwMode="auto">
              <a:xfrm>
                <a:off x="3697" y="2708"/>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10.60x</a:t>
                </a:r>
                <a:endParaRPr kumimoji="0" lang="en-US" altLang="en-US" sz="1800" b="0" i="0" u="none" strike="noStrike" cap="none" normalizeH="0" baseline="0" dirty="0">
                  <a:ln>
                    <a:noFill/>
                  </a:ln>
                  <a:effectLst/>
                  <a:cs typeface="Arial" panose="020B0604020202020204" pitchFamily="34" charset="0"/>
                </a:endParaRPr>
              </a:p>
            </p:txBody>
          </p:sp>
          <p:sp>
            <p:nvSpPr>
              <p:cNvPr id="239" name="Rectangle 166">
                <a:extLst>
                  <a:ext uri="{FF2B5EF4-FFF2-40B4-BE49-F238E27FC236}">
                    <a16:creationId xmlns:a16="http://schemas.microsoft.com/office/drawing/2014/main" id="{A59F7930-3F59-2F0B-8E94-93F0F9633E00}"/>
                  </a:ext>
                </a:extLst>
              </p:cNvPr>
              <p:cNvSpPr>
                <a:spLocks noChangeArrowheads="1"/>
              </p:cNvSpPr>
              <p:nvPr/>
            </p:nvSpPr>
            <p:spPr bwMode="auto">
              <a:xfrm>
                <a:off x="4005" y="2708"/>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11.40x</a:t>
                </a:r>
                <a:endParaRPr kumimoji="0" lang="en-US" altLang="en-US" sz="1800" b="0" i="0" u="none" strike="noStrike" cap="none" normalizeH="0" baseline="0" dirty="0">
                  <a:ln>
                    <a:noFill/>
                  </a:ln>
                  <a:effectLst/>
                  <a:cs typeface="Arial" panose="020B0604020202020204" pitchFamily="34" charset="0"/>
                </a:endParaRPr>
              </a:p>
            </p:txBody>
          </p:sp>
          <p:sp>
            <p:nvSpPr>
              <p:cNvPr id="240" name="Rectangle 167">
                <a:extLst>
                  <a:ext uri="{FF2B5EF4-FFF2-40B4-BE49-F238E27FC236}">
                    <a16:creationId xmlns:a16="http://schemas.microsoft.com/office/drawing/2014/main" id="{8CF20F7E-0073-1C4C-9E53-46B0743B58AD}"/>
                  </a:ext>
                </a:extLst>
              </p:cNvPr>
              <p:cNvSpPr>
                <a:spLocks noChangeArrowheads="1"/>
              </p:cNvSpPr>
              <p:nvPr/>
            </p:nvSpPr>
            <p:spPr bwMode="auto">
              <a:xfrm>
                <a:off x="4301" y="2708"/>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10.62x</a:t>
                </a:r>
                <a:endParaRPr kumimoji="0" lang="en-US" altLang="en-US" sz="1800" b="0" i="0" u="none" strike="noStrike" cap="none" normalizeH="0" baseline="0" dirty="0">
                  <a:ln>
                    <a:noFill/>
                  </a:ln>
                  <a:effectLst/>
                  <a:cs typeface="Arial" panose="020B0604020202020204" pitchFamily="34" charset="0"/>
                </a:endParaRPr>
              </a:p>
            </p:txBody>
          </p:sp>
          <p:sp>
            <p:nvSpPr>
              <p:cNvPr id="241" name="Rectangle 168">
                <a:extLst>
                  <a:ext uri="{FF2B5EF4-FFF2-40B4-BE49-F238E27FC236}">
                    <a16:creationId xmlns:a16="http://schemas.microsoft.com/office/drawing/2014/main" id="{93CF9E87-7611-359C-E82D-FD858A9F9AC4}"/>
                  </a:ext>
                </a:extLst>
              </p:cNvPr>
              <p:cNvSpPr>
                <a:spLocks noChangeArrowheads="1"/>
              </p:cNvSpPr>
              <p:nvPr/>
            </p:nvSpPr>
            <p:spPr bwMode="auto">
              <a:xfrm>
                <a:off x="4597" y="2708"/>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23.26</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42" name="Rectangle 169">
                <a:extLst>
                  <a:ext uri="{FF2B5EF4-FFF2-40B4-BE49-F238E27FC236}">
                    <a16:creationId xmlns:a16="http://schemas.microsoft.com/office/drawing/2014/main" id="{683FC93B-DB4E-0555-697B-B4738735571A}"/>
                  </a:ext>
                </a:extLst>
              </p:cNvPr>
              <p:cNvSpPr>
                <a:spLocks noChangeArrowheads="1"/>
              </p:cNvSpPr>
              <p:nvPr/>
            </p:nvSpPr>
            <p:spPr bwMode="auto">
              <a:xfrm>
                <a:off x="4903" y="2708"/>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18.11x</a:t>
                </a:r>
                <a:endParaRPr kumimoji="0" lang="en-US" altLang="en-US" sz="1800" b="0" i="0" u="none" strike="noStrike" cap="none" normalizeH="0" baseline="0" dirty="0">
                  <a:ln>
                    <a:noFill/>
                  </a:ln>
                  <a:effectLst/>
                  <a:cs typeface="Arial" panose="020B0604020202020204" pitchFamily="34" charset="0"/>
                </a:endParaRPr>
              </a:p>
            </p:txBody>
          </p:sp>
          <p:sp>
            <p:nvSpPr>
              <p:cNvPr id="243" name="Rectangle 170">
                <a:extLst>
                  <a:ext uri="{FF2B5EF4-FFF2-40B4-BE49-F238E27FC236}">
                    <a16:creationId xmlns:a16="http://schemas.microsoft.com/office/drawing/2014/main" id="{BCC0BD0A-E4D7-9728-DBFB-B4D0DDE8EA03}"/>
                  </a:ext>
                </a:extLst>
              </p:cNvPr>
              <p:cNvSpPr>
                <a:spLocks noChangeArrowheads="1"/>
              </p:cNvSpPr>
              <p:nvPr/>
            </p:nvSpPr>
            <p:spPr bwMode="auto">
              <a:xfrm>
                <a:off x="5202" y="2708"/>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12.85</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44" name="Rectangle 171">
                <a:extLst>
                  <a:ext uri="{FF2B5EF4-FFF2-40B4-BE49-F238E27FC236}">
                    <a16:creationId xmlns:a16="http://schemas.microsoft.com/office/drawing/2014/main" id="{2E5B6AF8-78A6-4090-A871-35AC8A86979D}"/>
                  </a:ext>
                </a:extLst>
              </p:cNvPr>
              <p:cNvSpPr>
                <a:spLocks noChangeArrowheads="1"/>
              </p:cNvSpPr>
              <p:nvPr/>
            </p:nvSpPr>
            <p:spPr bwMode="auto">
              <a:xfrm>
                <a:off x="5494" y="2708"/>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13.46</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45" name="Rectangle 172">
                <a:extLst>
                  <a:ext uri="{FF2B5EF4-FFF2-40B4-BE49-F238E27FC236}">
                    <a16:creationId xmlns:a16="http://schemas.microsoft.com/office/drawing/2014/main" id="{94E2173C-7FF4-3CF5-F158-C756C3943B3B}"/>
                  </a:ext>
                </a:extLst>
              </p:cNvPr>
              <p:cNvSpPr>
                <a:spLocks noChangeArrowheads="1"/>
              </p:cNvSpPr>
              <p:nvPr/>
            </p:nvSpPr>
            <p:spPr bwMode="auto">
              <a:xfrm>
                <a:off x="29" y="2827"/>
                <a:ext cx="289"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Airbus SE</a:t>
                </a:r>
              </a:p>
            </p:txBody>
          </p:sp>
          <p:sp>
            <p:nvSpPr>
              <p:cNvPr id="246" name="Rectangle 173">
                <a:extLst>
                  <a:ext uri="{FF2B5EF4-FFF2-40B4-BE49-F238E27FC236}">
                    <a16:creationId xmlns:a16="http://schemas.microsoft.com/office/drawing/2014/main" id="{A6561D99-1187-A1B6-B081-9DB2559595FF}"/>
                  </a:ext>
                </a:extLst>
              </p:cNvPr>
              <p:cNvSpPr>
                <a:spLocks noChangeArrowheads="1"/>
              </p:cNvSpPr>
              <p:nvPr/>
            </p:nvSpPr>
            <p:spPr bwMode="auto">
              <a:xfrm>
                <a:off x="647" y="2827"/>
                <a:ext cx="386"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effectLst/>
                    <a:cs typeface="Arial" panose="020B0604020202020204" pitchFamily="34" charset="0"/>
                  </a:rPr>
                  <a:t>ENXTPA:AIR</a:t>
                </a:r>
              </a:p>
            </p:txBody>
          </p:sp>
          <p:sp>
            <p:nvSpPr>
              <p:cNvPr id="247" name="Rectangle 174">
                <a:extLst>
                  <a:ext uri="{FF2B5EF4-FFF2-40B4-BE49-F238E27FC236}">
                    <a16:creationId xmlns:a16="http://schemas.microsoft.com/office/drawing/2014/main" id="{870466C6-C367-7D72-D534-C7D207298389}"/>
                  </a:ext>
                </a:extLst>
              </p:cNvPr>
              <p:cNvSpPr>
                <a:spLocks noChangeArrowheads="1"/>
              </p:cNvSpPr>
              <p:nvPr/>
            </p:nvSpPr>
            <p:spPr bwMode="auto">
              <a:xfrm>
                <a:off x="1072" y="2827"/>
                <a:ext cx="20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165.2</a:t>
                </a:r>
                <a:endParaRPr kumimoji="0" lang="en-US" altLang="en-US" sz="1800" b="0" i="0" u="none" strike="noStrike" cap="none" normalizeH="0" baseline="0" dirty="0">
                  <a:ln>
                    <a:noFill/>
                  </a:ln>
                  <a:effectLst/>
                  <a:cs typeface="Arial" panose="020B0604020202020204" pitchFamily="34" charset="0"/>
                </a:endParaRPr>
              </a:p>
            </p:txBody>
          </p:sp>
          <p:sp>
            <p:nvSpPr>
              <p:cNvPr id="248" name="Rectangle 175">
                <a:extLst>
                  <a:ext uri="{FF2B5EF4-FFF2-40B4-BE49-F238E27FC236}">
                    <a16:creationId xmlns:a16="http://schemas.microsoft.com/office/drawing/2014/main" id="{A96EF9F0-12BA-8B64-9FA4-2F9DBE5F715F}"/>
                  </a:ext>
                </a:extLst>
              </p:cNvPr>
              <p:cNvSpPr>
                <a:spLocks noChangeArrowheads="1"/>
              </p:cNvSpPr>
              <p:nvPr/>
            </p:nvSpPr>
            <p:spPr bwMode="auto">
              <a:xfrm>
                <a:off x="1394" y="2827"/>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$130,663</a:t>
                </a:r>
                <a:endParaRPr kumimoji="0" lang="en-US" altLang="en-US" sz="1800" b="0" i="0" u="none" strike="noStrike" cap="none" normalizeH="0" baseline="0" dirty="0">
                  <a:ln>
                    <a:noFill/>
                  </a:ln>
                  <a:effectLst/>
                  <a:cs typeface="Arial" panose="020B0604020202020204" pitchFamily="34" charset="0"/>
                </a:endParaRPr>
              </a:p>
            </p:txBody>
          </p:sp>
          <p:sp>
            <p:nvSpPr>
              <p:cNvPr id="249" name="Rectangle 176">
                <a:extLst>
                  <a:ext uri="{FF2B5EF4-FFF2-40B4-BE49-F238E27FC236}">
                    <a16:creationId xmlns:a16="http://schemas.microsoft.com/office/drawing/2014/main" id="{9CF56C33-0EFB-2A39-C0A8-14B7CB3857CF}"/>
                  </a:ext>
                </a:extLst>
              </p:cNvPr>
              <p:cNvSpPr>
                <a:spLocks noChangeArrowheads="1"/>
              </p:cNvSpPr>
              <p:nvPr/>
            </p:nvSpPr>
            <p:spPr bwMode="auto">
              <a:xfrm>
                <a:off x="1794" y="2827"/>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$127,906</a:t>
                </a:r>
                <a:endParaRPr kumimoji="0" lang="en-US" altLang="en-US" sz="1800" b="0" i="0" u="none" strike="noStrike" cap="none" normalizeH="0" baseline="0" dirty="0">
                  <a:ln>
                    <a:noFill/>
                  </a:ln>
                  <a:effectLst/>
                  <a:cs typeface="Arial" panose="020B0604020202020204" pitchFamily="34" charset="0"/>
                </a:endParaRPr>
              </a:p>
            </p:txBody>
          </p:sp>
          <p:sp>
            <p:nvSpPr>
              <p:cNvPr id="250" name="Rectangle 177">
                <a:extLst>
                  <a:ext uri="{FF2B5EF4-FFF2-40B4-BE49-F238E27FC236}">
                    <a16:creationId xmlns:a16="http://schemas.microsoft.com/office/drawing/2014/main" id="{67109EE4-D8EC-B8BA-65BB-EF1E0271CDA2}"/>
                  </a:ext>
                </a:extLst>
              </p:cNvPr>
              <p:cNvSpPr>
                <a:spLocks noChangeArrowheads="1"/>
              </p:cNvSpPr>
              <p:nvPr/>
            </p:nvSpPr>
            <p:spPr bwMode="auto">
              <a:xfrm>
                <a:off x="2203" y="2827"/>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1.4x</a:t>
                </a:r>
                <a:endParaRPr kumimoji="0" lang="en-US" altLang="en-US" sz="1800" b="0" i="0" u="none" strike="noStrike" cap="none" normalizeH="0" baseline="0" dirty="0">
                  <a:ln>
                    <a:noFill/>
                  </a:ln>
                  <a:effectLst/>
                  <a:cs typeface="Arial" panose="020B0604020202020204" pitchFamily="34" charset="0"/>
                </a:endParaRPr>
              </a:p>
            </p:txBody>
          </p:sp>
          <p:sp>
            <p:nvSpPr>
              <p:cNvPr id="251" name="Rectangle 178">
                <a:extLst>
                  <a:ext uri="{FF2B5EF4-FFF2-40B4-BE49-F238E27FC236}">
                    <a16:creationId xmlns:a16="http://schemas.microsoft.com/office/drawing/2014/main" id="{BFBCBA9D-2A4E-81CF-4F51-690FDF6E948E}"/>
                  </a:ext>
                </a:extLst>
              </p:cNvPr>
              <p:cNvSpPr>
                <a:spLocks noChangeArrowheads="1"/>
              </p:cNvSpPr>
              <p:nvPr/>
            </p:nvSpPr>
            <p:spPr bwMode="auto">
              <a:xfrm>
                <a:off x="2499" y="2827"/>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1.8</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52" name="Rectangle 179">
                <a:extLst>
                  <a:ext uri="{FF2B5EF4-FFF2-40B4-BE49-F238E27FC236}">
                    <a16:creationId xmlns:a16="http://schemas.microsoft.com/office/drawing/2014/main" id="{140D902D-52D3-9911-93EB-83746B797F73}"/>
                  </a:ext>
                </a:extLst>
              </p:cNvPr>
              <p:cNvSpPr>
                <a:spLocks noChangeArrowheads="1"/>
              </p:cNvSpPr>
              <p:nvPr/>
            </p:nvSpPr>
            <p:spPr bwMode="auto">
              <a:xfrm>
                <a:off x="2799" y="2827"/>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1.62</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53" name="Rectangle 180">
                <a:extLst>
                  <a:ext uri="{FF2B5EF4-FFF2-40B4-BE49-F238E27FC236}">
                    <a16:creationId xmlns:a16="http://schemas.microsoft.com/office/drawing/2014/main" id="{9BACC4D2-4227-8E63-18D3-82BE39E00413}"/>
                  </a:ext>
                </a:extLst>
              </p:cNvPr>
              <p:cNvSpPr>
                <a:spLocks noChangeArrowheads="1"/>
              </p:cNvSpPr>
              <p:nvPr/>
            </p:nvSpPr>
            <p:spPr bwMode="auto">
              <a:xfrm>
                <a:off x="3104" y="2827"/>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1.68</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54" name="Rectangle 181">
                <a:extLst>
                  <a:ext uri="{FF2B5EF4-FFF2-40B4-BE49-F238E27FC236}">
                    <a16:creationId xmlns:a16="http://schemas.microsoft.com/office/drawing/2014/main" id="{412E5981-9832-13DE-C333-192B10531C19}"/>
                  </a:ext>
                </a:extLst>
              </p:cNvPr>
              <p:cNvSpPr>
                <a:spLocks noChangeArrowheads="1"/>
              </p:cNvSpPr>
              <p:nvPr/>
            </p:nvSpPr>
            <p:spPr bwMode="auto">
              <a:xfrm>
                <a:off x="3382" y="2827"/>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21.00x</a:t>
                </a:r>
                <a:endParaRPr kumimoji="0" lang="en-US" altLang="en-US" sz="1800" b="0" i="0" u="none" strike="noStrike" cap="none" normalizeH="0" baseline="0" dirty="0">
                  <a:ln>
                    <a:noFill/>
                  </a:ln>
                  <a:effectLst/>
                  <a:cs typeface="Arial" panose="020B0604020202020204" pitchFamily="34" charset="0"/>
                </a:endParaRPr>
              </a:p>
            </p:txBody>
          </p:sp>
          <p:sp>
            <p:nvSpPr>
              <p:cNvPr id="255" name="Rectangle 182">
                <a:extLst>
                  <a:ext uri="{FF2B5EF4-FFF2-40B4-BE49-F238E27FC236}">
                    <a16:creationId xmlns:a16="http://schemas.microsoft.com/office/drawing/2014/main" id="{C4BB868E-7AFA-D0D4-642D-29B25C8B6F05}"/>
                  </a:ext>
                </a:extLst>
              </p:cNvPr>
              <p:cNvSpPr>
                <a:spLocks noChangeArrowheads="1"/>
              </p:cNvSpPr>
              <p:nvPr/>
            </p:nvSpPr>
            <p:spPr bwMode="auto">
              <a:xfrm>
                <a:off x="3697" y="2827"/>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20.60x</a:t>
                </a:r>
                <a:endParaRPr kumimoji="0" lang="en-US" altLang="en-US" sz="1800" b="0" i="0" u="none" strike="noStrike" cap="none" normalizeH="0" baseline="0" dirty="0">
                  <a:ln>
                    <a:noFill/>
                  </a:ln>
                  <a:effectLst/>
                  <a:cs typeface="Arial" panose="020B0604020202020204" pitchFamily="34" charset="0"/>
                </a:endParaRPr>
              </a:p>
            </p:txBody>
          </p:sp>
          <p:sp>
            <p:nvSpPr>
              <p:cNvPr id="256" name="Rectangle 183">
                <a:extLst>
                  <a:ext uri="{FF2B5EF4-FFF2-40B4-BE49-F238E27FC236}">
                    <a16:creationId xmlns:a16="http://schemas.microsoft.com/office/drawing/2014/main" id="{2CDF4CB5-B8FB-1EE2-51AA-8B810FE097E2}"/>
                  </a:ext>
                </a:extLst>
              </p:cNvPr>
              <p:cNvSpPr>
                <a:spLocks noChangeArrowheads="1"/>
              </p:cNvSpPr>
              <p:nvPr/>
            </p:nvSpPr>
            <p:spPr bwMode="auto">
              <a:xfrm>
                <a:off x="4005" y="2827"/>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24.40x</a:t>
                </a:r>
                <a:endParaRPr kumimoji="0" lang="en-US" altLang="en-US" sz="1800" b="0" i="0" u="none" strike="noStrike" cap="none" normalizeH="0" baseline="0" dirty="0">
                  <a:ln>
                    <a:noFill/>
                  </a:ln>
                  <a:effectLst/>
                  <a:cs typeface="Arial" panose="020B0604020202020204" pitchFamily="34" charset="0"/>
                </a:endParaRPr>
              </a:p>
            </p:txBody>
          </p:sp>
          <p:sp>
            <p:nvSpPr>
              <p:cNvPr id="257" name="Rectangle 184">
                <a:extLst>
                  <a:ext uri="{FF2B5EF4-FFF2-40B4-BE49-F238E27FC236}">
                    <a16:creationId xmlns:a16="http://schemas.microsoft.com/office/drawing/2014/main" id="{27BE0596-336D-9BFB-E83B-CA4FE9C1974C}"/>
                  </a:ext>
                </a:extLst>
              </p:cNvPr>
              <p:cNvSpPr>
                <a:spLocks noChangeArrowheads="1"/>
              </p:cNvSpPr>
              <p:nvPr/>
            </p:nvSpPr>
            <p:spPr bwMode="auto">
              <a:xfrm>
                <a:off x="4301" y="2827"/>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18.80</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58" name="Rectangle 185">
                <a:extLst>
                  <a:ext uri="{FF2B5EF4-FFF2-40B4-BE49-F238E27FC236}">
                    <a16:creationId xmlns:a16="http://schemas.microsoft.com/office/drawing/2014/main" id="{30E59C80-7C48-CF40-5A07-468D20E6E5BA}"/>
                  </a:ext>
                </a:extLst>
              </p:cNvPr>
              <p:cNvSpPr>
                <a:spLocks noChangeArrowheads="1"/>
              </p:cNvSpPr>
              <p:nvPr/>
            </p:nvSpPr>
            <p:spPr bwMode="auto">
              <a:xfrm>
                <a:off x="4597" y="2827"/>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21.11x</a:t>
                </a:r>
                <a:endParaRPr kumimoji="0" lang="en-US" altLang="en-US" sz="1800" b="0" i="0" u="none" strike="noStrike" cap="none" normalizeH="0" baseline="0" dirty="0">
                  <a:ln>
                    <a:noFill/>
                  </a:ln>
                  <a:effectLst/>
                  <a:cs typeface="Arial" panose="020B0604020202020204" pitchFamily="34" charset="0"/>
                </a:endParaRPr>
              </a:p>
            </p:txBody>
          </p:sp>
          <p:sp>
            <p:nvSpPr>
              <p:cNvPr id="259" name="Rectangle 186">
                <a:extLst>
                  <a:ext uri="{FF2B5EF4-FFF2-40B4-BE49-F238E27FC236}">
                    <a16:creationId xmlns:a16="http://schemas.microsoft.com/office/drawing/2014/main" id="{8D6AF154-4D7E-BB76-E98E-92FB0D4CD9CE}"/>
                  </a:ext>
                </a:extLst>
              </p:cNvPr>
              <p:cNvSpPr>
                <a:spLocks noChangeArrowheads="1"/>
              </p:cNvSpPr>
              <p:nvPr/>
            </p:nvSpPr>
            <p:spPr bwMode="auto">
              <a:xfrm>
                <a:off x="4903" y="2827"/>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27.50x</a:t>
                </a:r>
                <a:endParaRPr kumimoji="0" lang="en-US" altLang="en-US" sz="1800" b="0" i="0" u="none" strike="noStrike" cap="none" normalizeH="0" baseline="0" dirty="0">
                  <a:ln>
                    <a:noFill/>
                  </a:ln>
                  <a:effectLst/>
                  <a:cs typeface="Arial" panose="020B0604020202020204" pitchFamily="34" charset="0"/>
                </a:endParaRPr>
              </a:p>
            </p:txBody>
          </p:sp>
          <p:sp>
            <p:nvSpPr>
              <p:cNvPr id="260" name="Rectangle 187">
                <a:extLst>
                  <a:ext uri="{FF2B5EF4-FFF2-40B4-BE49-F238E27FC236}">
                    <a16:creationId xmlns:a16="http://schemas.microsoft.com/office/drawing/2014/main" id="{3132BC81-3A2E-8F48-0EB3-E24D7B3BB53F}"/>
                  </a:ext>
                </a:extLst>
              </p:cNvPr>
              <p:cNvSpPr>
                <a:spLocks noChangeArrowheads="1"/>
              </p:cNvSpPr>
              <p:nvPr/>
            </p:nvSpPr>
            <p:spPr bwMode="auto">
              <a:xfrm>
                <a:off x="5202" y="2827"/>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22.66</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61" name="Rectangle 188">
                <a:extLst>
                  <a:ext uri="{FF2B5EF4-FFF2-40B4-BE49-F238E27FC236}">
                    <a16:creationId xmlns:a16="http://schemas.microsoft.com/office/drawing/2014/main" id="{B295C8B7-BB55-E8B1-1493-597767F4B6A1}"/>
                  </a:ext>
                </a:extLst>
              </p:cNvPr>
              <p:cNvSpPr>
                <a:spLocks noChangeArrowheads="1"/>
              </p:cNvSpPr>
              <p:nvPr/>
            </p:nvSpPr>
            <p:spPr bwMode="auto">
              <a:xfrm>
                <a:off x="5494" y="2827"/>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24.42</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62" name="Rectangle 189">
                <a:extLst>
                  <a:ext uri="{FF2B5EF4-FFF2-40B4-BE49-F238E27FC236}">
                    <a16:creationId xmlns:a16="http://schemas.microsoft.com/office/drawing/2014/main" id="{B2C3AE42-18D3-C891-C51D-7F129648E29B}"/>
                  </a:ext>
                </a:extLst>
              </p:cNvPr>
              <p:cNvSpPr>
                <a:spLocks noChangeArrowheads="1"/>
              </p:cNvSpPr>
              <p:nvPr/>
            </p:nvSpPr>
            <p:spPr bwMode="auto">
              <a:xfrm>
                <a:off x="16" y="3008"/>
                <a:ext cx="532"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effectLst/>
                    <a:cs typeface="Arial" panose="020B0604020202020204" pitchFamily="34" charset="0"/>
                  </a:rPr>
                  <a:t>Boeing Company</a:t>
                </a:r>
              </a:p>
            </p:txBody>
          </p:sp>
          <p:sp>
            <p:nvSpPr>
              <p:cNvPr id="263" name="Rectangle 190">
                <a:extLst>
                  <a:ext uri="{FF2B5EF4-FFF2-40B4-BE49-F238E27FC236}">
                    <a16:creationId xmlns:a16="http://schemas.microsoft.com/office/drawing/2014/main" id="{93029E9B-24A0-55C8-72E8-11AB75FB2A0D}"/>
                  </a:ext>
                </a:extLst>
              </p:cNvPr>
              <p:cNvSpPr>
                <a:spLocks noChangeArrowheads="1"/>
              </p:cNvSpPr>
              <p:nvPr/>
            </p:nvSpPr>
            <p:spPr bwMode="auto">
              <a:xfrm>
                <a:off x="641" y="3014"/>
                <a:ext cx="29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effectLst/>
                    <a:cs typeface="Arial" panose="020B0604020202020204" pitchFamily="34" charset="0"/>
                  </a:rPr>
                  <a:t>NYSE:BA</a:t>
                </a:r>
                <a:endParaRPr kumimoji="0" lang="en-US" altLang="en-US" sz="800" b="0" i="0" u="none" strike="noStrike" cap="none" normalizeH="0" baseline="0" dirty="0">
                  <a:ln>
                    <a:noFill/>
                  </a:ln>
                  <a:effectLst/>
                  <a:cs typeface="Arial" panose="020B0604020202020204" pitchFamily="34" charset="0"/>
                </a:endParaRPr>
              </a:p>
            </p:txBody>
          </p:sp>
          <p:sp>
            <p:nvSpPr>
              <p:cNvPr id="264" name="Rectangle 191">
                <a:extLst>
                  <a:ext uri="{FF2B5EF4-FFF2-40B4-BE49-F238E27FC236}">
                    <a16:creationId xmlns:a16="http://schemas.microsoft.com/office/drawing/2014/main" id="{5C155F6B-85D4-0826-1342-58F134A5FB6A}"/>
                  </a:ext>
                </a:extLst>
              </p:cNvPr>
              <p:cNvSpPr>
                <a:spLocks noChangeArrowheads="1"/>
              </p:cNvSpPr>
              <p:nvPr/>
            </p:nvSpPr>
            <p:spPr bwMode="auto">
              <a:xfrm>
                <a:off x="1040" y="3005"/>
                <a:ext cx="29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$167.84</a:t>
                </a:r>
                <a:endParaRPr kumimoji="0" lang="en-US" altLang="en-US" sz="1000" b="0" i="0" u="none" strike="noStrike" cap="none" normalizeH="0" baseline="0" dirty="0">
                  <a:ln>
                    <a:noFill/>
                  </a:ln>
                  <a:effectLst/>
                  <a:cs typeface="Arial" panose="020B0604020202020204" pitchFamily="34" charset="0"/>
                </a:endParaRPr>
              </a:p>
            </p:txBody>
          </p:sp>
          <p:sp>
            <p:nvSpPr>
              <p:cNvPr id="265" name="Rectangle 192">
                <a:extLst>
                  <a:ext uri="{FF2B5EF4-FFF2-40B4-BE49-F238E27FC236}">
                    <a16:creationId xmlns:a16="http://schemas.microsoft.com/office/drawing/2014/main" id="{C66EDC65-8FF4-4F74-54C2-0A5B3232757C}"/>
                  </a:ext>
                </a:extLst>
              </p:cNvPr>
              <p:cNvSpPr>
                <a:spLocks noChangeArrowheads="1"/>
              </p:cNvSpPr>
              <p:nvPr/>
            </p:nvSpPr>
            <p:spPr bwMode="auto">
              <a:xfrm>
                <a:off x="1394" y="3005"/>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$103,034</a:t>
                </a:r>
                <a:endParaRPr kumimoji="0" lang="en-US" altLang="en-US" sz="1800" b="0" i="0" u="none" strike="noStrike" cap="none" normalizeH="0" baseline="0" dirty="0">
                  <a:ln>
                    <a:noFill/>
                  </a:ln>
                  <a:effectLst/>
                  <a:cs typeface="Arial" panose="020B0604020202020204" pitchFamily="34" charset="0"/>
                </a:endParaRPr>
              </a:p>
            </p:txBody>
          </p:sp>
          <p:sp>
            <p:nvSpPr>
              <p:cNvPr id="266" name="Rectangle 193">
                <a:extLst>
                  <a:ext uri="{FF2B5EF4-FFF2-40B4-BE49-F238E27FC236}">
                    <a16:creationId xmlns:a16="http://schemas.microsoft.com/office/drawing/2014/main" id="{965B6260-D687-8763-AAED-E945A14E58B5}"/>
                  </a:ext>
                </a:extLst>
              </p:cNvPr>
              <p:cNvSpPr>
                <a:spLocks noChangeArrowheads="1"/>
              </p:cNvSpPr>
              <p:nvPr/>
            </p:nvSpPr>
            <p:spPr bwMode="auto">
              <a:xfrm>
                <a:off x="1794" y="3005"/>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$143,438</a:t>
                </a:r>
                <a:endParaRPr kumimoji="0" lang="en-US" altLang="en-US" sz="1800" b="0" i="0" u="none" strike="noStrike" cap="none" normalizeH="0" baseline="0" dirty="0">
                  <a:ln>
                    <a:noFill/>
                  </a:ln>
                  <a:effectLst/>
                  <a:cs typeface="Arial" panose="020B0604020202020204" pitchFamily="34" charset="0"/>
                </a:endParaRPr>
              </a:p>
            </p:txBody>
          </p:sp>
          <p:sp>
            <p:nvSpPr>
              <p:cNvPr id="267" name="Rectangle 194">
                <a:extLst>
                  <a:ext uri="{FF2B5EF4-FFF2-40B4-BE49-F238E27FC236}">
                    <a16:creationId xmlns:a16="http://schemas.microsoft.com/office/drawing/2014/main" id="{8B2BE61F-D8E4-78FB-A27E-1EAD420948A5}"/>
                  </a:ext>
                </a:extLst>
              </p:cNvPr>
              <p:cNvSpPr>
                <a:spLocks noChangeArrowheads="1"/>
              </p:cNvSpPr>
              <p:nvPr/>
            </p:nvSpPr>
            <p:spPr bwMode="auto">
              <a:xfrm>
                <a:off x="2203" y="3005"/>
                <a:ext cx="15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b="1" dirty="0">
                    <a:cs typeface="Arial" panose="020B0604020202020204" pitchFamily="34" charset="0"/>
                  </a:rPr>
                  <a:t>2.6</a:t>
                </a:r>
                <a:r>
                  <a:rPr kumimoji="0" lang="en-US" altLang="en-US" sz="1000" b="1"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268" name="Rectangle 195">
                <a:extLst>
                  <a:ext uri="{FF2B5EF4-FFF2-40B4-BE49-F238E27FC236}">
                    <a16:creationId xmlns:a16="http://schemas.microsoft.com/office/drawing/2014/main" id="{188C3E2E-EFB8-E14F-AC24-06FDB0895A9F}"/>
                  </a:ext>
                </a:extLst>
              </p:cNvPr>
              <p:cNvSpPr>
                <a:spLocks noChangeArrowheads="1"/>
              </p:cNvSpPr>
              <p:nvPr/>
            </p:nvSpPr>
            <p:spPr bwMode="auto">
              <a:xfrm>
                <a:off x="2499" y="3005"/>
                <a:ext cx="15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1.9x</a:t>
                </a:r>
                <a:endParaRPr kumimoji="0" lang="en-US" altLang="en-US" sz="1800" b="0" i="0" u="none" strike="noStrike" cap="none" normalizeH="0" baseline="0" dirty="0">
                  <a:ln>
                    <a:noFill/>
                  </a:ln>
                  <a:effectLst/>
                  <a:cs typeface="Arial" panose="020B0604020202020204" pitchFamily="34" charset="0"/>
                </a:endParaRPr>
              </a:p>
            </p:txBody>
          </p:sp>
          <p:sp>
            <p:nvSpPr>
              <p:cNvPr id="269" name="Rectangle 196">
                <a:extLst>
                  <a:ext uri="{FF2B5EF4-FFF2-40B4-BE49-F238E27FC236}">
                    <a16:creationId xmlns:a16="http://schemas.microsoft.com/office/drawing/2014/main" id="{D4F15E08-B13C-4ABD-0E1D-FEE498C9EC11}"/>
                  </a:ext>
                </a:extLst>
              </p:cNvPr>
              <p:cNvSpPr>
                <a:spLocks noChangeArrowheads="1"/>
              </p:cNvSpPr>
              <p:nvPr/>
            </p:nvSpPr>
            <p:spPr bwMode="auto">
              <a:xfrm>
                <a:off x="2795" y="3005"/>
                <a:ext cx="15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1.8x</a:t>
                </a:r>
                <a:endParaRPr kumimoji="0" lang="en-US" altLang="en-US" sz="1800" b="0" i="0" u="none" strike="noStrike" cap="none" normalizeH="0" baseline="0" dirty="0">
                  <a:ln>
                    <a:noFill/>
                  </a:ln>
                  <a:effectLst/>
                  <a:cs typeface="Arial" panose="020B0604020202020204" pitchFamily="34" charset="0"/>
                </a:endParaRPr>
              </a:p>
            </p:txBody>
          </p:sp>
          <p:sp>
            <p:nvSpPr>
              <p:cNvPr id="270" name="Rectangle 197">
                <a:extLst>
                  <a:ext uri="{FF2B5EF4-FFF2-40B4-BE49-F238E27FC236}">
                    <a16:creationId xmlns:a16="http://schemas.microsoft.com/office/drawing/2014/main" id="{F10D3BEF-D968-7B21-03E7-94EF80CD64A3}"/>
                  </a:ext>
                </a:extLst>
              </p:cNvPr>
              <p:cNvSpPr>
                <a:spLocks noChangeArrowheads="1"/>
              </p:cNvSpPr>
              <p:nvPr/>
            </p:nvSpPr>
            <p:spPr bwMode="auto">
              <a:xfrm>
                <a:off x="3100" y="3005"/>
                <a:ext cx="15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2.6x</a:t>
                </a:r>
                <a:endParaRPr kumimoji="0" lang="en-US" altLang="en-US" sz="1800" b="0" i="0" u="none" strike="noStrike" cap="none" normalizeH="0" baseline="0" dirty="0">
                  <a:ln>
                    <a:noFill/>
                  </a:ln>
                  <a:effectLst/>
                  <a:cs typeface="Arial" panose="020B0604020202020204" pitchFamily="34" charset="0"/>
                </a:endParaRPr>
              </a:p>
            </p:txBody>
          </p:sp>
          <p:sp>
            <p:nvSpPr>
              <p:cNvPr id="271" name="Rectangle 198">
                <a:extLst>
                  <a:ext uri="{FF2B5EF4-FFF2-40B4-BE49-F238E27FC236}">
                    <a16:creationId xmlns:a16="http://schemas.microsoft.com/office/drawing/2014/main" id="{B0ADB312-BE16-7C14-6F98-8101FF23DD3C}"/>
                  </a:ext>
                </a:extLst>
              </p:cNvPr>
              <p:cNvSpPr>
                <a:spLocks noChangeArrowheads="1"/>
              </p:cNvSpPr>
              <p:nvPr/>
            </p:nvSpPr>
            <p:spPr bwMode="auto">
              <a:xfrm>
                <a:off x="3382" y="3005"/>
                <a:ext cx="200"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10.5x</a:t>
                </a:r>
                <a:endParaRPr kumimoji="0" lang="en-US" altLang="en-US" sz="1800" b="0" i="0" u="none" strike="noStrike" cap="none" normalizeH="0" baseline="0" dirty="0">
                  <a:ln>
                    <a:noFill/>
                  </a:ln>
                  <a:effectLst/>
                  <a:cs typeface="Arial" panose="020B0604020202020204" pitchFamily="34" charset="0"/>
                </a:endParaRPr>
              </a:p>
            </p:txBody>
          </p:sp>
          <p:sp>
            <p:nvSpPr>
              <p:cNvPr id="272" name="Rectangle 199">
                <a:extLst>
                  <a:ext uri="{FF2B5EF4-FFF2-40B4-BE49-F238E27FC236}">
                    <a16:creationId xmlns:a16="http://schemas.microsoft.com/office/drawing/2014/main" id="{20FBFA9B-63F4-E27F-8629-A360F305B178}"/>
                  </a:ext>
                </a:extLst>
              </p:cNvPr>
              <p:cNvSpPr>
                <a:spLocks noChangeArrowheads="1"/>
              </p:cNvSpPr>
              <p:nvPr/>
            </p:nvSpPr>
            <p:spPr bwMode="auto">
              <a:xfrm>
                <a:off x="3697" y="3005"/>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46.50x</a:t>
                </a:r>
                <a:endParaRPr kumimoji="0" lang="en-US" altLang="en-US" sz="1800" b="0" i="0" u="none" strike="noStrike" cap="none" normalizeH="0" baseline="0" dirty="0">
                  <a:ln>
                    <a:noFill/>
                  </a:ln>
                  <a:effectLst/>
                  <a:cs typeface="Arial" panose="020B0604020202020204" pitchFamily="34" charset="0"/>
                </a:endParaRPr>
              </a:p>
            </p:txBody>
          </p:sp>
          <p:sp>
            <p:nvSpPr>
              <p:cNvPr id="273" name="Rectangle 200">
                <a:extLst>
                  <a:ext uri="{FF2B5EF4-FFF2-40B4-BE49-F238E27FC236}">
                    <a16:creationId xmlns:a16="http://schemas.microsoft.com/office/drawing/2014/main" id="{EE9BF441-B763-230C-9413-D5F6D2400571}"/>
                  </a:ext>
                </a:extLst>
              </p:cNvPr>
              <p:cNvSpPr>
                <a:spLocks noChangeArrowheads="1"/>
              </p:cNvSpPr>
              <p:nvPr/>
            </p:nvSpPr>
            <p:spPr bwMode="auto">
              <a:xfrm>
                <a:off x="4005" y="3005"/>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23.10x</a:t>
                </a:r>
                <a:endParaRPr kumimoji="0" lang="en-US" altLang="en-US" sz="1800" b="0" i="0" u="none" strike="noStrike" cap="none" normalizeH="0" baseline="0" dirty="0">
                  <a:ln>
                    <a:noFill/>
                  </a:ln>
                  <a:effectLst/>
                  <a:cs typeface="Arial" panose="020B0604020202020204" pitchFamily="34" charset="0"/>
                </a:endParaRPr>
              </a:p>
            </p:txBody>
          </p:sp>
          <p:sp>
            <p:nvSpPr>
              <p:cNvPr id="274" name="Rectangle 201">
                <a:extLst>
                  <a:ext uri="{FF2B5EF4-FFF2-40B4-BE49-F238E27FC236}">
                    <a16:creationId xmlns:a16="http://schemas.microsoft.com/office/drawing/2014/main" id="{3B581AD0-5D50-2B89-B04A-24C444653080}"/>
                  </a:ext>
                </a:extLst>
              </p:cNvPr>
              <p:cNvSpPr>
                <a:spLocks noChangeArrowheads="1"/>
              </p:cNvSpPr>
              <p:nvPr/>
            </p:nvSpPr>
            <p:spPr bwMode="auto">
              <a:xfrm>
                <a:off x="4301" y="3005"/>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29.20x</a:t>
                </a:r>
                <a:endParaRPr kumimoji="0" lang="en-US" altLang="en-US" sz="1800" b="0" i="0" u="none" strike="noStrike" cap="none" normalizeH="0" baseline="0" dirty="0">
                  <a:ln>
                    <a:noFill/>
                  </a:ln>
                  <a:effectLst/>
                  <a:cs typeface="Arial" panose="020B0604020202020204" pitchFamily="34" charset="0"/>
                </a:endParaRPr>
              </a:p>
            </p:txBody>
          </p:sp>
          <p:sp>
            <p:nvSpPr>
              <p:cNvPr id="275" name="Rectangle 202">
                <a:extLst>
                  <a:ext uri="{FF2B5EF4-FFF2-40B4-BE49-F238E27FC236}">
                    <a16:creationId xmlns:a16="http://schemas.microsoft.com/office/drawing/2014/main" id="{9262D2F8-148D-C6C4-06DE-327AB8BED56C}"/>
                  </a:ext>
                </a:extLst>
              </p:cNvPr>
              <p:cNvSpPr>
                <a:spLocks noChangeArrowheads="1"/>
              </p:cNvSpPr>
              <p:nvPr/>
            </p:nvSpPr>
            <p:spPr bwMode="auto">
              <a:xfrm>
                <a:off x="4655" y="3005"/>
                <a:ext cx="12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NM</a:t>
                </a:r>
                <a:endParaRPr kumimoji="0" lang="en-US" altLang="en-US" sz="1800" b="0" i="0" u="none" strike="noStrike" cap="none" normalizeH="0" baseline="0" dirty="0">
                  <a:ln>
                    <a:noFill/>
                  </a:ln>
                  <a:effectLst/>
                  <a:cs typeface="Arial" panose="020B0604020202020204" pitchFamily="34" charset="0"/>
                </a:endParaRPr>
              </a:p>
            </p:txBody>
          </p:sp>
          <p:sp>
            <p:nvSpPr>
              <p:cNvPr id="276" name="Rectangle 203">
                <a:extLst>
                  <a:ext uri="{FF2B5EF4-FFF2-40B4-BE49-F238E27FC236}">
                    <a16:creationId xmlns:a16="http://schemas.microsoft.com/office/drawing/2014/main" id="{0B256120-F470-E3AF-E53A-33D87C8841F9}"/>
                  </a:ext>
                </a:extLst>
              </p:cNvPr>
              <p:cNvSpPr>
                <a:spLocks noChangeArrowheads="1"/>
              </p:cNvSpPr>
              <p:nvPr/>
            </p:nvSpPr>
            <p:spPr bwMode="auto">
              <a:xfrm>
                <a:off x="4962" y="3002"/>
                <a:ext cx="12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NM</a:t>
                </a:r>
                <a:endParaRPr kumimoji="0" lang="en-US" altLang="en-US" sz="1800" b="0" i="0" u="none" strike="noStrike" cap="none" normalizeH="0" baseline="0" dirty="0">
                  <a:ln>
                    <a:noFill/>
                  </a:ln>
                  <a:effectLst/>
                  <a:cs typeface="Arial" panose="020B0604020202020204" pitchFamily="34" charset="0"/>
                </a:endParaRPr>
              </a:p>
            </p:txBody>
          </p:sp>
          <p:sp>
            <p:nvSpPr>
              <p:cNvPr id="277" name="Rectangle 204">
                <a:extLst>
                  <a:ext uri="{FF2B5EF4-FFF2-40B4-BE49-F238E27FC236}">
                    <a16:creationId xmlns:a16="http://schemas.microsoft.com/office/drawing/2014/main" id="{7AFE5EEC-29DD-68EC-AFDE-DE0885F4C409}"/>
                  </a:ext>
                </a:extLst>
              </p:cNvPr>
              <p:cNvSpPr>
                <a:spLocks noChangeArrowheads="1"/>
              </p:cNvSpPr>
              <p:nvPr/>
            </p:nvSpPr>
            <p:spPr bwMode="auto">
              <a:xfrm>
                <a:off x="5261" y="3002"/>
                <a:ext cx="12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NM</a:t>
                </a:r>
                <a:endParaRPr kumimoji="0" lang="en-US" altLang="en-US" sz="1800" b="0" i="0" u="none" strike="noStrike" cap="none" normalizeH="0" baseline="0" dirty="0">
                  <a:ln>
                    <a:noFill/>
                  </a:ln>
                  <a:effectLst/>
                  <a:cs typeface="Arial" panose="020B0604020202020204" pitchFamily="34" charset="0"/>
                </a:endParaRPr>
              </a:p>
            </p:txBody>
          </p:sp>
        </p:grpSp>
        <p:sp>
          <p:nvSpPr>
            <p:cNvPr id="10" name="Rectangle 206">
              <a:extLst>
                <a:ext uri="{FF2B5EF4-FFF2-40B4-BE49-F238E27FC236}">
                  <a16:creationId xmlns:a16="http://schemas.microsoft.com/office/drawing/2014/main" id="{5022B435-2567-04FD-D2F5-77D2E8299574}"/>
                </a:ext>
              </a:extLst>
            </p:cNvPr>
            <p:cNvSpPr>
              <a:spLocks noChangeArrowheads="1"/>
            </p:cNvSpPr>
            <p:nvPr/>
          </p:nvSpPr>
          <p:spPr bwMode="auto">
            <a:xfrm>
              <a:off x="5553" y="3001"/>
              <a:ext cx="12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effectLst/>
                  <a:cs typeface="Arial" panose="020B0604020202020204" pitchFamily="34" charset="0"/>
                </a:rPr>
                <a:t>NM</a:t>
              </a:r>
              <a:endParaRPr kumimoji="0" lang="en-US" altLang="en-US" sz="1800" b="0" i="0" u="none" strike="noStrike" cap="none" normalizeH="0" baseline="0" dirty="0">
                <a:ln>
                  <a:noFill/>
                </a:ln>
                <a:effectLst/>
                <a:cs typeface="Arial" panose="020B0604020202020204" pitchFamily="34" charset="0"/>
              </a:endParaRPr>
            </a:p>
          </p:txBody>
        </p:sp>
        <p:sp>
          <p:nvSpPr>
            <p:cNvPr id="11" name="Rectangle 207">
              <a:extLst>
                <a:ext uri="{FF2B5EF4-FFF2-40B4-BE49-F238E27FC236}">
                  <a16:creationId xmlns:a16="http://schemas.microsoft.com/office/drawing/2014/main" id="{1F67DAF9-AF1A-F0B6-E0C6-71049DB4E2CB}"/>
                </a:ext>
              </a:extLst>
            </p:cNvPr>
            <p:cNvSpPr>
              <a:spLocks noChangeArrowheads="1"/>
            </p:cNvSpPr>
            <p:nvPr/>
          </p:nvSpPr>
          <p:spPr bwMode="auto">
            <a:xfrm>
              <a:off x="13" y="3141"/>
              <a:ext cx="16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effectLst/>
                  <a:cs typeface="Arial" panose="020B0604020202020204" pitchFamily="34" charset="0"/>
                </a:rPr>
                <a:t>High</a:t>
              </a:r>
              <a:endParaRPr kumimoji="0" lang="en-US" altLang="en-US" sz="1800" b="0" i="0" u="none" strike="noStrike" cap="none" normalizeH="0" baseline="0">
                <a:ln>
                  <a:noFill/>
                </a:ln>
                <a:effectLst/>
                <a:cs typeface="Arial" panose="020B0604020202020204" pitchFamily="34" charset="0"/>
              </a:endParaRPr>
            </a:p>
          </p:txBody>
        </p:sp>
        <p:sp>
          <p:nvSpPr>
            <p:cNvPr id="12" name="Rectangle 208">
              <a:extLst>
                <a:ext uri="{FF2B5EF4-FFF2-40B4-BE49-F238E27FC236}">
                  <a16:creationId xmlns:a16="http://schemas.microsoft.com/office/drawing/2014/main" id="{04DCBE8D-3ADD-D3DF-E866-4DAC3F042347}"/>
                </a:ext>
              </a:extLst>
            </p:cNvPr>
            <p:cNvSpPr>
              <a:spLocks noChangeArrowheads="1"/>
            </p:cNvSpPr>
            <p:nvPr/>
          </p:nvSpPr>
          <p:spPr bwMode="auto">
            <a:xfrm>
              <a:off x="1394" y="3141"/>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$134</a:t>
              </a:r>
              <a:r>
                <a:rPr lang="en-US" altLang="en-US" sz="1000" dirty="0">
                  <a:cs typeface="Arial" panose="020B0604020202020204" pitchFamily="34" charset="0"/>
                </a:rPr>
                <a:t>,353</a:t>
              </a:r>
              <a:endParaRPr kumimoji="0" lang="en-US" altLang="en-US" sz="1800" b="0" i="0" u="none" strike="noStrike" cap="none" normalizeH="0" baseline="0" dirty="0">
                <a:ln>
                  <a:noFill/>
                </a:ln>
                <a:effectLst/>
                <a:cs typeface="Arial" panose="020B0604020202020204" pitchFamily="34" charset="0"/>
              </a:endParaRPr>
            </a:p>
          </p:txBody>
        </p:sp>
        <p:sp>
          <p:nvSpPr>
            <p:cNvPr id="13" name="Rectangle 209">
              <a:extLst>
                <a:ext uri="{FF2B5EF4-FFF2-40B4-BE49-F238E27FC236}">
                  <a16:creationId xmlns:a16="http://schemas.microsoft.com/office/drawing/2014/main" id="{8FBEBA9C-2C93-46BA-58F5-C015AD1396D2}"/>
                </a:ext>
              </a:extLst>
            </p:cNvPr>
            <p:cNvSpPr>
              <a:spLocks noChangeArrowheads="1"/>
            </p:cNvSpPr>
            <p:nvPr/>
          </p:nvSpPr>
          <p:spPr bwMode="auto">
            <a:xfrm>
              <a:off x="1794" y="3141"/>
              <a:ext cx="34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$180,526</a:t>
              </a:r>
              <a:endParaRPr kumimoji="0" lang="en-US" altLang="en-US" sz="1800" b="0" i="0" u="none" strike="noStrike" cap="none" normalizeH="0" baseline="0" dirty="0">
                <a:ln>
                  <a:noFill/>
                </a:ln>
                <a:effectLst/>
                <a:cs typeface="Arial" panose="020B0604020202020204" pitchFamily="34" charset="0"/>
              </a:endParaRPr>
            </a:p>
          </p:txBody>
        </p:sp>
        <p:sp>
          <p:nvSpPr>
            <p:cNvPr id="14" name="Rectangle 210">
              <a:extLst>
                <a:ext uri="{FF2B5EF4-FFF2-40B4-BE49-F238E27FC236}">
                  <a16:creationId xmlns:a16="http://schemas.microsoft.com/office/drawing/2014/main" id="{48C3953F-E8D2-6B7D-F55F-F4EFD26D5AAC}"/>
                </a:ext>
              </a:extLst>
            </p:cNvPr>
            <p:cNvSpPr>
              <a:spLocks noChangeArrowheads="1"/>
            </p:cNvSpPr>
            <p:nvPr/>
          </p:nvSpPr>
          <p:spPr bwMode="auto">
            <a:xfrm>
              <a:off x="2203"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10.7</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6" name="Rectangle 211">
              <a:extLst>
                <a:ext uri="{FF2B5EF4-FFF2-40B4-BE49-F238E27FC236}">
                  <a16:creationId xmlns:a16="http://schemas.microsoft.com/office/drawing/2014/main" id="{5BB6FE0A-EC20-2D09-05FF-22439A36A297}"/>
                </a:ext>
              </a:extLst>
            </p:cNvPr>
            <p:cNvSpPr>
              <a:spLocks noChangeArrowheads="1"/>
            </p:cNvSpPr>
            <p:nvPr/>
          </p:nvSpPr>
          <p:spPr bwMode="auto">
            <a:xfrm>
              <a:off x="2499"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12.5</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7" name="Rectangle 212">
              <a:extLst>
                <a:ext uri="{FF2B5EF4-FFF2-40B4-BE49-F238E27FC236}">
                  <a16:creationId xmlns:a16="http://schemas.microsoft.com/office/drawing/2014/main" id="{D82C7E1C-279A-087A-C8A5-85F4F216346D}"/>
                </a:ext>
              </a:extLst>
            </p:cNvPr>
            <p:cNvSpPr>
              <a:spLocks noChangeArrowheads="1"/>
            </p:cNvSpPr>
            <p:nvPr/>
          </p:nvSpPr>
          <p:spPr bwMode="auto">
            <a:xfrm>
              <a:off x="2799"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10.9x</a:t>
              </a:r>
              <a:endParaRPr kumimoji="0" lang="en-US" altLang="en-US" sz="1800" b="0" i="0" u="none" strike="noStrike" cap="none" normalizeH="0" baseline="0" dirty="0">
                <a:ln>
                  <a:noFill/>
                </a:ln>
                <a:effectLst/>
                <a:cs typeface="Arial" panose="020B0604020202020204" pitchFamily="34" charset="0"/>
              </a:endParaRPr>
            </a:p>
          </p:txBody>
        </p:sp>
        <p:sp>
          <p:nvSpPr>
            <p:cNvPr id="18" name="Rectangle 213">
              <a:extLst>
                <a:ext uri="{FF2B5EF4-FFF2-40B4-BE49-F238E27FC236}">
                  <a16:creationId xmlns:a16="http://schemas.microsoft.com/office/drawing/2014/main" id="{32C7D41E-D7A4-9E86-43C6-928375410765}"/>
                </a:ext>
              </a:extLst>
            </p:cNvPr>
            <p:cNvSpPr>
              <a:spLocks noChangeArrowheads="1"/>
            </p:cNvSpPr>
            <p:nvPr/>
          </p:nvSpPr>
          <p:spPr bwMode="auto">
            <a:xfrm>
              <a:off x="3104"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11.3</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19" name="Rectangle 214">
              <a:extLst>
                <a:ext uri="{FF2B5EF4-FFF2-40B4-BE49-F238E27FC236}">
                  <a16:creationId xmlns:a16="http://schemas.microsoft.com/office/drawing/2014/main" id="{9EB87E36-F2CA-C0B4-C4C6-669B913BD3AC}"/>
                </a:ext>
              </a:extLst>
            </p:cNvPr>
            <p:cNvSpPr>
              <a:spLocks noChangeArrowheads="1"/>
            </p:cNvSpPr>
            <p:nvPr/>
          </p:nvSpPr>
          <p:spPr bwMode="auto">
            <a:xfrm>
              <a:off x="3382"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36.2x</a:t>
              </a:r>
              <a:endParaRPr kumimoji="0" lang="en-US" altLang="en-US" sz="1800" b="0" i="0" u="none" strike="noStrike" cap="none" normalizeH="0" baseline="0" dirty="0">
                <a:ln>
                  <a:noFill/>
                </a:ln>
                <a:effectLst/>
                <a:cs typeface="Arial" panose="020B0604020202020204" pitchFamily="34" charset="0"/>
              </a:endParaRPr>
            </a:p>
          </p:txBody>
        </p:sp>
        <p:sp>
          <p:nvSpPr>
            <p:cNvPr id="20" name="Rectangle 215">
              <a:extLst>
                <a:ext uri="{FF2B5EF4-FFF2-40B4-BE49-F238E27FC236}">
                  <a16:creationId xmlns:a16="http://schemas.microsoft.com/office/drawing/2014/main" id="{B202B3EE-61A6-EE10-35DF-84DD6A865404}"/>
                </a:ext>
              </a:extLst>
            </p:cNvPr>
            <p:cNvSpPr>
              <a:spLocks noChangeArrowheads="1"/>
            </p:cNvSpPr>
            <p:nvPr/>
          </p:nvSpPr>
          <p:spPr bwMode="auto">
            <a:xfrm>
              <a:off x="3697"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25.4x</a:t>
              </a:r>
              <a:endParaRPr kumimoji="0" lang="en-US" altLang="en-US" sz="1800" b="0" i="0" u="none" strike="noStrike" cap="none" normalizeH="0" baseline="0" dirty="0">
                <a:ln>
                  <a:noFill/>
                </a:ln>
                <a:effectLst/>
                <a:cs typeface="Arial" panose="020B0604020202020204" pitchFamily="34" charset="0"/>
              </a:endParaRPr>
            </a:p>
          </p:txBody>
        </p:sp>
        <p:sp>
          <p:nvSpPr>
            <p:cNvPr id="21" name="Rectangle 216">
              <a:extLst>
                <a:ext uri="{FF2B5EF4-FFF2-40B4-BE49-F238E27FC236}">
                  <a16:creationId xmlns:a16="http://schemas.microsoft.com/office/drawing/2014/main" id="{30877A2C-3E86-9900-0C16-1365F8F78F2A}"/>
                </a:ext>
              </a:extLst>
            </p:cNvPr>
            <p:cNvSpPr>
              <a:spLocks noChangeArrowheads="1"/>
            </p:cNvSpPr>
            <p:nvPr/>
          </p:nvSpPr>
          <p:spPr bwMode="auto">
            <a:xfrm>
              <a:off x="4005"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24.4x</a:t>
              </a:r>
              <a:endParaRPr kumimoji="0" lang="en-US" altLang="en-US" sz="1800" b="0" i="0" u="none" strike="noStrike" cap="none" normalizeH="0" baseline="0" dirty="0">
                <a:ln>
                  <a:noFill/>
                </a:ln>
                <a:effectLst/>
                <a:cs typeface="Arial" panose="020B0604020202020204" pitchFamily="34" charset="0"/>
              </a:endParaRPr>
            </a:p>
          </p:txBody>
        </p:sp>
        <p:sp>
          <p:nvSpPr>
            <p:cNvPr id="22" name="Rectangle 217">
              <a:extLst>
                <a:ext uri="{FF2B5EF4-FFF2-40B4-BE49-F238E27FC236}">
                  <a16:creationId xmlns:a16="http://schemas.microsoft.com/office/drawing/2014/main" id="{6C5CCC0B-26F8-961C-6F62-084C3F231991}"/>
                </a:ext>
              </a:extLst>
            </p:cNvPr>
            <p:cNvSpPr>
              <a:spLocks noChangeArrowheads="1"/>
            </p:cNvSpPr>
            <p:nvPr/>
          </p:nvSpPr>
          <p:spPr bwMode="auto">
            <a:xfrm>
              <a:off x="4301"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21.7x</a:t>
              </a:r>
              <a:endParaRPr kumimoji="0" lang="en-US" altLang="en-US" sz="1800" b="0" i="0" u="none" strike="noStrike" cap="none" normalizeH="0" baseline="0" dirty="0">
                <a:ln>
                  <a:noFill/>
                </a:ln>
                <a:effectLst/>
                <a:cs typeface="Arial" panose="020B0604020202020204" pitchFamily="34" charset="0"/>
              </a:endParaRPr>
            </a:p>
          </p:txBody>
        </p:sp>
        <p:sp>
          <p:nvSpPr>
            <p:cNvPr id="23" name="Rectangle 218">
              <a:extLst>
                <a:ext uri="{FF2B5EF4-FFF2-40B4-BE49-F238E27FC236}">
                  <a16:creationId xmlns:a16="http://schemas.microsoft.com/office/drawing/2014/main" id="{7C15972E-93D8-0203-3301-1C16D6A81EDC}"/>
                </a:ext>
              </a:extLst>
            </p:cNvPr>
            <p:cNvSpPr>
              <a:spLocks noChangeArrowheads="1"/>
            </p:cNvSpPr>
            <p:nvPr/>
          </p:nvSpPr>
          <p:spPr bwMode="auto">
            <a:xfrm>
              <a:off x="4620"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46.6x</a:t>
              </a:r>
              <a:endParaRPr kumimoji="0" lang="en-US" altLang="en-US" sz="1800" b="0" i="0" u="none" strike="noStrike" cap="none" normalizeH="0" baseline="0" dirty="0">
                <a:ln>
                  <a:noFill/>
                </a:ln>
                <a:effectLst/>
                <a:cs typeface="Arial" panose="020B0604020202020204" pitchFamily="34" charset="0"/>
              </a:endParaRPr>
            </a:p>
          </p:txBody>
        </p:sp>
        <p:sp>
          <p:nvSpPr>
            <p:cNvPr id="24" name="Rectangle 219">
              <a:extLst>
                <a:ext uri="{FF2B5EF4-FFF2-40B4-BE49-F238E27FC236}">
                  <a16:creationId xmlns:a16="http://schemas.microsoft.com/office/drawing/2014/main" id="{341F1AA1-0095-67E4-2A16-7BBCD8AFA7F7}"/>
                </a:ext>
              </a:extLst>
            </p:cNvPr>
            <p:cNvSpPr>
              <a:spLocks noChangeArrowheads="1"/>
            </p:cNvSpPr>
            <p:nvPr/>
          </p:nvSpPr>
          <p:spPr bwMode="auto">
            <a:xfrm>
              <a:off x="4926"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42.9x</a:t>
              </a:r>
              <a:endParaRPr kumimoji="0" lang="en-US" altLang="en-US" sz="1800" b="0" i="0" u="none" strike="noStrike" cap="none" normalizeH="0" baseline="0" dirty="0">
                <a:ln>
                  <a:noFill/>
                </a:ln>
                <a:effectLst/>
                <a:cs typeface="Arial" panose="020B0604020202020204" pitchFamily="34" charset="0"/>
              </a:endParaRPr>
            </a:p>
          </p:txBody>
        </p:sp>
        <p:sp>
          <p:nvSpPr>
            <p:cNvPr id="25" name="Rectangle 220">
              <a:extLst>
                <a:ext uri="{FF2B5EF4-FFF2-40B4-BE49-F238E27FC236}">
                  <a16:creationId xmlns:a16="http://schemas.microsoft.com/office/drawing/2014/main" id="{61D66F60-D64C-671B-844B-191F27FA9580}"/>
                </a:ext>
              </a:extLst>
            </p:cNvPr>
            <p:cNvSpPr>
              <a:spLocks noChangeArrowheads="1"/>
            </p:cNvSpPr>
            <p:nvPr/>
          </p:nvSpPr>
          <p:spPr bwMode="auto">
            <a:xfrm>
              <a:off x="5225"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37.9x</a:t>
              </a:r>
              <a:endParaRPr kumimoji="0" lang="en-US" altLang="en-US" sz="1800" b="0" i="0" u="none" strike="noStrike" cap="none" normalizeH="0" baseline="0" dirty="0">
                <a:ln>
                  <a:noFill/>
                </a:ln>
                <a:effectLst/>
                <a:cs typeface="Arial" panose="020B0604020202020204" pitchFamily="34" charset="0"/>
              </a:endParaRPr>
            </a:p>
          </p:txBody>
        </p:sp>
        <p:sp>
          <p:nvSpPr>
            <p:cNvPr id="26" name="Rectangle 221">
              <a:extLst>
                <a:ext uri="{FF2B5EF4-FFF2-40B4-BE49-F238E27FC236}">
                  <a16:creationId xmlns:a16="http://schemas.microsoft.com/office/drawing/2014/main" id="{234A3F28-3707-32EB-419B-2397A6C52035}"/>
                </a:ext>
              </a:extLst>
            </p:cNvPr>
            <p:cNvSpPr>
              <a:spLocks noChangeArrowheads="1"/>
            </p:cNvSpPr>
            <p:nvPr/>
          </p:nvSpPr>
          <p:spPr bwMode="auto">
            <a:xfrm>
              <a:off x="5517" y="3141"/>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39.5x</a:t>
              </a:r>
              <a:endParaRPr kumimoji="0" lang="en-US" altLang="en-US" sz="1800" b="0" i="0" u="none" strike="noStrike" cap="none" normalizeH="0" baseline="0" dirty="0">
                <a:ln>
                  <a:noFill/>
                </a:ln>
                <a:effectLst/>
                <a:cs typeface="Arial" panose="020B0604020202020204" pitchFamily="34" charset="0"/>
              </a:endParaRPr>
            </a:p>
          </p:txBody>
        </p:sp>
        <p:sp>
          <p:nvSpPr>
            <p:cNvPr id="27" name="Rectangle 222">
              <a:extLst>
                <a:ext uri="{FF2B5EF4-FFF2-40B4-BE49-F238E27FC236}">
                  <a16:creationId xmlns:a16="http://schemas.microsoft.com/office/drawing/2014/main" id="{2AF2E8C9-260C-B07D-7612-876DC669C784}"/>
                </a:ext>
              </a:extLst>
            </p:cNvPr>
            <p:cNvSpPr>
              <a:spLocks noChangeArrowheads="1"/>
            </p:cNvSpPr>
            <p:nvPr/>
          </p:nvSpPr>
          <p:spPr bwMode="auto">
            <a:xfrm>
              <a:off x="13" y="3260"/>
              <a:ext cx="264"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Median</a:t>
              </a:r>
              <a:endParaRPr kumimoji="0" lang="en-US" altLang="en-US" sz="1800" b="0" i="0" u="none" strike="noStrike" cap="none" normalizeH="0" baseline="0" dirty="0">
                <a:ln>
                  <a:noFill/>
                </a:ln>
                <a:effectLst/>
                <a:cs typeface="Arial" panose="020B0604020202020204" pitchFamily="34" charset="0"/>
              </a:endParaRPr>
            </a:p>
          </p:txBody>
        </p:sp>
        <p:sp>
          <p:nvSpPr>
            <p:cNvPr id="28" name="Rectangle 223">
              <a:extLst>
                <a:ext uri="{FF2B5EF4-FFF2-40B4-BE49-F238E27FC236}">
                  <a16:creationId xmlns:a16="http://schemas.microsoft.com/office/drawing/2014/main" id="{21F5CAD8-FC49-054C-1207-ED9AFB5BF625}"/>
                </a:ext>
              </a:extLst>
            </p:cNvPr>
            <p:cNvSpPr>
              <a:spLocks noChangeArrowheads="1"/>
            </p:cNvSpPr>
            <p:nvPr/>
          </p:nvSpPr>
          <p:spPr bwMode="auto">
            <a:xfrm>
              <a:off x="1394" y="3260"/>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$54,999</a:t>
              </a:r>
              <a:endParaRPr kumimoji="0" lang="en-US" altLang="en-US" sz="1800" b="0" i="0" u="none" strike="noStrike" cap="none" normalizeH="0" baseline="0" dirty="0">
                <a:ln>
                  <a:noFill/>
                </a:ln>
                <a:effectLst/>
                <a:cs typeface="Arial" panose="020B0604020202020204" pitchFamily="34" charset="0"/>
              </a:endParaRPr>
            </a:p>
          </p:txBody>
        </p:sp>
        <p:sp>
          <p:nvSpPr>
            <p:cNvPr id="29" name="Rectangle 224">
              <a:extLst>
                <a:ext uri="{FF2B5EF4-FFF2-40B4-BE49-F238E27FC236}">
                  <a16:creationId xmlns:a16="http://schemas.microsoft.com/office/drawing/2014/main" id="{5DA46E35-0B78-2679-D90A-D5E9159B17E5}"/>
                </a:ext>
              </a:extLst>
            </p:cNvPr>
            <p:cNvSpPr>
              <a:spLocks noChangeArrowheads="1"/>
            </p:cNvSpPr>
            <p:nvPr/>
          </p:nvSpPr>
          <p:spPr bwMode="auto">
            <a:xfrm>
              <a:off x="1794" y="3260"/>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$70,212</a:t>
              </a:r>
              <a:endParaRPr kumimoji="0" lang="en-US" altLang="en-US" sz="1800" b="0" i="0" u="none" strike="noStrike" cap="none" normalizeH="0" baseline="0" dirty="0">
                <a:ln>
                  <a:noFill/>
                </a:ln>
                <a:effectLst/>
                <a:cs typeface="Arial" panose="020B0604020202020204" pitchFamily="34" charset="0"/>
              </a:endParaRPr>
            </a:p>
          </p:txBody>
        </p:sp>
        <p:sp>
          <p:nvSpPr>
            <p:cNvPr id="30" name="Rectangle 225">
              <a:extLst>
                <a:ext uri="{FF2B5EF4-FFF2-40B4-BE49-F238E27FC236}">
                  <a16:creationId xmlns:a16="http://schemas.microsoft.com/office/drawing/2014/main" id="{817AB08C-0F9A-D616-0752-520B5A0464A5}"/>
                </a:ext>
              </a:extLst>
            </p:cNvPr>
            <p:cNvSpPr>
              <a:spLocks noChangeArrowheads="1"/>
            </p:cNvSpPr>
            <p:nvPr/>
          </p:nvSpPr>
          <p:spPr bwMode="auto">
            <a:xfrm>
              <a:off x="2203" y="3260"/>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2.4x</a:t>
              </a:r>
              <a:endParaRPr kumimoji="0" lang="en-US" altLang="en-US" sz="1800" b="0" i="0" u="none" strike="noStrike" cap="none" normalizeH="0" baseline="0" dirty="0">
                <a:ln>
                  <a:noFill/>
                </a:ln>
                <a:effectLst/>
                <a:cs typeface="Arial" panose="020B0604020202020204" pitchFamily="34" charset="0"/>
              </a:endParaRPr>
            </a:p>
          </p:txBody>
        </p:sp>
        <p:sp>
          <p:nvSpPr>
            <p:cNvPr id="31" name="Rectangle 226">
              <a:extLst>
                <a:ext uri="{FF2B5EF4-FFF2-40B4-BE49-F238E27FC236}">
                  <a16:creationId xmlns:a16="http://schemas.microsoft.com/office/drawing/2014/main" id="{7B3310CD-FF8F-4664-4274-E47F88892B4A}"/>
                </a:ext>
              </a:extLst>
            </p:cNvPr>
            <p:cNvSpPr>
              <a:spLocks noChangeArrowheads="1"/>
            </p:cNvSpPr>
            <p:nvPr/>
          </p:nvSpPr>
          <p:spPr bwMode="auto">
            <a:xfrm>
              <a:off x="2499" y="3260"/>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2.3</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32" name="Rectangle 227">
              <a:extLst>
                <a:ext uri="{FF2B5EF4-FFF2-40B4-BE49-F238E27FC236}">
                  <a16:creationId xmlns:a16="http://schemas.microsoft.com/office/drawing/2014/main" id="{E55F49FA-E474-85D4-E08A-57C4227BEC56}"/>
                </a:ext>
              </a:extLst>
            </p:cNvPr>
            <p:cNvSpPr>
              <a:spLocks noChangeArrowheads="1"/>
            </p:cNvSpPr>
            <p:nvPr/>
          </p:nvSpPr>
          <p:spPr bwMode="auto">
            <a:xfrm>
              <a:off x="2799" y="3260"/>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1.9</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33" name="Rectangle 228">
              <a:extLst>
                <a:ext uri="{FF2B5EF4-FFF2-40B4-BE49-F238E27FC236}">
                  <a16:creationId xmlns:a16="http://schemas.microsoft.com/office/drawing/2014/main" id="{7099B2FE-5735-4A95-113E-6A207A7B6612}"/>
                </a:ext>
              </a:extLst>
            </p:cNvPr>
            <p:cNvSpPr>
              <a:spLocks noChangeArrowheads="1"/>
            </p:cNvSpPr>
            <p:nvPr/>
          </p:nvSpPr>
          <p:spPr bwMode="auto">
            <a:xfrm>
              <a:off x="3104" y="3260"/>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2.2x</a:t>
              </a:r>
              <a:endParaRPr kumimoji="0" lang="en-US" altLang="en-US" sz="1800" b="0" i="0" u="none" strike="noStrike" cap="none" normalizeH="0" baseline="0" dirty="0">
                <a:ln>
                  <a:noFill/>
                </a:ln>
                <a:effectLst/>
                <a:cs typeface="Arial" panose="020B0604020202020204" pitchFamily="34" charset="0"/>
              </a:endParaRPr>
            </a:p>
          </p:txBody>
        </p:sp>
        <p:sp>
          <p:nvSpPr>
            <p:cNvPr id="34" name="Rectangle 229">
              <a:extLst>
                <a:ext uri="{FF2B5EF4-FFF2-40B4-BE49-F238E27FC236}">
                  <a16:creationId xmlns:a16="http://schemas.microsoft.com/office/drawing/2014/main" id="{A6CD667F-A517-5B2D-4875-4354CCD63338}"/>
                </a:ext>
              </a:extLst>
            </p:cNvPr>
            <p:cNvSpPr>
              <a:spLocks noChangeArrowheads="1"/>
            </p:cNvSpPr>
            <p:nvPr/>
          </p:nvSpPr>
          <p:spPr bwMode="auto">
            <a:xfrm>
              <a:off x="3382" y="3260"/>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13.5x</a:t>
              </a:r>
              <a:endParaRPr kumimoji="0" lang="en-US" altLang="en-US" sz="1800" b="0" i="0" u="none" strike="noStrike" cap="none" normalizeH="0" baseline="0" dirty="0">
                <a:ln>
                  <a:noFill/>
                </a:ln>
                <a:effectLst/>
                <a:cs typeface="Arial" panose="020B0604020202020204" pitchFamily="34" charset="0"/>
              </a:endParaRPr>
            </a:p>
          </p:txBody>
        </p:sp>
        <p:sp>
          <p:nvSpPr>
            <p:cNvPr id="35" name="Rectangle 230">
              <a:extLst>
                <a:ext uri="{FF2B5EF4-FFF2-40B4-BE49-F238E27FC236}">
                  <a16:creationId xmlns:a16="http://schemas.microsoft.com/office/drawing/2014/main" id="{250C1D67-3664-1BE6-0124-F9659F3100F2}"/>
                </a:ext>
              </a:extLst>
            </p:cNvPr>
            <p:cNvSpPr>
              <a:spLocks noChangeArrowheads="1"/>
            </p:cNvSpPr>
            <p:nvPr/>
          </p:nvSpPr>
          <p:spPr bwMode="auto">
            <a:xfrm>
              <a:off x="3697" y="3260"/>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18</a:t>
              </a:r>
              <a:r>
                <a:rPr kumimoji="0" lang="en-US" altLang="en-US" sz="1000" b="0" i="0" u="none" strike="noStrike" cap="none" normalizeH="0" baseline="0" dirty="0">
                  <a:ln>
                    <a:noFill/>
                  </a:ln>
                  <a:effectLst/>
                  <a:cs typeface="Arial" panose="020B0604020202020204" pitchFamily="34" charset="0"/>
                </a:rPr>
                <a:t>.1x</a:t>
              </a:r>
              <a:endParaRPr kumimoji="0" lang="en-US" altLang="en-US" sz="1800" b="0" i="0" u="none" strike="noStrike" cap="none" normalizeH="0" baseline="0" dirty="0">
                <a:ln>
                  <a:noFill/>
                </a:ln>
                <a:effectLst/>
                <a:cs typeface="Arial" panose="020B0604020202020204" pitchFamily="34" charset="0"/>
              </a:endParaRPr>
            </a:p>
          </p:txBody>
        </p:sp>
        <p:sp>
          <p:nvSpPr>
            <p:cNvPr id="36" name="Rectangle 231">
              <a:extLst>
                <a:ext uri="{FF2B5EF4-FFF2-40B4-BE49-F238E27FC236}">
                  <a16:creationId xmlns:a16="http://schemas.microsoft.com/office/drawing/2014/main" id="{091A8BB1-04F6-FA95-9333-4DA600E5CFB8}"/>
                </a:ext>
              </a:extLst>
            </p:cNvPr>
            <p:cNvSpPr>
              <a:spLocks noChangeArrowheads="1"/>
            </p:cNvSpPr>
            <p:nvPr/>
          </p:nvSpPr>
          <p:spPr bwMode="auto">
            <a:xfrm>
              <a:off x="4005" y="3260"/>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16.35</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37" name="Rectangle 232">
              <a:extLst>
                <a:ext uri="{FF2B5EF4-FFF2-40B4-BE49-F238E27FC236}">
                  <a16:creationId xmlns:a16="http://schemas.microsoft.com/office/drawing/2014/main" id="{FACAEABA-4B09-B4D9-A0B0-0079C4A7215D}"/>
                </a:ext>
              </a:extLst>
            </p:cNvPr>
            <p:cNvSpPr>
              <a:spLocks noChangeArrowheads="1"/>
            </p:cNvSpPr>
            <p:nvPr/>
          </p:nvSpPr>
          <p:spPr bwMode="auto">
            <a:xfrm>
              <a:off x="4301" y="3260"/>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15.0x</a:t>
              </a:r>
              <a:endParaRPr kumimoji="0" lang="en-US" altLang="en-US" sz="1800" b="0" i="0" u="none" strike="noStrike" cap="none" normalizeH="0" baseline="0" dirty="0">
                <a:ln>
                  <a:noFill/>
                </a:ln>
                <a:effectLst/>
                <a:cs typeface="Arial" panose="020B0604020202020204" pitchFamily="34" charset="0"/>
              </a:endParaRPr>
            </a:p>
          </p:txBody>
        </p:sp>
        <p:sp>
          <p:nvSpPr>
            <p:cNvPr id="38" name="Rectangle 233">
              <a:extLst>
                <a:ext uri="{FF2B5EF4-FFF2-40B4-BE49-F238E27FC236}">
                  <a16:creationId xmlns:a16="http://schemas.microsoft.com/office/drawing/2014/main" id="{7243DDB6-E709-71F7-4D02-43E0AD5BCD97}"/>
                </a:ext>
              </a:extLst>
            </p:cNvPr>
            <p:cNvSpPr>
              <a:spLocks noChangeArrowheads="1"/>
            </p:cNvSpPr>
            <p:nvPr/>
          </p:nvSpPr>
          <p:spPr bwMode="auto">
            <a:xfrm>
              <a:off x="4597" y="3260"/>
              <a:ext cx="240"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effectLst/>
                  <a:cs typeface="Arial" panose="020B0604020202020204" pitchFamily="34" charset="0"/>
                </a:rPr>
                <a:t>101.5x</a:t>
              </a:r>
              <a:endParaRPr kumimoji="0" lang="en-US" altLang="en-US" sz="1800" b="0" i="0" u="none" strike="noStrike" cap="none" normalizeH="0" baseline="0">
                <a:ln>
                  <a:noFill/>
                </a:ln>
                <a:effectLst/>
                <a:cs typeface="Arial" panose="020B0604020202020204" pitchFamily="34" charset="0"/>
              </a:endParaRPr>
            </a:p>
          </p:txBody>
        </p:sp>
        <p:sp>
          <p:nvSpPr>
            <p:cNvPr id="39" name="Rectangle 234">
              <a:extLst>
                <a:ext uri="{FF2B5EF4-FFF2-40B4-BE49-F238E27FC236}">
                  <a16:creationId xmlns:a16="http://schemas.microsoft.com/office/drawing/2014/main" id="{485F8FC4-74BD-A962-003D-73CF6A5CF9DC}"/>
                </a:ext>
              </a:extLst>
            </p:cNvPr>
            <p:cNvSpPr>
              <a:spLocks noChangeArrowheads="1"/>
            </p:cNvSpPr>
            <p:nvPr/>
          </p:nvSpPr>
          <p:spPr bwMode="auto">
            <a:xfrm>
              <a:off x="4926" y="3260"/>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21.1x</a:t>
              </a:r>
              <a:endParaRPr kumimoji="0" lang="en-US" altLang="en-US" sz="1800" b="0" i="0" u="none" strike="noStrike" cap="none" normalizeH="0" baseline="0" dirty="0">
                <a:ln>
                  <a:noFill/>
                </a:ln>
                <a:effectLst/>
                <a:cs typeface="Arial" panose="020B0604020202020204" pitchFamily="34" charset="0"/>
              </a:endParaRPr>
            </a:p>
          </p:txBody>
        </p:sp>
        <p:sp>
          <p:nvSpPr>
            <p:cNvPr id="40" name="Rectangle 235">
              <a:extLst>
                <a:ext uri="{FF2B5EF4-FFF2-40B4-BE49-F238E27FC236}">
                  <a16:creationId xmlns:a16="http://schemas.microsoft.com/office/drawing/2014/main" id="{5CEF396D-8E48-609A-5A40-07DD22A21789}"/>
                </a:ext>
              </a:extLst>
            </p:cNvPr>
            <p:cNvSpPr>
              <a:spLocks noChangeArrowheads="1"/>
            </p:cNvSpPr>
            <p:nvPr/>
          </p:nvSpPr>
          <p:spPr bwMode="auto">
            <a:xfrm>
              <a:off x="5225" y="3260"/>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18.7x</a:t>
              </a:r>
              <a:endParaRPr kumimoji="0" lang="en-US" altLang="en-US" sz="1800" b="0" i="0" u="none" strike="noStrike" cap="none" normalizeH="0" baseline="0" dirty="0">
                <a:ln>
                  <a:noFill/>
                </a:ln>
                <a:effectLst/>
                <a:cs typeface="Arial" panose="020B0604020202020204" pitchFamily="34" charset="0"/>
              </a:endParaRPr>
            </a:p>
          </p:txBody>
        </p:sp>
        <p:sp>
          <p:nvSpPr>
            <p:cNvPr id="41" name="Rectangle 236">
              <a:extLst>
                <a:ext uri="{FF2B5EF4-FFF2-40B4-BE49-F238E27FC236}">
                  <a16:creationId xmlns:a16="http://schemas.microsoft.com/office/drawing/2014/main" id="{B3B6DCC0-4D63-178F-B056-7ED392C29745}"/>
                </a:ext>
              </a:extLst>
            </p:cNvPr>
            <p:cNvSpPr>
              <a:spLocks noChangeArrowheads="1"/>
            </p:cNvSpPr>
            <p:nvPr/>
          </p:nvSpPr>
          <p:spPr bwMode="auto">
            <a:xfrm>
              <a:off x="5517" y="3260"/>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19.6x</a:t>
              </a:r>
              <a:endParaRPr kumimoji="0" lang="en-US" altLang="en-US" sz="1800" b="0" i="0" u="none" strike="noStrike" cap="none" normalizeH="0" baseline="0" dirty="0">
                <a:ln>
                  <a:noFill/>
                </a:ln>
                <a:effectLst/>
                <a:cs typeface="Arial" panose="020B0604020202020204" pitchFamily="34" charset="0"/>
              </a:endParaRPr>
            </a:p>
          </p:txBody>
        </p:sp>
        <p:sp>
          <p:nvSpPr>
            <p:cNvPr id="42" name="Rectangle 237">
              <a:extLst>
                <a:ext uri="{FF2B5EF4-FFF2-40B4-BE49-F238E27FC236}">
                  <a16:creationId xmlns:a16="http://schemas.microsoft.com/office/drawing/2014/main" id="{0283CA2F-3EF1-ABFA-0343-28E41CB5EC48}"/>
                </a:ext>
              </a:extLst>
            </p:cNvPr>
            <p:cNvSpPr>
              <a:spLocks noChangeArrowheads="1"/>
            </p:cNvSpPr>
            <p:nvPr/>
          </p:nvSpPr>
          <p:spPr bwMode="auto">
            <a:xfrm>
              <a:off x="13" y="3379"/>
              <a:ext cx="20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effectLst/>
                  <a:cs typeface="Arial" panose="020B0604020202020204" pitchFamily="34" charset="0"/>
                </a:rPr>
                <a:t>Mean</a:t>
              </a:r>
              <a:endParaRPr kumimoji="0" lang="en-US" altLang="en-US" sz="1800" b="0" i="0" u="none" strike="noStrike" cap="none" normalizeH="0" baseline="0">
                <a:ln>
                  <a:noFill/>
                </a:ln>
                <a:effectLst/>
                <a:cs typeface="Arial" panose="020B0604020202020204" pitchFamily="34" charset="0"/>
              </a:endParaRPr>
            </a:p>
          </p:txBody>
        </p:sp>
        <p:sp>
          <p:nvSpPr>
            <p:cNvPr id="43" name="Rectangle 238">
              <a:extLst>
                <a:ext uri="{FF2B5EF4-FFF2-40B4-BE49-F238E27FC236}">
                  <a16:creationId xmlns:a16="http://schemas.microsoft.com/office/drawing/2014/main" id="{1D8209CE-656D-9AD7-0B7D-9234E7489D22}"/>
                </a:ext>
              </a:extLst>
            </p:cNvPr>
            <p:cNvSpPr>
              <a:spLocks noChangeArrowheads="1"/>
            </p:cNvSpPr>
            <p:nvPr/>
          </p:nvSpPr>
          <p:spPr bwMode="auto">
            <a:xfrm>
              <a:off x="1394" y="3379"/>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$62,219</a:t>
              </a:r>
              <a:endParaRPr kumimoji="0" lang="en-US" altLang="en-US" sz="1800" b="0" i="0" u="none" strike="noStrike" cap="none" normalizeH="0" baseline="0" dirty="0">
                <a:ln>
                  <a:noFill/>
                </a:ln>
                <a:effectLst/>
                <a:cs typeface="Arial" panose="020B0604020202020204" pitchFamily="34" charset="0"/>
              </a:endParaRPr>
            </a:p>
          </p:txBody>
        </p:sp>
        <p:sp>
          <p:nvSpPr>
            <p:cNvPr id="44" name="Rectangle 239">
              <a:extLst>
                <a:ext uri="{FF2B5EF4-FFF2-40B4-BE49-F238E27FC236}">
                  <a16:creationId xmlns:a16="http://schemas.microsoft.com/office/drawing/2014/main" id="{C4726D8F-EB70-BFBB-323C-4ED9813E1647}"/>
                </a:ext>
              </a:extLst>
            </p:cNvPr>
            <p:cNvSpPr>
              <a:spLocks noChangeArrowheads="1"/>
            </p:cNvSpPr>
            <p:nvPr/>
          </p:nvSpPr>
          <p:spPr bwMode="auto">
            <a:xfrm>
              <a:off x="1794" y="3379"/>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$71,420</a:t>
              </a:r>
              <a:endParaRPr kumimoji="0" lang="en-US" altLang="en-US" sz="1800" b="0" i="0" u="none" strike="noStrike" cap="none" normalizeH="0" baseline="0" dirty="0">
                <a:ln>
                  <a:noFill/>
                </a:ln>
                <a:effectLst/>
                <a:cs typeface="Arial" panose="020B0604020202020204" pitchFamily="34" charset="0"/>
              </a:endParaRPr>
            </a:p>
          </p:txBody>
        </p:sp>
        <p:sp>
          <p:nvSpPr>
            <p:cNvPr id="45" name="Rectangle 240">
              <a:extLst>
                <a:ext uri="{FF2B5EF4-FFF2-40B4-BE49-F238E27FC236}">
                  <a16:creationId xmlns:a16="http://schemas.microsoft.com/office/drawing/2014/main" id="{2DBBC6C0-E0CB-4AD5-CBCA-FD8F0644D503}"/>
                </a:ext>
              </a:extLst>
            </p:cNvPr>
            <p:cNvSpPr>
              <a:spLocks noChangeArrowheads="1"/>
            </p:cNvSpPr>
            <p:nvPr/>
          </p:nvSpPr>
          <p:spPr bwMode="auto">
            <a:xfrm>
              <a:off x="2203" y="3379"/>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2.8x</a:t>
              </a:r>
              <a:endParaRPr kumimoji="0" lang="en-US" altLang="en-US" sz="1800" b="0" i="0" u="none" strike="noStrike" cap="none" normalizeH="0" baseline="0" dirty="0">
                <a:ln>
                  <a:noFill/>
                </a:ln>
                <a:effectLst/>
                <a:cs typeface="Arial" panose="020B0604020202020204" pitchFamily="34" charset="0"/>
              </a:endParaRPr>
            </a:p>
          </p:txBody>
        </p:sp>
        <p:sp>
          <p:nvSpPr>
            <p:cNvPr id="46" name="Rectangle 241">
              <a:extLst>
                <a:ext uri="{FF2B5EF4-FFF2-40B4-BE49-F238E27FC236}">
                  <a16:creationId xmlns:a16="http://schemas.microsoft.com/office/drawing/2014/main" id="{D716F797-15D2-5502-74AF-A8DDFB07F722}"/>
                </a:ext>
              </a:extLst>
            </p:cNvPr>
            <p:cNvSpPr>
              <a:spLocks noChangeArrowheads="1"/>
            </p:cNvSpPr>
            <p:nvPr/>
          </p:nvSpPr>
          <p:spPr bwMode="auto">
            <a:xfrm>
              <a:off x="2499" y="3379"/>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a:t>
              </a:r>
              <a:r>
                <a:rPr kumimoji="0" lang="en-US" altLang="en-US" sz="1000" b="0" i="0" u="none" strike="noStrike" cap="none" normalizeH="0" baseline="0" dirty="0">
                  <a:ln>
                    <a:noFill/>
                  </a:ln>
                  <a:effectLst/>
                  <a:cs typeface="Arial" panose="020B0604020202020204" pitchFamily="34" charset="0"/>
                </a:rPr>
                <a:t>.9x</a:t>
              </a:r>
              <a:endParaRPr kumimoji="0" lang="en-US" altLang="en-US" sz="1800" b="0" i="0" u="none" strike="noStrike" cap="none" normalizeH="0" baseline="0" dirty="0">
                <a:ln>
                  <a:noFill/>
                </a:ln>
                <a:effectLst/>
                <a:cs typeface="Arial" panose="020B0604020202020204" pitchFamily="34" charset="0"/>
              </a:endParaRPr>
            </a:p>
          </p:txBody>
        </p:sp>
        <p:sp>
          <p:nvSpPr>
            <p:cNvPr id="47" name="Rectangle 242">
              <a:extLst>
                <a:ext uri="{FF2B5EF4-FFF2-40B4-BE49-F238E27FC236}">
                  <a16:creationId xmlns:a16="http://schemas.microsoft.com/office/drawing/2014/main" id="{D8F8A11A-D239-00AA-54D3-1DA135D4C060}"/>
                </a:ext>
              </a:extLst>
            </p:cNvPr>
            <p:cNvSpPr>
              <a:spLocks noChangeArrowheads="1"/>
            </p:cNvSpPr>
            <p:nvPr/>
          </p:nvSpPr>
          <p:spPr bwMode="auto">
            <a:xfrm>
              <a:off x="2799" y="3379"/>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2</a:t>
              </a:r>
              <a:r>
                <a:rPr kumimoji="0" lang="en-US" altLang="en-US" sz="1000" b="0" i="0" u="none" strike="noStrike" cap="none" normalizeH="0" baseline="0" dirty="0">
                  <a:ln>
                    <a:noFill/>
                  </a:ln>
                  <a:effectLst/>
                  <a:cs typeface="Arial" panose="020B0604020202020204" pitchFamily="34" charset="0"/>
                </a:rPr>
                <a:t>.9x</a:t>
              </a:r>
              <a:endParaRPr kumimoji="0" lang="en-US" altLang="en-US" sz="1800" b="0" i="0" u="none" strike="noStrike" cap="none" normalizeH="0" baseline="0" dirty="0">
                <a:ln>
                  <a:noFill/>
                </a:ln>
                <a:effectLst/>
                <a:cs typeface="Arial" panose="020B0604020202020204" pitchFamily="34" charset="0"/>
              </a:endParaRPr>
            </a:p>
          </p:txBody>
        </p:sp>
        <p:sp>
          <p:nvSpPr>
            <p:cNvPr id="48" name="Rectangle 243">
              <a:extLst>
                <a:ext uri="{FF2B5EF4-FFF2-40B4-BE49-F238E27FC236}">
                  <a16:creationId xmlns:a16="http://schemas.microsoft.com/office/drawing/2014/main" id="{5E0F6039-2C42-CE32-D11C-19E4BB88A44C}"/>
                </a:ext>
              </a:extLst>
            </p:cNvPr>
            <p:cNvSpPr>
              <a:spLocks noChangeArrowheads="1"/>
            </p:cNvSpPr>
            <p:nvPr/>
          </p:nvSpPr>
          <p:spPr bwMode="auto">
            <a:xfrm>
              <a:off x="3104" y="3379"/>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3.2x</a:t>
              </a:r>
              <a:endParaRPr kumimoji="0" lang="en-US" altLang="en-US" sz="1800" b="0" i="0" u="none" strike="noStrike" cap="none" normalizeH="0" baseline="0" dirty="0">
                <a:ln>
                  <a:noFill/>
                </a:ln>
                <a:effectLst/>
                <a:cs typeface="Arial" panose="020B0604020202020204" pitchFamily="34" charset="0"/>
              </a:endParaRPr>
            </a:p>
          </p:txBody>
        </p:sp>
        <p:sp>
          <p:nvSpPr>
            <p:cNvPr id="49" name="Rectangle 244">
              <a:extLst>
                <a:ext uri="{FF2B5EF4-FFF2-40B4-BE49-F238E27FC236}">
                  <a16:creationId xmlns:a16="http://schemas.microsoft.com/office/drawing/2014/main" id="{5AC471EF-E11F-1BB2-2EF1-F361D4493189}"/>
                </a:ext>
              </a:extLst>
            </p:cNvPr>
            <p:cNvSpPr>
              <a:spLocks noChangeArrowheads="1"/>
            </p:cNvSpPr>
            <p:nvPr/>
          </p:nvSpPr>
          <p:spPr bwMode="auto">
            <a:xfrm>
              <a:off x="3382" y="3379"/>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16.7x</a:t>
              </a:r>
              <a:endParaRPr kumimoji="0" lang="en-US" altLang="en-US" sz="1800" b="0" i="0" u="none" strike="noStrike" cap="none" normalizeH="0" baseline="0" dirty="0">
                <a:ln>
                  <a:noFill/>
                </a:ln>
                <a:effectLst/>
                <a:cs typeface="Arial" panose="020B0604020202020204" pitchFamily="34" charset="0"/>
              </a:endParaRPr>
            </a:p>
          </p:txBody>
        </p:sp>
        <p:sp>
          <p:nvSpPr>
            <p:cNvPr id="50" name="Rectangle 245">
              <a:extLst>
                <a:ext uri="{FF2B5EF4-FFF2-40B4-BE49-F238E27FC236}">
                  <a16:creationId xmlns:a16="http://schemas.microsoft.com/office/drawing/2014/main" id="{3E01F459-66EF-20B7-B52F-FADBAED11040}"/>
                </a:ext>
              </a:extLst>
            </p:cNvPr>
            <p:cNvSpPr>
              <a:spLocks noChangeArrowheads="1"/>
            </p:cNvSpPr>
            <p:nvPr/>
          </p:nvSpPr>
          <p:spPr bwMode="auto">
            <a:xfrm>
              <a:off x="3697" y="3379"/>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20.2x</a:t>
              </a:r>
              <a:endParaRPr kumimoji="0" lang="en-US" altLang="en-US" sz="1800" b="0" i="0" u="none" strike="noStrike" cap="none" normalizeH="0" baseline="0" dirty="0">
                <a:ln>
                  <a:noFill/>
                </a:ln>
                <a:effectLst/>
                <a:cs typeface="Arial" panose="020B0604020202020204" pitchFamily="34" charset="0"/>
              </a:endParaRPr>
            </a:p>
          </p:txBody>
        </p:sp>
        <p:sp>
          <p:nvSpPr>
            <p:cNvPr id="51" name="Rectangle 246">
              <a:extLst>
                <a:ext uri="{FF2B5EF4-FFF2-40B4-BE49-F238E27FC236}">
                  <a16:creationId xmlns:a16="http://schemas.microsoft.com/office/drawing/2014/main" id="{21FFBB49-9C68-BC03-F5A6-14C9A98999D4}"/>
                </a:ext>
              </a:extLst>
            </p:cNvPr>
            <p:cNvSpPr>
              <a:spLocks noChangeArrowheads="1"/>
            </p:cNvSpPr>
            <p:nvPr/>
          </p:nvSpPr>
          <p:spPr bwMode="auto">
            <a:xfrm>
              <a:off x="4005" y="3379"/>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17.4x</a:t>
              </a:r>
              <a:endParaRPr kumimoji="0" lang="en-US" altLang="en-US" sz="1800" b="0" i="0" u="none" strike="noStrike" cap="none" normalizeH="0" baseline="0" dirty="0">
                <a:ln>
                  <a:noFill/>
                </a:ln>
                <a:effectLst/>
                <a:cs typeface="Arial" panose="020B0604020202020204" pitchFamily="34" charset="0"/>
              </a:endParaRPr>
            </a:p>
          </p:txBody>
        </p:sp>
        <p:sp>
          <p:nvSpPr>
            <p:cNvPr id="52" name="Rectangle 247">
              <a:extLst>
                <a:ext uri="{FF2B5EF4-FFF2-40B4-BE49-F238E27FC236}">
                  <a16:creationId xmlns:a16="http://schemas.microsoft.com/office/drawing/2014/main" id="{C2C96268-5732-EB13-02BF-D31FB439252E}"/>
                </a:ext>
              </a:extLst>
            </p:cNvPr>
            <p:cNvSpPr>
              <a:spLocks noChangeArrowheads="1"/>
            </p:cNvSpPr>
            <p:nvPr/>
          </p:nvSpPr>
          <p:spPr bwMode="auto">
            <a:xfrm>
              <a:off x="4301" y="3379"/>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17.4</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53" name="Rectangle 248">
              <a:extLst>
                <a:ext uri="{FF2B5EF4-FFF2-40B4-BE49-F238E27FC236}">
                  <a16:creationId xmlns:a16="http://schemas.microsoft.com/office/drawing/2014/main" id="{E02E800D-054D-49FB-70B5-08575A54DA04}"/>
                </a:ext>
              </a:extLst>
            </p:cNvPr>
            <p:cNvSpPr>
              <a:spLocks noChangeArrowheads="1"/>
            </p:cNvSpPr>
            <p:nvPr/>
          </p:nvSpPr>
          <p:spPr bwMode="auto">
            <a:xfrm>
              <a:off x="4597" y="3379"/>
              <a:ext cx="240"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103.8x</a:t>
              </a:r>
              <a:endParaRPr kumimoji="0" lang="en-US" altLang="en-US" sz="1800" b="0" i="0" u="none" strike="noStrike" cap="none" normalizeH="0" baseline="0" dirty="0">
                <a:ln>
                  <a:noFill/>
                </a:ln>
                <a:effectLst/>
                <a:cs typeface="Arial" panose="020B0604020202020204" pitchFamily="34" charset="0"/>
              </a:endParaRPr>
            </a:p>
          </p:txBody>
        </p:sp>
        <p:sp>
          <p:nvSpPr>
            <p:cNvPr id="54" name="Rectangle 249">
              <a:extLst>
                <a:ext uri="{FF2B5EF4-FFF2-40B4-BE49-F238E27FC236}">
                  <a16:creationId xmlns:a16="http://schemas.microsoft.com/office/drawing/2014/main" id="{C4928970-4D34-87DA-45A8-90FE77A0447D}"/>
                </a:ext>
              </a:extLst>
            </p:cNvPr>
            <p:cNvSpPr>
              <a:spLocks noChangeArrowheads="1"/>
            </p:cNvSpPr>
            <p:nvPr/>
          </p:nvSpPr>
          <p:spPr bwMode="auto">
            <a:xfrm>
              <a:off x="4926" y="3379"/>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22.9x</a:t>
              </a:r>
              <a:endParaRPr kumimoji="0" lang="en-US" altLang="en-US" sz="1800" b="0" i="0" u="none" strike="noStrike" cap="none" normalizeH="0" baseline="0" dirty="0">
                <a:ln>
                  <a:noFill/>
                </a:ln>
                <a:effectLst/>
                <a:cs typeface="Arial" panose="020B0604020202020204" pitchFamily="34" charset="0"/>
              </a:endParaRPr>
            </a:p>
          </p:txBody>
        </p:sp>
        <p:sp>
          <p:nvSpPr>
            <p:cNvPr id="55" name="Rectangle 250">
              <a:extLst>
                <a:ext uri="{FF2B5EF4-FFF2-40B4-BE49-F238E27FC236}">
                  <a16:creationId xmlns:a16="http://schemas.microsoft.com/office/drawing/2014/main" id="{7D7051B5-6BD4-A910-FE00-60F35ED2F1D9}"/>
                </a:ext>
              </a:extLst>
            </p:cNvPr>
            <p:cNvSpPr>
              <a:spLocks noChangeArrowheads="1"/>
            </p:cNvSpPr>
            <p:nvPr/>
          </p:nvSpPr>
          <p:spPr bwMode="auto">
            <a:xfrm>
              <a:off x="5225" y="3379"/>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22.4x</a:t>
              </a:r>
              <a:endParaRPr kumimoji="0" lang="en-US" altLang="en-US" sz="1800" b="0" i="0" u="none" strike="noStrike" cap="none" normalizeH="0" baseline="0" dirty="0">
                <a:ln>
                  <a:noFill/>
                </a:ln>
                <a:effectLst/>
                <a:cs typeface="Arial" panose="020B0604020202020204" pitchFamily="34" charset="0"/>
              </a:endParaRPr>
            </a:p>
          </p:txBody>
        </p:sp>
        <p:sp>
          <p:nvSpPr>
            <p:cNvPr id="56" name="Rectangle 251">
              <a:extLst>
                <a:ext uri="{FF2B5EF4-FFF2-40B4-BE49-F238E27FC236}">
                  <a16:creationId xmlns:a16="http://schemas.microsoft.com/office/drawing/2014/main" id="{8256A95E-FBD3-2FEA-1919-46F91B959168}"/>
                </a:ext>
              </a:extLst>
            </p:cNvPr>
            <p:cNvSpPr>
              <a:spLocks noChangeArrowheads="1"/>
            </p:cNvSpPr>
            <p:nvPr/>
          </p:nvSpPr>
          <p:spPr bwMode="auto">
            <a:xfrm>
              <a:off x="5517" y="3379"/>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23.1x</a:t>
              </a:r>
              <a:endParaRPr kumimoji="0" lang="en-US" altLang="en-US" sz="1800" b="0" i="0" u="none" strike="noStrike" cap="none" normalizeH="0" baseline="0" dirty="0">
                <a:ln>
                  <a:noFill/>
                </a:ln>
                <a:effectLst/>
                <a:cs typeface="Arial" panose="020B0604020202020204" pitchFamily="34" charset="0"/>
              </a:endParaRPr>
            </a:p>
          </p:txBody>
        </p:sp>
        <p:sp>
          <p:nvSpPr>
            <p:cNvPr id="57" name="Rectangle 252">
              <a:extLst>
                <a:ext uri="{FF2B5EF4-FFF2-40B4-BE49-F238E27FC236}">
                  <a16:creationId xmlns:a16="http://schemas.microsoft.com/office/drawing/2014/main" id="{047E0EE9-1CC8-2BA0-0E3A-6C162E15D7BD}"/>
                </a:ext>
              </a:extLst>
            </p:cNvPr>
            <p:cNvSpPr>
              <a:spLocks noChangeArrowheads="1"/>
            </p:cNvSpPr>
            <p:nvPr/>
          </p:nvSpPr>
          <p:spPr bwMode="auto">
            <a:xfrm>
              <a:off x="13" y="3498"/>
              <a:ext cx="147"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effectLst/>
                  <a:cs typeface="Arial" panose="020B0604020202020204" pitchFamily="34" charset="0"/>
                </a:rPr>
                <a:t>Low</a:t>
              </a:r>
              <a:endParaRPr kumimoji="0" lang="en-US" altLang="en-US" sz="1800" b="0" i="0" u="none" strike="noStrike" cap="none" normalizeH="0" baseline="0">
                <a:ln>
                  <a:noFill/>
                </a:ln>
                <a:effectLst/>
                <a:cs typeface="Arial" panose="020B0604020202020204" pitchFamily="34" charset="0"/>
              </a:endParaRPr>
            </a:p>
          </p:txBody>
        </p:sp>
        <p:sp>
          <p:nvSpPr>
            <p:cNvPr id="58" name="Rectangle 253">
              <a:extLst>
                <a:ext uri="{FF2B5EF4-FFF2-40B4-BE49-F238E27FC236}">
                  <a16:creationId xmlns:a16="http://schemas.microsoft.com/office/drawing/2014/main" id="{F890342F-9426-B60A-1849-FC317E4C8C87}"/>
                </a:ext>
              </a:extLst>
            </p:cNvPr>
            <p:cNvSpPr>
              <a:spLocks noChangeArrowheads="1"/>
            </p:cNvSpPr>
            <p:nvPr/>
          </p:nvSpPr>
          <p:spPr bwMode="auto">
            <a:xfrm>
              <a:off x="1394" y="3498"/>
              <a:ext cx="298"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$16.165</a:t>
              </a:r>
              <a:endParaRPr kumimoji="0" lang="en-US" altLang="en-US" sz="1800" b="0" i="0" u="none" strike="noStrike" cap="none" normalizeH="0" baseline="0" dirty="0">
                <a:ln>
                  <a:noFill/>
                </a:ln>
                <a:effectLst/>
                <a:cs typeface="Arial" panose="020B0604020202020204" pitchFamily="34" charset="0"/>
              </a:endParaRPr>
            </a:p>
          </p:txBody>
        </p:sp>
        <p:sp>
          <p:nvSpPr>
            <p:cNvPr id="59" name="Rectangle 254">
              <a:extLst>
                <a:ext uri="{FF2B5EF4-FFF2-40B4-BE49-F238E27FC236}">
                  <a16:creationId xmlns:a16="http://schemas.microsoft.com/office/drawing/2014/main" id="{FBEC0A84-1515-2C29-889B-C084AAE5D0E3}"/>
                </a:ext>
              </a:extLst>
            </p:cNvPr>
            <p:cNvSpPr>
              <a:spLocks noChangeArrowheads="1"/>
            </p:cNvSpPr>
            <p:nvPr/>
          </p:nvSpPr>
          <p:spPr bwMode="auto">
            <a:xfrm>
              <a:off x="1794" y="3498"/>
              <a:ext cx="296"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$18,685</a:t>
              </a:r>
              <a:endParaRPr kumimoji="0" lang="en-US" altLang="en-US" sz="1800" b="0" i="0" u="none" strike="noStrike" cap="none" normalizeH="0" baseline="0" dirty="0">
                <a:ln>
                  <a:noFill/>
                </a:ln>
                <a:effectLst/>
                <a:cs typeface="Arial" panose="020B0604020202020204" pitchFamily="34" charset="0"/>
              </a:endParaRPr>
            </a:p>
          </p:txBody>
        </p:sp>
        <p:sp>
          <p:nvSpPr>
            <p:cNvPr id="60" name="Rectangle 255">
              <a:extLst>
                <a:ext uri="{FF2B5EF4-FFF2-40B4-BE49-F238E27FC236}">
                  <a16:creationId xmlns:a16="http://schemas.microsoft.com/office/drawing/2014/main" id="{7AD8EDCB-C721-F27C-D89E-B9D8C8EAA580}"/>
                </a:ext>
              </a:extLst>
            </p:cNvPr>
            <p:cNvSpPr>
              <a:spLocks noChangeArrowheads="1"/>
            </p:cNvSpPr>
            <p:nvPr/>
          </p:nvSpPr>
          <p:spPr bwMode="auto">
            <a:xfrm>
              <a:off x="2203" y="3498"/>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1.4</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61" name="Rectangle 256">
              <a:extLst>
                <a:ext uri="{FF2B5EF4-FFF2-40B4-BE49-F238E27FC236}">
                  <a16:creationId xmlns:a16="http://schemas.microsoft.com/office/drawing/2014/main" id="{8F3F2292-BA4D-7955-2581-418B1274BB9C}"/>
                </a:ext>
              </a:extLst>
            </p:cNvPr>
            <p:cNvSpPr>
              <a:spLocks noChangeArrowheads="1"/>
            </p:cNvSpPr>
            <p:nvPr/>
          </p:nvSpPr>
          <p:spPr bwMode="auto">
            <a:xfrm>
              <a:off x="2499" y="3498"/>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1.4</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62" name="Rectangle 257">
              <a:extLst>
                <a:ext uri="{FF2B5EF4-FFF2-40B4-BE49-F238E27FC236}">
                  <a16:creationId xmlns:a16="http://schemas.microsoft.com/office/drawing/2014/main" id="{0FCF01A9-6768-95F4-0E20-573FF95A2E02}"/>
                </a:ext>
              </a:extLst>
            </p:cNvPr>
            <p:cNvSpPr>
              <a:spLocks noChangeArrowheads="1"/>
            </p:cNvSpPr>
            <p:nvPr/>
          </p:nvSpPr>
          <p:spPr bwMode="auto">
            <a:xfrm>
              <a:off x="2799" y="3498"/>
              <a:ext cx="152"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1.2x</a:t>
              </a:r>
              <a:endParaRPr kumimoji="0" lang="en-US" altLang="en-US" sz="1800" b="0" i="0" u="none" strike="noStrike" cap="none" normalizeH="0" baseline="0" dirty="0">
                <a:ln>
                  <a:noFill/>
                </a:ln>
                <a:effectLst/>
                <a:cs typeface="Arial" panose="020B0604020202020204" pitchFamily="34" charset="0"/>
              </a:endParaRPr>
            </a:p>
          </p:txBody>
        </p:sp>
        <p:sp>
          <p:nvSpPr>
            <p:cNvPr id="63" name="Rectangle 258">
              <a:extLst>
                <a:ext uri="{FF2B5EF4-FFF2-40B4-BE49-F238E27FC236}">
                  <a16:creationId xmlns:a16="http://schemas.microsoft.com/office/drawing/2014/main" id="{D989AE08-8739-8FE5-63F9-5B6BA7FFB13E}"/>
                </a:ext>
              </a:extLst>
            </p:cNvPr>
            <p:cNvSpPr>
              <a:spLocks noChangeArrowheads="1"/>
            </p:cNvSpPr>
            <p:nvPr/>
          </p:nvSpPr>
          <p:spPr bwMode="auto">
            <a:xfrm>
              <a:off x="3104" y="3498"/>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1.29x</a:t>
              </a:r>
              <a:endParaRPr kumimoji="0" lang="en-US" altLang="en-US" sz="1800" b="0" i="0" u="none" strike="noStrike" cap="none" normalizeH="0" baseline="0" dirty="0">
                <a:ln>
                  <a:noFill/>
                </a:ln>
                <a:effectLst/>
                <a:cs typeface="Arial" panose="020B0604020202020204" pitchFamily="34" charset="0"/>
              </a:endParaRPr>
            </a:p>
          </p:txBody>
        </p:sp>
        <p:sp>
          <p:nvSpPr>
            <p:cNvPr id="64" name="Rectangle 259">
              <a:extLst>
                <a:ext uri="{FF2B5EF4-FFF2-40B4-BE49-F238E27FC236}">
                  <a16:creationId xmlns:a16="http://schemas.microsoft.com/office/drawing/2014/main" id="{7D9481EB-9815-266B-A5F1-F10EC0980E85}"/>
                </a:ext>
              </a:extLst>
            </p:cNvPr>
            <p:cNvSpPr>
              <a:spLocks noChangeArrowheads="1"/>
            </p:cNvSpPr>
            <p:nvPr/>
          </p:nvSpPr>
          <p:spPr bwMode="auto">
            <a:xfrm>
              <a:off x="3382" y="3498"/>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12.1</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65" name="Rectangle 260">
              <a:extLst>
                <a:ext uri="{FF2B5EF4-FFF2-40B4-BE49-F238E27FC236}">
                  <a16:creationId xmlns:a16="http://schemas.microsoft.com/office/drawing/2014/main" id="{C8E261C2-CED3-35AD-4AE2-3D70914A85AC}"/>
                </a:ext>
              </a:extLst>
            </p:cNvPr>
            <p:cNvSpPr>
              <a:spLocks noChangeArrowheads="1"/>
            </p:cNvSpPr>
            <p:nvPr/>
          </p:nvSpPr>
          <p:spPr bwMode="auto">
            <a:xfrm>
              <a:off x="3697" y="3498"/>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10.6x</a:t>
              </a:r>
              <a:endParaRPr kumimoji="0" lang="en-US" altLang="en-US" sz="1800" b="0" i="0" u="none" strike="noStrike" cap="none" normalizeH="0" baseline="0" dirty="0">
                <a:ln>
                  <a:noFill/>
                </a:ln>
                <a:effectLst/>
                <a:cs typeface="Arial" panose="020B0604020202020204" pitchFamily="34" charset="0"/>
              </a:endParaRPr>
            </a:p>
          </p:txBody>
        </p:sp>
        <p:sp>
          <p:nvSpPr>
            <p:cNvPr id="66" name="Rectangle 261">
              <a:extLst>
                <a:ext uri="{FF2B5EF4-FFF2-40B4-BE49-F238E27FC236}">
                  <a16:creationId xmlns:a16="http://schemas.microsoft.com/office/drawing/2014/main" id="{A3159CD1-0307-BB78-4CB4-E0D165E13FAA}"/>
                </a:ext>
              </a:extLst>
            </p:cNvPr>
            <p:cNvSpPr>
              <a:spLocks noChangeArrowheads="1"/>
            </p:cNvSpPr>
            <p:nvPr/>
          </p:nvSpPr>
          <p:spPr bwMode="auto">
            <a:xfrm>
              <a:off x="4005" y="3498"/>
              <a:ext cx="245"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11.40x</a:t>
              </a:r>
              <a:endParaRPr kumimoji="0" lang="en-US" altLang="en-US" sz="1800" b="0" i="0" u="none" strike="noStrike" cap="none" normalizeH="0" baseline="0" dirty="0">
                <a:ln>
                  <a:noFill/>
                </a:ln>
                <a:effectLst/>
                <a:cs typeface="Arial" panose="020B0604020202020204" pitchFamily="34" charset="0"/>
              </a:endParaRPr>
            </a:p>
          </p:txBody>
        </p:sp>
        <p:sp>
          <p:nvSpPr>
            <p:cNvPr id="67" name="Rectangle 262">
              <a:extLst>
                <a:ext uri="{FF2B5EF4-FFF2-40B4-BE49-F238E27FC236}">
                  <a16:creationId xmlns:a16="http://schemas.microsoft.com/office/drawing/2014/main" id="{007E3B51-C037-FD37-091C-124AA754DF7F}"/>
                </a:ext>
              </a:extLst>
            </p:cNvPr>
            <p:cNvSpPr>
              <a:spLocks noChangeArrowheads="1"/>
            </p:cNvSpPr>
            <p:nvPr/>
          </p:nvSpPr>
          <p:spPr bwMode="auto">
            <a:xfrm>
              <a:off x="4301" y="3498"/>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000" dirty="0">
                  <a:cs typeface="Arial" panose="020B0604020202020204" pitchFamily="34" charset="0"/>
                </a:rPr>
                <a:t>13.0</a:t>
              </a:r>
              <a:r>
                <a:rPr kumimoji="0" lang="en-US" altLang="en-US" sz="1000" b="0" i="0" u="none" strike="noStrike" cap="none" normalizeH="0" baseline="0" dirty="0">
                  <a:ln>
                    <a:noFill/>
                  </a:ln>
                  <a:effectLst/>
                  <a:cs typeface="Arial" panose="020B0604020202020204" pitchFamily="34" charset="0"/>
                </a:rPr>
                <a:t>x</a:t>
              </a:r>
              <a:endParaRPr kumimoji="0" lang="en-US" altLang="en-US" sz="1800" b="0" i="0" u="none" strike="noStrike" cap="none" normalizeH="0" baseline="0" dirty="0">
                <a:ln>
                  <a:noFill/>
                </a:ln>
                <a:effectLst/>
                <a:cs typeface="Arial" panose="020B0604020202020204" pitchFamily="34" charset="0"/>
              </a:endParaRPr>
            </a:p>
          </p:txBody>
        </p:sp>
        <p:sp>
          <p:nvSpPr>
            <p:cNvPr id="68" name="Rectangle 263">
              <a:extLst>
                <a:ext uri="{FF2B5EF4-FFF2-40B4-BE49-F238E27FC236}">
                  <a16:creationId xmlns:a16="http://schemas.microsoft.com/office/drawing/2014/main" id="{F514D21B-ACD0-00FC-5E77-CD4DD50F06DE}"/>
                </a:ext>
              </a:extLst>
            </p:cNvPr>
            <p:cNvSpPr>
              <a:spLocks noChangeArrowheads="1"/>
            </p:cNvSpPr>
            <p:nvPr/>
          </p:nvSpPr>
          <p:spPr bwMode="auto">
            <a:xfrm>
              <a:off x="4620" y="3498"/>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12.9x</a:t>
              </a:r>
              <a:endParaRPr kumimoji="0" lang="en-US" altLang="en-US" sz="1800" b="0" i="0" u="none" strike="noStrike" cap="none" normalizeH="0" baseline="0" dirty="0">
                <a:ln>
                  <a:noFill/>
                </a:ln>
                <a:effectLst/>
                <a:cs typeface="Arial" panose="020B0604020202020204" pitchFamily="34" charset="0"/>
              </a:endParaRPr>
            </a:p>
          </p:txBody>
        </p:sp>
        <p:sp>
          <p:nvSpPr>
            <p:cNvPr id="69" name="Rectangle 264">
              <a:extLst>
                <a:ext uri="{FF2B5EF4-FFF2-40B4-BE49-F238E27FC236}">
                  <a16:creationId xmlns:a16="http://schemas.microsoft.com/office/drawing/2014/main" id="{6C7C7495-A21E-E733-FE2C-6B2F38FCE151}"/>
                </a:ext>
              </a:extLst>
            </p:cNvPr>
            <p:cNvSpPr>
              <a:spLocks noChangeArrowheads="1"/>
            </p:cNvSpPr>
            <p:nvPr/>
          </p:nvSpPr>
          <p:spPr bwMode="auto">
            <a:xfrm>
              <a:off x="4926" y="3498"/>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17.3x</a:t>
              </a:r>
              <a:endParaRPr kumimoji="0" lang="en-US" altLang="en-US" sz="1800" b="0" i="0" u="none" strike="noStrike" cap="none" normalizeH="0" baseline="0" dirty="0">
                <a:ln>
                  <a:noFill/>
                </a:ln>
                <a:effectLst/>
                <a:cs typeface="Arial" panose="020B0604020202020204" pitchFamily="34" charset="0"/>
              </a:endParaRPr>
            </a:p>
          </p:txBody>
        </p:sp>
        <p:sp>
          <p:nvSpPr>
            <p:cNvPr id="70" name="Rectangle 265">
              <a:extLst>
                <a:ext uri="{FF2B5EF4-FFF2-40B4-BE49-F238E27FC236}">
                  <a16:creationId xmlns:a16="http://schemas.microsoft.com/office/drawing/2014/main" id="{AADFFC99-26A8-3364-477E-F41D2A3F39BA}"/>
                </a:ext>
              </a:extLst>
            </p:cNvPr>
            <p:cNvSpPr>
              <a:spLocks noChangeArrowheads="1"/>
            </p:cNvSpPr>
            <p:nvPr/>
          </p:nvSpPr>
          <p:spPr bwMode="auto">
            <a:xfrm>
              <a:off x="5225" y="3498"/>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12.8x</a:t>
              </a:r>
              <a:endParaRPr kumimoji="0" lang="en-US" altLang="en-US" sz="1800" b="0" i="0" u="none" strike="noStrike" cap="none" normalizeH="0" baseline="0" dirty="0">
                <a:ln>
                  <a:noFill/>
                </a:ln>
                <a:effectLst/>
                <a:cs typeface="Arial" panose="020B0604020202020204" pitchFamily="34" charset="0"/>
              </a:endParaRPr>
            </a:p>
          </p:txBody>
        </p:sp>
        <p:sp>
          <p:nvSpPr>
            <p:cNvPr id="71" name="Rectangle 266">
              <a:extLst>
                <a:ext uri="{FF2B5EF4-FFF2-40B4-BE49-F238E27FC236}">
                  <a16:creationId xmlns:a16="http://schemas.microsoft.com/office/drawing/2014/main" id="{BC25C243-D4F0-FA01-0C78-A7B375B3E087}"/>
                </a:ext>
              </a:extLst>
            </p:cNvPr>
            <p:cNvSpPr>
              <a:spLocks noChangeArrowheads="1"/>
            </p:cNvSpPr>
            <p:nvPr/>
          </p:nvSpPr>
          <p:spPr bwMode="auto">
            <a:xfrm>
              <a:off x="5517" y="3498"/>
              <a:ext cx="199"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effectLst/>
                  <a:cs typeface="Arial" panose="020B0604020202020204" pitchFamily="34" charset="0"/>
                </a:rPr>
                <a:t>13.5x</a:t>
              </a:r>
              <a:endParaRPr kumimoji="0" lang="en-US" altLang="en-US" sz="1800" b="0" i="0" u="none" strike="noStrike" cap="none" normalizeH="0" baseline="0" dirty="0">
                <a:ln>
                  <a:noFill/>
                </a:ln>
                <a:effectLst/>
                <a:cs typeface="Arial" panose="020B0604020202020204" pitchFamily="34" charset="0"/>
              </a:endParaRPr>
            </a:p>
          </p:txBody>
        </p:sp>
        <p:sp>
          <p:nvSpPr>
            <p:cNvPr id="72" name="Line 267">
              <a:extLst>
                <a:ext uri="{FF2B5EF4-FFF2-40B4-BE49-F238E27FC236}">
                  <a16:creationId xmlns:a16="http://schemas.microsoft.com/office/drawing/2014/main" id="{22F973CC-8DEE-7AFB-8ECC-AC61C972D5FF}"/>
                </a:ext>
              </a:extLst>
            </p:cNvPr>
            <p:cNvSpPr>
              <a:spLocks noChangeShapeType="1"/>
            </p:cNvSpPr>
            <p:nvPr/>
          </p:nvSpPr>
          <p:spPr bwMode="auto">
            <a:xfrm>
              <a:off x="0" y="2980"/>
              <a:ext cx="576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73" name="Rectangle 268">
              <a:extLst>
                <a:ext uri="{FF2B5EF4-FFF2-40B4-BE49-F238E27FC236}">
                  <a16:creationId xmlns:a16="http://schemas.microsoft.com/office/drawing/2014/main" id="{961B12EA-820A-6558-06DB-61D679CDC940}"/>
                </a:ext>
              </a:extLst>
            </p:cNvPr>
            <p:cNvSpPr>
              <a:spLocks noChangeArrowheads="1"/>
            </p:cNvSpPr>
            <p:nvPr/>
          </p:nvSpPr>
          <p:spPr bwMode="auto">
            <a:xfrm>
              <a:off x="0" y="2980"/>
              <a:ext cx="5760"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74" name="Line 269">
              <a:extLst>
                <a:ext uri="{FF2B5EF4-FFF2-40B4-BE49-F238E27FC236}">
                  <a16:creationId xmlns:a16="http://schemas.microsoft.com/office/drawing/2014/main" id="{AAADB8B9-4FB2-42C2-1F0B-ABC7E791894A}"/>
                </a:ext>
              </a:extLst>
            </p:cNvPr>
            <p:cNvSpPr>
              <a:spLocks noChangeShapeType="1"/>
            </p:cNvSpPr>
            <p:nvPr/>
          </p:nvSpPr>
          <p:spPr bwMode="auto">
            <a:xfrm>
              <a:off x="0" y="3099"/>
              <a:ext cx="576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75" name="Rectangle 270">
              <a:extLst>
                <a:ext uri="{FF2B5EF4-FFF2-40B4-BE49-F238E27FC236}">
                  <a16:creationId xmlns:a16="http://schemas.microsoft.com/office/drawing/2014/main" id="{AE3FAAC7-F34D-4B27-0787-1FE421F8FC4E}"/>
                </a:ext>
              </a:extLst>
            </p:cNvPr>
            <p:cNvSpPr>
              <a:spLocks noChangeArrowheads="1"/>
            </p:cNvSpPr>
            <p:nvPr/>
          </p:nvSpPr>
          <p:spPr bwMode="auto">
            <a:xfrm>
              <a:off x="0" y="3099"/>
              <a:ext cx="5760"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76" name="Line 271">
              <a:extLst>
                <a:ext uri="{FF2B5EF4-FFF2-40B4-BE49-F238E27FC236}">
                  <a16:creationId xmlns:a16="http://schemas.microsoft.com/office/drawing/2014/main" id="{8BAD9627-8889-C96B-9205-556B65FEB07B}"/>
                </a:ext>
              </a:extLst>
            </p:cNvPr>
            <p:cNvSpPr>
              <a:spLocks noChangeShapeType="1"/>
            </p:cNvSpPr>
            <p:nvPr/>
          </p:nvSpPr>
          <p:spPr bwMode="auto">
            <a:xfrm>
              <a:off x="0" y="3104"/>
              <a:ext cx="5760" cy="0"/>
            </a:xfrm>
            <a:prstGeom prst="line">
              <a:avLst/>
            </a:prstGeom>
            <a:noFill/>
            <a:ln w="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dirty="0">
                <a:latin typeface="Arial" panose="020B0604020202020204" pitchFamily="34" charset="0"/>
                <a:cs typeface="Arial" panose="020B0604020202020204" pitchFamily="34" charset="0"/>
              </a:endParaRPr>
            </a:p>
          </p:txBody>
        </p:sp>
        <p:sp>
          <p:nvSpPr>
            <p:cNvPr id="77" name="Rectangle 272">
              <a:extLst>
                <a:ext uri="{FF2B5EF4-FFF2-40B4-BE49-F238E27FC236}">
                  <a16:creationId xmlns:a16="http://schemas.microsoft.com/office/drawing/2014/main" id="{05268F13-703B-0203-4825-49E58DF81D03}"/>
                </a:ext>
              </a:extLst>
            </p:cNvPr>
            <p:cNvSpPr>
              <a:spLocks noChangeArrowheads="1"/>
            </p:cNvSpPr>
            <p:nvPr/>
          </p:nvSpPr>
          <p:spPr bwMode="auto">
            <a:xfrm>
              <a:off x="0" y="3104"/>
              <a:ext cx="5760" cy="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922621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0">
            <a:extLst>
              <a:ext uri="{FF2B5EF4-FFF2-40B4-BE49-F238E27FC236}">
                <a16:creationId xmlns:a16="http://schemas.microsoft.com/office/drawing/2014/main" id="{DAB2799C-F71D-8F1B-57F8-D4A68D00699A}"/>
              </a:ext>
            </a:extLst>
          </p:cNvPr>
          <p:cNvSpPr txBox="1"/>
          <p:nvPr/>
        </p:nvSpPr>
        <p:spPr>
          <a:xfrm>
            <a:off x="2470131" y="4396681"/>
            <a:ext cx="2410619" cy="200055"/>
          </a:xfrm>
          <a:prstGeom prst="rect">
            <a:avLst/>
          </a:prstGeom>
          <a:noFill/>
        </p:spPr>
        <p:txBody>
          <a:bodyPr wrap="square">
            <a:spAutoFit/>
          </a:bodyPr>
          <a:lstStyle/>
          <a:p>
            <a:pPr fontAlgn="b"/>
            <a:r>
              <a:rPr lang="en-US" sz="700" b="1" u="none" strike="noStrike" dirty="0">
                <a:effectLst/>
              </a:rPr>
              <a:t>Sum of PV of FCFs	                           $96,165</a:t>
            </a:r>
            <a:endParaRPr lang="en-SG" sz="700" b="1" i="0" u="none" strike="noStrike" dirty="0">
              <a:effectLst/>
              <a:latin typeface="Calibri" panose="020F0502020204030204" pitchFamily="34" charset="0"/>
            </a:endParaRPr>
          </a:p>
        </p:txBody>
      </p:sp>
      <p:sp>
        <p:nvSpPr>
          <p:cNvPr id="58" name="TextBox 57">
            <a:extLst>
              <a:ext uri="{FF2B5EF4-FFF2-40B4-BE49-F238E27FC236}">
                <a16:creationId xmlns:a16="http://schemas.microsoft.com/office/drawing/2014/main" id="{32CED5C0-2320-8DB0-1701-466B167C8370}"/>
              </a:ext>
            </a:extLst>
          </p:cNvPr>
          <p:cNvSpPr txBox="1"/>
          <p:nvPr/>
        </p:nvSpPr>
        <p:spPr>
          <a:xfrm>
            <a:off x="2470131" y="2883796"/>
            <a:ext cx="2439158" cy="200055"/>
          </a:xfrm>
          <a:prstGeom prst="rect">
            <a:avLst/>
          </a:prstGeom>
          <a:noFill/>
        </p:spPr>
        <p:txBody>
          <a:bodyPr wrap="square">
            <a:spAutoFit/>
          </a:bodyPr>
          <a:lstStyle/>
          <a:p>
            <a:pPr fontAlgn="b"/>
            <a:r>
              <a:rPr lang="en-IE" sz="700" b="1" u="none" strike="noStrike" dirty="0">
                <a:effectLst/>
              </a:rPr>
              <a:t>Total Debt &amp; Capital Leases                 (47,940)</a:t>
            </a:r>
            <a:endParaRPr lang="en-SG" sz="700" b="1" i="0" u="none" strike="noStrike" dirty="0">
              <a:effectLst/>
              <a:latin typeface="Calibri" panose="020F0502020204030204" pitchFamily="34" charset="0"/>
            </a:endParaRPr>
          </a:p>
        </p:txBody>
      </p:sp>
      <p:sp>
        <p:nvSpPr>
          <p:cNvPr id="69" name="TextBox 68">
            <a:extLst>
              <a:ext uri="{FF2B5EF4-FFF2-40B4-BE49-F238E27FC236}">
                <a16:creationId xmlns:a16="http://schemas.microsoft.com/office/drawing/2014/main" id="{E8DF372C-B7AB-AB5B-E698-A1BEB118B632}"/>
              </a:ext>
            </a:extLst>
          </p:cNvPr>
          <p:cNvSpPr txBox="1"/>
          <p:nvPr/>
        </p:nvSpPr>
        <p:spPr>
          <a:xfrm>
            <a:off x="2470131" y="3011639"/>
            <a:ext cx="2633621" cy="200055"/>
          </a:xfrm>
          <a:prstGeom prst="rect">
            <a:avLst/>
          </a:prstGeom>
          <a:noFill/>
        </p:spPr>
        <p:txBody>
          <a:bodyPr wrap="square">
            <a:spAutoFit/>
          </a:bodyPr>
          <a:lstStyle/>
          <a:p>
            <a:pPr fontAlgn="b"/>
            <a:r>
              <a:rPr lang="en-IE" sz="700" b="1" u="none" strike="noStrike" dirty="0">
                <a:effectLst/>
              </a:rPr>
              <a:t>Implied Equity                                       $143,860</a:t>
            </a:r>
            <a:endParaRPr lang="en-SG" sz="700" b="1" i="0" u="none" strike="noStrike" dirty="0">
              <a:effectLst/>
              <a:latin typeface="Calibri" panose="020F0502020204030204" pitchFamily="34" charset="0"/>
            </a:endParaRPr>
          </a:p>
        </p:txBody>
      </p:sp>
      <p:sp>
        <p:nvSpPr>
          <p:cNvPr id="15" name="Title 1">
            <a:extLst>
              <a:ext uri="{FF2B5EF4-FFF2-40B4-BE49-F238E27FC236}">
                <a16:creationId xmlns:a16="http://schemas.microsoft.com/office/drawing/2014/main" id="{9DB5AE6F-DBEE-3268-5BB6-DC44C6C0D91E}"/>
              </a:ext>
            </a:extLst>
          </p:cNvPr>
          <p:cNvSpPr>
            <a:spLocks noGrp="1"/>
          </p:cNvSpPr>
          <p:nvPr/>
        </p:nvSpPr>
        <p:spPr>
          <a:xfrm>
            <a:off x="0" y="396096"/>
            <a:ext cx="4114261"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a:solidFill>
                  <a:srgbClr val="333F44"/>
                </a:solidFill>
              </a:rPr>
              <a:t>DCF Model Output</a:t>
            </a:r>
          </a:p>
        </p:txBody>
      </p:sp>
      <p:sp>
        <p:nvSpPr>
          <p:cNvPr id="5" name="Google Shape;1046;p22">
            <a:extLst>
              <a:ext uri="{FF2B5EF4-FFF2-40B4-BE49-F238E27FC236}">
                <a16:creationId xmlns:a16="http://schemas.microsoft.com/office/drawing/2014/main" id="{222EEA7B-208F-427D-FCBB-CBCFF12304BE}"/>
              </a:ext>
            </a:extLst>
          </p:cNvPr>
          <p:cNvSpPr txBox="1"/>
          <p:nvPr/>
        </p:nvSpPr>
        <p:spPr>
          <a:xfrm>
            <a:off x="5040273" y="1273695"/>
            <a:ext cx="3947769" cy="284883"/>
          </a:xfrm>
          <a:prstGeom prst="rect">
            <a:avLst/>
          </a:prstGeom>
          <a:solidFill>
            <a:srgbClr val="113D63"/>
          </a:solid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1200"/>
              <a:buFont typeface="Arial"/>
              <a:buNone/>
            </a:pPr>
            <a:r>
              <a:rPr lang="en-CA" sz="1050" b="1" i="0" u="none" strike="noStrike" cap="none" dirty="0">
                <a:solidFill>
                  <a:schemeClr val="bg1"/>
                </a:solidFill>
                <a:ea typeface="Open Sans Light" panose="020B0306030504020204" pitchFamily="34" charset="0"/>
                <a:cs typeface="Open Sans Light" panose="020B0306030504020204" pitchFamily="34" charset="0"/>
                <a:sym typeface="Arial"/>
              </a:rPr>
              <a:t>Sensitivity</a:t>
            </a:r>
            <a:r>
              <a:rPr lang="en-CA" sz="1050" b="1" i="0" u="none" strike="noStrike" cap="none" dirty="0">
                <a:solidFill>
                  <a:schemeClr val="dk1"/>
                </a:solidFill>
                <a:ea typeface="Open Sans Light" panose="020B0306030504020204" pitchFamily="34" charset="0"/>
                <a:cs typeface="Open Sans Light" panose="020B0306030504020204" pitchFamily="34" charset="0"/>
                <a:sym typeface="Arial"/>
              </a:rPr>
              <a:t> </a:t>
            </a:r>
            <a:r>
              <a:rPr lang="en-CA" sz="1050" b="1" i="0" u="none" strike="noStrike" cap="none" dirty="0">
                <a:solidFill>
                  <a:schemeClr val="bg1"/>
                </a:solidFill>
                <a:ea typeface="Open Sans Light" panose="020B0306030504020204" pitchFamily="34" charset="0"/>
                <a:cs typeface="Open Sans Light" panose="020B0306030504020204" pitchFamily="34" charset="0"/>
                <a:sym typeface="Arial"/>
              </a:rPr>
              <a:t>Analysis</a:t>
            </a:r>
            <a:endParaRPr sz="1050" dirty="0">
              <a:solidFill>
                <a:schemeClr val="bg1"/>
              </a:solidFill>
              <a:ea typeface="Open Sans Light" panose="020B0306030504020204" pitchFamily="34" charset="0"/>
              <a:cs typeface="Open Sans Light" panose="020B0306030504020204" pitchFamily="34" charset="0"/>
            </a:endParaRPr>
          </a:p>
        </p:txBody>
      </p:sp>
      <p:sp>
        <p:nvSpPr>
          <p:cNvPr id="7" name="Google Shape;1053;p22">
            <a:extLst>
              <a:ext uri="{FF2B5EF4-FFF2-40B4-BE49-F238E27FC236}">
                <a16:creationId xmlns:a16="http://schemas.microsoft.com/office/drawing/2014/main" id="{05CB029C-B057-847E-349E-B7991F86F255}"/>
              </a:ext>
            </a:extLst>
          </p:cNvPr>
          <p:cNvSpPr txBox="1"/>
          <p:nvPr/>
        </p:nvSpPr>
        <p:spPr>
          <a:xfrm>
            <a:off x="72633" y="5164351"/>
            <a:ext cx="3947770" cy="30921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1200"/>
              <a:buFont typeface="Arial"/>
              <a:buNone/>
            </a:pPr>
            <a:r>
              <a:rPr lang="en-CA" sz="1200" b="1" i="0" u="none" strike="noStrike" cap="none" dirty="0">
                <a:solidFill>
                  <a:schemeClr val="dk1"/>
                </a:solidFill>
                <a:ea typeface="Open Sans" panose="020B0606030504020204" pitchFamily="34" charset="0"/>
                <a:cs typeface="Arial"/>
                <a:sym typeface="Arial"/>
              </a:rPr>
              <a:t>WACC Assumptions</a:t>
            </a:r>
            <a:endParaRPr sz="1100" b="0" i="0" u="none" strike="noStrike" cap="none" dirty="0">
              <a:solidFill>
                <a:srgbClr val="000000"/>
              </a:solidFill>
              <a:ea typeface="Open Sans" panose="020B0606030504020204" pitchFamily="34" charset="0"/>
              <a:cs typeface="Arial"/>
              <a:sym typeface="Arial"/>
            </a:endParaRPr>
          </a:p>
        </p:txBody>
      </p:sp>
      <p:sp>
        <p:nvSpPr>
          <p:cNvPr id="14" name="Google Shape;1048;p22">
            <a:extLst>
              <a:ext uri="{FF2B5EF4-FFF2-40B4-BE49-F238E27FC236}">
                <a16:creationId xmlns:a16="http://schemas.microsoft.com/office/drawing/2014/main" id="{2BF50D52-5825-A29E-A24C-F840DBD308A7}"/>
              </a:ext>
            </a:extLst>
          </p:cNvPr>
          <p:cNvSpPr txBox="1">
            <a:spLocks/>
          </p:cNvSpPr>
          <p:nvPr/>
        </p:nvSpPr>
        <p:spPr>
          <a:xfrm>
            <a:off x="101173" y="1273695"/>
            <a:ext cx="4766453" cy="284883"/>
          </a:xfrm>
          <a:prstGeom prst="rect">
            <a:avLst/>
          </a:prstGeom>
          <a:solidFill>
            <a:srgbClr val="113D63"/>
          </a:solid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200"/>
              <a:buFont typeface="Arial" panose="020B0604020202020204" pitchFamily="34" charset="0"/>
              <a:buNone/>
            </a:pPr>
            <a:r>
              <a:rPr lang="en-CA" sz="1050" b="1" dirty="0">
                <a:solidFill>
                  <a:schemeClr val="bg1"/>
                </a:solidFill>
                <a:latin typeface="Arial" panose="020B0604020202020204" pitchFamily="34" charset="0"/>
                <a:ea typeface="Open Sans Light" panose="020B0306030504020204" pitchFamily="34" charset="0"/>
                <a:cs typeface="Arial" panose="020B0604020202020204" pitchFamily="34" charset="0"/>
              </a:rPr>
              <a:t>Valuation Summary</a:t>
            </a:r>
          </a:p>
        </p:txBody>
      </p:sp>
      <p:graphicFrame>
        <p:nvGraphicFramePr>
          <p:cNvPr id="4" name="Table 3">
            <a:extLst>
              <a:ext uri="{FF2B5EF4-FFF2-40B4-BE49-F238E27FC236}">
                <a16:creationId xmlns:a16="http://schemas.microsoft.com/office/drawing/2014/main" id="{6465CCA2-2D64-A8DA-7304-763FEFE2D499}"/>
              </a:ext>
            </a:extLst>
          </p:cNvPr>
          <p:cNvGraphicFramePr>
            <a:graphicFrameLocks noGrp="1"/>
          </p:cNvGraphicFramePr>
          <p:nvPr>
            <p:extLst>
              <p:ext uri="{D42A27DB-BD31-4B8C-83A1-F6EECF244321}">
                <p14:modId xmlns:p14="http://schemas.microsoft.com/office/powerpoint/2010/main" val="4249517741"/>
              </p:ext>
            </p:extLst>
          </p:nvPr>
        </p:nvGraphicFramePr>
        <p:xfrm>
          <a:off x="5045832" y="3418303"/>
          <a:ext cx="3947769" cy="1731842"/>
        </p:xfrm>
        <a:graphic>
          <a:graphicData uri="http://schemas.openxmlformats.org/drawingml/2006/table">
            <a:tbl>
              <a:tblPr firstRow="1" bandRow="1">
                <a:tableStyleId>{5C22544A-7EE6-4342-B048-85BDC9FD1C3A}</a:tableStyleId>
              </a:tblPr>
              <a:tblGrid>
                <a:gridCol w="415926">
                  <a:extLst>
                    <a:ext uri="{9D8B030D-6E8A-4147-A177-3AD203B41FA5}">
                      <a16:colId xmlns:a16="http://schemas.microsoft.com/office/drawing/2014/main" val="1817925550"/>
                    </a:ext>
                  </a:extLst>
                </a:gridCol>
                <a:gridCol w="712008">
                  <a:extLst>
                    <a:ext uri="{9D8B030D-6E8A-4147-A177-3AD203B41FA5}">
                      <a16:colId xmlns:a16="http://schemas.microsoft.com/office/drawing/2014/main" val="1631424010"/>
                    </a:ext>
                  </a:extLst>
                </a:gridCol>
                <a:gridCol w="563967">
                  <a:extLst>
                    <a:ext uri="{9D8B030D-6E8A-4147-A177-3AD203B41FA5}">
                      <a16:colId xmlns:a16="http://schemas.microsoft.com/office/drawing/2014/main" val="2296092664"/>
                    </a:ext>
                  </a:extLst>
                </a:gridCol>
                <a:gridCol w="563967">
                  <a:extLst>
                    <a:ext uri="{9D8B030D-6E8A-4147-A177-3AD203B41FA5}">
                      <a16:colId xmlns:a16="http://schemas.microsoft.com/office/drawing/2014/main" val="3702123532"/>
                    </a:ext>
                  </a:extLst>
                </a:gridCol>
                <a:gridCol w="563967">
                  <a:extLst>
                    <a:ext uri="{9D8B030D-6E8A-4147-A177-3AD203B41FA5}">
                      <a16:colId xmlns:a16="http://schemas.microsoft.com/office/drawing/2014/main" val="3941928810"/>
                    </a:ext>
                  </a:extLst>
                </a:gridCol>
                <a:gridCol w="563967">
                  <a:extLst>
                    <a:ext uri="{9D8B030D-6E8A-4147-A177-3AD203B41FA5}">
                      <a16:colId xmlns:a16="http://schemas.microsoft.com/office/drawing/2014/main" val="1712582227"/>
                    </a:ext>
                  </a:extLst>
                </a:gridCol>
                <a:gridCol w="563967">
                  <a:extLst>
                    <a:ext uri="{9D8B030D-6E8A-4147-A177-3AD203B41FA5}">
                      <a16:colId xmlns:a16="http://schemas.microsoft.com/office/drawing/2014/main" val="3251084275"/>
                    </a:ext>
                  </a:extLst>
                </a:gridCol>
              </a:tblGrid>
              <a:tr h="247406">
                <a:tc gridSpan="7">
                  <a:txBody>
                    <a:bodyPr/>
                    <a:lstStyle/>
                    <a:p>
                      <a:pPr algn="ctr"/>
                      <a:r>
                        <a:rPr lang="en-IE" sz="900" b="1" dirty="0">
                          <a:latin typeface="Arial" panose="020B0604020202020204" pitchFamily="34" charset="0"/>
                          <a:cs typeface="Arial" panose="020B0604020202020204" pitchFamily="34" charset="0"/>
                        </a:rPr>
                        <a:t>Terminal FCF Growth Rate:</a:t>
                      </a:r>
                    </a:p>
                  </a:txBody>
                  <a:tcPr>
                    <a:solidFill>
                      <a:srgbClr val="113D63"/>
                    </a:solidFill>
                  </a:tcPr>
                </a:tc>
                <a:tc hMerge="1">
                  <a:txBody>
                    <a:bodyPr/>
                    <a:lstStyle/>
                    <a:p>
                      <a:endParaRPr lang="en-IE" sz="900" dirty="0"/>
                    </a:p>
                  </a:txBody>
                  <a:tcPr/>
                </a:tc>
                <a:tc hMerge="1">
                  <a:txBody>
                    <a:bodyPr/>
                    <a:lstStyle/>
                    <a:p>
                      <a:endParaRPr lang="en-IE" sz="900"/>
                    </a:p>
                  </a:txBody>
                  <a:tcPr/>
                </a:tc>
                <a:tc hMerge="1">
                  <a:txBody>
                    <a:bodyPr/>
                    <a:lstStyle/>
                    <a:p>
                      <a:endParaRPr lang="en-IE" sz="900" dirty="0"/>
                    </a:p>
                  </a:txBody>
                  <a:tcPr/>
                </a:tc>
                <a:tc hMerge="1">
                  <a:txBody>
                    <a:bodyPr/>
                    <a:lstStyle/>
                    <a:p>
                      <a:endParaRPr lang="en-IE" sz="900"/>
                    </a:p>
                  </a:txBody>
                  <a:tcPr/>
                </a:tc>
                <a:tc hMerge="1">
                  <a:txBody>
                    <a:bodyPr/>
                    <a:lstStyle/>
                    <a:p>
                      <a:endParaRPr lang="en-IE" sz="900" dirty="0"/>
                    </a:p>
                  </a:txBody>
                  <a:tcPr/>
                </a:tc>
                <a:tc hMerge="1">
                  <a:txBody>
                    <a:bodyPr/>
                    <a:lstStyle/>
                    <a:p>
                      <a:endParaRPr lang="en-IE" sz="900" dirty="0"/>
                    </a:p>
                  </a:txBody>
                  <a:tcPr/>
                </a:tc>
                <a:extLst>
                  <a:ext uri="{0D108BD9-81ED-4DB2-BD59-A6C34878D82A}">
                    <a16:rowId xmlns:a16="http://schemas.microsoft.com/office/drawing/2014/main" val="698161741"/>
                  </a:ext>
                </a:extLst>
              </a:tr>
              <a:tr h="247406">
                <a:tc rowSpan="6">
                  <a:txBody>
                    <a:bodyPr/>
                    <a:lstStyle/>
                    <a:p>
                      <a:pPr algn="ctr"/>
                      <a:r>
                        <a:rPr lang="en-US" sz="900" b="1" dirty="0">
                          <a:solidFill>
                            <a:schemeClr val="bg1"/>
                          </a:solidFill>
                          <a:latin typeface="Arial" panose="020B0604020202020204" pitchFamily="34" charset="0"/>
                          <a:cs typeface="Arial" panose="020B0604020202020204" pitchFamily="34" charset="0"/>
                        </a:rPr>
                        <a:t>WACC</a:t>
                      </a:r>
                      <a:endParaRPr lang="en-IE" sz="900" b="1" dirty="0">
                        <a:solidFill>
                          <a:schemeClr val="bg1"/>
                        </a:solidFill>
                        <a:latin typeface="Arial" panose="020B0604020202020204" pitchFamily="34" charset="0"/>
                        <a:cs typeface="Arial" panose="020B0604020202020204" pitchFamily="34" charset="0"/>
                      </a:endParaRPr>
                    </a:p>
                  </a:txBody>
                  <a:tcPr vert="vert270" anchor="ctr">
                    <a:solidFill>
                      <a:srgbClr val="113D63"/>
                    </a:solidFill>
                  </a:tcPr>
                </a:tc>
                <a:tc>
                  <a:txBody>
                    <a:bodyPr/>
                    <a:lstStyle/>
                    <a:p>
                      <a:pPr algn="ct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dirty="0">
                          <a:latin typeface="Arial" panose="020B0604020202020204" pitchFamily="34" charset="0"/>
                          <a:cs typeface="Arial" panose="020B0604020202020204" pitchFamily="34" charset="0"/>
                        </a:rPr>
                        <a:t>0.00%</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dirty="0">
                          <a:latin typeface="Arial" panose="020B0604020202020204" pitchFamily="34" charset="0"/>
                          <a:cs typeface="Arial" panose="020B0604020202020204" pitchFamily="34" charset="0"/>
                        </a:rPr>
                        <a:t>0.25%</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b="1" dirty="0">
                          <a:latin typeface="Arial" panose="020B0604020202020204" pitchFamily="34" charset="0"/>
                          <a:cs typeface="Arial" panose="020B0604020202020204" pitchFamily="34" charset="0"/>
                        </a:rPr>
                        <a:t>0.50%</a:t>
                      </a:r>
                      <a:endParaRPr lang="en-IE" sz="900" b="1"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dirty="0">
                          <a:latin typeface="Arial" panose="020B0604020202020204" pitchFamily="34" charset="0"/>
                          <a:cs typeface="Arial" panose="020B0604020202020204" pitchFamily="34" charset="0"/>
                        </a:rPr>
                        <a:t>0.75%</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dirty="0">
                          <a:latin typeface="Arial" panose="020B0604020202020204" pitchFamily="34" charset="0"/>
                          <a:cs typeface="Arial" panose="020B0604020202020204" pitchFamily="34" charset="0"/>
                        </a:rPr>
                        <a:t>1.00%</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extLst>
                  <a:ext uri="{0D108BD9-81ED-4DB2-BD59-A6C34878D82A}">
                    <a16:rowId xmlns:a16="http://schemas.microsoft.com/office/drawing/2014/main" val="1451268785"/>
                  </a:ext>
                </a:extLst>
              </a:tr>
              <a:tr h="247406">
                <a:tc vMerge="1">
                  <a:txBody>
                    <a:bodyPr/>
                    <a:lstStyle/>
                    <a:p>
                      <a:endParaRPr lang="en-IE" sz="900" dirty="0"/>
                    </a:p>
                  </a:txBody>
                  <a:tcPr/>
                </a:tc>
                <a:tc>
                  <a:txBody>
                    <a:bodyPr/>
                    <a:lstStyle/>
                    <a:p>
                      <a:pPr algn="ctr"/>
                      <a:r>
                        <a:rPr lang="en-US" sz="900" dirty="0">
                          <a:latin typeface="Arial" panose="020B0604020202020204" pitchFamily="34" charset="0"/>
                          <a:cs typeface="Arial" panose="020B0604020202020204" pitchFamily="34" charset="0"/>
                        </a:rPr>
                        <a:t>10.05%</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dirty="0">
                          <a:solidFill>
                            <a:schemeClr val="tx1"/>
                          </a:solidFill>
                          <a:latin typeface="Arial" panose="020B0604020202020204" pitchFamily="34" charset="0"/>
                          <a:cs typeface="Arial" panose="020B0604020202020204" pitchFamily="34" charset="0"/>
                        </a:rPr>
                        <a:t>$ 211</a:t>
                      </a: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$ 215</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$ 220</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$ 224</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$ 229</a:t>
                      </a:r>
                      <a:endParaRPr lang="en-IE" sz="900" dirty="0">
                        <a:solidFill>
                          <a:schemeClr val="tx1"/>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3872608007"/>
                  </a:ext>
                </a:extLst>
              </a:tr>
              <a:tr h="247406">
                <a:tc vMerge="1">
                  <a:txBody>
                    <a:bodyPr/>
                    <a:lstStyle/>
                    <a:p>
                      <a:endParaRPr lang="en-IE" sz="900" dirty="0"/>
                    </a:p>
                  </a:txBody>
                  <a:tcPr/>
                </a:tc>
                <a:tc>
                  <a:txBody>
                    <a:bodyPr/>
                    <a:lstStyle/>
                    <a:p>
                      <a:pPr algn="ctr"/>
                      <a:r>
                        <a:rPr lang="en-US" sz="900" dirty="0">
                          <a:latin typeface="Arial" panose="020B0604020202020204" pitchFamily="34" charset="0"/>
                          <a:cs typeface="Arial" panose="020B0604020202020204" pitchFamily="34" charset="0"/>
                        </a:rPr>
                        <a:t>9.80%</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dirty="0">
                          <a:solidFill>
                            <a:schemeClr val="tx1"/>
                          </a:solidFill>
                          <a:latin typeface="Arial" panose="020B0604020202020204" pitchFamily="34" charset="0"/>
                          <a:cs typeface="Arial" panose="020B0604020202020204" pitchFamily="34" charset="0"/>
                        </a:rPr>
                        <a:t>$ 220</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$ 225</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$ 230</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$235</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$ 240</a:t>
                      </a:r>
                      <a:endParaRPr lang="en-IE" sz="900" dirty="0">
                        <a:solidFill>
                          <a:schemeClr val="tx1"/>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534863765"/>
                  </a:ext>
                </a:extLst>
              </a:tr>
              <a:tr h="247406">
                <a:tc vMerge="1">
                  <a:txBody>
                    <a:bodyPr/>
                    <a:lstStyle/>
                    <a:p>
                      <a:endParaRPr lang="en-IE" sz="900" dirty="0"/>
                    </a:p>
                  </a:txBody>
                  <a:tcPr/>
                </a:tc>
                <a:tc>
                  <a:txBody>
                    <a:bodyPr/>
                    <a:lstStyle/>
                    <a:p>
                      <a:pPr algn="ctr"/>
                      <a:r>
                        <a:rPr lang="en-US" sz="900" b="1" dirty="0">
                          <a:latin typeface="Arial" panose="020B0604020202020204" pitchFamily="34" charset="0"/>
                          <a:cs typeface="Arial" panose="020B0604020202020204" pitchFamily="34" charset="0"/>
                        </a:rPr>
                        <a:t>9.55%</a:t>
                      </a:r>
                      <a:endParaRPr lang="en-IE" sz="900" b="1"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$ 231</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$ 236</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$ 241</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$ 246</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$ 252</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3696070660"/>
                  </a:ext>
                </a:extLst>
              </a:tr>
              <a:tr h="247406">
                <a:tc vMerge="1">
                  <a:txBody>
                    <a:bodyPr/>
                    <a:lstStyle/>
                    <a:p>
                      <a:endParaRPr lang="en-IE" sz="900" dirty="0"/>
                    </a:p>
                  </a:txBody>
                  <a:tcPr/>
                </a:tc>
                <a:tc>
                  <a:txBody>
                    <a:bodyPr/>
                    <a:lstStyle/>
                    <a:p>
                      <a:pPr algn="ctr"/>
                      <a:r>
                        <a:rPr lang="en-US" sz="900" dirty="0">
                          <a:latin typeface="Arial" panose="020B0604020202020204" pitchFamily="34" charset="0"/>
                          <a:cs typeface="Arial" panose="020B0604020202020204" pitchFamily="34" charset="0"/>
                        </a:rPr>
                        <a:t>9.30%</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dirty="0">
                          <a:solidFill>
                            <a:schemeClr val="tx1"/>
                          </a:solidFill>
                          <a:latin typeface="Arial" panose="020B0604020202020204" pitchFamily="34" charset="0"/>
                          <a:cs typeface="Arial" panose="020B0604020202020204" pitchFamily="34" charset="0"/>
                        </a:rPr>
                        <a:t>$ 241</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$ 247</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$ 252</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$ 258</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$ 264</a:t>
                      </a:r>
                      <a:endParaRPr lang="en-IE" sz="900" dirty="0">
                        <a:solidFill>
                          <a:schemeClr val="tx1"/>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3908732510"/>
                  </a:ext>
                </a:extLst>
              </a:tr>
              <a:tr h="247406">
                <a:tc vMerge="1">
                  <a:txBody>
                    <a:bodyPr/>
                    <a:lstStyle/>
                    <a:p>
                      <a:endParaRPr lang="en-IE" sz="900" dirty="0"/>
                    </a:p>
                  </a:txBody>
                  <a:tcPr/>
                </a:tc>
                <a:tc>
                  <a:txBody>
                    <a:bodyPr/>
                    <a:lstStyle/>
                    <a:p>
                      <a:pPr algn="ctr"/>
                      <a:r>
                        <a:rPr lang="en-US" sz="900" dirty="0">
                          <a:latin typeface="Arial" panose="020B0604020202020204" pitchFamily="34" charset="0"/>
                          <a:cs typeface="Arial" panose="020B0604020202020204" pitchFamily="34" charset="0"/>
                        </a:rPr>
                        <a:t>9.05%</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dirty="0">
                          <a:solidFill>
                            <a:schemeClr val="tx1"/>
                          </a:solidFill>
                          <a:latin typeface="Arial" panose="020B0604020202020204" pitchFamily="34" charset="0"/>
                          <a:cs typeface="Arial" panose="020B0604020202020204" pitchFamily="34" charset="0"/>
                        </a:rPr>
                        <a:t>$ 252</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$ 258</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dirty="0">
                          <a:solidFill>
                            <a:schemeClr val="tx1"/>
                          </a:solidFill>
                          <a:latin typeface="Arial" panose="020B0604020202020204" pitchFamily="34" charset="0"/>
                          <a:cs typeface="Arial" panose="020B0604020202020204" pitchFamily="34" charset="0"/>
                        </a:rPr>
                        <a:t>$ 264</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$ 270</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$ 277</a:t>
                      </a:r>
                      <a:endParaRPr lang="en-IE" sz="900" dirty="0">
                        <a:solidFill>
                          <a:schemeClr val="tx1"/>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816342180"/>
                  </a:ext>
                </a:extLst>
              </a:tr>
            </a:tbl>
          </a:graphicData>
        </a:graphic>
      </p:graphicFrame>
      <p:graphicFrame>
        <p:nvGraphicFramePr>
          <p:cNvPr id="18" name="Table 17">
            <a:extLst>
              <a:ext uri="{FF2B5EF4-FFF2-40B4-BE49-F238E27FC236}">
                <a16:creationId xmlns:a16="http://schemas.microsoft.com/office/drawing/2014/main" id="{049AFC4A-EF2F-FC69-5FEA-8049EEA31953}"/>
              </a:ext>
            </a:extLst>
          </p:cNvPr>
          <p:cNvGraphicFramePr>
            <a:graphicFrameLocks noGrp="1"/>
          </p:cNvGraphicFramePr>
          <p:nvPr>
            <p:extLst>
              <p:ext uri="{D42A27DB-BD31-4B8C-83A1-F6EECF244321}">
                <p14:modId xmlns:p14="http://schemas.microsoft.com/office/powerpoint/2010/main" val="3222844732"/>
              </p:ext>
            </p:extLst>
          </p:nvPr>
        </p:nvGraphicFramePr>
        <p:xfrm>
          <a:off x="5040273" y="1624891"/>
          <a:ext cx="3947769" cy="1731842"/>
        </p:xfrm>
        <a:graphic>
          <a:graphicData uri="http://schemas.openxmlformats.org/drawingml/2006/table">
            <a:tbl>
              <a:tblPr firstRow="1" bandRow="1">
                <a:tableStyleId>{5C22544A-7EE6-4342-B048-85BDC9FD1C3A}</a:tableStyleId>
              </a:tblPr>
              <a:tblGrid>
                <a:gridCol w="415926">
                  <a:extLst>
                    <a:ext uri="{9D8B030D-6E8A-4147-A177-3AD203B41FA5}">
                      <a16:colId xmlns:a16="http://schemas.microsoft.com/office/drawing/2014/main" val="1817925550"/>
                    </a:ext>
                  </a:extLst>
                </a:gridCol>
                <a:gridCol w="712008">
                  <a:extLst>
                    <a:ext uri="{9D8B030D-6E8A-4147-A177-3AD203B41FA5}">
                      <a16:colId xmlns:a16="http://schemas.microsoft.com/office/drawing/2014/main" val="1631424010"/>
                    </a:ext>
                  </a:extLst>
                </a:gridCol>
                <a:gridCol w="563967">
                  <a:extLst>
                    <a:ext uri="{9D8B030D-6E8A-4147-A177-3AD203B41FA5}">
                      <a16:colId xmlns:a16="http://schemas.microsoft.com/office/drawing/2014/main" val="2296092664"/>
                    </a:ext>
                  </a:extLst>
                </a:gridCol>
                <a:gridCol w="563967">
                  <a:extLst>
                    <a:ext uri="{9D8B030D-6E8A-4147-A177-3AD203B41FA5}">
                      <a16:colId xmlns:a16="http://schemas.microsoft.com/office/drawing/2014/main" val="3702123532"/>
                    </a:ext>
                  </a:extLst>
                </a:gridCol>
                <a:gridCol w="563967">
                  <a:extLst>
                    <a:ext uri="{9D8B030D-6E8A-4147-A177-3AD203B41FA5}">
                      <a16:colId xmlns:a16="http://schemas.microsoft.com/office/drawing/2014/main" val="3941928810"/>
                    </a:ext>
                  </a:extLst>
                </a:gridCol>
                <a:gridCol w="563967">
                  <a:extLst>
                    <a:ext uri="{9D8B030D-6E8A-4147-A177-3AD203B41FA5}">
                      <a16:colId xmlns:a16="http://schemas.microsoft.com/office/drawing/2014/main" val="1712582227"/>
                    </a:ext>
                  </a:extLst>
                </a:gridCol>
                <a:gridCol w="563967">
                  <a:extLst>
                    <a:ext uri="{9D8B030D-6E8A-4147-A177-3AD203B41FA5}">
                      <a16:colId xmlns:a16="http://schemas.microsoft.com/office/drawing/2014/main" val="3251084275"/>
                    </a:ext>
                  </a:extLst>
                </a:gridCol>
              </a:tblGrid>
              <a:tr h="247406">
                <a:tc gridSpan="7">
                  <a:txBody>
                    <a:bodyPr/>
                    <a:lstStyle/>
                    <a:p>
                      <a:pPr algn="ctr"/>
                      <a:r>
                        <a:rPr lang="en-IE" sz="900" b="1" dirty="0">
                          <a:latin typeface="Arial" panose="020B0604020202020204" pitchFamily="34" charset="0"/>
                          <a:cs typeface="Arial" panose="020B0604020202020204" pitchFamily="34" charset="0"/>
                        </a:rPr>
                        <a:t>Terminal EBITDA Multiple:</a:t>
                      </a:r>
                    </a:p>
                  </a:txBody>
                  <a:tcPr>
                    <a:solidFill>
                      <a:srgbClr val="113D63"/>
                    </a:solidFill>
                  </a:tcPr>
                </a:tc>
                <a:tc hMerge="1">
                  <a:txBody>
                    <a:bodyPr/>
                    <a:lstStyle/>
                    <a:p>
                      <a:endParaRPr lang="en-IE" sz="900" dirty="0"/>
                    </a:p>
                  </a:txBody>
                  <a:tcPr/>
                </a:tc>
                <a:tc hMerge="1">
                  <a:txBody>
                    <a:bodyPr/>
                    <a:lstStyle/>
                    <a:p>
                      <a:endParaRPr lang="en-IE" sz="900"/>
                    </a:p>
                  </a:txBody>
                  <a:tcPr/>
                </a:tc>
                <a:tc hMerge="1">
                  <a:txBody>
                    <a:bodyPr/>
                    <a:lstStyle/>
                    <a:p>
                      <a:endParaRPr lang="en-IE" sz="900" dirty="0"/>
                    </a:p>
                  </a:txBody>
                  <a:tcPr/>
                </a:tc>
                <a:tc hMerge="1">
                  <a:txBody>
                    <a:bodyPr/>
                    <a:lstStyle/>
                    <a:p>
                      <a:endParaRPr lang="en-IE" sz="900"/>
                    </a:p>
                  </a:txBody>
                  <a:tcPr/>
                </a:tc>
                <a:tc hMerge="1">
                  <a:txBody>
                    <a:bodyPr/>
                    <a:lstStyle/>
                    <a:p>
                      <a:endParaRPr lang="en-IE" sz="900" dirty="0"/>
                    </a:p>
                  </a:txBody>
                  <a:tcPr/>
                </a:tc>
                <a:tc hMerge="1">
                  <a:txBody>
                    <a:bodyPr/>
                    <a:lstStyle/>
                    <a:p>
                      <a:endParaRPr lang="en-IE" sz="900" dirty="0"/>
                    </a:p>
                  </a:txBody>
                  <a:tcPr/>
                </a:tc>
                <a:extLst>
                  <a:ext uri="{0D108BD9-81ED-4DB2-BD59-A6C34878D82A}">
                    <a16:rowId xmlns:a16="http://schemas.microsoft.com/office/drawing/2014/main" val="698161741"/>
                  </a:ext>
                </a:extLst>
              </a:tr>
              <a:tr h="247406">
                <a:tc rowSpan="6">
                  <a:txBody>
                    <a:bodyPr/>
                    <a:lstStyle/>
                    <a:p>
                      <a:pPr algn="ctr"/>
                      <a:r>
                        <a:rPr lang="en-US" sz="900" b="1" dirty="0">
                          <a:solidFill>
                            <a:schemeClr val="bg1"/>
                          </a:solidFill>
                          <a:latin typeface="Arial" panose="020B0604020202020204" pitchFamily="34" charset="0"/>
                          <a:cs typeface="Arial" panose="020B0604020202020204" pitchFamily="34" charset="0"/>
                        </a:rPr>
                        <a:t>WACC</a:t>
                      </a:r>
                      <a:endParaRPr lang="en-IE" sz="900" b="1" dirty="0">
                        <a:solidFill>
                          <a:schemeClr val="bg1"/>
                        </a:solidFill>
                        <a:latin typeface="Arial" panose="020B0604020202020204" pitchFamily="34" charset="0"/>
                        <a:cs typeface="Arial" panose="020B0604020202020204" pitchFamily="34" charset="0"/>
                      </a:endParaRPr>
                    </a:p>
                  </a:txBody>
                  <a:tcPr vert="vert270" anchor="ctr">
                    <a:solidFill>
                      <a:srgbClr val="113D63"/>
                    </a:solidFill>
                  </a:tcPr>
                </a:tc>
                <a:tc>
                  <a:txBody>
                    <a:bodyPr/>
                    <a:lstStyle/>
                    <a:p>
                      <a:pPr algn="ct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dirty="0">
                          <a:latin typeface="Arial" panose="020B0604020202020204" pitchFamily="34" charset="0"/>
                          <a:cs typeface="Arial" panose="020B0604020202020204" pitchFamily="34" charset="0"/>
                        </a:rPr>
                        <a:t>11.4x</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a:latin typeface="Arial" panose="020B0604020202020204" pitchFamily="34" charset="0"/>
                          <a:cs typeface="Arial" panose="020B0604020202020204" pitchFamily="34" charset="0"/>
                        </a:rPr>
                        <a:t>12.2x</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b="1">
                          <a:latin typeface="Arial" panose="020B0604020202020204" pitchFamily="34" charset="0"/>
                          <a:cs typeface="Arial" panose="020B0604020202020204" pitchFamily="34" charset="0"/>
                        </a:rPr>
                        <a:t>13.0x</a:t>
                      </a:r>
                      <a:endParaRPr lang="en-IE" sz="900" b="1"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a:latin typeface="Arial" panose="020B0604020202020204" pitchFamily="34" charset="0"/>
                          <a:cs typeface="Arial" panose="020B0604020202020204" pitchFamily="34" charset="0"/>
                        </a:rPr>
                        <a:t>13.8x</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a:latin typeface="Arial" panose="020B0604020202020204" pitchFamily="34" charset="0"/>
                          <a:cs typeface="Arial" panose="020B0604020202020204" pitchFamily="34" charset="0"/>
                        </a:rPr>
                        <a:t>14.6x</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extLst>
                  <a:ext uri="{0D108BD9-81ED-4DB2-BD59-A6C34878D82A}">
                    <a16:rowId xmlns:a16="http://schemas.microsoft.com/office/drawing/2014/main" val="1451268785"/>
                  </a:ext>
                </a:extLst>
              </a:tr>
              <a:tr h="247406">
                <a:tc vMerge="1">
                  <a:txBody>
                    <a:bodyPr/>
                    <a:lstStyle/>
                    <a:p>
                      <a:endParaRPr lang="en-IE" sz="900" dirty="0"/>
                    </a:p>
                  </a:txBody>
                  <a:tcPr/>
                </a:tc>
                <a:tc>
                  <a:txBody>
                    <a:bodyPr/>
                    <a:lstStyle/>
                    <a:p>
                      <a:pPr algn="ctr"/>
                      <a:r>
                        <a:rPr lang="en-US" sz="900" dirty="0">
                          <a:latin typeface="Arial" panose="020B0604020202020204" pitchFamily="34" charset="0"/>
                          <a:cs typeface="Arial" panose="020B0604020202020204" pitchFamily="34" charset="0"/>
                        </a:rPr>
                        <a:t>10.05%</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dirty="0">
                          <a:solidFill>
                            <a:schemeClr val="tx1"/>
                          </a:solidFill>
                          <a:latin typeface="Arial" panose="020B0604020202020204" pitchFamily="34" charset="0"/>
                          <a:cs typeface="Arial" panose="020B0604020202020204" pitchFamily="34" charset="0"/>
                        </a:rPr>
                        <a:t>$ 203</a:t>
                      </a: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$ 213</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a:solidFill>
                            <a:schemeClr val="tx1"/>
                          </a:solidFill>
                          <a:latin typeface="Arial" panose="020B0604020202020204" pitchFamily="34" charset="0"/>
                          <a:cs typeface="Arial" panose="020B0604020202020204" pitchFamily="34" charset="0"/>
                        </a:rPr>
                        <a:t>$ 223</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$ 233</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$ 242</a:t>
                      </a:r>
                      <a:endParaRPr lang="en-IE" sz="900" dirty="0">
                        <a:solidFill>
                          <a:schemeClr val="tx1"/>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3872608007"/>
                  </a:ext>
                </a:extLst>
              </a:tr>
              <a:tr h="247406">
                <a:tc vMerge="1">
                  <a:txBody>
                    <a:bodyPr/>
                    <a:lstStyle/>
                    <a:p>
                      <a:endParaRPr lang="en-IE" sz="900" dirty="0"/>
                    </a:p>
                  </a:txBody>
                  <a:tcPr/>
                </a:tc>
                <a:tc>
                  <a:txBody>
                    <a:bodyPr/>
                    <a:lstStyle/>
                    <a:p>
                      <a:pPr algn="ctr"/>
                      <a:r>
                        <a:rPr lang="en-US" sz="900" dirty="0">
                          <a:latin typeface="Arial" panose="020B0604020202020204" pitchFamily="34" charset="0"/>
                          <a:cs typeface="Arial" panose="020B0604020202020204" pitchFamily="34" charset="0"/>
                        </a:rPr>
                        <a:t>9.80%</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a:solidFill>
                            <a:schemeClr val="tx1"/>
                          </a:solidFill>
                          <a:latin typeface="Arial" panose="020B0604020202020204" pitchFamily="34" charset="0"/>
                          <a:cs typeface="Arial" panose="020B0604020202020204" pitchFamily="34" charset="0"/>
                        </a:rPr>
                        <a:t>$ 208</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$ 218</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a:solidFill>
                            <a:schemeClr val="tx1"/>
                          </a:solidFill>
                          <a:latin typeface="Arial" panose="020B0604020202020204" pitchFamily="34" charset="0"/>
                          <a:cs typeface="Arial" panose="020B0604020202020204" pitchFamily="34" charset="0"/>
                        </a:rPr>
                        <a:t>$ 228</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$ 239</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$ 249</a:t>
                      </a:r>
                      <a:endParaRPr lang="en-IE" sz="900" dirty="0">
                        <a:solidFill>
                          <a:schemeClr val="tx1"/>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534863765"/>
                  </a:ext>
                </a:extLst>
              </a:tr>
              <a:tr h="247406">
                <a:tc vMerge="1">
                  <a:txBody>
                    <a:bodyPr/>
                    <a:lstStyle/>
                    <a:p>
                      <a:endParaRPr lang="en-IE" sz="900" dirty="0"/>
                    </a:p>
                  </a:txBody>
                  <a:tcPr/>
                </a:tc>
                <a:tc>
                  <a:txBody>
                    <a:bodyPr/>
                    <a:lstStyle/>
                    <a:p>
                      <a:pPr algn="ctr"/>
                      <a:r>
                        <a:rPr lang="en-US" sz="900" b="1" dirty="0">
                          <a:latin typeface="Arial" panose="020B0604020202020204" pitchFamily="34" charset="0"/>
                          <a:cs typeface="Arial" panose="020B0604020202020204" pitchFamily="34" charset="0"/>
                        </a:rPr>
                        <a:t>9.55%</a:t>
                      </a:r>
                      <a:endParaRPr lang="en-IE" sz="900" b="1"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b="1">
                          <a:solidFill>
                            <a:schemeClr val="tx1"/>
                          </a:solidFill>
                          <a:latin typeface="Arial" panose="020B0604020202020204" pitchFamily="34" charset="0"/>
                          <a:cs typeface="Arial" panose="020B0604020202020204" pitchFamily="34" charset="0"/>
                        </a:rPr>
                        <a:t>$ 214</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a:solidFill>
                            <a:schemeClr val="tx1"/>
                          </a:solidFill>
                          <a:latin typeface="Arial" panose="020B0604020202020204" pitchFamily="34" charset="0"/>
                          <a:cs typeface="Arial" panose="020B0604020202020204" pitchFamily="34" charset="0"/>
                        </a:rPr>
                        <a:t>$ 224</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a:solidFill>
                            <a:schemeClr val="tx1"/>
                          </a:solidFill>
                          <a:latin typeface="Arial" panose="020B0604020202020204" pitchFamily="34" charset="0"/>
                          <a:cs typeface="Arial" panose="020B0604020202020204" pitchFamily="34" charset="0"/>
                        </a:rPr>
                        <a:t>$ 234</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a:solidFill>
                            <a:schemeClr val="tx1"/>
                          </a:solidFill>
                          <a:latin typeface="Arial" panose="020B0604020202020204" pitchFamily="34" charset="0"/>
                          <a:cs typeface="Arial" panose="020B0604020202020204" pitchFamily="34" charset="0"/>
                        </a:rPr>
                        <a:t>$ 245</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a:solidFill>
                            <a:schemeClr val="tx1"/>
                          </a:solidFill>
                          <a:latin typeface="Arial" panose="020B0604020202020204" pitchFamily="34" charset="0"/>
                          <a:cs typeface="Arial" panose="020B0604020202020204" pitchFamily="34" charset="0"/>
                        </a:rPr>
                        <a:t>$ 255</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3696070660"/>
                  </a:ext>
                </a:extLst>
              </a:tr>
              <a:tr h="247406">
                <a:tc vMerge="1">
                  <a:txBody>
                    <a:bodyPr/>
                    <a:lstStyle/>
                    <a:p>
                      <a:endParaRPr lang="en-IE" sz="900" dirty="0"/>
                    </a:p>
                  </a:txBody>
                  <a:tcPr/>
                </a:tc>
                <a:tc>
                  <a:txBody>
                    <a:bodyPr/>
                    <a:lstStyle/>
                    <a:p>
                      <a:pPr algn="ctr"/>
                      <a:r>
                        <a:rPr lang="en-US" sz="900" dirty="0">
                          <a:latin typeface="Arial" panose="020B0604020202020204" pitchFamily="34" charset="0"/>
                          <a:cs typeface="Arial" panose="020B0604020202020204" pitchFamily="34" charset="0"/>
                        </a:rPr>
                        <a:t>9.30%</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a:solidFill>
                            <a:schemeClr val="tx1"/>
                          </a:solidFill>
                          <a:latin typeface="Arial" panose="020B0604020202020204" pitchFamily="34" charset="0"/>
                          <a:cs typeface="Arial" panose="020B0604020202020204" pitchFamily="34" charset="0"/>
                        </a:rPr>
                        <a:t>$ 219</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$ 230</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a:solidFill>
                            <a:schemeClr val="tx1"/>
                          </a:solidFill>
                          <a:latin typeface="Arial" panose="020B0604020202020204" pitchFamily="34" charset="0"/>
                          <a:cs typeface="Arial" panose="020B0604020202020204" pitchFamily="34" charset="0"/>
                        </a:rPr>
                        <a:t>$ 240</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$ 251</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$ 262</a:t>
                      </a:r>
                      <a:endParaRPr lang="en-IE" sz="900" dirty="0">
                        <a:solidFill>
                          <a:schemeClr val="tx1"/>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3908732510"/>
                  </a:ext>
                </a:extLst>
              </a:tr>
              <a:tr h="247406">
                <a:tc vMerge="1">
                  <a:txBody>
                    <a:bodyPr/>
                    <a:lstStyle/>
                    <a:p>
                      <a:endParaRPr lang="en-IE" sz="900" dirty="0"/>
                    </a:p>
                  </a:txBody>
                  <a:tcPr/>
                </a:tc>
                <a:tc>
                  <a:txBody>
                    <a:bodyPr/>
                    <a:lstStyle/>
                    <a:p>
                      <a:pPr algn="ctr"/>
                      <a:r>
                        <a:rPr lang="en-US" sz="900" dirty="0">
                          <a:latin typeface="Arial" panose="020B0604020202020204" pitchFamily="34" charset="0"/>
                          <a:cs typeface="Arial" panose="020B0604020202020204" pitchFamily="34" charset="0"/>
                        </a:rPr>
                        <a:t>9.05%</a:t>
                      </a:r>
                      <a:endParaRPr lang="en-IE" sz="900" dirty="0">
                        <a:latin typeface="Arial" panose="020B0604020202020204" pitchFamily="34" charset="0"/>
                        <a:cs typeface="Arial" panose="020B0604020202020204" pitchFamily="34" charset="0"/>
                      </a:endParaRPr>
                    </a:p>
                  </a:txBody>
                  <a:tcPr anchor="ctr">
                    <a:solidFill>
                      <a:schemeClr val="tx2">
                        <a:lumMod val="60000"/>
                        <a:lumOff val="40000"/>
                      </a:schemeClr>
                    </a:solidFill>
                  </a:tcPr>
                </a:tc>
                <a:tc>
                  <a:txBody>
                    <a:bodyPr/>
                    <a:lstStyle/>
                    <a:p>
                      <a:pPr algn="ctr"/>
                      <a:r>
                        <a:rPr lang="en-US" sz="900">
                          <a:solidFill>
                            <a:schemeClr val="tx1"/>
                          </a:solidFill>
                          <a:latin typeface="Arial" panose="020B0604020202020204" pitchFamily="34" charset="0"/>
                          <a:cs typeface="Arial" panose="020B0604020202020204" pitchFamily="34" charset="0"/>
                        </a:rPr>
                        <a:t>$ 225</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$ 236</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b="1">
                          <a:solidFill>
                            <a:schemeClr val="tx1"/>
                          </a:solidFill>
                          <a:latin typeface="Arial" panose="020B0604020202020204" pitchFamily="34" charset="0"/>
                          <a:cs typeface="Arial" panose="020B0604020202020204" pitchFamily="34" charset="0"/>
                        </a:rPr>
                        <a:t>$ 246</a:t>
                      </a:r>
                      <a:endParaRPr lang="en-IE" sz="900" b="1"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a:solidFill>
                            <a:schemeClr val="tx1"/>
                          </a:solidFill>
                          <a:latin typeface="Arial" panose="020B0604020202020204" pitchFamily="34" charset="0"/>
                          <a:cs typeface="Arial" panose="020B0604020202020204" pitchFamily="34" charset="0"/>
                        </a:rPr>
                        <a:t>$ 257</a:t>
                      </a:r>
                      <a:endParaRPr lang="en-IE" sz="900" dirty="0">
                        <a:solidFill>
                          <a:schemeClr val="tx1"/>
                        </a:solidFill>
                        <a:latin typeface="Arial" panose="020B0604020202020204" pitchFamily="34" charset="0"/>
                        <a:cs typeface="Arial" panose="020B0604020202020204" pitchFamily="34" charset="0"/>
                      </a:endParaRPr>
                    </a:p>
                  </a:txBody>
                  <a:tcPr anchor="ctr">
                    <a:noFill/>
                  </a:tcPr>
                </a:tc>
                <a:tc>
                  <a:txBody>
                    <a:bodyPr/>
                    <a:lstStyle/>
                    <a:p>
                      <a:pPr algn="ctr"/>
                      <a:r>
                        <a:rPr lang="en-US" sz="900" dirty="0">
                          <a:solidFill>
                            <a:schemeClr val="tx1"/>
                          </a:solidFill>
                          <a:latin typeface="Arial" panose="020B0604020202020204" pitchFamily="34" charset="0"/>
                          <a:cs typeface="Arial" panose="020B0604020202020204" pitchFamily="34" charset="0"/>
                        </a:rPr>
                        <a:t>$ 268</a:t>
                      </a:r>
                      <a:endParaRPr lang="en-IE" sz="900" dirty="0">
                        <a:solidFill>
                          <a:schemeClr val="tx1"/>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816342180"/>
                  </a:ext>
                </a:extLst>
              </a:tr>
            </a:tbl>
          </a:graphicData>
        </a:graphic>
      </p:graphicFrame>
      <p:sp>
        <p:nvSpPr>
          <p:cNvPr id="22" name="Rectangle 21">
            <a:extLst>
              <a:ext uri="{FF2B5EF4-FFF2-40B4-BE49-F238E27FC236}">
                <a16:creationId xmlns:a16="http://schemas.microsoft.com/office/drawing/2014/main" id="{97B763B5-884E-5044-3735-135542A4CDE2}"/>
              </a:ext>
            </a:extLst>
          </p:cNvPr>
          <p:cNvSpPr/>
          <p:nvPr/>
        </p:nvSpPr>
        <p:spPr>
          <a:xfrm>
            <a:off x="101173" y="1945947"/>
            <a:ext cx="4766453" cy="543600"/>
          </a:xfrm>
          <a:prstGeom prst="rect">
            <a:avLst/>
          </a:prstGeom>
          <a:solidFill>
            <a:schemeClr val="tx2">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3038" indent="-173038" algn="ctr">
              <a:buFont typeface="Wingdings" panose="05000000000000000000" pitchFamily="2" charset="2"/>
              <a:buChar char="§"/>
            </a:pPr>
            <a:endParaRPr lang="en-IE" sz="1200" dirty="0">
              <a:solidFill>
                <a:schemeClr val="tx1"/>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AF508904-02E9-8133-12D1-E14ECA6029D8}"/>
              </a:ext>
            </a:extLst>
          </p:cNvPr>
          <p:cNvSpPr txBox="1"/>
          <p:nvPr/>
        </p:nvSpPr>
        <p:spPr>
          <a:xfrm>
            <a:off x="166697" y="2033081"/>
            <a:ext cx="1170007" cy="369332"/>
          </a:xfrm>
          <a:prstGeom prst="rect">
            <a:avLst/>
          </a:prstGeom>
          <a:noFill/>
        </p:spPr>
        <p:txBody>
          <a:bodyPr wrap="square">
            <a:spAutoFit/>
          </a:bodyPr>
          <a:lstStyle/>
          <a:p>
            <a:pPr algn="ctr" fontAlgn="b"/>
            <a:r>
              <a:rPr lang="en-SG" sz="900" b="1" u="none" strike="noStrike" dirty="0">
                <a:solidFill>
                  <a:schemeClr val="bg1"/>
                </a:solidFill>
                <a:effectLst/>
              </a:rPr>
              <a:t>Implied Share Price from DCF</a:t>
            </a:r>
            <a:endParaRPr lang="en-SG" sz="900" b="1" i="0" u="none" strike="noStrike" dirty="0">
              <a:solidFill>
                <a:schemeClr val="bg1"/>
              </a:solidFill>
              <a:effectLst/>
              <a:latin typeface="Calibri" panose="020F0502020204030204" pitchFamily="34" charset="0"/>
            </a:endParaRPr>
          </a:p>
        </p:txBody>
      </p:sp>
      <p:sp>
        <p:nvSpPr>
          <p:cNvPr id="25" name="TextBox 24">
            <a:extLst>
              <a:ext uri="{FF2B5EF4-FFF2-40B4-BE49-F238E27FC236}">
                <a16:creationId xmlns:a16="http://schemas.microsoft.com/office/drawing/2014/main" id="{1EA64C83-61FE-D526-325D-2010005BF794}"/>
              </a:ext>
            </a:extLst>
          </p:cNvPr>
          <p:cNvSpPr txBox="1"/>
          <p:nvPr/>
        </p:nvSpPr>
        <p:spPr>
          <a:xfrm>
            <a:off x="2522531" y="2033081"/>
            <a:ext cx="1260106" cy="369332"/>
          </a:xfrm>
          <a:prstGeom prst="rect">
            <a:avLst/>
          </a:prstGeom>
          <a:noFill/>
        </p:spPr>
        <p:txBody>
          <a:bodyPr wrap="square">
            <a:spAutoFit/>
          </a:bodyPr>
          <a:lstStyle/>
          <a:p>
            <a:pPr algn="ctr" fontAlgn="b"/>
            <a:r>
              <a:rPr lang="en-IE" sz="900" b="1" u="none" strike="noStrike" dirty="0">
                <a:solidFill>
                  <a:schemeClr val="bg1"/>
                </a:solidFill>
                <a:effectLst/>
              </a:rPr>
              <a:t>Premium to Current Share Price</a:t>
            </a:r>
            <a:endParaRPr lang="en-SG" sz="900" b="1" i="0" u="none" strike="noStrike" dirty="0">
              <a:solidFill>
                <a:schemeClr val="bg1"/>
              </a:solidFill>
              <a:effectLst/>
              <a:latin typeface="Calibri" panose="020F0502020204030204" pitchFamily="34" charset="0"/>
            </a:endParaRPr>
          </a:p>
        </p:txBody>
      </p:sp>
      <p:sp>
        <p:nvSpPr>
          <p:cNvPr id="28" name="TextBox 27">
            <a:extLst>
              <a:ext uri="{FF2B5EF4-FFF2-40B4-BE49-F238E27FC236}">
                <a16:creationId xmlns:a16="http://schemas.microsoft.com/office/drawing/2014/main" id="{7DA18ABE-6127-5608-CB87-45E7FE353EAA}"/>
              </a:ext>
            </a:extLst>
          </p:cNvPr>
          <p:cNvSpPr txBox="1"/>
          <p:nvPr/>
        </p:nvSpPr>
        <p:spPr>
          <a:xfrm>
            <a:off x="1336704" y="2086942"/>
            <a:ext cx="1147892" cy="261610"/>
          </a:xfrm>
          <a:prstGeom prst="rect">
            <a:avLst/>
          </a:prstGeom>
          <a:noFill/>
        </p:spPr>
        <p:txBody>
          <a:bodyPr wrap="square">
            <a:spAutoFit/>
          </a:bodyPr>
          <a:lstStyle/>
          <a:p>
            <a:pPr algn="ctr" fontAlgn="b"/>
            <a:r>
              <a:rPr lang="en-IE" sz="1050" dirty="0">
                <a:solidFill>
                  <a:schemeClr val="bg1"/>
                </a:solidFill>
              </a:rPr>
              <a:t>$234.34</a:t>
            </a:r>
            <a:r>
              <a:rPr lang="en-IE" sz="1050" u="none" strike="noStrike" dirty="0">
                <a:solidFill>
                  <a:schemeClr val="bg1"/>
                </a:solidFill>
                <a:effectLst/>
              </a:rPr>
              <a:t> </a:t>
            </a:r>
            <a:endParaRPr lang="en-IE" sz="1050" b="0" i="0" u="none" strike="noStrike" dirty="0">
              <a:solidFill>
                <a:schemeClr val="bg1"/>
              </a:solidFill>
              <a:effectLst/>
              <a:latin typeface="Calibri" panose="020F0502020204030204" pitchFamily="34" charset="0"/>
            </a:endParaRPr>
          </a:p>
        </p:txBody>
      </p:sp>
      <p:cxnSp>
        <p:nvCxnSpPr>
          <p:cNvPr id="32" name="Straight Connector 31">
            <a:extLst>
              <a:ext uri="{FF2B5EF4-FFF2-40B4-BE49-F238E27FC236}">
                <a16:creationId xmlns:a16="http://schemas.microsoft.com/office/drawing/2014/main" id="{5F970EC9-3985-0A64-27F3-DE2A55001DD2}"/>
              </a:ext>
            </a:extLst>
          </p:cNvPr>
          <p:cNvCxnSpPr>
            <a:cxnSpLocks/>
            <a:stCxn id="22" idx="0"/>
            <a:endCxn id="22" idx="2"/>
          </p:cNvCxnSpPr>
          <p:nvPr/>
        </p:nvCxnSpPr>
        <p:spPr>
          <a:xfrm>
            <a:off x="2484400" y="1945947"/>
            <a:ext cx="0" cy="5436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AEA4933-4EB3-20EC-3153-B98251E09928}"/>
              </a:ext>
            </a:extLst>
          </p:cNvPr>
          <p:cNvCxnSpPr>
            <a:cxnSpLocks/>
          </p:cNvCxnSpPr>
          <p:nvPr/>
        </p:nvCxnSpPr>
        <p:spPr>
          <a:xfrm>
            <a:off x="1399217" y="1897239"/>
            <a:ext cx="0" cy="6836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520790-6492-6047-6BBC-91B0CF03D2D7}"/>
              </a:ext>
            </a:extLst>
          </p:cNvPr>
          <p:cNvCxnSpPr>
            <a:cxnSpLocks/>
          </p:cNvCxnSpPr>
          <p:nvPr/>
        </p:nvCxnSpPr>
        <p:spPr>
          <a:xfrm>
            <a:off x="3818468" y="1897239"/>
            <a:ext cx="0" cy="6836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5953131-1FFC-DF60-FDD4-128056923169}"/>
              </a:ext>
            </a:extLst>
          </p:cNvPr>
          <p:cNvSpPr txBox="1"/>
          <p:nvPr/>
        </p:nvSpPr>
        <p:spPr>
          <a:xfrm>
            <a:off x="3785258" y="2086942"/>
            <a:ext cx="1147892" cy="261610"/>
          </a:xfrm>
          <a:prstGeom prst="rect">
            <a:avLst/>
          </a:prstGeom>
          <a:noFill/>
        </p:spPr>
        <p:txBody>
          <a:bodyPr wrap="square">
            <a:spAutoFit/>
          </a:bodyPr>
          <a:lstStyle/>
          <a:p>
            <a:pPr algn="ctr" fontAlgn="b"/>
            <a:r>
              <a:rPr lang="en-IE" sz="1050" u="none" strike="noStrike" dirty="0">
                <a:solidFill>
                  <a:schemeClr val="bg1"/>
                </a:solidFill>
                <a:effectLst/>
              </a:rPr>
              <a:t>3</a:t>
            </a:r>
            <a:r>
              <a:rPr lang="en-IE" sz="1050" dirty="0">
                <a:solidFill>
                  <a:schemeClr val="bg1"/>
                </a:solidFill>
              </a:rPr>
              <a:t>9.6</a:t>
            </a:r>
            <a:r>
              <a:rPr lang="en-IE" sz="1050" u="none" strike="noStrike" dirty="0">
                <a:solidFill>
                  <a:schemeClr val="bg1"/>
                </a:solidFill>
                <a:effectLst/>
              </a:rPr>
              <a:t>%</a:t>
            </a:r>
            <a:endParaRPr lang="en-IE" sz="1050" b="0" i="0" u="none" strike="noStrike" dirty="0">
              <a:solidFill>
                <a:schemeClr val="bg1"/>
              </a:solidFill>
              <a:effectLst/>
              <a:latin typeface="Calibri" panose="020F0502020204030204" pitchFamily="34" charset="0"/>
            </a:endParaRPr>
          </a:p>
        </p:txBody>
      </p:sp>
      <p:sp>
        <p:nvSpPr>
          <p:cNvPr id="42" name="TextBox 41">
            <a:extLst>
              <a:ext uri="{FF2B5EF4-FFF2-40B4-BE49-F238E27FC236}">
                <a16:creationId xmlns:a16="http://schemas.microsoft.com/office/drawing/2014/main" id="{AE648A96-3430-AA62-7DE3-D0F3B992D24D}"/>
              </a:ext>
            </a:extLst>
          </p:cNvPr>
          <p:cNvSpPr txBox="1"/>
          <p:nvPr/>
        </p:nvSpPr>
        <p:spPr>
          <a:xfrm>
            <a:off x="101173" y="1615170"/>
            <a:ext cx="6265562" cy="246221"/>
          </a:xfrm>
          <a:prstGeom prst="rect">
            <a:avLst/>
          </a:prstGeom>
          <a:noFill/>
        </p:spPr>
        <p:txBody>
          <a:bodyPr wrap="square">
            <a:spAutoFit/>
          </a:bodyPr>
          <a:lstStyle/>
          <a:p>
            <a:pPr algn="l" fontAlgn="b"/>
            <a:r>
              <a:rPr lang="en-IE" sz="1000" b="1" u="none" strike="noStrike" dirty="0">
                <a:effectLst/>
              </a:rPr>
              <a:t>Terminal Value - Multiples Method</a:t>
            </a:r>
          </a:p>
        </p:txBody>
      </p:sp>
      <p:sp>
        <p:nvSpPr>
          <p:cNvPr id="44" name="TextBox 43">
            <a:extLst>
              <a:ext uri="{FF2B5EF4-FFF2-40B4-BE49-F238E27FC236}">
                <a16:creationId xmlns:a16="http://schemas.microsoft.com/office/drawing/2014/main" id="{49A5BBFD-B969-216F-6D3C-9C3FA48745AC}"/>
              </a:ext>
            </a:extLst>
          </p:cNvPr>
          <p:cNvSpPr txBox="1"/>
          <p:nvPr/>
        </p:nvSpPr>
        <p:spPr>
          <a:xfrm>
            <a:off x="72634" y="2883796"/>
            <a:ext cx="2439158" cy="200055"/>
          </a:xfrm>
          <a:prstGeom prst="rect">
            <a:avLst/>
          </a:prstGeom>
          <a:noFill/>
        </p:spPr>
        <p:txBody>
          <a:bodyPr wrap="square">
            <a:spAutoFit/>
          </a:bodyPr>
          <a:lstStyle/>
          <a:p>
            <a:pPr fontAlgn="b"/>
            <a:r>
              <a:rPr lang="en-IE" sz="700" b="1" u="none" strike="noStrike" dirty="0">
                <a:effectLst/>
              </a:rPr>
              <a:t>Baseline Terminal Value                       $2</a:t>
            </a:r>
            <a:r>
              <a:rPr lang="en-IE" sz="700" b="1" dirty="0"/>
              <a:t>56,817</a:t>
            </a:r>
            <a:endParaRPr lang="en-SG" sz="700" b="1" i="0" u="none" strike="noStrike" dirty="0">
              <a:effectLst/>
              <a:latin typeface="Calibri" panose="020F0502020204030204" pitchFamily="34" charset="0"/>
            </a:endParaRPr>
          </a:p>
        </p:txBody>
      </p:sp>
      <p:sp>
        <p:nvSpPr>
          <p:cNvPr id="45" name="TextBox 44">
            <a:extLst>
              <a:ext uri="{FF2B5EF4-FFF2-40B4-BE49-F238E27FC236}">
                <a16:creationId xmlns:a16="http://schemas.microsoft.com/office/drawing/2014/main" id="{C5862C57-0B95-7917-B0AC-9778A16106B5}"/>
              </a:ext>
            </a:extLst>
          </p:cNvPr>
          <p:cNvSpPr txBox="1"/>
          <p:nvPr/>
        </p:nvSpPr>
        <p:spPr>
          <a:xfrm>
            <a:off x="72633" y="3011639"/>
            <a:ext cx="2633621" cy="200055"/>
          </a:xfrm>
          <a:prstGeom prst="rect">
            <a:avLst/>
          </a:prstGeom>
          <a:noFill/>
        </p:spPr>
        <p:txBody>
          <a:bodyPr wrap="square">
            <a:spAutoFit/>
          </a:bodyPr>
          <a:lstStyle/>
          <a:p>
            <a:pPr fontAlgn="b"/>
            <a:r>
              <a:rPr lang="en-IE" sz="700" b="1" u="none" strike="noStrike" dirty="0">
                <a:effectLst/>
              </a:rPr>
              <a:t>PV of Terminal Value                             $</a:t>
            </a:r>
            <a:r>
              <a:rPr lang="en-IE" sz="700" b="1" dirty="0"/>
              <a:t>103,157</a:t>
            </a:r>
            <a:endParaRPr lang="en-SG" sz="700" b="1" i="0" u="none" strike="noStrike" dirty="0">
              <a:effectLst/>
              <a:latin typeface="Calibri" panose="020F0502020204030204" pitchFamily="34" charset="0"/>
            </a:endParaRPr>
          </a:p>
        </p:txBody>
      </p:sp>
      <p:sp>
        <p:nvSpPr>
          <p:cNvPr id="46" name="TextBox 45">
            <a:extLst>
              <a:ext uri="{FF2B5EF4-FFF2-40B4-BE49-F238E27FC236}">
                <a16:creationId xmlns:a16="http://schemas.microsoft.com/office/drawing/2014/main" id="{C5B4C06E-6C9A-AF84-1C49-DA9A508F8115}"/>
              </a:ext>
            </a:extLst>
          </p:cNvPr>
          <p:cNvSpPr txBox="1"/>
          <p:nvPr/>
        </p:nvSpPr>
        <p:spPr>
          <a:xfrm>
            <a:off x="72633" y="3139481"/>
            <a:ext cx="2301111" cy="200055"/>
          </a:xfrm>
          <a:prstGeom prst="rect">
            <a:avLst/>
          </a:prstGeom>
          <a:noFill/>
        </p:spPr>
        <p:txBody>
          <a:bodyPr wrap="square">
            <a:spAutoFit/>
          </a:bodyPr>
          <a:lstStyle/>
          <a:p>
            <a:pPr fontAlgn="b"/>
            <a:r>
              <a:rPr lang="en-IE" sz="700" b="1" u="none" strike="noStrike" dirty="0">
                <a:effectLst/>
              </a:rPr>
              <a:t>Sum of PV of FCFs                                $96,165</a:t>
            </a:r>
            <a:endParaRPr lang="en-SG" sz="700" b="1" i="0" u="none" strike="noStrike" dirty="0">
              <a:effectLst/>
              <a:latin typeface="Calibri" panose="020F0502020204030204" pitchFamily="34" charset="0"/>
            </a:endParaRPr>
          </a:p>
        </p:txBody>
      </p:sp>
      <p:sp>
        <p:nvSpPr>
          <p:cNvPr id="48" name="TextBox 47">
            <a:extLst>
              <a:ext uri="{FF2B5EF4-FFF2-40B4-BE49-F238E27FC236}">
                <a16:creationId xmlns:a16="http://schemas.microsoft.com/office/drawing/2014/main" id="{F14D0620-8686-3F78-B33E-54DF608BA801}"/>
              </a:ext>
            </a:extLst>
          </p:cNvPr>
          <p:cNvSpPr txBox="1"/>
          <p:nvPr/>
        </p:nvSpPr>
        <p:spPr>
          <a:xfrm>
            <a:off x="72634" y="2755953"/>
            <a:ext cx="2410619" cy="200055"/>
          </a:xfrm>
          <a:prstGeom prst="rect">
            <a:avLst/>
          </a:prstGeom>
          <a:noFill/>
        </p:spPr>
        <p:txBody>
          <a:bodyPr wrap="square">
            <a:spAutoFit/>
          </a:bodyPr>
          <a:lstStyle/>
          <a:p>
            <a:pPr fontAlgn="b"/>
            <a:r>
              <a:rPr lang="en-IE" sz="700" b="1" u="none" strike="noStrike" dirty="0">
                <a:effectLst/>
              </a:rPr>
              <a:t>Baseline Terminal EBITDA Multiple     13.0x</a:t>
            </a:r>
            <a:endParaRPr lang="en-SG" sz="700" b="1" i="0" u="none" strike="noStrike" dirty="0">
              <a:effectLst/>
              <a:latin typeface="Calibri" panose="020F0502020204030204" pitchFamily="34" charset="0"/>
            </a:endParaRPr>
          </a:p>
        </p:txBody>
      </p:sp>
      <p:sp>
        <p:nvSpPr>
          <p:cNvPr id="49" name="TextBox 48">
            <a:extLst>
              <a:ext uri="{FF2B5EF4-FFF2-40B4-BE49-F238E27FC236}">
                <a16:creationId xmlns:a16="http://schemas.microsoft.com/office/drawing/2014/main" id="{E66BE228-0519-F243-A7AB-D1861BCEF331}"/>
              </a:ext>
            </a:extLst>
          </p:cNvPr>
          <p:cNvSpPr txBox="1"/>
          <p:nvPr/>
        </p:nvSpPr>
        <p:spPr>
          <a:xfrm>
            <a:off x="72634" y="2628110"/>
            <a:ext cx="2410619" cy="200055"/>
          </a:xfrm>
          <a:prstGeom prst="rect">
            <a:avLst/>
          </a:prstGeom>
          <a:noFill/>
        </p:spPr>
        <p:txBody>
          <a:bodyPr wrap="square">
            <a:spAutoFit/>
          </a:bodyPr>
          <a:lstStyle/>
          <a:p>
            <a:pPr fontAlgn="b"/>
            <a:r>
              <a:rPr lang="en-SG" sz="700" b="1" u="none" strike="noStrike" dirty="0">
                <a:effectLst/>
              </a:rPr>
              <a:t>Median TEV / EBITDA of Comps          </a:t>
            </a:r>
            <a:r>
              <a:rPr lang="en-IE" sz="700" b="1" dirty="0"/>
              <a:t>13.5</a:t>
            </a:r>
            <a:r>
              <a:rPr lang="en-IE" sz="700" b="1" u="none" strike="noStrike" dirty="0">
                <a:effectLst/>
              </a:rPr>
              <a:t>x</a:t>
            </a:r>
            <a:endParaRPr lang="en-SG" sz="700" b="1" i="0" u="none" strike="noStrike" dirty="0">
              <a:effectLst/>
              <a:latin typeface="Calibri" panose="020F0502020204030204" pitchFamily="34" charset="0"/>
            </a:endParaRPr>
          </a:p>
        </p:txBody>
      </p:sp>
      <p:cxnSp>
        <p:nvCxnSpPr>
          <p:cNvPr id="50" name="Straight Connector 49">
            <a:extLst>
              <a:ext uri="{FF2B5EF4-FFF2-40B4-BE49-F238E27FC236}">
                <a16:creationId xmlns:a16="http://schemas.microsoft.com/office/drawing/2014/main" id="{937A2A94-FF74-A04A-7C39-F873AF78E642}"/>
              </a:ext>
            </a:extLst>
          </p:cNvPr>
          <p:cNvCxnSpPr>
            <a:cxnSpLocks/>
          </p:cNvCxnSpPr>
          <p:nvPr/>
        </p:nvCxnSpPr>
        <p:spPr>
          <a:xfrm>
            <a:off x="101172" y="2786928"/>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9F8CB5B-11B1-13AE-E658-800C1BEA70AE}"/>
              </a:ext>
            </a:extLst>
          </p:cNvPr>
          <p:cNvCxnSpPr>
            <a:cxnSpLocks/>
          </p:cNvCxnSpPr>
          <p:nvPr/>
        </p:nvCxnSpPr>
        <p:spPr>
          <a:xfrm>
            <a:off x="101172" y="2916237"/>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BFAD125-8EC8-D888-4D69-CBD61BBB5B62}"/>
              </a:ext>
            </a:extLst>
          </p:cNvPr>
          <p:cNvCxnSpPr>
            <a:cxnSpLocks/>
          </p:cNvCxnSpPr>
          <p:nvPr/>
        </p:nvCxnSpPr>
        <p:spPr>
          <a:xfrm>
            <a:off x="101172" y="3039389"/>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5ABF0E2-A32A-5465-6FE4-E07D47E2C608}"/>
              </a:ext>
            </a:extLst>
          </p:cNvPr>
          <p:cNvCxnSpPr>
            <a:cxnSpLocks/>
          </p:cNvCxnSpPr>
          <p:nvPr/>
        </p:nvCxnSpPr>
        <p:spPr>
          <a:xfrm>
            <a:off x="101172" y="3174855"/>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25C3F0C-2FF2-408B-20CD-BCD70159C5ED}"/>
              </a:ext>
            </a:extLst>
          </p:cNvPr>
          <p:cNvCxnSpPr>
            <a:cxnSpLocks/>
          </p:cNvCxnSpPr>
          <p:nvPr/>
        </p:nvCxnSpPr>
        <p:spPr>
          <a:xfrm>
            <a:off x="2490783" y="2713222"/>
            <a:ext cx="0" cy="5113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A7101A8F-8505-AC3C-8EF6-16506F10525C}"/>
              </a:ext>
            </a:extLst>
          </p:cNvPr>
          <p:cNvSpPr txBox="1"/>
          <p:nvPr/>
        </p:nvSpPr>
        <p:spPr>
          <a:xfrm>
            <a:off x="2470130" y="3139481"/>
            <a:ext cx="2301111" cy="200055"/>
          </a:xfrm>
          <a:prstGeom prst="rect">
            <a:avLst/>
          </a:prstGeom>
          <a:noFill/>
        </p:spPr>
        <p:txBody>
          <a:bodyPr wrap="square">
            <a:spAutoFit/>
          </a:bodyPr>
          <a:lstStyle/>
          <a:p>
            <a:pPr fontAlgn="b"/>
            <a:r>
              <a:rPr lang="en-IE" sz="700" b="1" u="none" strike="noStrike" dirty="0">
                <a:effectLst/>
              </a:rPr>
              <a:t>Diluted Shares Outstanding                 613.9M</a:t>
            </a:r>
            <a:endParaRPr lang="en-SG" sz="700" b="1" i="0" u="none" strike="noStrike" dirty="0">
              <a:effectLst/>
              <a:latin typeface="Calibri" panose="020F0502020204030204" pitchFamily="34" charset="0"/>
            </a:endParaRPr>
          </a:p>
        </p:txBody>
      </p:sp>
      <p:sp>
        <p:nvSpPr>
          <p:cNvPr id="60" name="TextBox 59">
            <a:extLst>
              <a:ext uri="{FF2B5EF4-FFF2-40B4-BE49-F238E27FC236}">
                <a16:creationId xmlns:a16="http://schemas.microsoft.com/office/drawing/2014/main" id="{B126B69F-C8FF-838B-4411-3485BC76A4F6}"/>
              </a:ext>
            </a:extLst>
          </p:cNvPr>
          <p:cNvSpPr txBox="1"/>
          <p:nvPr/>
        </p:nvSpPr>
        <p:spPr>
          <a:xfrm>
            <a:off x="2470131" y="2755953"/>
            <a:ext cx="2410619" cy="200055"/>
          </a:xfrm>
          <a:prstGeom prst="rect">
            <a:avLst/>
          </a:prstGeom>
          <a:noFill/>
        </p:spPr>
        <p:txBody>
          <a:bodyPr wrap="square">
            <a:spAutoFit/>
          </a:bodyPr>
          <a:lstStyle/>
          <a:p>
            <a:pPr fontAlgn="b"/>
            <a:r>
              <a:rPr lang="en-IE" sz="700" b="1" u="none" strike="noStrike" dirty="0">
                <a:effectLst/>
              </a:rPr>
              <a:t>% of Implied TEV from TV                     51.8%</a:t>
            </a:r>
            <a:endParaRPr lang="en-SG" sz="700" b="1" i="0" u="none" strike="noStrike" dirty="0">
              <a:effectLst/>
              <a:latin typeface="Calibri" panose="020F0502020204030204" pitchFamily="34" charset="0"/>
            </a:endParaRPr>
          </a:p>
        </p:txBody>
      </p:sp>
      <p:sp>
        <p:nvSpPr>
          <p:cNvPr id="61" name="TextBox 60">
            <a:extLst>
              <a:ext uri="{FF2B5EF4-FFF2-40B4-BE49-F238E27FC236}">
                <a16:creationId xmlns:a16="http://schemas.microsoft.com/office/drawing/2014/main" id="{EB1318F3-6A5D-7DB9-6BF8-4E36C98B3C1C}"/>
              </a:ext>
            </a:extLst>
          </p:cNvPr>
          <p:cNvSpPr txBox="1"/>
          <p:nvPr/>
        </p:nvSpPr>
        <p:spPr>
          <a:xfrm>
            <a:off x="2470131" y="2628110"/>
            <a:ext cx="2410619" cy="200055"/>
          </a:xfrm>
          <a:prstGeom prst="rect">
            <a:avLst/>
          </a:prstGeom>
          <a:noFill/>
        </p:spPr>
        <p:txBody>
          <a:bodyPr wrap="square">
            <a:spAutoFit/>
          </a:bodyPr>
          <a:lstStyle/>
          <a:p>
            <a:pPr fontAlgn="b"/>
            <a:r>
              <a:rPr lang="en-SG" sz="700" b="1" u="none" strike="noStrike" dirty="0">
                <a:effectLst/>
              </a:rPr>
              <a:t>Implied Enterprise Value                      </a:t>
            </a:r>
            <a:r>
              <a:rPr lang="en-IE" sz="700" b="1" dirty="0"/>
              <a:t>$199,322</a:t>
            </a:r>
            <a:endParaRPr lang="en-SG" sz="700" b="1" i="0" u="none" strike="noStrike" dirty="0">
              <a:effectLst/>
              <a:latin typeface="Calibri" panose="020F0502020204030204" pitchFamily="34" charset="0"/>
            </a:endParaRPr>
          </a:p>
        </p:txBody>
      </p:sp>
      <p:cxnSp>
        <p:nvCxnSpPr>
          <p:cNvPr id="62" name="Straight Connector 61">
            <a:extLst>
              <a:ext uri="{FF2B5EF4-FFF2-40B4-BE49-F238E27FC236}">
                <a16:creationId xmlns:a16="http://schemas.microsoft.com/office/drawing/2014/main" id="{11C51898-AC1D-979B-DA7A-DD871609A5F0}"/>
              </a:ext>
            </a:extLst>
          </p:cNvPr>
          <p:cNvCxnSpPr>
            <a:cxnSpLocks/>
          </p:cNvCxnSpPr>
          <p:nvPr/>
        </p:nvCxnSpPr>
        <p:spPr>
          <a:xfrm>
            <a:off x="2498669" y="2786928"/>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31300B9-AB08-3E81-993A-E6FE99C87211}"/>
              </a:ext>
            </a:extLst>
          </p:cNvPr>
          <p:cNvCxnSpPr>
            <a:cxnSpLocks/>
          </p:cNvCxnSpPr>
          <p:nvPr/>
        </p:nvCxnSpPr>
        <p:spPr>
          <a:xfrm>
            <a:off x="2498669" y="2916237"/>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205F18C-08DD-0992-4B16-951F828E2417}"/>
              </a:ext>
            </a:extLst>
          </p:cNvPr>
          <p:cNvCxnSpPr>
            <a:cxnSpLocks/>
          </p:cNvCxnSpPr>
          <p:nvPr/>
        </p:nvCxnSpPr>
        <p:spPr>
          <a:xfrm>
            <a:off x="2498669" y="3039389"/>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E98CED89-FB61-397B-2BFA-0D432CE97134}"/>
              </a:ext>
            </a:extLst>
          </p:cNvPr>
          <p:cNvCxnSpPr>
            <a:cxnSpLocks/>
          </p:cNvCxnSpPr>
          <p:nvPr/>
        </p:nvCxnSpPr>
        <p:spPr>
          <a:xfrm>
            <a:off x="2498669" y="3174855"/>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33F876A9-8450-ADEB-F8CE-B8A4A57B93F5}"/>
              </a:ext>
            </a:extLst>
          </p:cNvPr>
          <p:cNvSpPr/>
          <p:nvPr/>
        </p:nvSpPr>
        <p:spPr>
          <a:xfrm>
            <a:off x="101173" y="3748929"/>
            <a:ext cx="4766453" cy="541887"/>
          </a:xfrm>
          <a:prstGeom prst="rect">
            <a:avLst/>
          </a:prstGeom>
          <a:solidFill>
            <a:schemeClr val="tx2">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3038" indent="-173038" algn="ctr">
              <a:buFont typeface="Wingdings" panose="05000000000000000000" pitchFamily="2" charset="2"/>
              <a:buChar char="§"/>
            </a:pPr>
            <a:endParaRPr lang="en-IE" sz="1200" dirty="0">
              <a:solidFill>
                <a:schemeClr val="tx1"/>
              </a:solidFill>
              <a:latin typeface="Arial" panose="020B0604020202020204" pitchFamily="34" charset="0"/>
              <a:cs typeface="Arial" panose="020B0604020202020204" pitchFamily="34" charset="0"/>
            </a:endParaRPr>
          </a:p>
        </p:txBody>
      </p:sp>
      <p:sp>
        <p:nvSpPr>
          <p:cNvPr id="71" name="TextBox 70">
            <a:extLst>
              <a:ext uri="{FF2B5EF4-FFF2-40B4-BE49-F238E27FC236}">
                <a16:creationId xmlns:a16="http://schemas.microsoft.com/office/drawing/2014/main" id="{B63418D9-CD09-4368-5C08-2CB8E26DC5C4}"/>
              </a:ext>
            </a:extLst>
          </p:cNvPr>
          <p:cNvSpPr txBox="1"/>
          <p:nvPr/>
        </p:nvSpPr>
        <p:spPr>
          <a:xfrm>
            <a:off x="155958" y="3822978"/>
            <a:ext cx="1170007" cy="369332"/>
          </a:xfrm>
          <a:prstGeom prst="rect">
            <a:avLst/>
          </a:prstGeom>
          <a:noFill/>
        </p:spPr>
        <p:txBody>
          <a:bodyPr wrap="square">
            <a:spAutoFit/>
          </a:bodyPr>
          <a:lstStyle/>
          <a:p>
            <a:pPr algn="ctr" fontAlgn="b"/>
            <a:r>
              <a:rPr lang="en-SG" sz="900" b="1" u="none" strike="noStrike" dirty="0">
                <a:solidFill>
                  <a:schemeClr val="bg1"/>
                </a:solidFill>
                <a:effectLst/>
              </a:rPr>
              <a:t>Implied Share Price from DCF</a:t>
            </a:r>
            <a:endParaRPr lang="en-SG" sz="900" b="1" i="0" u="none" strike="noStrike" dirty="0">
              <a:solidFill>
                <a:schemeClr val="bg1"/>
              </a:solidFill>
              <a:effectLst/>
              <a:latin typeface="Calibri" panose="020F0502020204030204" pitchFamily="34" charset="0"/>
            </a:endParaRPr>
          </a:p>
        </p:txBody>
      </p:sp>
      <p:sp>
        <p:nvSpPr>
          <p:cNvPr id="72" name="TextBox 71">
            <a:extLst>
              <a:ext uri="{FF2B5EF4-FFF2-40B4-BE49-F238E27FC236}">
                <a16:creationId xmlns:a16="http://schemas.microsoft.com/office/drawing/2014/main" id="{C8C5EA61-199C-F9D2-98D8-F9857D0D6FF2}"/>
              </a:ext>
            </a:extLst>
          </p:cNvPr>
          <p:cNvSpPr txBox="1"/>
          <p:nvPr/>
        </p:nvSpPr>
        <p:spPr>
          <a:xfrm>
            <a:off x="2528350" y="3853823"/>
            <a:ext cx="1260106" cy="369332"/>
          </a:xfrm>
          <a:prstGeom prst="rect">
            <a:avLst/>
          </a:prstGeom>
          <a:noFill/>
        </p:spPr>
        <p:txBody>
          <a:bodyPr wrap="square">
            <a:spAutoFit/>
          </a:bodyPr>
          <a:lstStyle/>
          <a:p>
            <a:pPr algn="ctr" fontAlgn="b"/>
            <a:r>
              <a:rPr lang="en-IE" sz="900" b="1" u="none" strike="noStrike" dirty="0">
                <a:solidFill>
                  <a:schemeClr val="bg1"/>
                </a:solidFill>
                <a:effectLst/>
              </a:rPr>
              <a:t>Premium to Current Share Price</a:t>
            </a:r>
            <a:endParaRPr lang="en-SG" sz="900" b="1" i="0" u="none" strike="noStrike" dirty="0">
              <a:solidFill>
                <a:schemeClr val="bg1"/>
              </a:solidFill>
              <a:effectLst/>
              <a:latin typeface="Calibri" panose="020F0502020204030204" pitchFamily="34" charset="0"/>
            </a:endParaRPr>
          </a:p>
        </p:txBody>
      </p:sp>
      <p:sp>
        <p:nvSpPr>
          <p:cNvPr id="73" name="TextBox 72">
            <a:extLst>
              <a:ext uri="{FF2B5EF4-FFF2-40B4-BE49-F238E27FC236}">
                <a16:creationId xmlns:a16="http://schemas.microsoft.com/office/drawing/2014/main" id="{6F9B243B-CB92-3A1B-E5FA-10A3FD2F5663}"/>
              </a:ext>
            </a:extLst>
          </p:cNvPr>
          <p:cNvSpPr txBox="1"/>
          <p:nvPr/>
        </p:nvSpPr>
        <p:spPr>
          <a:xfrm>
            <a:off x="1380458" y="3882706"/>
            <a:ext cx="1147892" cy="261610"/>
          </a:xfrm>
          <a:prstGeom prst="rect">
            <a:avLst/>
          </a:prstGeom>
          <a:noFill/>
        </p:spPr>
        <p:txBody>
          <a:bodyPr wrap="square">
            <a:spAutoFit/>
          </a:bodyPr>
          <a:lstStyle/>
          <a:p>
            <a:pPr algn="ctr" fontAlgn="b"/>
            <a:r>
              <a:rPr lang="en-IE" sz="1050" dirty="0">
                <a:solidFill>
                  <a:schemeClr val="bg1"/>
                </a:solidFill>
              </a:rPr>
              <a:t>$240.80</a:t>
            </a:r>
            <a:r>
              <a:rPr lang="en-IE" sz="1050" u="none" strike="noStrike" dirty="0">
                <a:solidFill>
                  <a:schemeClr val="bg1"/>
                </a:solidFill>
                <a:effectLst/>
              </a:rPr>
              <a:t> </a:t>
            </a:r>
            <a:endParaRPr lang="en-IE" sz="1050" b="0" i="0" u="none" strike="noStrike" dirty="0">
              <a:solidFill>
                <a:schemeClr val="bg1"/>
              </a:solidFill>
              <a:effectLst/>
              <a:latin typeface="Calibri" panose="020F0502020204030204" pitchFamily="34" charset="0"/>
            </a:endParaRPr>
          </a:p>
        </p:txBody>
      </p:sp>
      <p:cxnSp>
        <p:nvCxnSpPr>
          <p:cNvPr id="74" name="Straight Connector 73">
            <a:extLst>
              <a:ext uri="{FF2B5EF4-FFF2-40B4-BE49-F238E27FC236}">
                <a16:creationId xmlns:a16="http://schemas.microsoft.com/office/drawing/2014/main" id="{E7136442-94E5-6E67-3F3B-4D1969E16DAB}"/>
              </a:ext>
            </a:extLst>
          </p:cNvPr>
          <p:cNvCxnSpPr>
            <a:cxnSpLocks/>
            <a:stCxn id="70" idx="0"/>
            <a:endCxn id="70" idx="2"/>
          </p:cNvCxnSpPr>
          <p:nvPr/>
        </p:nvCxnSpPr>
        <p:spPr>
          <a:xfrm>
            <a:off x="2484400" y="3748929"/>
            <a:ext cx="0" cy="5418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90578C0-D023-2A87-3BB5-08AD23347465}"/>
              </a:ext>
            </a:extLst>
          </p:cNvPr>
          <p:cNvCxnSpPr>
            <a:cxnSpLocks/>
          </p:cNvCxnSpPr>
          <p:nvPr/>
        </p:nvCxnSpPr>
        <p:spPr>
          <a:xfrm>
            <a:off x="1399217" y="3681935"/>
            <a:ext cx="0" cy="6836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D1DEC89-4657-E597-277A-F7DD26AA2FD6}"/>
              </a:ext>
            </a:extLst>
          </p:cNvPr>
          <p:cNvCxnSpPr>
            <a:cxnSpLocks/>
          </p:cNvCxnSpPr>
          <p:nvPr/>
        </p:nvCxnSpPr>
        <p:spPr>
          <a:xfrm>
            <a:off x="3818468" y="3681935"/>
            <a:ext cx="0" cy="6836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998D2866-A9E7-9EAA-B8F7-DDA9AA230907}"/>
              </a:ext>
            </a:extLst>
          </p:cNvPr>
          <p:cNvSpPr txBox="1"/>
          <p:nvPr/>
        </p:nvSpPr>
        <p:spPr>
          <a:xfrm>
            <a:off x="3774519" y="3892228"/>
            <a:ext cx="1147892" cy="261610"/>
          </a:xfrm>
          <a:prstGeom prst="rect">
            <a:avLst/>
          </a:prstGeom>
          <a:noFill/>
        </p:spPr>
        <p:txBody>
          <a:bodyPr wrap="square">
            <a:spAutoFit/>
          </a:bodyPr>
          <a:lstStyle/>
          <a:p>
            <a:pPr algn="ctr" fontAlgn="b"/>
            <a:r>
              <a:rPr lang="en-IE" sz="1050" u="none" strike="noStrike" dirty="0">
                <a:solidFill>
                  <a:schemeClr val="bg1"/>
                </a:solidFill>
                <a:effectLst/>
              </a:rPr>
              <a:t>43.5%</a:t>
            </a:r>
            <a:endParaRPr lang="en-IE" sz="1050" b="0" i="0" u="none" strike="noStrike" dirty="0">
              <a:solidFill>
                <a:schemeClr val="bg1"/>
              </a:solidFill>
              <a:effectLst/>
              <a:latin typeface="Calibri" panose="020F0502020204030204" pitchFamily="34" charset="0"/>
            </a:endParaRPr>
          </a:p>
        </p:txBody>
      </p:sp>
      <p:sp>
        <p:nvSpPr>
          <p:cNvPr id="79" name="TextBox 78">
            <a:extLst>
              <a:ext uri="{FF2B5EF4-FFF2-40B4-BE49-F238E27FC236}">
                <a16:creationId xmlns:a16="http://schemas.microsoft.com/office/drawing/2014/main" id="{2CA213F2-E38F-21BF-9955-BF0EEF00E878}"/>
              </a:ext>
            </a:extLst>
          </p:cNvPr>
          <p:cNvSpPr txBox="1"/>
          <p:nvPr/>
        </p:nvSpPr>
        <p:spPr>
          <a:xfrm>
            <a:off x="72634" y="4668492"/>
            <a:ext cx="2439158" cy="200055"/>
          </a:xfrm>
          <a:prstGeom prst="rect">
            <a:avLst/>
          </a:prstGeom>
          <a:noFill/>
        </p:spPr>
        <p:txBody>
          <a:bodyPr wrap="square">
            <a:spAutoFit/>
          </a:bodyPr>
          <a:lstStyle/>
          <a:p>
            <a:pPr fontAlgn="b"/>
            <a:r>
              <a:rPr lang="en-IE" sz="700" b="1" u="none" strike="noStrike" dirty="0">
                <a:effectLst/>
              </a:rPr>
              <a:t>Baseline Terminal Value                       $266,671</a:t>
            </a:r>
            <a:endParaRPr lang="en-SG" sz="700" b="1" i="0" u="none" strike="noStrike" dirty="0">
              <a:effectLst/>
              <a:latin typeface="Calibri" panose="020F0502020204030204" pitchFamily="34" charset="0"/>
            </a:endParaRPr>
          </a:p>
        </p:txBody>
      </p:sp>
      <p:sp>
        <p:nvSpPr>
          <p:cNvPr id="80" name="TextBox 79">
            <a:extLst>
              <a:ext uri="{FF2B5EF4-FFF2-40B4-BE49-F238E27FC236}">
                <a16:creationId xmlns:a16="http://schemas.microsoft.com/office/drawing/2014/main" id="{229FED1B-71B3-41D5-5ED0-991EAEA4644A}"/>
              </a:ext>
            </a:extLst>
          </p:cNvPr>
          <p:cNvSpPr txBox="1"/>
          <p:nvPr/>
        </p:nvSpPr>
        <p:spPr>
          <a:xfrm>
            <a:off x="72633" y="4796335"/>
            <a:ext cx="2633621" cy="200055"/>
          </a:xfrm>
          <a:prstGeom prst="rect">
            <a:avLst/>
          </a:prstGeom>
          <a:noFill/>
        </p:spPr>
        <p:txBody>
          <a:bodyPr wrap="square">
            <a:spAutoFit/>
          </a:bodyPr>
          <a:lstStyle/>
          <a:p>
            <a:pPr fontAlgn="b"/>
            <a:r>
              <a:rPr lang="en-IE" sz="700" b="1" u="none" strike="noStrike" dirty="0">
                <a:effectLst/>
              </a:rPr>
              <a:t>Implied Terminal EBITDA Multiple       13.5x</a:t>
            </a:r>
            <a:endParaRPr lang="en-SG" sz="700" b="1" i="0" u="none" strike="noStrike" dirty="0">
              <a:effectLst/>
              <a:latin typeface="Calibri" panose="020F0502020204030204" pitchFamily="34" charset="0"/>
            </a:endParaRPr>
          </a:p>
        </p:txBody>
      </p:sp>
      <p:sp>
        <p:nvSpPr>
          <p:cNvPr id="81" name="TextBox 80">
            <a:extLst>
              <a:ext uri="{FF2B5EF4-FFF2-40B4-BE49-F238E27FC236}">
                <a16:creationId xmlns:a16="http://schemas.microsoft.com/office/drawing/2014/main" id="{15B4854C-A33C-49F6-CC24-D1A55D431842}"/>
              </a:ext>
            </a:extLst>
          </p:cNvPr>
          <p:cNvSpPr txBox="1"/>
          <p:nvPr/>
        </p:nvSpPr>
        <p:spPr>
          <a:xfrm>
            <a:off x="72633" y="4924177"/>
            <a:ext cx="2301111" cy="200055"/>
          </a:xfrm>
          <a:prstGeom prst="rect">
            <a:avLst/>
          </a:prstGeom>
          <a:noFill/>
        </p:spPr>
        <p:txBody>
          <a:bodyPr wrap="square">
            <a:spAutoFit/>
          </a:bodyPr>
          <a:lstStyle/>
          <a:p>
            <a:pPr fontAlgn="b"/>
            <a:r>
              <a:rPr lang="en-IE" sz="700" b="1" u="none" strike="noStrike" dirty="0">
                <a:effectLst/>
              </a:rPr>
              <a:t>PV of Terminal Value                             $266,671</a:t>
            </a:r>
            <a:endParaRPr lang="en-SG" sz="700" b="1" i="0" u="none" strike="noStrike" dirty="0">
              <a:effectLst/>
              <a:latin typeface="Calibri" panose="020F0502020204030204" pitchFamily="34" charset="0"/>
            </a:endParaRPr>
          </a:p>
        </p:txBody>
      </p:sp>
      <p:sp>
        <p:nvSpPr>
          <p:cNvPr id="82" name="TextBox 81">
            <a:extLst>
              <a:ext uri="{FF2B5EF4-FFF2-40B4-BE49-F238E27FC236}">
                <a16:creationId xmlns:a16="http://schemas.microsoft.com/office/drawing/2014/main" id="{1F78390B-3B0C-F049-5967-BFE8DB8BA178}"/>
              </a:ext>
            </a:extLst>
          </p:cNvPr>
          <p:cNvSpPr txBox="1"/>
          <p:nvPr/>
        </p:nvSpPr>
        <p:spPr>
          <a:xfrm>
            <a:off x="72634" y="4540649"/>
            <a:ext cx="2410619" cy="200055"/>
          </a:xfrm>
          <a:prstGeom prst="rect">
            <a:avLst/>
          </a:prstGeom>
          <a:noFill/>
        </p:spPr>
        <p:txBody>
          <a:bodyPr wrap="square">
            <a:spAutoFit/>
          </a:bodyPr>
          <a:lstStyle/>
          <a:p>
            <a:pPr fontAlgn="b"/>
            <a:r>
              <a:rPr lang="en-IE" sz="700" b="1" u="none" strike="noStrike" dirty="0">
                <a:effectLst/>
              </a:rPr>
              <a:t>Baseline Terminal FCF Growth Rate    0.50%</a:t>
            </a:r>
            <a:endParaRPr lang="en-SG" sz="700" b="1" i="0" u="none" strike="noStrike" dirty="0">
              <a:effectLst/>
              <a:latin typeface="Calibri" panose="020F0502020204030204" pitchFamily="34" charset="0"/>
            </a:endParaRPr>
          </a:p>
        </p:txBody>
      </p:sp>
      <p:sp>
        <p:nvSpPr>
          <p:cNvPr id="83" name="TextBox 82">
            <a:extLst>
              <a:ext uri="{FF2B5EF4-FFF2-40B4-BE49-F238E27FC236}">
                <a16:creationId xmlns:a16="http://schemas.microsoft.com/office/drawing/2014/main" id="{680F4A01-6A76-56FA-E969-BE37DD6A856B}"/>
              </a:ext>
            </a:extLst>
          </p:cNvPr>
          <p:cNvSpPr txBox="1"/>
          <p:nvPr/>
        </p:nvSpPr>
        <p:spPr>
          <a:xfrm>
            <a:off x="72634" y="4412806"/>
            <a:ext cx="2410619" cy="200055"/>
          </a:xfrm>
          <a:prstGeom prst="rect">
            <a:avLst/>
          </a:prstGeom>
          <a:noFill/>
        </p:spPr>
        <p:txBody>
          <a:bodyPr wrap="square">
            <a:spAutoFit/>
          </a:bodyPr>
          <a:lstStyle/>
          <a:p>
            <a:pPr fontAlgn="b"/>
            <a:r>
              <a:rPr lang="en-SG" sz="700" b="1" u="none" strike="noStrike" dirty="0">
                <a:effectLst/>
              </a:rPr>
              <a:t>Expected Long-Term GDP Growth       </a:t>
            </a:r>
            <a:r>
              <a:rPr lang="en-IE" sz="700" b="1" dirty="0"/>
              <a:t>1.50%</a:t>
            </a:r>
            <a:endParaRPr lang="en-SG" sz="700" b="1" i="0" u="none" strike="noStrike" dirty="0">
              <a:effectLst/>
              <a:latin typeface="Calibri" panose="020F0502020204030204" pitchFamily="34" charset="0"/>
            </a:endParaRPr>
          </a:p>
        </p:txBody>
      </p:sp>
      <p:cxnSp>
        <p:nvCxnSpPr>
          <p:cNvPr id="84" name="Straight Connector 83">
            <a:extLst>
              <a:ext uri="{FF2B5EF4-FFF2-40B4-BE49-F238E27FC236}">
                <a16:creationId xmlns:a16="http://schemas.microsoft.com/office/drawing/2014/main" id="{CD1337BA-192C-1458-84E5-FB6FFFDB1E2A}"/>
              </a:ext>
            </a:extLst>
          </p:cNvPr>
          <p:cNvCxnSpPr>
            <a:cxnSpLocks/>
          </p:cNvCxnSpPr>
          <p:nvPr/>
        </p:nvCxnSpPr>
        <p:spPr>
          <a:xfrm>
            <a:off x="101172" y="4571624"/>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5694A66-7760-8871-33B1-17141297CEA3}"/>
              </a:ext>
            </a:extLst>
          </p:cNvPr>
          <p:cNvCxnSpPr>
            <a:cxnSpLocks/>
          </p:cNvCxnSpPr>
          <p:nvPr/>
        </p:nvCxnSpPr>
        <p:spPr>
          <a:xfrm>
            <a:off x="101172" y="4700933"/>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E21EC81-BD55-C441-46B3-EFBF86D2C836}"/>
              </a:ext>
            </a:extLst>
          </p:cNvPr>
          <p:cNvCxnSpPr>
            <a:cxnSpLocks/>
          </p:cNvCxnSpPr>
          <p:nvPr/>
        </p:nvCxnSpPr>
        <p:spPr>
          <a:xfrm>
            <a:off x="101172" y="4824085"/>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36895C3-1F2D-9335-B578-C9D3E9F5C3A8}"/>
              </a:ext>
            </a:extLst>
          </p:cNvPr>
          <p:cNvCxnSpPr>
            <a:cxnSpLocks/>
          </p:cNvCxnSpPr>
          <p:nvPr/>
        </p:nvCxnSpPr>
        <p:spPr>
          <a:xfrm>
            <a:off x="101172" y="4959551"/>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AD5EA8CD-9F1D-C7AD-A2F7-C2B4A4646B5E}"/>
              </a:ext>
            </a:extLst>
          </p:cNvPr>
          <p:cNvSpPr txBox="1"/>
          <p:nvPr/>
        </p:nvSpPr>
        <p:spPr>
          <a:xfrm>
            <a:off x="2470130" y="4924177"/>
            <a:ext cx="2301111" cy="200055"/>
          </a:xfrm>
          <a:prstGeom prst="rect">
            <a:avLst/>
          </a:prstGeom>
          <a:noFill/>
        </p:spPr>
        <p:txBody>
          <a:bodyPr wrap="square">
            <a:spAutoFit/>
          </a:bodyPr>
          <a:lstStyle/>
          <a:p>
            <a:pPr fontAlgn="b"/>
            <a:r>
              <a:rPr lang="en-IE" sz="700" b="1" u="none" strike="noStrike" dirty="0">
                <a:effectLst/>
              </a:rPr>
              <a:t>Implied Equity Value 	                            $147,818</a:t>
            </a:r>
            <a:endParaRPr lang="en-SG" sz="700" b="1" i="0" u="none" strike="noStrike" dirty="0">
              <a:effectLst/>
              <a:latin typeface="Calibri" panose="020F0502020204030204" pitchFamily="34" charset="0"/>
            </a:endParaRPr>
          </a:p>
        </p:txBody>
      </p:sp>
      <p:sp>
        <p:nvSpPr>
          <p:cNvPr id="91" name="TextBox 90">
            <a:extLst>
              <a:ext uri="{FF2B5EF4-FFF2-40B4-BE49-F238E27FC236}">
                <a16:creationId xmlns:a16="http://schemas.microsoft.com/office/drawing/2014/main" id="{A06D96B2-77EA-EFCD-4078-03AD7FC9E4E1}"/>
              </a:ext>
            </a:extLst>
          </p:cNvPr>
          <p:cNvSpPr txBox="1"/>
          <p:nvPr/>
        </p:nvSpPr>
        <p:spPr>
          <a:xfrm>
            <a:off x="2470131" y="4664830"/>
            <a:ext cx="2410619" cy="200055"/>
          </a:xfrm>
          <a:prstGeom prst="rect">
            <a:avLst/>
          </a:prstGeom>
          <a:noFill/>
        </p:spPr>
        <p:txBody>
          <a:bodyPr wrap="square">
            <a:spAutoFit/>
          </a:bodyPr>
          <a:lstStyle/>
          <a:p>
            <a:pPr fontAlgn="b"/>
            <a:r>
              <a:rPr lang="en-IE" sz="700" b="1" u="none" strike="noStrike" dirty="0">
                <a:effectLst/>
              </a:rPr>
              <a:t>% of Implied TEV from TV                     52.7%</a:t>
            </a:r>
            <a:endParaRPr lang="en-SG" sz="700" b="1" i="0" u="none" strike="noStrike" dirty="0">
              <a:effectLst/>
              <a:latin typeface="Calibri" panose="020F0502020204030204" pitchFamily="34" charset="0"/>
            </a:endParaRPr>
          </a:p>
        </p:txBody>
      </p:sp>
      <p:sp>
        <p:nvSpPr>
          <p:cNvPr id="92" name="TextBox 91">
            <a:extLst>
              <a:ext uri="{FF2B5EF4-FFF2-40B4-BE49-F238E27FC236}">
                <a16:creationId xmlns:a16="http://schemas.microsoft.com/office/drawing/2014/main" id="{706DE83E-3A5B-E729-DA5C-16DE9E6F36EC}"/>
              </a:ext>
            </a:extLst>
          </p:cNvPr>
          <p:cNvSpPr txBox="1"/>
          <p:nvPr/>
        </p:nvSpPr>
        <p:spPr>
          <a:xfrm>
            <a:off x="2470131" y="4536987"/>
            <a:ext cx="2410619" cy="200055"/>
          </a:xfrm>
          <a:prstGeom prst="rect">
            <a:avLst/>
          </a:prstGeom>
          <a:noFill/>
        </p:spPr>
        <p:txBody>
          <a:bodyPr wrap="square">
            <a:spAutoFit/>
          </a:bodyPr>
          <a:lstStyle/>
          <a:p>
            <a:pPr fontAlgn="b"/>
            <a:r>
              <a:rPr lang="en-SG" sz="700" b="1" u="none" strike="noStrike" dirty="0">
                <a:effectLst/>
              </a:rPr>
              <a:t>Implied Enterprise Value                      </a:t>
            </a:r>
            <a:r>
              <a:rPr lang="en-IE" sz="700" b="1" dirty="0"/>
              <a:t>$203,280</a:t>
            </a:r>
            <a:endParaRPr lang="en-SG" sz="700" b="1" i="0" u="none" strike="noStrike" dirty="0">
              <a:effectLst/>
              <a:latin typeface="Calibri" panose="020F0502020204030204" pitchFamily="34" charset="0"/>
            </a:endParaRPr>
          </a:p>
        </p:txBody>
      </p:sp>
      <p:cxnSp>
        <p:nvCxnSpPr>
          <p:cNvPr id="93" name="Straight Connector 92">
            <a:extLst>
              <a:ext uri="{FF2B5EF4-FFF2-40B4-BE49-F238E27FC236}">
                <a16:creationId xmlns:a16="http://schemas.microsoft.com/office/drawing/2014/main" id="{87568992-35DD-8E11-FCD6-15925C5624B3}"/>
              </a:ext>
            </a:extLst>
          </p:cNvPr>
          <p:cNvCxnSpPr>
            <a:cxnSpLocks/>
          </p:cNvCxnSpPr>
          <p:nvPr/>
        </p:nvCxnSpPr>
        <p:spPr>
          <a:xfrm>
            <a:off x="2498669" y="4571624"/>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4937D53-D10E-1E0B-DE75-1D9861930BA3}"/>
              </a:ext>
            </a:extLst>
          </p:cNvPr>
          <p:cNvCxnSpPr>
            <a:cxnSpLocks/>
          </p:cNvCxnSpPr>
          <p:nvPr/>
        </p:nvCxnSpPr>
        <p:spPr>
          <a:xfrm>
            <a:off x="2498669" y="4700933"/>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FB1B7442-14C6-B2F5-F95C-A6B0CDDFC932}"/>
              </a:ext>
            </a:extLst>
          </p:cNvPr>
          <p:cNvCxnSpPr>
            <a:cxnSpLocks/>
          </p:cNvCxnSpPr>
          <p:nvPr/>
        </p:nvCxnSpPr>
        <p:spPr>
          <a:xfrm>
            <a:off x="2498669" y="4824085"/>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FFE63C42-E3E6-C919-46FA-523DA59E2887}"/>
              </a:ext>
            </a:extLst>
          </p:cNvPr>
          <p:cNvCxnSpPr>
            <a:cxnSpLocks/>
          </p:cNvCxnSpPr>
          <p:nvPr/>
        </p:nvCxnSpPr>
        <p:spPr>
          <a:xfrm>
            <a:off x="2498669" y="4959551"/>
            <a:ext cx="238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0B70C65C-71C6-1576-EC31-D91503144668}"/>
              </a:ext>
            </a:extLst>
          </p:cNvPr>
          <p:cNvCxnSpPr>
            <a:cxnSpLocks/>
          </p:cNvCxnSpPr>
          <p:nvPr/>
        </p:nvCxnSpPr>
        <p:spPr>
          <a:xfrm>
            <a:off x="4881897" y="4412806"/>
            <a:ext cx="0" cy="6836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5CE2B078-D188-5B7A-FE28-F3D81701B83C}"/>
              </a:ext>
            </a:extLst>
          </p:cNvPr>
          <p:cNvSpPr txBox="1"/>
          <p:nvPr/>
        </p:nvSpPr>
        <p:spPr>
          <a:xfrm>
            <a:off x="101173" y="3477715"/>
            <a:ext cx="6265562" cy="246221"/>
          </a:xfrm>
          <a:prstGeom prst="rect">
            <a:avLst/>
          </a:prstGeom>
          <a:noFill/>
        </p:spPr>
        <p:txBody>
          <a:bodyPr wrap="square">
            <a:spAutoFit/>
          </a:bodyPr>
          <a:lstStyle/>
          <a:p>
            <a:pPr algn="l" fontAlgn="b"/>
            <a:r>
              <a:rPr lang="en-IE" sz="1000" b="1" u="none" strike="noStrike" dirty="0">
                <a:effectLst/>
              </a:rPr>
              <a:t>Terminal Value – Perpetuity Growth Method</a:t>
            </a:r>
          </a:p>
        </p:txBody>
      </p:sp>
      <p:sp>
        <p:nvSpPr>
          <p:cNvPr id="100" name="TextBox 99">
            <a:extLst>
              <a:ext uri="{FF2B5EF4-FFF2-40B4-BE49-F238E27FC236}">
                <a16:creationId xmlns:a16="http://schemas.microsoft.com/office/drawing/2014/main" id="{9D152A7D-68CD-A885-4B02-2322A16DE238}"/>
              </a:ext>
            </a:extLst>
          </p:cNvPr>
          <p:cNvSpPr txBox="1"/>
          <p:nvPr/>
        </p:nvSpPr>
        <p:spPr>
          <a:xfrm>
            <a:off x="2470131" y="4796335"/>
            <a:ext cx="2452280" cy="200055"/>
          </a:xfrm>
          <a:prstGeom prst="rect">
            <a:avLst/>
          </a:prstGeom>
          <a:noFill/>
        </p:spPr>
        <p:txBody>
          <a:bodyPr wrap="square">
            <a:spAutoFit/>
          </a:bodyPr>
          <a:lstStyle/>
          <a:p>
            <a:pPr fontAlgn="b"/>
            <a:r>
              <a:rPr lang="en-IE" sz="700" b="1" u="none" strike="noStrike" dirty="0">
                <a:effectLst/>
              </a:rPr>
              <a:t>Total Debt &amp; Capital Leases                 (47,940)</a:t>
            </a:r>
            <a:endParaRPr lang="en-SG" sz="700" b="1" i="0" u="none" strike="noStrike" dirty="0">
              <a:effectLst/>
              <a:latin typeface="Calibri" panose="020F0502020204030204" pitchFamily="34" charset="0"/>
            </a:endParaRPr>
          </a:p>
        </p:txBody>
      </p:sp>
      <p:sp>
        <p:nvSpPr>
          <p:cNvPr id="6" name="Rectangle 5">
            <a:extLst>
              <a:ext uri="{FF2B5EF4-FFF2-40B4-BE49-F238E27FC236}">
                <a16:creationId xmlns:a16="http://schemas.microsoft.com/office/drawing/2014/main" id="{842C71D5-0536-0B69-E05E-AC5130D6EFD1}"/>
              </a:ext>
            </a:extLst>
          </p:cNvPr>
          <p:cNvSpPr/>
          <p:nvPr/>
        </p:nvSpPr>
        <p:spPr>
          <a:xfrm>
            <a:off x="101172" y="5512255"/>
            <a:ext cx="1598088" cy="662976"/>
          </a:xfrm>
          <a:prstGeom prst="rect">
            <a:avLst/>
          </a:prstGeom>
          <a:solidFill>
            <a:schemeClr val="bg1">
              <a:lumMod val="8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WACC</a:t>
            </a:r>
          </a:p>
          <a:p>
            <a:pPr algn="ctr"/>
            <a:r>
              <a:rPr lang="en-US" sz="1200" b="1" dirty="0">
                <a:solidFill>
                  <a:schemeClr val="tx1"/>
                </a:solidFill>
                <a:latin typeface="Arial" panose="020B0604020202020204" pitchFamily="34" charset="0"/>
                <a:cs typeface="Arial" panose="020B0604020202020204" pitchFamily="34" charset="0"/>
              </a:rPr>
              <a:t>9.55%</a:t>
            </a:r>
          </a:p>
        </p:txBody>
      </p:sp>
      <p:sp>
        <p:nvSpPr>
          <p:cNvPr id="8" name="Rectangle 7">
            <a:extLst>
              <a:ext uri="{FF2B5EF4-FFF2-40B4-BE49-F238E27FC236}">
                <a16:creationId xmlns:a16="http://schemas.microsoft.com/office/drawing/2014/main" id="{757E65B0-E4E0-CDDB-C129-89472E5CCFDE}"/>
              </a:ext>
            </a:extLst>
          </p:cNvPr>
          <p:cNvSpPr/>
          <p:nvPr/>
        </p:nvSpPr>
        <p:spPr>
          <a:xfrm>
            <a:off x="1899911" y="5512255"/>
            <a:ext cx="1598088" cy="662976"/>
          </a:xfrm>
          <a:prstGeom prst="rect">
            <a:avLst/>
          </a:prstGeom>
          <a:solidFill>
            <a:schemeClr val="bg1">
              <a:lumMod val="8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Cost of Equity</a:t>
            </a:r>
          </a:p>
          <a:p>
            <a:pPr algn="ctr"/>
            <a:r>
              <a:rPr lang="en-US" sz="1200" b="1" dirty="0">
                <a:solidFill>
                  <a:schemeClr val="tx1"/>
                </a:solidFill>
                <a:latin typeface="Arial" panose="020B0604020202020204" pitchFamily="34" charset="0"/>
                <a:cs typeface="Arial" panose="020B0604020202020204" pitchFamily="34" charset="0"/>
              </a:rPr>
              <a:t>11.80%</a:t>
            </a:r>
          </a:p>
        </p:txBody>
      </p:sp>
      <p:sp>
        <p:nvSpPr>
          <p:cNvPr id="9" name="Rectangle 8">
            <a:extLst>
              <a:ext uri="{FF2B5EF4-FFF2-40B4-BE49-F238E27FC236}">
                <a16:creationId xmlns:a16="http://schemas.microsoft.com/office/drawing/2014/main" id="{F1A14C98-461E-CF6E-FE2B-166CD8556384}"/>
              </a:ext>
            </a:extLst>
          </p:cNvPr>
          <p:cNvSpPr/>
          <p:nvPr/>
        </p:nvSpPr>
        <p:spPr>
          <a:xfrm>
            <a:off x="3698650" y="5516553"/>
            <a:ext cx="1598088" cy="662976"/>
          </a:xfrm>
          <a:prstGeom prst="rect">
            <a:avLst/>
          </a:prstGeom>
          <a:solidFill>
            <a:schemeClr val="bg1">
              <a:lumMod val="8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Cost of Debt</a:t>
            </a:r>
          </a:p>
          <a:p>
            <a:pPr algn="ctr"/>
            <a:r>
              <a:rPr lang="en-US" sz="1200" b="1" dirty="0">
                <a:solidFill>
                  <a:schemeClr val="tx1"/>
                </a:solidFill>
                <a:latin typeface="Arial" panose="020B0604020202020204" pitchFamily="34" charset="0"/>
                <a:cs typeface="Arial" panose="020B0604020202020204" pitchFamily="34" charset="0"/>
              </a:rPr>
              <a:t>5.61%</a:t>
            </a:r>
          </a:p>
        </p:txBody>
      </p:sp>
      <p:sp>
        <p:nvSpPr>
          <p:cNvPr id="10" name="Rectangle 9">
            <a:extLst>
              <a:ext uri="{FF2B5EF4-FFF2-40B4-BE49-F238E27FC236}">
                <a16:creationId xmlns:a16="http://schemas.microsoft.com/office/drawing/2014/main" id="{31DF3581-6D8F-3239-E84E-4503070E2AE4}"/>
              </a:ext>
            </a:extLst>
          </p:cNvPr>
          <p:cNvSpPr/>
          <p:nvPr/>
        </p:nvSpPr>
        <p:spPr>
          <a:xfrm>
            <a:off x="5497389" y="5516553"/>
            <a:ext cx="1598088" cy="662976"/>
          </a:xfrm>
          <a:prstGeom prst="rect">
            <a:avLst/>
          </a:prstGeom>
          <a:solidFill>
            <a:schemeClr val="bg1">
              <a:lumMod val="8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Risk Free Rate</a:t>
            </a:r>
          </a:p>
          <a:p>
            <a:pPr algn="ctr"/>
            <a:r>
              <a:rPr lang="en-US" sz="1200" b="1" dirty="0">
                <a:solidFill>
                  <a:schemeClr val="tx1"/>
                </a:solidFill>
                <a:latin typeface="Arial" panose="020B0604020202020204" pitchFamily="34" charset="0"/>
                <a:cs typeface="Arial" panose="020B0604020202020204" pitchFamily="34" charset="0"/>
              </a:rPr>
              <a:t>4.69%</a:t>
            </a:r>
          </a:p>
        </p:txBody>
      </p:sp>
      <p:sp>
        <p:nvSpPr>
          <p:cNvPr id="11" name="Rectangle 10">
            <a:extLst>
              <a:ext uri="{FF2B5EF4-FFF2-40B4-BE49-F238E27FC236}">
                <a16:creationId xmlns:a16="http://schemas.microsoft.com/office/drawing/2014/main" id="{678DBD8F-72D1-0D11-3520-E67106146CD8}"/>
              </a:ext>
            </a:extLst>
          </p:cNvPr>
          <p:cNvSpPr/>
          <p:nvPr/>
        </p:nvSpPr>
        <p:spPr>
          <a:xfrm>
            <a:off x="7296128" y="5516553"/>
            <a:ext cx="1598088" cy="662976"/>
          </a:xfrm>
          <a:prstGeom prst="rect">
            <a:avLst/>
          </a:prstGeom>
          <a:solidFill>
            <a:schemeClr val="bg1">
              <a:lumMod val="8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Equity Risk Premia</a:t>
            </a:r>
          </a:p>
          <a:p>
            <a:pPr algn="ctr"/>
            <a:r>
              <a:rPr lang="en-US" sz="1200" b="1" dirty="0">
                <a:solidFill>
                  <a:schemeClr val="tx1"/>
                </a:solidFill>
                <a:latin typeface="Arial" panose="020B0604020202020204" pitchFamily="34" charset="0"/>
                <a:cs typeface="Arial" panose="020B0604020202020204" pitchFamily="34" charset="0"/>
              </a:rPr>
              <a:t>4.60%</a:t>
            </a:r>
          </a:p>
        </p:txBody>
      </p:sp>
      <p:cxnSp>
        <p:nvCxnSpPr>
          <p:cNvPr id="16" name="Straight Connector 15">
            <a:extLst>
              <a:ext uri="{FF2B5EF4-FFF2-40B4-BE49-F238E27FC236}">
                <a16:creationId xmlns:a16="http://schemas.microsoft.com/office/drawing/2014/main" id="{144ADD80-B8AA-7C29-E1C8-7E62CA3788B1}"/>
              </a:ext>
            </a:extLst>
          </p:cNvPr>
          <p:cNvCxnSpPr>
            <a:cxnSpLocks/>
          </p:cNvCxnSpPr>
          <p:nvPr/>
        </p:nvCxnSpPr>
        <p:spPr>
          <a:xfrm>
            <a:off x="2490783" y="4505477"/>
            <a:ext cx="0" cy="5113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284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286;p2">
            <a:extLst>
              <a:ext uri="{FF2B5EF4-FFF2-40B4-BE49-F238E27FC236}">
                <a16:creationId xmlns:a16="http://schemas.microsoft.com/office/drawing/2014/main" id="{09F1F76A-1C03-8CA7-524E-3FCE525C29A1}"/>
              </a:ext>
            </a:extLst>
          </p:cNvPr>
          <p:cNvSpPr/>
          <p:nvPr/>
        </p:nvSpPr>
        <p:spPr>
          <a:xfrm>
            <a:off x="3249216" y="2296996"/>
            <a:ext cx="2645569" cy="316292"/>
          </a:xfrm>
          <a:prstGeom prst="rect">
            <a:avLst/>
          </a:prstGeom>
          <a:solidFill>
            <a:srgbClr val="333F44"/>
          </a:solidFill>
          <a:ln>
            <a:solidFill>
              <a:srgbClr val="333F44"/>
            </a:solidFill>
          </a:ln>
        </p:spPr>
        <p:txBody>
          <a:bodyPr spcFirstLastPara="1" wrap="square" lIns="68569" tIns="34275" rIns="68569" bIns="34275" anchor="ctr" anchorCtr="0">
            <a:noAutofit/>
          </a:bodyPr>
          <a:lstStyle/>
          <a:p>
            <a:pPr algn="ctr" defTabSz="685800" fontAlgn="auto">
              <a:spcBef>
                <a:spcPts val="0"/>
              </a:spcBef>
              <a:spcAft>
                <a:spcPts val="0"/>
              </a:spcAft>
              <a:buClr>
                <a:srgbClr val="000000"/>
              </a:buClr>
              <a:buSzPts val="1800"/>
              <a:defRPr/>
            </a:pPr>
            <a:endParaRPr sz="1350" kern="0">
              <a:solidFill>
                <a:srgbClr val="FFFFFF"/>
              </a:solidFill>
              <a:latin typeface="Arial"/>
              <a:ea typeface="Arial"/>
              <a:cs typeface="Arial"/>
              <a:sym typeface="Arial"/>
            </a:endParaRPr>
          </a:p>
        </p:txBody>
      </p:sp>
      <p:sp>
        <p:nvSpPr>
          <p:cNvPr id="31" name="Google Shape;289;p2">
            <a:extLst>
              <a:ext uri="{FF2B5EF4-FFF2-40B4-BE49-F238E27FC236}">
                <a16:creationId xmlns:a16="http://schemas.microsoft.com/office/drawing/2014/main" id="{95C79D31-49D9-CF5C-C5CC-2018D877B6EA}"/>
              </a:ext>
            </a:extLst>
          </p:cNvPr>
          <p:cNvSpPr txBox="1">
            <a:spLocks/>
          </p:cNvSpPr>
          <p:nvPr/>
        </p:nvSpPr>
        <p:spPr>
          <a:xfrm>
            <a:off x="3265160" y="2296996"/>
            <a:ext cx="236495" cy="316292"/>
          </a:xfrm>
          <a:prstGeom prst="rect">
            <a:avLst/>
          </a:prstGeom>
          <a:no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500" kern="0">
                <a:solidFill>
                  <a:srgbClr val="FFFFFF"/>
                </a:solidFill>
              </a:rPr>
              <a:t>1</a:t>
            </a:r>
            <a:endParaRPr lang="en-CA" sz="1500" kern="0">
              <a:solidFill>
                <a:srgbClr val="000000"/>
              </a:solidFill>
            </a:endParaRPr>
          </a:p>
        </p:txBody>
      </p:sp>
      <p:sp>
        <p:nvSpPr>
          <p:cNvPr id="33" name="Google Shape;291;p2">
            <a:extLst>
              <a:ext uri="{FF2B5EF4-FFF2-40B4-BE49-F238E27FC236}">
                <a16:creationId xmlns:a16="http://schemas.microsoft.com/office/drawing/2014/main" id="{10A39BE7-5957-0E8F-6913-0D4EADABB8CF}"/>
              </a:ext>
            </a:extLst>
          </p:cNvPr>
          <p:cNvSpPr txBox="1">
            <a:spLocks/>
          </p:cNvSpPr>
          <p:nvPr/>
        </p:nvSpPr>
        <p:spPr>
          <a:xfrm>
            <a:off x="3265160" y="3181354"/>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3</a:t>
            </a:r>
          </a:p>
        </p:txBody>
      </p:sp>
      <p:sp>
        <p:nvSpPr>
          <p:cNvPr id="34" name="Google Shape;292;p2">
            <a:extLst>
              <a:ext uri="{FF2B5EF4-FFF2-40B4-BE49-F238E27FC236}">
                <a16:creationId xmlns:a16="http://schemas.microsoft.com/office/drawing/2014/main" id="{C96A2CB4-25D5-A6DB-7F9E-0AC28C1BC798}"/>
              </a:ext>
            </a:extLst>
          </p:cNvPr>
          <p:cNvSpPr txBox="1">
            <a:spLocks/>
          </p:cNvSpPr>
          <p:nvPr/>
        </p:nvSpPr>
        <p:spPr>
          <a:xfrm>
            <a:off x="3265160" y="3640266"/>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4</a:t>
            </a:r>
          </a:p>
        </p:txBody>
      </p:sp>
      <p:sp>
        <p:nvSpPr>
          <p:cNvPr id="35" name="Google Shape;293;p2">
            <a:extLst>
              <a:ext uri="{FF2B5EF4-FFF2-40B4-BE49-F238E27FC236}">
                <a16:creationId xmlns:a16="http://schemas.microsoft.com/office/drawing/2014/main" id="{24082908-437D-EAD2-5694-48F1B986A9AD}"/>
              </a:ext>
            </a:extLst>
          </p:cNvPr>
          <p:cNvSpPr txBox="1">
            <a:spLocks/>
          </p:cNvSpPr>
          <p:nvPr/>
        </p:nvSpPr>
        <p:spPr>
          <a:xfrm>
            <a:off x="3265159" y="4099177"/>
            <a:ext cx="377597"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5</a:t>
            </a:r>
          </a:p>
        </p:txBody>
      </p:sp>
      <p:sp>
        <p:nvSpPr>
          <p:cNvPr id="36" name="Google Shape;294;p2">
            <a:extLst>
              <a:ext uri="{FF2B5EF4-FFF2-40B4-BE49-F238E27FC236}">
                <a16:creationId xmlns:a16="http://schemas.microsoft.com/office/drawing/2014/main" id="{CF2671DB-5AF7-0C85-8B70-85157CC6FB21}"/>
              </a:ext>
            </a:extLst>
          </p:cNvPr>
          <p:cNvSpPr txBox="1">
            <a:spLocks/>
          </p:cNvSpPr>
          <p:nvPr/>
        </p:nvSpPr>
        <p:spPr>
          <a:xfrm>
            <a:off x="3583212" y="2296996"/>
            <a:ext cx="2311573" cy="316292"/>
          </a:xfrm>
          <a:prstGeom prst="rect">
            <a:avLst/>
          </a:prstGeom>
          <a:no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050" kern="0">
                <a:solidFill>
                  <a:srgbClr val="FFFFFF"/>
                </a:solidFill>
              </a:rPr>
              <a:t>Company Overview</a:t>
            </a:r>
            <a:endParaRPr lang="en-CA" sz="1050" kern="0">
              <a:solidFill>
                <a:srgbClr val="000000"/>
              </a:solidFill>
            </a:endParaRPr>
          </a:p>
        </p:txBody>
      </p:sp>
      <p:sp>
        <p:nvSpPr>
          <p:cNvPr id="38" name="Google Shape;296;p2">
            <a:extLst>
              <a:ext uri="{FF2B5EF4-FFF2-40B4-BE49-F238E27FC236}">
                <a16:creationId xmlns:a16="http://schemas.microsoft.com/office/drawing/2014/main" id="{16617FB7-4C3A-DAF9-0D17-D17A495F8E61}"/>
              </a:ext>
            </a:extLst>
          </p:cNvPr>
          <p:cNvSpPr txBox="1">
            <a:spLocks/>
          </p:cNvSpPr>
          <p:nvPr/>
        </p:nvSpPr>
        <p:spPr>
          <a:xfrm>
            <a:off x="3583212" y="3181354"/>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Investment Thesis</a:t>
            </a:r>
          </a:p>
        </p:txBody>
      </p:sp>
      <p:sp>
        <p:nvSpPr>
          <p:cNvPr id="39" name="Google Shape;297;p2">
            <a:extLst>
              <a:ext uri="{FF2B5EF4-FFF2-40B4-BE49-F238E27FC236}">
                <a16:creationId xmlns:a16="http://schemas.microsoft.com/office/drawing/2014/main" id="{6206F5AB-F41E-171A-3BAE-D697B7D553FD}"/>
              </a:ext>
            </a:extLst>
          </p:cNvPr>
          <p:cNvSpPr txBox="1">
            <a:spLocks/>
          </p:cNvSpPr>
          <p:nvPr/>
        </p:nvSpPr>
        <p:spPr>
          <a:xfrm>
            <a:off x="3583212" y="3640266"/>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Valuation</a:t>
            </a:r>
          </a:p>
        </p:txBody>
      </p:sp>
      <p:sp>
        <p:nvSpPr>
          <p:cNvPr id="40" name="Google Shape;298;p2">
            <a:extLst>
              <a:ext uri="{FF2B5EF4-FFF2-40B4-BE49-F238E27FC236}">
                <a16:creationId xmlns:a16="http://schemas.microsoft.com/office/drawing/2014/main" id="{161C3D2D-BDE3-7B7C-CB18-B945EF99F61B}"/>
              </a:ext>
            </a:extLst>
          </p:cNvPr>
          <p:cNvSpPr txBox="1">
            <a:spLocks/>
          </p:cNvSpPr>
          <p:nvPr/>
        </p:nvSpPr>
        <p:spPr>
          <a:xfrm>
            <a:off x="3583212" y="4099177"/>
            <a:ext cx="2311573"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Catalysts and Risks</a:t>
            </a:r>
          </a:p>
        </p:txBody>
      </p:sp>
      <p:sp>
        <p:nvSpPr>
          <p:cNvPr id="41" name="Google Shape;299;p2">
            <a:extLst>
              <a:ext uri="{FF2B5EF4-FFF2-40B4-BE49-F238E27FC236}">
                <a16:creationId xmlns:a16="http://schemas.microsoft.com/office/drawing/2014/main" id="{E6BE0CC5-6BE6-0D72-C757-18F26E148BC6}"/>
              </a:ext>
            </a:extLst>
          </p:cNvPr>
          <p:cNvSpPr txBox="1">
            <a:spLocks/>
          </p:cNvSpPr>
          <p:nvPr/>
        </p:nvSpPr>
        <p:spPr>
          <a:xfrm>
            <a:off x="3265160" y="4558088"/>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6</a:t>
            </a:r>
          </a:p>
        </p:txBody>
      </p:sp>
      <p:sp>
        <p:nvSpPr>
          <p:cNvPr id="42" name="Google Shape;300;p2">
            <a:extLst>
              <a:ext uri="{FF2B5EF4-FFF2-40B4-BE49-F238E27FC236}">
                <a16:creationId xmlns:a16="http://schemas.microsoft.com/office/drawing/2014/main" id="{35732484-D305-8AA4-0F59-695F60F3B982}"/>
              </a:ext>
            </a:extLst>
          </p:cNvPr>
          <p:cNvSpPr txBox="1">
            <a:spLocks/>
          </p:cNvSpPr>
          <p:nvPr/>
        </p:nvSpPr>
        <p:spPr>
          <a:xfrm>
            <a:off x="3583212" y="4558088"/>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Recommendation</a:t>
            </a:r>
          </a:p>
        </p:txBody>
      </p:sp>
      <p:sp>
        <p:nvSpPr>
          <p:cNvPr id="44" name="Google Shape;291;p2">
            <a:extLst>
              <a:ext uri="{FF2B5EF4-FFF2-40B4-BE49-F238E27FC236}">
                <a16:creationId xmlns:a16="http://schemas.microsoft.com/office/drawing/2014/main" id="{CB77208E-5651-7606-E45F-77D2F4B4D5BC}"/>
              </a:ext>
            </a:extLst>
          </p:cNvPr>
          <p:cNvSpPr txBox="1">
            <a:spLocks/>
          </p:cNvSpPr>
          <p:nvPr/>
        </p:nvSpPr>
        <p:spPr>
          <a:xfrm>
            <a:off x="3249215" y="2739175"/>
            <a:ext cx="320246"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2</a:t>
            </a:r>
          </a:p>
        </p:txBody>
      </p:sp>
      <p:sp>
        <p:nvSpPr>
          <p:cNvPr id="45" name="Google Shape;296;p2">
            <a:extLst>
              <a:ext uri="{FF2B5EF4-FFF2-40B4-BE49-F238E27FC236}">
                <a16:creationId xmlns:a16="http://schemas.microsoft.com/office/drawing/2014/main" id="{F9427E1B-D6C0-48F8-D050-0EB50DEF52EF}"/>
              </a:ext>
            </a:extLst>
          </p:cNvPr>
          <p:cNvSpPr txBox="1">
            <a:spLocks/>
          </p:cNvSpPr>
          <p:nvPr/>
        </p:nvSpPr>
        <p:spPr>
          <a:xfrm>
            <a:off x="3567267" y="2739175"/>
            <a:ext cx="2327517"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Investment</a:t>
            </a:r>
            <a:r>
              <a:rPr lang="en-CA" sz="1050" kern="0">
                <a:solidFill>
                  <a:srgbClr val="000000"/>
                </a:solidFill>
              </a:rPr>
              <a:t> </a:t>
            </a:r>
            <a:r>
              <a:rPr lang="en-CA" sz="1050" kern="0">
                <a:solidFill>
                  <a:schemeClr val="bg1"/>
                </a:solidFill>
              </a:rPr>
              <a:t>Thesis</a:t>
            </a:r>
          </a:p>
        </p:txBody>
      </p:sp>
      <p:cxnSp>
        <p:nvCxnSpPr>
          <p:cNvPr id="6" name="Straight Connector 5">
            <a:extLst>
              <a:ext uri="{FF2B5EF4-FFF2-40B4-BE49-F238E27FC236}">
                <a16:creationId xmlns:a16="http://schemas.microsoft.com/office/drawing/2014/main" id="{7296AFE8-B3D7-B3DA-8D98-C69FD721310E}"/>
              </a:ext>
            </a:extLst>
          </p:cNvPr>
          <p:cNvCxnSpPr/>
          <p:nvPr/>
        </p:nvCxnSpPr>
        <p:spPr>
          <a:xfrm>
            <a:off x="1" y="2191249"/>
            <a:ext cx="1638860" cy="0"/>
          </a:xfrm>
          <a:prstGeom prst="line">
            <a:avLst/>
          </a:prstGeom>
          <a:ln w="19050">
            <a:solidFill>
              <a:srgbClr val="2A90BC"/>
            </a:solidFill>
          </a:ln>
        </p:spPr>
        <p:style>
          <a:lnRef idx="1">
            <a:schemeClr val="accent2"/>
          </a:lnRef>
          <a:fillRef idx="0">
            <a:schemeClr val="accent2"/>
          </a:fillRef>
          <a:effectRef idx="0">
            <a:schemeClr val="accent2"/>
          </a:effectRef>
          <a:fontRef idx="minor">
            <a:schemeClr val="tx1"/>
          </a:fontRef>
        </p:style>
      </p:cxnSp>
      <p:sp>
        <p:nvSpPr>
          <p:cNvPr id="7" name="Title 1">
            <a:extLst>
              <a:ext uri="{FF2B5EF4-FFF2-40B4-BE49-F238E27FC236}">
                <a16:creationId xmlns:a16="http://schemas.microsoft.com/office/drawing/2014/main" id="{394037FB-EE98-F8E9-C1D1-143524D3D948}"/>
              </a:ext>
            </a:extLst>
          </p:cNvPr>
          <p:cNvSpPr>
            <a:spLocks noGrp="1"/>
          </p:cNvSpPr>
          <p:nvPr/>
        </p:nvSpPr>
        <p:spPr>
          <a:xfrm>
            <a:off x="465270" y="1619532"/>
            <a:ext cx="2457450" cy="401648"/>
          </a:xfrm>
          <a:prstGeom prst="rect">
            <a:avLst/>
          </a:prstGeom>
        </p:spPr>
        <p:txBody>
          <a:bodyPr vert="horz"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a:solidFill>
                  <a:srgbClr val="333F44"/>
                </a:solidFill>
              </a:rPr>
              <a:t>Agenda</a:t>
            </a:r>
          </a:p>
        </p:txBody>
      </p:sp>
      <p:pic>
        <p:nvPicPr>
          <p:cNvPr id="2" name="Picture 6">
            <a:extLst>
              <a:ext uri="{FF2B5EF4-FFF2-40B4-BE49-F238E27FC236}">
                <a16:creationId xmlns:a16="http://schemas.microsoft.com/office/drawing/2014/main" id="{D2355624-DFB6-938F-837B-ABC515D294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5159" y="1534720"/>
            <a:ext cx="2457450" cy="571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927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9DB5AE6F-DBEE-3268-5BB6-DC44C6C0D91E}"/>
              </a:ext>
            </a:extLst>
          </p:cNvPr>
          <p:cNvSpPr>
            <a:spLocks noGrp="1"/>
          </p:cNvSpPr>
          <p:nvPr/>
        </p:nvSpPr>
        <p:spPr>
          <a:xfrm>
            <a:off x="0" y="396096"/>
            <a:ext cx="4114261"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dirty="0">
                <a:solidFill>
                  <a:srgbClr val="333F44"/>
                </a:solidFill>
              </a:rPr>
              <a:t>Risk Considerations</a:t>
            </a:r>
          </a:p>
        </p:txBody>
      </p:sp>
      <p:sp>
        <p:nvSpPr>
          <p:cNvPr id="2" name="Google Shape;1085;p5">
            <a:extLst>
              <a:ext uri="{FF2B5EF4-FFF2-40B4-BE49-F238E27FC236}">
                <a16:creationId xmlns:a16="http://schemas.microsoft.com/office/drawing/2014/main" id="{AAC0E899-EF47-3B99-CA5B-B2C87C7CCEDF}"/>
              </a:ext>
            </a:extLst>
          </p:cNvPr>
          <p:cNvSpPr/>
          <p:nvPr/>
        </p:nvSpPr>
        <p:spPr>
          <a:xfrm>
            <a:off x="572621" y="5810246"/>
            <a:ext cx="7998758" cy="221819"/>
          </a:xfrm>
          <a:prstGeom prst="rect">
            <a:avLst/>
          </a:prstGeom>
          <a:solidFill>
            <a:srgbClr val="333F4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CA" sz="1200" b="1" i="0" u="none" strike="noStrike" cap="none" dirty="0">
                <a:solidFill>
                  <a:schemeClr val="bg1"/>
                </a:solidFill>
                <a:latin typeface="Arial"/>
                <a:ea typeface="Arial"/>
                <a:cs typeface="Arial"/>
                <a:sym typeface="Arial"/>
              </a:rPr>
              <a:t>Low		 		Probability		         		   High</a:t>
            </a:r>
            <a:endParaRPr sz="1400" b="0" i="0" u="none" strike="noStrike" cap="none" dirty="0">
              <a:solidFill>
                <a:schemeClr val="bg1"/>
              </a:solidFill>
              <a:latin typeface="Arial"/>
              <a:ea typeface="Arial"/>
              <a:cs typeface="Arial"/>
              <a:sym typeface="Arial"/>
            </a:endParaRPr>
          </a:p>
        </p:txBody>
      </p:sp>
      <p:cxnSp>
        <p:nvCxnSpPr>
          <p:cNvPr id="3" name="Google Shape;1091;p5">
            <a:extLst>
              <a:ext uri="{FF2B5EF4-FFF2-40B4-BE49-F238E27FC236}">
                <a16:creationId xmlns:a16="http://schemas.microsoft.com/office/drawing/2014/main" id="{A3B30088-401C-B54B-9221-19DDE443BA33}"/>
              </a:ext>
            </a:extLst>
          </p:cNvPr>
          <p:cNvCxnSpPr>
            <a:cxnSpLocks/>
          </p:cNvCxnSpPr>
          <p:nvPr/>
        </p:nvCxnSpPr>
        <p:spPr>
          <a:xfrm rot="10800000">
            <a:off x="572621" y="5810246"/>
            <a:ext cx="7998758" cy="0"/>
          </a:xfrm>
          <a:prstGeom prst="straightConnector1">
            <a:avLst/>
          </a:prstGeom>
          <a:noFill/>
          <a:ln w="9525" cap="flat" cmpd="sng">
            <a:solidFill>
              <a:schemeClr val="dk1"/>
            </a:solidFill>
            <a:prstDash val="solid"/>
            <a:miter lim="800000"/>
            <a:headEnd type="none" w="sm" len="sm"/>
            <a:tailEnd type="none" w="sm" len="sm"/>
          </a:ln>
        </p:spPr>
      </p:cxnSp>
      <p:sp>
        <p:nvSpPr>
          <p:cNvPr id="4" name="Google Shape;1092;p5">
            <a:extLst>
              <a:ext uri="{FF2B5EF4-FFF2-40B4-BE49-F238E27FC236}">
                <a16:creationId xmlns:a16="http://schemas.microsoft.com/office/drawing/2014/main" id="{CF671FC2-2042-A5E0-7308-67E3CD96D4A8}"/>
              </a:ext>
            </a:extLst>
          </p:cNvPr>
          <p:cNvSpPr/>
          <p:nvPr/>
        </p:nvSpPr>
        <p:spPr>
          <a:xfrm rot="-5400000">
            <a:off x="-1801855" y="3435771"/>
            <a:ext cx="4526280" cy="222671"/>
          </a:xfrm>
          <a:prstGeom prst="rect">
            <a:avLst/>
          </a:prstGeom>
          <a:solidFill>
            <a:srgbClr val="333F4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CA" sz="1200" b="1" i="0" u="none" strike="noStrike" cap="none" dirty="0">
                <a:solidFill>
                  <a:schemeClr val="bg1"/>
                </a:solidFill>
                <a:latin typeface="Arial"/>
                <a:ea typeface="Arial"/>
                <a:cs typeface="Arial"/>
                <a:sym typeface="Arial"/>
              </a:rPr>
              <a:t> Low		  Impact      		        High</a:t>
            </a:r>
            <a:endParaRPr sz="1400" b="0" i="0" u="none" strike="noStrike" cap="none" dirty="0">
              <a:solidFill>
                <a:schemeClr val="bg1"/>
              </a:solidFill>
              <a:latin typeface="Arial"/>
              <a:ea typeface="Arial"/>
              <a:cs typeface="Arial"/>
              <a:sym typeface="Arial"/>
            </a:endParaRPr>
          </a:p>
        </p:txBody>
      </p:sp>
      <p:sp>
        <p:nvSpPr>
          <p:cNvPr id="5" name="Google Shape;1093;p5">
            <a:extLst>
              <a:ext uri="{FF2B5EF4-FFF2-40B4-BE49-F238E27FC236}">
                <a16:creationId xmlns:a16="http://schemas.microsoft.com/office/drawing/2014/main" id="{9B4508F4-E564-822B-4CE9-8B19E4F5E957}"/>
              </a:ext>
            </a:extLst>
          </p:cNvPr>
          <p:cNvSpPr/>
          <p:nvPr/>
        </p:nvSpPr>
        <p:spPr>
          <a:xfrm rot="-5400000">
            <a:off x="349685" y="5809130"/>
            <a:ext cx="223200" cy="222671"/>
          </a:xfrm>
          <a:prstGeom prst="rect">
            <a:avLst/>
          </a:prstGeom>
          <a:solidFill>
            <a:srgbClr val="D8D8D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Arial"/>
              <a:ea typeface="Arial"/>
              <a:cs typeface="Arial"/>
              <a:sym typeface="Arial"/>
            </a:endParaRPr>
          </a:p>
        </p:txBody>
      </p:sp>
      <p:cxnSp>
        <p:nvCxnSpPr>
          <p:cNvPr id="6" name="Google Shape;1094;p5">
            <a:extLst>
              <a:ext uri="{FF2B5EF4-FFF2-40B4-BE49-F238E27FC236}">
                <a16:creationId xmlns:a16="http://schemas.microsoft.com/office/drawing/2014/main" id="{B08C93E7-5B2D-15E5-4E56-799301D98347}"/>
              </a:ext>
            </a:extLst>
          </p:cNvPr>
          <p:cNvCxnSpPr>
            <a:cxnSpLocks/>
          </p:cNvCxnSpPr>
          <p:nvPr/>
        </p:nvCxnSpPr>
        <p:spPr>
          <a:xfrm flipH="1">
            <a:off x="349949" y="5808864"/>
            <a:ext cx="222671" cy="223201"/>
          </a:xfrm>
          <a:prstGeom prst="straightConnector1">
            <a:avLst/>
          </a:prstGeom>
          <a:noFill/>
          <a:ln w="9525" cap="flat" cmpd="sng">
            <a:solidFill>
              <a:srgbClr val="BFBFBF"/>
            </a:solidFill>
            <a:prstDash val="solid"/>
            <a:miter lim="800000"/>
            <a:headEnd type="none" w="sm" len="sm"/>
            <a:tailEnd type="none" w="sm" len="sm"/>
          </a:ln>
        </p:spPr>
      </p:cxnSp>
      <p:sp>
        <p:nvSpPr>
          <p:cNvPr id="12" name="Google Shape;1100;p5">
            <a:extLst>
              <a:ext uri="{FF2B5EF4-FFF2-40B4-BE49-F238E27FC236}">
                <a16:creationId xmlns:a16="http://schemas.microsoft.com/office/drawing/2014/main" id="{6836E77E-65E6-B417-67A8-A1406B1FEAF7}"/>
              </a:ext>
            </a:extLst>
          </p:cNvPr>
          <p:cNvSpPr txBox="1"/>
          <p:nvPr/>
        </p:nvSpPr>
        <p:spPr>
          <a:xfrm>
            <a:off x="983242" y="4636339"/>
            <a:ext cx="3586325" cy="830956"/>
          </a:xfrm>
          <a:prstGeom prst="rect">
            <a:avLst/>
          </a:prstGeom>
          <a:ln>
            <a:solidFill>
              <a:srgbClr val="FFC000"/>
            </a:solidFill>
            <a:headEnd type="none" w="sm" len="sm"/>
            <a:tailEnd type="none" w="sm" len="sm"/>
          </a:ln>
        </p:spPr>
        <p:style>
          <a:lnRef idx="1">
            <a:schemeClr val="accent3"/>
          </a:lnRef>
          <a:fillRef idx="2">
            <a:schemeClr val="accent3"/>
          </a:fillRef>
          <a:effectRef idx="1">
            <a:schemeClr val="accent3"/>
          </a:effectRef>
          <a:fontRef idx="minor">
            <a:schemeClr val="dk1"/>
          </a:fontRef>
        </p:style>
        <p:txBody>
          <a:bodyPr spcFirstLastPara="1" wrap="square" lIns="91425" tIns="45700" rIns="91425" bIns="45700" anchor="t" anchorCtr="0">
            <a:spAutoFit/>
          </a:bodyPr>
          <a:lstStyle>
            <a:defPPr>
              <a:defRPr lang="en-US"/>
            </a:defPPr>
            <a:lvl1pPr marL="0" marR="0" lvl="0" indent="0">
              <a:lnSpc>
                <a:spcPct val="100000"/>
              </a:lnSpc>
              <a:spcBef>
                <a:spcPts val="0"/>
              </a:spcBef>
              <a:spcAft>
                <a:spcPts val="0"/>
              </a:spcAft>
              <a:buClr>
                <a:srgbClr val="000000"/>
              </a:buClr>
              <a:buSzPts val="1200"/>
              <a:buFont typeface="Arial"/>
              <a:buNone/>
              <a:defRPr sz="1200" b="1" i="0" u="none" strike="noStrike" cap="none">
                <a:solidFill>
                  <a:schemeClr val="dk1"/>
                </a:solidFill>
                <a:latin typeface="Arial"/>
                <a:ea typeface="Arial"/>
                <a:cs typeface="Arial"/>
              </a:defRPr>
            </a:lvl1pPr>
            <a:lvl2pPr>
              <a:defRPr>
                <a:solidFill>
                  <a:schemeClr val="dk1"/>
                </a:solidFill>
                <a:latin typeface="+mn-lt"/>
              </a:defRPr>
            </a:lvl2pPr>
            <a:lvl3pPr>
              <a:defRPr>
                <a:solidFill>
                  <a:schemeClr val="dk1"/>
                </a:solidFill>
                <a:latin typeface="+mn-lt"/>
              </a:defRPr>
            </a:lvl3pPr>
            <a:lvl4pPr>
              <a:defRPr>
                <a:solidFill>
                  <a:schemeClr val="dk1"/>
                </a:solidFill>
                <a:latin typeface="+mn-lt"/>
              </a:defRPr>
            </a:lvl4pPr>
            <a:lvl5pPr>
              <a:defRPr>
                <a:solidFill>
                  <a:schemeClr val="dk1"/>
                </a:solidFill>
                <a:latin typeface="+mn-lt"/>
              </a:defRPr>
            </a:lvl5pPr>
            <a:lvl6pPr>
              <a:defRPr>
                <a:solidFill>
                  <a:schemeClr val="dk1"/>
                </a:solidFill>
                <a:latin typeface="+mn-lt"/>
              </a:defRPr>
            </a:lvl6pPr>
            <a:lvl7pPr>
              <a:defRPr>
                <a:solidFill>
                  <a:schemeClr val="dk1"/>
                </a:solidFill>
                <a:latin typeface="+mn-lt"/>
              </a:defRPr>
            </a:lvl7pPr>
            <a:lvl8pPr>
              <a:defRPr>
                <a:solidFill>
                  <a:schemeClr val="dk1"/>
                </a:solidFill>
                <a:latin typeface="+mn-lt"/>
              </a:defRPr>
            </a:lvl8pPr>
            <a:lvl9pPr>
              <a:defRPr>
                <a:solidFill>
                  <a:schemeClr val="dk1"/>
                </a:solidFill>
                <a:latin typeface="+mn-lt"/>
              </a:defRPr>
            </a:lvl9pPr>
          </a:lstStyle>
          <a:p>
            <a:r>
              <a:rPr lang="en-US" dirty="0">
                <a:sym typeface="Arial"/>
              </a:rPr>
              <a:t>Changes in levels of U.S. government defense spending or acquisition priorities, as well as </a:t>
            </a:r>
          </a:p>
          <a:p>
            <a:r>
              <a:rPr lang="en-US" dirty="0">
                <a:sym typeface="Arial"/>
              </a:rPr>
              <a:t>significant delays in U.S. government appropriations</a:t>
            </a:r>
          </a:p>
        </p:txBody>
      </p:sp>
      <p:sp>
        <p:nvSpPr>
          <p:cNvPr id="13" name="Google Shape;1101;p5">
            <a:extLst>
              <a:ext uri="{FF2B5EF4-FFF2-40B4-BE49-F238E27FC236}">
                <a16:creationId xmlns:a16="http://schemas.microsoft.com/office/drawing/2014/main" id="{34353DFE-7E9E-194C-FCBF-92F623FDE37D}"/>
              </a:ext>
            </a:extLst>
          </p:cNvPr>
          <p:cNvSpPr txBox="1"/>
          <p:nvPr/>
        </p:nvSpPr>
        <p:spPr>
          <a:xfrm>
            <a:off x="1965953" y="1833049"/>
            <a:ext cx="2148308" cy="461624"/>
          </a:xfrm>
          <a:prstGeom prst="rect">
            <a:avLst/>
          </a:prstGeom>
          <a:solidFill>
            <a:schemeClr val="accent2">
              <a:lumMod val="40000"/>
              <a:lumOff val="60000"/>
            </a:schemeClr>
          </a:solidFill>
          <a:ln w="9525"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IN" sz="1200" b="1" i="0" u="none" strike="noStrike" cap="none" dirty="0">
                <a:solidFill>
                  <a:schemeClr val="dk1"/>
                </a:solidFill>
                <a:latin typeface="Arial"/>
                <a:ea typeface="Arial"/>
                <a:cs typeface="Arial"/>
                <a:sym typeface="Arial"/>
              </a:rPr>
              <a:t>Heavy Dependence on Commercial Airlines</a:t>
            </a:r>
            <a:endParaRPr sz="1400" b="0" i="0" u="none" strike="noStrike" cap="none" dirty="0">
              <a:solidFill>
                <a:srgbClr val="000000"/>
              </a:solidFill>
              <a:latin typeface="Arial"/>
              <a:ea typeface="Arial"/>
              <a:cs typeface="Arial"/>
              <a:sym typeface="Arial"/>
            </a:endParaRPr>
          </a:p>
        </p:txBody>
      </p:sp>
      <p:sp>
        <p:nvSpPr>
          <p:cNvPr id="14" name="Google Shape;1102;p5">
            <a:extLst>
              <a:ext uri="{FF2B5EF4-FFF2-40B4-BE49-F238E27FC236}">
                <a16:creationId xmlns:a16="http://schemas.microsoft.com/office/drawing/2014/main" id="{8A132881-3FCE-8F62-DA87-1755673A38A3}"/>
              </a:ext>
            </a:extLst>
          </p:cNvPr>
          <p:cNvSpPr txBox="1"/>
          <p:nvPr/>
        </p:nvSpPr>
        <p:spPr>
          <a:xfrm>
            <a:off x="1636283" y="3079015"/>
            <a:ext cx="3107709" cy="830956"/>
          </a:xfrm>
          <a:prstGeom prst="rect">
            <a:avLst/>
          </a:prstGeom>
          <a:solidFill>
            <a:srgbClr val="FEF7F3"/>
          </a:solidFill>
          <a:ln w="9525"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defPPr>
              <a:defRPr lang="en-US"/>
            </a:defPPr>
            <a:lvl1pPr marL="0" marR="0" lvl="0" indent="0">
              <a:lnSpc>
                <a:spcPct val="100000"/>
              </a:lnSpc>
              <a:spcBef>
                <a:spcPts val="0"/>
              </a:spcBef>
              <a:spcAft>
                <a:spcPts val="0"/>
              </a:spcAft>
              <a:buClr>
                <a:srgbClr val="000000"/>
              </a:buClr>
              <a:buSzPts val="1200"/>
              <a:buFont typeface="Arial"/>
              <a:buNone/>
              <a:defRPr sz="1200" b="1" i="0" u="none" strike="noStrike" cap="none">
                <a:solidFill>
                  <a:schemeClr val="tx1"/>
                </a:solidFill>
                <a:latin typeface="Arial"/>
                <a:ea typeface="Arial"/>
                <a:cs typeface="Arial"/>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a:defRPr>
                <a:solidFill>
                  <a:schemeClr val="tx1"/>
                </a:solidFill>
                <a:latin typeface="Arial" charset="0"/>
              </a:defRPr>
            </a:lvl6pPr>
            <a:lvl7pPr>
              <a:defRPr>
                <a:solidFill>
                  <a:schemeClr val="tx1"/>
                </a:solidFill>
                <a:latin typeface="Arial" charset="0"/>
              </a:defRPr>
            </a:lvl7pPr>
            <a:lvl8pPr>
              <a:defRPr>
                <a:solidFill>
                  <a:schemeClr val="tx1"/>
                </a:solidFill>
                <a:latin typeface="Arial" charset="0"/>
              </a:defRPr>
            </a:lvl8pPr>
            <a:lvl9pPr>
              <a:defRPr>
                <a:solidFill>
                  <a:schemeClr val="tx1"/>
                </a:solidFill>
                <a:latin typeface="Arial" charset="0"/>
              </a:defRPr>
            </a:lvl9pPr>
          </a:lstStyle>
          <a:p>
            <a:r>
              <a:rPr lang="en-IN" dirty="0">
                <a:sym typeface="Arial"/>
              </a:rPr>
              <a:t>Dependence on performance and stability of Subcontractors, suppliers, as well as availability of skilled labour, raw materials and other components</a:t>
            </a:r>
            <a:endParaRPr dirty="0">
              <a:sym typeface="Arial"/>
            </a:endParaRPr>
          </a:p>
        </p:txBody>
      </p:sp>
      <p:sp>
        <p:nvSpPr>
          <p:cNvPr id="18" name="Google Shape;1105;p5">
            <a:extLst>
              <a:ext uri="{FF2B5EF4-FFF2-40B4-BE49-F238E27FC236}">
                <a16:creationId xmlns:a16="http://schemas.microsoft.com/office/drawing/2014/main" id="{DA2763BE-6F7C-27CF-4B36-8864DC63B87D}"/>
              </a:ext>
            </a:extLst>
          </p:cNvPr>
          <p:cNvSpPr txBox="1"/>
          <p:nvPr/>
        </p:nvSpPr>
        <p:spPr>
          <a:xfrm>
            <a:off x="6046687" y="4629297"/>
            <a:ext cx="2112299" cy="461624"/>
          </a:xfrm>
          <a:prstGeom prst="rect">
            <a:avLst/>
          </a:prstGeom>
          <a:ln>
            <a:solidFill>
              <a:srgbClr val="FFC000"/>
            </a:solidFill>
            <a:headEnd type="none" w="sm" len="sm"/>
            <a:tailEnd type="none" w="sm" len="sm"/>
          </a:ln>
        </p:spPr>
        <p:style>
          <a:lnRef idx="1">
            <a:schemeClr val="accent3"/>
          </a:lnRef>
          <a:fillRef idx="2">
            <a:schemeClr val="accent3"/>
          </a:fillRef>
          <a:effectRef idx="1">
            <a:schemeClr val="accent3"/>
          </a:effectRef>
          <a:fontRef idx="minor">
            <a:schemeClr val="dk1"/>
          </a:fontRef>
        </p:style>
        <p:txBody>
          <a:bodyPr spcFirstLastPara="1" wrap="square" lIns="91425" tIns="45700" rIns="91425" bIns="45700" anchor="t" anchorCtr="0">
            <a:spAutoFit/>
          </a:bodyPr>
          <a:lstStyle>
            <a:defPPr>
              <a:defRPr lang="en-US"/>
            </a:defPPr>
            <a:lvl1pPr marL="0" marR="0" lvl="0" indent="0">
              <a:lnSpc>
                <a:spcPct val="100000"/>
              </a:lnSpc>
              <a:spcBef>
                <a:spcPts val="0"/>
              </a:spcBef>
              <a:spcAft>
                <a:spcPts val="0"/>
              </a:spcAft>
              <a:buClr>
                <a:srgbClr val="000000"/>
              </a:buClr>
              <a:buSzPts val="1200"/>
              <a:buFont typeface="Arial"/>
              <a:buNone/>
              <a:defRPr sz="1200" b="1" i="0" u="none" strike="noStrike" cap="none">
                <a:solidFill>
                  <a:schemeClr val="dk1"/>
                </a:solidFill>
                <a:latin typeface="Arial"/>
                <a:ea typeface="Arial"/>
                <a:cs typeface="Arial"/>
              </a:defRPr>
            </a:lvl1pPr>
            <a:lvl2pPr>
              <a:defRPr>
                <a:solidFill>
                  <a:schemeClr val="dk1"/>
                </a:solidFill>
                <a:latin typeface="+mn-lt"/>
              </a:defRPr>
            </a:lvl2pPr>
            <a:lvl3pPr>
              <a:defRPr>
                <a:solidFill>
                  <a:schemeClr val="dk1"/>
                </a:solidFill>
                <a:latin typeface="+mn-lt"/>
              </a:defRPr>
            </a:lvl3pPr>
            <a:lvl4pPr>
              <a:defRPr>
                <a:solidFill>
                  <a:schemeClr val="dk1"/>
                </a:solidFill>
                <a:latin typeface="+mn-lt"/>
              </a:defRPr>
            </a:lvl4pPr>
            <a:lvl5pPr>
              <a:defRPr>
                <a:solidFill>
                  <a:schemeClr val="dk1"/>
                </a:solidFill>
                <a:latin typeface="+mn-lt"/>
              </a:defRPr>
            </a:lvl5pPr>
            <a:lvl6pPr>
              <a:defRPr>
                <a:solidFill>
                  <a:schemeClr val="dk1"/>
                </a:solidFill>
                <a:latin typeface="+mn-lt"/>
              </a:defRPr>
            </a:lvl6pPr>
            <a:lvl7pPr>
              <a:defRPr>
                <a:solidFill>
                  <a:schemeClr val="dk1"/>
                </a:solidFill>
                <a:latin typeface="+mn-lt"/>
              </a:defRPr>
            </a:lvl7pPr>
            <a:lvl8pPr>
              <a:defRPr>
                <a:solidFill>
                  <a:schemeClr val="dk1"/>
                </a:solidFill>
                <a:latin typeface="+mn-lt"/>
              </a:defRPr>
            </a:lvl8pPr>
            <a:lvl9pPr>
              <a:defRPr>
                <a:solidFill>
                  <a:schemeClr val="dk1"/>
                </a:solidFill>
                <a:latin typeface="+mn-lt"/>
              </a:defRPr>
            </a:lvl9pPr>
          </a:lstStyle>
          <a:p>
            <a:r>
              <a:rPr lang="en-IN" dirty="0">
                <a:sym typeface="Arial"/>
              </a:rPr>
              <a:t>Political Instability, Inter-Governmental Tensions</a:t>
            </a:r>
            <a:endParaRPr dirty="0">
              <a:sym typeface="Arial"/>
            </a:endParaRPr>
          </a:p>
        </p:txBody>
      </p:sp>
      <p:sp>
        <p:nvSpPr>
          <p:cNvPr id="20" name="Google Shape;1107;p5">
            <a:extLst>
              <a:ext uri="{FF2B5EF4-FFF2-40B4-BE49-F238E27FC236}">
                <a16:creationId xmlns:a16="http://schemas.microsoft.com/office/drawing/2014/main" id="{411C9ACA-9839-A189-2314-B078A2349F83}"/>
              </a:ext>
            </a:extLst>
          </p:cNvPr>
          <p:cNvSpPr txBox="1"/>
          <p:nvPr/>
        </p:nvSpPr>
        <p:spPr>
          <a:xfrm>
            <a:off x="5303441" y="3177093"/>
            <a:ext cx="2469031" cy="461624"/>
          </a:xfrm>
          <a:prstGeom prst="rect">
            <a:avLst/>
          </a:prstGeom>
          <a:solidFill>
            <a:srgbClr val="FEF7F3"/>
          </a:solidFill>
          <a:ln w="9525"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defPPr>
              <a:defRPr lang="en-US"/>
            </a:defPPr>
            <a:lvl1pPr marL="0" marR="0" lvl="0" indent="0">
              <a:lnSpc>
                <a:spcPct val="100000"/>
              </a:lnSpc>
              <a:spcBef>
                <a:spcPts val="0"/>
              </a:spcBef>
              <a:spcAft>
                <a:spcPts val="0"/>
              </a:spcAft>
              <a:buClr>
                <a:srgbClr val="000000"/>
              </a:buClr>
              <a:buSzPts val="1200"/>
              <a:buFont typeface="Arial"/>
              <a:buNone/>
              <a:defRPr sz="1200" b="1" i="0" u="none" strike="noStrike" cap="none">
                <a:latin typeface="Arial"/>
                <a:ea typeface="Arial"/>
                <a:cs typeface="Arial"/>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a:defRPr>
                <a:solidFill>
                  <a:schemeClr val="tx1"/>
                </a:solidFill>
                <a:latin typeface="Arial" charset="0"/>
              </a:defRPr>
            </a:lvl6pPr>
            <a:lvl7pPr>
              <a:defRPr>
                <a:solidFill>
                  <a:schemeClr val="tx1"/>
                </a:solidFill>
                <a:latin typeface="Arial" charset="0"/>
              </a:defRPr>
            </a:lvl7pPr>
            <a:lvl8pPr>
              <a:defRPr>
                <a:solidFill>
                  <a:schemeClr val="tx1"/>
                </a:solidFill>
                <a:latin typeface="Arial" charset="0"/>
              </a:defRPr>
            </a:lvl8pPr>
            <a:lvl9pPr>
              <a:defRPr>
                <a:solidFill>
                  <a:schemeClr val="tx1"/>
                </a:solidFill>
                <a:latin typeface="Arial" charset="0"/>
              </a:defRPr>
            </a:lvl9pPr>
          </a:lstStyle>
          <a:p>
            <a:r>
              <a:rPr lang="en-IN" dirty="0">
                <a:sym typeface="Arial"/>
              </a:rPr>
              <a:t>Risks of doing business in other countries</a:t>
            </a:r>
            <a:endParaRPr dirty="0">
              <a:sym typeface="Arial"/>
            </a:endParaRPr>
          </a:p>
        </p:txBody>
      </p:sp>
      <p:sp>
        <p:nvSpPr>
          <p:cNvPr id="23" name="Google Shape;1105;p5">
            <a:extLst>
              <a:ext uri="{FF2B5EF4-FFF2-40B4-BE49-F238E27FC236}">
                <a16:creationId xmlns:a16="http://schemas.microsoft.com/office/drawing/2014/main" id="{70FC4F3D-9D61-826E-5278-1AEFCCB4CACF}"/>
              </a:ext>
            </a:extLst>
          </p:cNvPr>
          <p:cNvSpPr txBox="1"/>
          <p:nvPr/>
        </p:nvSpPr>
        <p:spPr>
          <a:xfrm>
            <a:off x="5589741" y="1371425"/>
            <a:ext cx="2351331" cy="461624"/>
          </a:xfrm>
          <a:prstGeom prst="rect">
            <a:avLst/>
          </a:prstGeom>
          <a:solidFill>
            <a:schemeClr val="accent2">
              <a:lumMod val="40000"/>
              <a:lumOff val="60000"/>
            </a:schemeClr>
          </a:solidFill>
          <a:ln w="9525" cap="flat" cmpd="sng">
            <a:solidFill>
              <a:srgbClr val="FFC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IN" sz="1200" b="1" dirty="0">
                <a:solidFill>
                  <a:srgbClr val="000000"/>
                </a:solidFill>
                <a:latin typeface="Arial"/>
                <a:ea typeface="Arial"/>
                <a:cs typeface="Arial"/>
                <a:sym typeface="Arial"/>
              </a:rPr>
              <a:t>Unforeseen Worldwide Events/ Global Pandemics</a:t>
            </a:r>
            <a:endParaRPr sz="900" b="0" i="0" u="none" strike="noStrike" cap="none" dirty="0">
              <a:solidFill>
                <a:srgbClr val="000000"/>
              </a:solidFill>
              <a:latin typeface="Arial"/>
              <a:ea typeface="Arial"/>
              <a:cs typeface="Arial"/>
              <a:sym typeface="Arial"/>
            </a:endParaRPr>
          </a:p>
        </p:txBody>
      </p:sp>
      <p:sp>
        <p:nvSpPr>
          <p:cNvPr id="24" name="Google Shape;1101;p5">
            <a:extLst>
              <a:ext uri="{FF2B5EF4-FFF2-40B4-BE49-F238E27FC236}">
                <a16:creationId xmlns:a16="http://schemas.microsoft.com/office/drawing/2014/main" id="{C07AF43A-44FA-66B8-4A58-FF41B6D283E3}"/>
              </a:ext>
            </a:extLst>
          </p:cNvPr>
          <p:cNvSpPr txBox="1"/>
          <p:nvPr/>
        </p:nvSpPr>
        <p:spPr>
          <a:xfrm>
            <a:off x="5807655" y="2124995"/>
            <a:ext cx="2351331" cy="461624"/>
          </a:xfrm>
          <a:prstGeom prst="rect">
            <a:avLst/>
          </a:prstGeom>
          <a:solidFill>
            <a:schemeClr val="accent2">
              <a:lumMod val="40000"/>
              <a:lumOff val="60000"/>
            </a:schemeClr>
          </a:solidFill>
          <a:ln w="9525" cap="flat" cmpd="sng">
            <a:solidFill>
              <a:srgbClr val="FFC000"/>
            </a:solidFill>
            <a:prstDash val="solid"/>
            <a:round/>
            <a:headEnd type="none" w="sm" len="sm"/>
            <a:tailEnd type="none" w="sm" len="sm"/>
          </a:ln>
        </p:spPr>
        <p:txBody>
          <a:bodyPr spcFirstLastPara="1" wrap="square" lIns="91425" tIns="45700" rIns="91425" bIns="45700" anchor="t" anchorCtr="0">
            <a:spAutoFit/>
          </a:bodyPr>
          <a:lstStyle>
            <a:defPPr>
              <a:defRPr lang="en-US"/>
            </a:defPPr>
            <a:lvl1pPr marL="0" marR="0" lvl="0" indent="0">
              <a:lnSpc>
                <a:spcPct val="100000"/>
              </a:lnSpc>
              <a:spcBef>
                <a:spcPts val="0"/>
              </a:spcBef>
              <a:spcAft>
                <a:spcPts val="0"/>
              </a:spcAft>
              <a:buClr>
                <a:srgbClr val="000000"/>
              </a:buClr>
              <a:buSzPts val="1200"/>
              <a:buFont typeface="Arial"/>
              <a:buNone/>
              <a:defRPr sz="1200" b="1">
                <a:solidFill>
                  <a:srgbClr val="000000"/>
                </a:solidFill>
                <a:latin typeface="Arial"/>
                <a:ea typeface="Arial"/>
                <a:cs typeface="Arial"/>
              </a:defRPr>
            </a:lvl1pPr>
          </a:lstStyle>
          <a:p>
            <a:r>
              <a:rPr lang="en-IN" dirty="0">
                <a:sym typeface="Arial"/>
              </a:rPr>
              <a:t>Negative perception in face of unsafe and flawed design</a:t>
            </a:r>
            <a:endParaRPr dirty="0">
              <a:sym typeface="Arial"/>
            </a:endParaRPr>
          </a:p>
        </p:txBody>
      </p:sp>
      <p:sp>
        <p:nvSpPr>
          <p:cNvPr id="25" name="Rectangle 24">
            <a:extLst>
              <a:ext uri="{FF2B5EF4-FFF2-40B4-BE49-F238E27FC236}">
                <a16:creationId xmlns:a16="http://schemas.microsoft.com/office/drawing/2014/main" id="{3D97F5BF-31E2-0351-DBFC-AEBC17ECA58C}"/>
              </a:ext>
            </a:extLst>
          </p:cNvPr>
          <p:cNvSpPr/>
          <p:nvPr/>
        </p:nvSpPr>
        <p:spPr>
          <a:xfrm>
            <a:off x="1444336" y="1143001"/>
            <a:ext cx="236404" cy="136194"/>
          </a:xfrm>
          <a:prstGeom prst="rect">
            <a:avLst/>
          </a:prstGeom>
          <a:solidFill>
            <a:schemeClr val="accent2">
              <a:lumMod val="40000"/>
              <a:lumOff val="60000"/>
            </a:schemeClr>
          </a:solidFill>
          <a:ln w="9525"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a:spcBef>
                <a:spcPts val="0"/>
              </a:spcBef>
              <a:spcAft>
                <a:spcPts val="0"/>
              </a:spcAft>
              <a:buClr>
                <a:srgbClr val="000000"/>
              </a:buClr>
              <a:buSzPts val="1200"/>
            </a:pPr>
            <a:endParaRPr lang="en-IN" sz="1200" b="1" dirty="0">
              <a:solidFill>
                <a:schemeClr val="dk1"/>
              </a:solidFill>
              <a:latin typeface="Arial"/>
              <a:cs typeface="Arial"/>
            </a:endParaRPr>
          </a:p>
        </p:txBody>
      </p:sp>
      <p:sp>
        <p:nvSpPr>
          <p:cNvPr id="26" name="TextBox 25">
            <a:extLst>
              <a:ext uri="{FF2B5EF4-FFF2-40B4-BE49-F238E27FC236}">
                <a16:creationId xmlns:a16="http://schemas.microsoft.com/office/drawing/2014/main" id="{03CBF8B3-06C4-FCFE-2CEF-1595BA25916E}"/>
              </a:ext>
            </a:extLst>
          </p:cNvPr>
          <p:cNvSpPr txBox="1"/>
          <p:nvPr/>
        </p:nvSpPr>
        <p:spPr>
          <a:xfrm>
            <a:off x="1680740" y="1111154"/>
            <a:ext cx="732893" cy="246221"/>
          </a:xfrm>
          <a:prstGeom prst="rect">
            <a:avLst/>
          </a:prstGeom>
          <a:noFill/>
        </p:spPr>
        <p:txBody>
          <a:bodyPr wrap="none" rtlCol="0">
            <a:spAutoFit/>
          </a:bodyPr>
          <a:lstStyle/>
          <a:p>
            <a:r>
              <a:rPr lang="en-IN" sz="1000" dirty="0"/>
              <a:t>High Risk</a:t>
            </a:r>
          </a:p>
        </p:txBody>
      </p:sp>
      <p:sp>
        <p:nvSpPr>
          <p:cNvPr id="27" name="Rectangle 26">
            <a:extLst>
              <a:ext uri="{FF2B5EF4-FFF2-40B4-BE49-F238E27FC236}">
                <a16:creationId xmlns:a16="http://schemas.microsoft.com/office/drawing/2014/main" id="{82F9C139-D7B1-11B4-7E0B-452BD686ED80}"/>
              </a:ext>
            </a:extLst>
          </p:cNvPr>
          <p:cNvSpPr/>
          <p:nvPr/>
        </p:nvSpPr>
        <p:spPr>
          <a:xfrm>
            <a:off x="3734923" y="1161993"/>
            <a:ext cx="196154" cy="138756"/>
          </a:xfrm>
          <a:prstGeom prst="rect">
            <a:avLst/>
          </a:prstGeom>
          <a:ln>
            <a:solidFill>
              <a:srgbClr val="FFC000"/>
            </a:solidFill>
            <a:headEnd type="none" w="sm" len="sm"/>
            <a:tailEnd type="none" w="sm" len="sm"/>
          </a:ln>
        </p:spPr>
        <p:style>
          <a:lnRef idx="1">
            <a:schemeClr val="accent3"/>
          </a:lnRef>
          <a:fillRef idx="2">
            <a:schemeClr val="accent3"/>
          </a:fillRef>
          <a:effectRef idx="1">
            <a:schemeClr val="accent3"/>
          </a:effectRef>
          <a:fontRef idx="minor">
            <a:schemeClr val="dk1"/>
          </a:fontRef>
        </p:style>
        <p:txBody>
          <a:bodyPr spcFirstLastPara="1" wrap="square" lIns="91425" tIns="45700" rIns="91425" bIns="45700" anchor="t" anchorCtr="0">
            <a:spAutoFit/>
          </a:bodyPr>
          <a:lstStyle/>
          <a:p>
            <a:pPr>
              <a:spcBef>
                <a:spcPts val="0"/>
              </a:spcBef>
              <a:spcAft>
                <a:spcPts val="0"/>
              </a:spcAft>
              <a:buClr>
                <a:srgbClr val="000000"/>
              </a:buClr>
              <a:buSzPts val="1200"/>
            </a:pPr>
            <a:endParaRPr lang="en-IN" sz="1200" b="1" dirty="0">
              <a:solidFill>
                <a:schemeClr val="dk1"/>
              </a:solidFill>
              <a:latin typeface="Arial"/>
              <a:cs typeface="Arial"/>
            </a:endParaRPr>
          </a:p>
        </p:txBody>
      </p:sp>
      <p:sp>
        <p:nvSpPr>
          <p:cNvPr id="28" name="TextBox 27">
            <a:extLst>
              <a:ext uri="{FF2B5EF4-FFF2-40B4-BE49-F238E27FC236}">
                <a16:creationId xmlns:a16="http://schemas.microsoft.com/office/drawing/2014/main" id="{8C24D888-7344-6CCA-7103-37CCE276ACC2}"/>
              </a:ext>
            </a:extLst>
          </p:cNvPr>
          <p:cNvSpPr txBox="1"/>
          <p:nvPr/>
        </p:nvSpPr>
        <p:spPr>
          <a:xfrm>
            <a:off x="2726114" y="1108261"/>
            <a:ext cx="925253" cy="246221"/>
          </a:xfrm>
          <a:prstGeom prst="rect">
            <a:avLst/>
          </a:prstGeom>
          <a:noFill/>
        </p:spPr>
        <p:txBody>
          <a:bodyPr wrap="none" rtlCol="0">
            <a:spAutoFit/>
          </a:bodyPr>
          <a:lstStyle/>
          <a:p>
            <a:r>
              <a:rPr lang="en-IN" sz="1000" dirty="0"/>
              <a:t>Medium Risk</a:t>
            </a:r>
          </a:p>
        </p:txBody>
      </p:sp>
      <p:sp>
        <p:nvSpPr>
          <p:cNvPr id="29" name="Rectangle 28">
            <a:extLst>
              <a:ext uri="{FF2B5EF4-FFF2-40B4-BE49-F238E27FC236}">
                <a16:creationId xmlns:a16="http://schemas.microsoft.com/office/drawing/2014/main" id="{7CC6C3A2-B6F3-4C19-9F8E-6A141B7E42B0}"/>
              </a:ext>
            </a:extLst>
          </p:cNvPr>
          <p:cNvSpPr/>
          <p:nvPr/>
        </p:nvSpPr>
        <p:spPr>
          <a:xfrm>
            <a:off x="2482232" y="1179119"/>
            <a:ext cx="268518" cy="94300"/>
          </a:xfrm>
          <a:prstGeom prst="rect">
            <a:avLst/>
          </a:prstGeom>
          <a:solidFill>
            <a:srgbClr val="FEF7F3"/>
          </a:solidFill>
          <a:ln w="9525" cap="flat" cmpd="sng">
            <a:solidFill>
              <a:srgbClr val="002060"/>
            </a:solidFill>
            <a:prstDash val="solid"/>
            <a:round/>
            <a:headEnd type="none" w="sm" len="sm"/>
            <a:tailEnd type="none" w="sm" len="sm"/>
          </a:ln>
        </p:spPr>
        <p:txBody>
          <a:bodyPr spcFirstLastPara="1" wrap="square" lIns="91425" tIns="45700" rIns="91425" bIns="45700" anchor="t" anchorCtr="0">
            <a:spAutoFit/>
          </a:bodyPr>
          <a:lstStyle/>
          <a:p>
            <a:pPr>
              <a:spcBef>
                <a:spcPts val="0"/>
              </a:spcBef>
              <a:spcAft>
                <a:spcPts val="0"/>
              </a:spcAft>
              <a:buClr>
                <a:srgbClr val="000000"/>
              </a:buClr>
              <a:buSzPts val="1200"/>
            </a:pPr>
            <a:endParaRPr lang="en-IN" sz="1200" b="1" dirty="0">
              <a:solidFill>
                <a:schemeClr val="tx1"/>
              </a:solidFill>
              <a:latin typeface="Arial"/>
              <a:cs typeface="Arial"/>
            </a:endParaRPr>
          </a:p>
        </p:txBody>
      </p:sp>
      <p:sp>
        <p:nvSpPr>
          <p:cNvPr id="30" name="TextBox 29">
            <a:extLst>
              <a:ext uri="{FF2B5EF4-FFF2-40B4-BE49-F238E27FC236}">
                <a16:creationId xmlns:a16="http://schemas.microsoft.com/office/drawing/2014/main" id="{2F3A9FDC-071D-CD76-2CF4-FDA476ECD14C}"/>
              </a:ext>
            </a:extLst>
          </p:cNvPr>
          <p:cNvSpPr txBox="1"/>
          <p:nvPr/>
        </p:nvSpPr>
        <p:spPr>
          <a:xfrm>
            <a:off x="3927223" y="1116101"/>
            <a:ext cx="704039" cy="246221"/>
          </a:xfrm>
          <a:prstGeom prst="rect">
            <a:avLst/>
          </a:prstGeom>
          <a:noFill/>
        </p:spPr>
        <p:txBody>
          <a:bodyPr wrap="none" rtlCol="0">
            <a:spAutoFit/>
          </a:bodyPr>
          <a:lstStyle/>
          <a:p>
            <a:r>
              <a:rPr lang="en-IN" sz="1000" dirty="0"/>
              <a:t>Low Risk</a:t>
            </a:r>
          </a:p>
        </p:txBody>
      </p:sp>
      <p:sp>
        <p:nvSpPr>
          <p:cNvPr id="31" name="Rectangle 30">
            <a:extLst>
              <a:ext uri="{FF2B5EF4-FFF2-40B4-BE49-F238E27FC236}">
                <a16:creationId xmlns:a16="http://schemas.microsoft.com/office/drawing/2014/main" id="{82C10BBD-09B5-5CAC-BBE9-A3D65819AA99}"/>
              </a:ext>
            </a:extLst>
          </p:cNvPr>
          <p:cNvSpPr/>
          <p:nvPr/>
        </p:nvSpPr>
        <p:spPr>
          <a:xfrm>
            <a:off x="1184564" y="1047753"/>
            <a:ext cx="3559428" cy="381837"/>
          </a:xfrm>
          <a:prstGeom prst="rect">
            <a:avLst/>
          </a:prstGeom>
          <a:noFill/>
          <a:ln w="63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3038" indent="-173038" algn="ctr">
              <a:buFont typeface="Wingdings" panose="05000000000000000000" pitchFamily="2" charset="2"/>
              <a:buChar char="§"/>
            </a:pPr>
            <a:endParaRPr lang="en-IN" sz="1200" dirty="0">
              <a:solidFill>
                <a:schemeClr val="tx1"/>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D0F2B8D4-0128-1C3B-48BA-3932CE853F56}"/>
              </a:ext>
            </a:extLst>
          </p:cNvPr>
          <p:cNvSpPr txBox="1"/>
          <p:nvPr/>
        </p:nvSpPr>
        <p:spPr>
          <a:xfrm>
            <a:off x="2521912" y="919874"/>
            <a:ext cx="607859" cy="246221"/>
          </a:xfrm>
          <a:prstGeom prst="rect">
            <a:avLst/>
          </a:prstGeom>
          <a:solidFill>
            <a:schemeClr val="bg1"/>
          </a:solidFill>
        </p:spPr>
        <p:txBody>
          <a:bodyPr wrap="none" rtlCol="0">
            <a:spAutoFit/>
          </a:bodyPr>
          <a:lstStyle/>
          <a:p>
            <a:r>
              <a:rPr lang="en-IN" sz="1000" i="1" dirty="0"/>
              <a:t>Legend</a:t>
            </a:r>
          </a:p>
        </p:txBody>
      </p:sp>
    </p:spTree>
    <p:extLst>
      <p:ext uri="{BB962C8B-B14F-4D97-AF65-F5344CB8AC3E}">
        <p14:creationId xmlns:p14="http://schemas.microsoft.com/office/powerpoint/2010/main" val="2048134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286;p2">
            <a:extLst>
              <a:ext uri="{FF2B5EF4-FFF2-40B4-BE49-F238E27FC236}">
                <a16:creationId xmlns:a16="http://schemas.microsoft.com/office/drawing/2014/main" id="{09F1F76A-1C03-8CA7-524E-3FCE525C29A1}"/>
              </a:ext>
            </a:extLst>
          </p:cNvPr>
          <p:cNvSpPr/>
          <p:nvPr/>
        </p:nvSpPr>
        <p:spPr>
          <a:xfrm>
            <a:off x="3249216" y="2296996"/>
            <a:ext cx="2645569" cy="316292"/>
          </a:xfrm>
          <a:prstGeom prst="rect">
            <a:avLst/>
          </a:prstGeom>
          <a:solidFill>
            <a:srgbClr val="333F44"/>
          </a:solidFill>
          <a:ln>
            <a:solidFill>
              <a:srgbClr val="333F44"/>
            </a:solidFill>
          </a:ln>
        </p:spPr>
        <p:txBody>
          <a:bodyPr spcFirstLastPara="1" wrap="square" lIns="68569" tIns="34275" rIns="68569" bIns="34275" anchor="ctr" anchorCtr="0">
            <a:noAutofit/>
          </a:bodyPr>
          <a:lstStyle/>
          <a:p>
            <a:pPr algn="ctr" defTabSz="685800" fontAlgn="auto">
              <a:spcBef>
                <a:spcPts val="0"/>
              </a:spcBef>
              <a:spcAft>
                <a:spcPts val="0"/>
              </a:spcAft>
              <a:buClr>
                <a:srgbClr val="000000"/>
              </a:buClr>
              <a:buSzPts val="1800"/>
              <a:defRPr/>
            </a:pPr>
            <a:endParaRPr sz="1350" kern="0">
              <a:solidFill>
                <a:srgbClr val="FFFFFF"/>
              </a:solidFill>
              <a:latin typeface="Arial"/>
              <a:ea typeface="Arial"/>
              <a:cs typeface="Arial"/>
              <a:sym typeface="Arial"/>
            </a:endParaRPr>
          </a:p>
        </p:txBody>
      </p:sp>
      <p:sp>
        <p:nvSpPr>
          <p:cNvPr id="31" name="Google Shape;289;p2">
            <a:extLst>
              <a:ext uri="{FF2B5EF4-FFF2-40B4-BE49-F238E27FC236}">
                <a16:creationId xmlns:a16="http://schemas.microsoft.com/office/drawing/2014/main" id="{95C79D31-49D9-CF5C-C5CC-2018D877B6EA}"/>
              </a:ext>
            </a:extLst>
          </p:cNvPr>
          <p:cNvSpPr txBox="1">
            <a:spLocks/>
          </p:cNvSpPr>
          <p:nvPr/>
        </p:nvSpPr>
        <p:spPr>
          <a:xfrm>
            <a:off x="3265160" y="2296996"/>
            <a:ext cx="236495" cy="316292"/>
          </a:xfrm>
          <a:prstGeom prst="rect">
            <a:avLst/>
          </a:prstGeom>
          <a:no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500" kern="0">
                <a:solidFill>
                  <a:srgbClr val="FFFFFF"/>
                </a:solidFill>
              </a:rPr>
              <a:t>1</a:t>
            </a:r>
            <a:endParaRPr lang="en-CA" sz="1500" kern="0">
              <a:solidFill>
                <a:srgbClr val="000000"/>
              </a:solidFill>
            </a:endParaRPr>
          </a:p>
        </p:txBody>
      </p:sp>
      <p:sp>
        <p:nvSpPr>
          <p:cNvPr id="33" name="Google Shape;291;p2">
            <a:extLst>
              <a:ext uri="{FF2B5EF4-FFF2-40B4-BE49-F238E27FC236}">
                <a16:creationId xmlns:a16="http://schemas.microsoft.com/office/drawing/2014/main" id="{10A39BE7-5957-0E8F-6913-0D4EADABB8CF}"/>
              </a:ext>
            </a:extLst>
          </p:cNvPr>
          <p:cNvSpPr txBox="1">
            <a:spLocks/>
          </p:cNvSpPr>
          <p:nvPr/>
        </p:nvSpPr>
        <p:spPr>
          <a:xfrm>
            <a:off x="3265160" y="3181354"/>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3</a:t>
            </a:r>
          </a:p>
        </p:txBody>
      </p:sp>
      <p:sp>
        <p:nvSpPr>
          <p:cNvPr id="34" name="Google Shape;292;p2">
            <a:extLst>
              <a:ext uri="{FF2B5EF4-FFF2-40B4-BE49-F238E27FC236}">
                <a16:creationId xmlns:a16="http://schemas.microsoft.com/office/drawing/2014/main" id="{C96A2CB4-25D5-A6DB-7F9E-0AC28C1BC798}"/>
              </a:ext>
            </a:extLst>
          </p:cNvPr>
          <p:cNvSpPr txBox="1">
            <a:spLocks/>
          </p:cNvSpPr>
          <p:nvPr/>
        </p:nvSpPr>
        <p:spPr>
          <a:xfrm>
            <a:off x="3265160" y="3640266"/>
            <a:ext cx="318052"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4</a:t>
            </a:r>
          </a:p>
        </p:txBody>
      </p:sp>
      <p:sp>
        <p:nvSpPr>
          <p:cNvPr id="35" name="Google Shape;293;p2">
            <a:extLst>
              <a:ext uri="{FF2B5EF4-FFF2-40B4-BE49-F238E27FC236}">
                <a16:creationId xmlns:a16="http://schemas.microsoft.com/office/drawing/2014/main" id="{24082908-437D-EAD2-5694-48F1B986A9AD}"/>
              </a:ext>
            </a:extLst>
          </p:cNvPr>
          <p:cNvSpPr txBox="1">
            <a:spLocks/>
          </p:cNvSpPr>
          <p:nvPr/>
        </p:nvSpPr>
        <p:spPr>
          <a:xfrm>
            <a:off x="3265159" y="4099177"/>
            <a:ext cx="377597"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5</a:t>
            </a:r>
          </a:p>
        </p:txBody>
      </p:sp>
      <p:sp>
        <p:nvSpPr>
          <p:cNvPr id="36" name="Google Shape;294;p2">
            <a:extLst>
              <a:ext uri="{FF2B5EF4-FFF2-40B4-BE49-F238E27FC236}">
                <a16:creationId xmlns:a16="http://schemas.microsoft.com/office/drawing/2014/main" id="{CF2671DB-5AF7-0C85-8B70-85157CC6FB21}"/>
              </a:ext>
            </a:extLst>
          </p:cNvPr>
          <p:cNvSpPr txBox="1">
            <a:spLocks/>
          </p:cNvSpPr>
          <p:nvPr/>
        </p:nvSpPr>
        <p:spPr>
          <a:xfrm>
            <a:off x="3583212" y="2296996"/>
            <a:ext cx="2311573" cy="316292"/>
          </a:xfrm>
          <a:prstGeom prst="rect">
            <a:avLst/>
          </a:prstGeom>
          <a:no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FFFFFF"/>
              </a:buClr>
              <a:defRPr/>
            </a:pPr>
            <a:r>
              <a:rPr lang="en-CA" sz="1050" kern="0">
                <a:solidFill>
                  <a:srgbClr val="FFFFFF"/>
                </a:solidFill>
              </a:rPr>
              <a:t>Company Overview</a:t>
            </a:r>
            <a:endParaRPr lang="en-CA" sz="1050" kern="0">
              <a:solidFill>
                <a:srgbClr val="000000"/>
              </a:solidFill>
            </a:endParaRPr>
          </a:p>
        </p:txBody>
      </p:sp>
      <p:sp>
        <p:nvSpPr>
          <p:cNvPr id="38" name="Google Shape;296;p2">
            <a:extLst>
              <a:ext uri="{FF2B5EF4-FFF2-40B4-BE49-F238E27FC236}">
                <a16:creationId xmlns:a16="http://schemas.microsoft.com/office/drawing/2014/main" id="{16617FB7-4C3A-DAF9-0D17-D17A495F8E61}"/>
              </a:ext>
            </a:extLst>
          </p:cNvPr>
          <p:cNvSpPr txBox="1">
            <a:spLocks/>
          </p:cNvSpPr>
          <p:nvPr/>
        </p:nvSpPr>
        <p:spPr>
          <a:xfrm>
            <a:off x="3583212" y="3181354"/>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Investment Thesis</a:t>
            </a:r>
          </a:p>
        </p:txBody>
      </p:sp>
      <p:sp>
        <p:nvSpPr>
          <p:cNvPr id="39" name="Google Shape;297;p2">
            <a:extLst>
              <a:ext uri="{FF2B5EF4-FFF2-40B4-BE49-F238E27FC236}">
                <a16:creationId xmlns:a16="http://schemas.microsoft.com/office/drawing/2014/main" id="{6206F5AB-F41E-171A-3BAE-D697B7D553FD}"/>
              </a:ext>
            </a:extLst>
          </p:cNvPr>
          <p:cNvSpPr txBox="1">
            <a:spLocks/>
          </p:cNvSpPr>
          <p:nvPr/>
        </p:nvSpPr>
        <p:spPr>
          <a:xfrm>
            <a:off x="3583212" y="3640266"/>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Valuation</a:t>
            </a:r>
          </a:p>
        </p:txBody>
      </p:sp>
      <p:sp>
        <p:nvSpPr>
          <p:cNvPr id="40" name="Google Shape;298;p2">
            <a:extLst>
              <a:ext uri="{FF2B5EF4-FFF2-40B4-BE49-F238E27FC236}">
                <a16:creationId xmlns:a16="http://schemas.microsoft.com/office/drawing/2014/main" id="{161C3D2D-BDE3-7B7C-CB18-B945EF99F61B}"/>
              </a:ext>
            </a:extLst>
          </p:cNvPr>
          <p:cNvSpPr txBox="1">
            <a:spLocks/>
          </p:cNvSpPr>
          <p:nvPr/>
        </p:nvSpPr>
        <p:spPr>
          <a:xfrm>
            <a:off x="3583212" y="4099177"/>
            <a:ext cx="2311573"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Catalysts and Risks</a:t>
            </a:r>
          </a:p>
        </p:txBody>
      </p:sp>
      <p:sp>
        <p:nvSpPr>
          <p:cNvPr id="41" name="Google Shape;299;p2">
            <a:extLst>
              <a:ext uri="{FF2B5EF4-FFF2-40B4-BE49-F238E27FC236}">
                <a16:creationId xmlns:a16="http://schemas.microsoft.com/office/drawing/2014/main" id="{E6BE0CC5-6BE6-0D72-C757-18F26E148BC6}"/>
              </a:ext>
            </a:extLst>
          </p:cNvPr>
          <p:cNvSpPr txBox="1">
            <a:spLocks/>
          </p:cNvSpPr>
          <p:nvPr/>
        </p:nvSpPr>
        <p:spPr>
          <a:xfrm>
            <a:off x="3265160" y="4558088"/>
            <a:ext cx="318052"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6</a:t>
            </a:r>
          </a:p>
        </p:txBody>
      </p:sp>
      <p:sp>
        <p:nvSpPr>
          <p:cNvPr id="42" name="Google Shape;300;p2">
            <a:extLst>
              <a:ext uri="{FF2B5EF4-FFF2-40B4-BE49-F238E27FC236}">
                <a16:creationId xmlns:a16="http://schemas.microsoft.com/office/drawing/2014/main" id="{35732484-D305-8AA4-0F59-695F60F3B982}"/>
              </a:ext>
            </a:extLst>
          </p:cNvPr>
          <p:cNvSpPr txBox="1">
            <a:spLocks/>
          </p:cNvSpPr>
          <p:nvPr/>
        </p:nvSpPr>
        <p:spPr>
          <a:xfrm>
            <a:off x="3583212" y="4558088"/>
            <a:ext cx="2311573" cy="316292"/>
          </a:xfrm>
          <a:prstGeom prst="rect">
            <a:avLst/>
          </a:prstGeom>
          <a:solidFill>
            <a:srgbClr val="2A90BC"/>
          </a:solidFill>
          <a:ln>
            <a:solidFill>
              <a:srgbClr val="2A90BC"/>
            </a:solid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Recommendation</a:t>
            </a:r>
          </a:p>
        </p:txBody>
      </p:sp>
      <p:sp>
        <p:nvSpPr>
          <p:cNvPr id="44" name="Google Shape;291;p2">
            <a:extLst>
              <a:ext uri="{FF2B5EF4-FFF2-40B4-BE49-F238E27FC236}">
                <a16:creationId xmlns:a16="http://schemas.microsoft.com/office/drawing/2014/main" id="{CB77208E-5651-7606-E45F-77D2F4B4D5BC}"/>
              </a:ext>
            </a:extLst>
          </p:cNvPr>
          <p:cNvSpPr txBox="1">
            <a:spLocks/>
          </p:cNvSpPr>
          <p:nvPr/>
        </p:nvSpPr>
        <p:spPr>
          <a:xfrm>
            <a:off x="3249215" y="2739175"/>
            <a:ext cx="320246"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ctr" rtl="0">
              <a:lnSpc>
                <a:spcPct val="100000"/>
              </a:lnSpc>
              <a:spcBef>
                <a:spcPts val="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500" kern="0">
                <a:solidFill>
                  <a:schemeClr val="bg1"/>
                </a:solidFill>
              </a:rPr>
              <a:t>2</a:t>
            </a:r>
          </a:p>
        </p:txBody>
      </p:sp>
      <p:sp>
        <p:nvSpPr>
          <p:cNvPr id="45" name="Google Shape;296;p2">
            <a:extLst>
              <a:ext uri="{FF2B5EF4-FFF2-40B4-BE49-F238E27FC236}">
                <a16:creationId xmlns:a16="http://schemas.microsoft.com/office/drawing/2014/main" id="{F9427E1B-D6C0-48F8-D050-0EB50DEF52EF}"/>
              </a:ext>
            </a:extLst>
          </p:cNvPr>
          <p:cNvSpPr txBox="1">
            <a:spLocks/>
          </p:cNvSpPr>
          <p:nvPr/>
        </p:nvSpPr>
        <p:spPr>
          <a:xfrm>
            <a:off x="3567267" y="2739175"/>
            <a:ext cx="2327517" cy="316292"/>
          </a:xfrm>
          <a:prstGeom prst="rect">
            <a:avLst/>
          </a:prstGeom>
          <a:solidFill>
            <a:srgbClr val="333F44"/>
          </a:solidFill>
          <a:ln>
            <a:noFill/>
          </a:ln>
        </p:spPr>
        <p:txBody>
          <a:bodyPr spcFirstLastPara="1" wrap="square" lIns="68569" tIns="34275" rIns="68569" bIns="34275"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defTabSz="685800" fontAlgn="auto">
              <a:buClr>
                <a:srgbClr val="000000"/>
              </a:buClr>
              <a:defRPr/>
            </a:pPr>
            <a:r>
              <a:rPr lang="en-CA" sz="1050" kern="0">
                <a:solidFill>
                  <a:schemeClr val="bg1"/>
                </a:solidFill>
              </a:rPr>
              <a:t>Investment</a:t>
            </a:r>
            <a:r>
              <a:rPr lang="en-CA" sz="1050" kern="0">
                <a:solidFill>
                  <a:srgbClr val="000000"/>
                </a:solidFill>
              </a:rPr>
              <a:t> </a:t>
            </a:r>
            <a:r>
              <a:rPr lang="en-CA" sz="1050" kern="0">
                <a:solidFill>
                  <a:schemeClr val="bg1"/>
                </a:solidFill>
              </a:rPr>
              <a:t>Thesis</a:t>
            </a:r>
          </a:p>
        </p:txBody>
      </p:sp>
      <p:cxnSp>
        <p:nvCxnSpPr>
          <p:cNvPr id="6" name="Straight Connector 5">
            <a:extLst>
              <a:ext uri="{FF2B5EF4-FFF2-40B4-BE49-F238E27FC236}">
                <a16:creationId xmlns:a16="http://schemas.microsoft.com/office/drawing/2014/main" id="{89BCBA12-A424-BA91-A8AD-D630141C3F0B}"/>
              </a:ext>
            </a:extLst>
          </p:cNvPr>
          <p:cNvCxnSpPr/>
          <p:nvPr/>
        </p:nvCxnSpPr>
        <p:spPr>
          <a:xfrm>
            <a:off x="1" y="2191249"/>
            <a:ext cx="1638860" cy="0"/>
          </a:xfrm>
          <a:prstGeom prst="line">
            <a:avLst/>
          </a:prstGeom>
          <a:ln w="19050">
            <a:solidFill>
              <a:srgbClr val="2A90BC"/>
            </a:solidFill>
          </a:ln>
        </p:spPr>
        <p:style>
          <a:lnRef idx="1">
            <a:schemeClr val="accent2"/>
          </a:lnRef>
          <a:fillRef idx="0">
            <a:schemeClr val="accent2"/>
          </a:fillRef>
          <a:effectRef idx="0">
            <a:schemeClr val="accent2"/>
          </a:effectRef>
          <a:fontRef idx="minor">
            <a:schemeClr val="tx1"/>
          </a:fontRef>
        </p:style>
      </p:cxnSp>
      <p:sp>
        <p:nvSpPr>
          <p:cNvPr id="7" name="Title 1">
            <a:extLst>
              <a:ext uri="{FF2B5EF4-FFF2-40B4-BE49-F238E27FC236}">
                <a16:creationId xmlns:a16="http://schemas.microsoft.com/office/drawing/2014/main" id="{9EC07CF9-20A8-042D-3C29-4516C451AB19}"/>
              </a:ext>
            </a:extLst>
          </p:cNvPr>
          <p:cNvSpPr>
            <a:spLocks noGrp="1"/>
          </p:cNvSpPr>
          <p:nvPr/>
        </p:nvSpPr>
        <p:spPr>
          <a:xfrm>
            <a:off x="465270" y="1619532"/>
            <a:ext cx="2457450" cy="401648"/>
          </a:xfrm>
          <a:prstGeom prst="rect">
            <a:avLst/>
          </a:prstGeom>
        </p:spPr>
        <p:txBody>
          <a:bodyPr vert="horz"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a:solidFill>
                  <a:srgbClr val="333F44"/>
                </a:solidFill>
              </a:rPr>
              <a:t>Agenda</a:t>
            </a:r>
          </a:p>
        </p:txBody>
      </p:sp>
      <p:pic>
        <p:nvPicPr>
          <p:cNvPr id="2" name="Picture 6">
            <a:extLst>
              <a:ext uri="{FF2B5EF4-FFF2-40B4-BE49-F238E27FC236}">
                <a16:creationId xmlns:a16="http://schemas.microsoft.com/office/drawing/2014/main" id="{D108CB2E-DCCF-B523-ADBE-ABC38D4BDE1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5159" y="1534720"/>
            <a:ext cx="2457450" cy="571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3026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 name="Table 56">
            <a:extLst>
              <a:ext uri="{FF2B5EF4-FFF2-40B4-BE49-F238E27FC236}">
                <a16:creationId xmlns:a16="http://schemas.microsoft.com/office/drawing/2014/main" id="{D36B5C0F-2F16-D418-384B-A71631E3DC5B}"/>
              </a:ext>
            </a:extLst>
          </p:cNvPr>
          <p:cNvGraphicFramePr>
            <a:graphicFrameLocks noGrp="1"/>
          </p:cNvGraphicFramePr>
          <p:nvPr>
            <p:extLst>
              <p:ext uri="{D42A27DB-BD31-4B8C-83A1-F6EECF244321}">
                <p14:modId xmlns:p14="http://schemas.microsoft.com/office/powerpoint/2010/main" val="2077227574"/>
              </p:ext>
            </p:extLst>
          </p:nvPr>
        </p:nvGraphicFramePr>
        <p:xfrm>
          <a:off x="4809880" y="2089230"/>
          <a:ext cx="4127988" cy="1508760"/>
        </p:xfrm>
        <a:graphic>
          <a:graphicData uri="http://schemas.openxmlformats.org/drawingml/2006/table">
            <a:tbl>
              <a:tblPr firstRow="1" bandRow="1">
                <a:tableStyleId>{5C22544A-7EE6-4342-B048-85BDC9FD1C3A}</a:tableStyleId>
              </a:tblPr>
              <a:tblGrid>
                <a:gridCol w="1375996">
                  <a:extLst>
                    <a:ext uri="{9D8B030D-6E8A-4147-A177-3AD203B41FA5}">
                      <a16:colId xmlns:a16="http://schemas.microsoft.com/office/drawing/2014/main" val="1427442162"/>
                    </a:ext>
                  </a:extLst>
                </a:gridCol>
                <a:gridCol w="1375996">
                  <a:extLst>
                    <a:ext uri="{9D8B030D-6E8A-4147-A177-3AD203B41FA5}">
                      <a16:colId xmlns:a16="http://schemas.microsoft.com/office/drawing/2014/main" val="1486770987"/>
                    </a:ext>
                  </a:extLst>
                </a:gridCol>
                <a:gridCol w="1375996">
                  <a:extLst>
                    <a:ext uri="{9D8B030D-6E8A-4147-A177-3AD203B41FA5}">
                      <a16:colId xmlns:a16="http://schemas.microsoft.com/office/drawing/2014/main" val="467676281"/>
                    </a:ext>
                  </a:extLst>
                </a:gridCol>
              </a:tblGrid>
              <a:tr h="237214">
                <a:tc>
                  <a:txBody>
                    <a:bodyPr/>
                    <a:lstStyle/>
                    <a:p>
                      <a:pPr algn="ctr"/>
                      <a:r>
                        <a:rPr lang="en-US" sz="1050" dirty="0">
                          <a:latin typeface="Arial" panose="020B0604020202020204" pitchFamily="34" charset="0"/>
                          <a:cs typeface="Arial" panose="020B0604020202020204" pitchFamily="34" charset="0"/>
                        </a:rPr>
                        <a:t>Analysis</a:t>
                      </a:r>
                    </a:p>
                  </a:txBody>
                  <a:tcPr>
                    <a:solidFill>
                      <a:schemeClr val="bg1">
                        <a:lumMod val="65000"/>
                      </a:schemeClr>
                    </a:solidFill>
                  </a:tcPr>
                </a:tc>
                <a:tc>
                  <a:txBody>
                    <a:bodyPr/>
                    <a:lstStyle/>
                    <a:p>
                      <a:pPr algn="ctr"/>
                      <a:r>
                        <a:rPr lang="en-US" sz="1050" dirty="0">
                          <a:latin typeface="Arial" panose="020B0604020202020204" pitchFamily="34" charset="0"/>
                          <a:cs typeface="Arial" panose="020B0604020202020204" pitchFamily="34" charset="0"/>
                        </a:rPr>
                        <a:t>Price</a:t>
                      </a:r>
                    </a:p>
                  </a:txBody>
                  <a:tcPr>
                    <a:solidFill>
                      <a:schemeClr val="bg1">
                        <a:lumMod val="65000"/>
                      </a:schemeClr>
                    </a:solidFill>
                  </a:tcPr>
                </a:tc>
                <a:tc>
                  <a:txBody>
                    <a:bodyPr/>
                    <a:lstStyle/>
                    <a:p>
                      <a:pPr algn="ctr"/>
                      <a:r>
                        <a:rPr lang="en-US" sz="1050" dirty="0">
                          <a:latin typeface="Arial" panose="020B0604020202020204" pitchFamily="34" charset="0"/>
                          <a:cs typeface="Arial" panose="020B0604020202020204" pitchFamily="34" charset="0"/>
                        </a:rPr>
                        <a:t>Weight</a:t>
                      </a:r>
                    </a:p>
                  </a:txBody>
                  <a:tcPr>
                    <a:solidFill>
                      <a:schemeClr val="bg1">
                        <a:lumMod val="65000"/>
                      </a:schemeClr>
                    </a:solidFill>
                  </a:tcPr>
                </a:tc>
                <a:extLst>
                  <a:ext uri="{0D108BD9-81ED-4DB2-BD59-A6C34878D82A}">
                    <a16:rowId xmlns:a16="http://schemas.microsoft.com/office/drawing/2014/main" val="4188422854"/>
                  </a:ext>
                </a:extLst>
              </a:tr>
              <a:tr h="237214">
                <a:tc>
                  <a:txBody>
                    <a:bodyPr/>
                    <a:lstStyle/>
                    <a:p>
                      <a:r>
                        <a:rPr lang="en-US" sz="1050" dirty="0">
                          <a:latin typeface="Arial" panose="020B0604020202020204" pitchFamily="34" charset="0"/>
                          <a:cs typeface="Arial" panose="020B0604020202020204" pitchFamily="34" charset="0"/>
                        </a:rPr>
                        <a:t>Comparables</a:t>
                      </a:r>
                    </a:p>
                  </a:txBody>
                  <a:tcPr>
                    <a:noFill/>
                  </a:tcPr>
                </a:tc>
                <a:tc>
                  <a:txBody>
                    <a:bodyPr/>
                    <a:lstStyle/>
                    <a:p>
                      <a:pPr algn="ctr"/>
                      <a:r>
                        <a:rPr lang="en-US" sz="1050" dirty="0">
                          <a:latin typeface="Arial" panose="020B0604020202020204" pitchFamily="34" charset="0"/>
                          <a:cs typeface="Arial" panose="020B0604020202020204" pitchFamily="34" charset="0"/>
                        </a:rPr>
                        <a:t>221.00</a:t>
                      </a:r>
                    </a:p>
                  </a:txBody>
                  <a:tcPr anchor="ctr">
                    <a:noFill/>
                  </a:tcPr>
                </a:tc>
                <a:tc>
                  <a:txBody>
                    <a:bodyPr/>
                    <a:lstStyle/>
                    <a:p>
                      <a:pPr algn="ctr"/>
                      <a:r>
                        <a:rPr lang="en-US" sz="1050" dirty="0">
                          <a:latin typeface="Arial" panose="020B0604020202020204" pitchFamily="34" charset="0"/>
                          <a:cs typeface="Arial" panose="020B0604020202020204" pitchFamily="34" charset="0"/>
                        </a:rPr>
                        <a:t>30%</a:t>
                      </a:r>
                    </a:p>
                  </a:txBody>
                  <a:tcPr anchor="ctr">
                    <a:noFill/>
                  </a:tcPr>
                </a:tc>
                <a:extLst>
                  <a:ext uri="{0D108BD9-81ED-4DB2-BD59-A6C34878D82A}">
                    <a16:rowId xmlns:a16="http://schemas.microsoft.com/office/drawing/2014/main" val="3438510136"/>
                  </a:ext>
                </a:extLst>
              </a:tr>
              <a:tr h="237214">
                <a:tc>
                  <a:txBody>
                    <a:bodyPr/>
                    <a:lstStyle/>
                    <a:p>
                      <a:r>
                        <a:rPr lang="en-US" sz="1050" dirty="0">
                          <a:latin typeface="Arial" panose="020B0604020202020204" pitchFamily="34" charset="0"/>
                          <a:cs typeface="Arial" panose="020B0604020202020204" pitchFamily="34" charset="0"/>
                        </a:rPr>
                        <a:t>Perpetuity DCF</a:t>
                      </a:r>
                    </a:p>
                  </a:txBody>
                  <a:tcPr>
                    <a:noFill/>
                  </a:tcPr>
                </a:tc>
                <a:tc>
                  <a:txBody>
                    <a:bodyPr/>
                    <a:lstStyle/>
                    <a:p>
                      <a:pPr algn="ctr"/>
                      <a:r>
                        <a:rPr lang="en-US" sz="1050" dirty="0">
                          <a:latin typeface="Arial" panose="020B0604020202020204" pitchFamily="34" charset="0"/>
                          <a:cs typeface="Arial" panose="020B0604020202020204" pitchFamily="34" charset="0"/>
                        </a:rPr>
                        <a:t>240.80</a:t>
                      </a:r>
                    </a:p>
                  </a:txBody>
                  <a:tcPr anchor="ctr">
                    <a:noFill/>
                  </a:tcPr>
                </a:tc>
                <a:tc>
                  <a:txBody>
                    <a:bodyPr/>
                    <a:lstStyle/>
                    <a:p>
                      <a:pPr algn="ctr"/>
                      <a:r>
                        <a:rPr lang="en-US" sz="1050" dirty="0">
                          <a:latin typeface="Arial" panose="020B0604020202020204" pitchFamily="34" charset="0"/>
                          <a:cs typeface="Arial" panose="020B0604020202020204" pitchFamily="34" charset="0"/>
                        </a:rPr>
                        <a:t>30%</a:t>
                      </a:r>
                    </a:p>
                  </a:txBody>
                  <a:tcPr anchor="ctr">
                    <a:noFill/>
                  </a:tcPr>
                </a:tc>
                <a:extLst>
                  <a:ext uri="{0D108BD9-81ED-4DB2-BD59-A6C34878D82A}">
                    <a16:rowId xmlns:a16="http://schemas.microsoft.com/office/drawing/2014/main" val="329903458"/>
                  </a:ext>
                </a:extLst>
              </a:tr>
              <a:tr h="237214">
                <a:tc>
                  <a:txBody>
                    <a:bodyPr/>
                    <a:lstStyle/>
                    <a:p>
                      <a:r>
                        <a:rPr lang="en-US" sz="1050" dirty="0">
                          <a:latin typeface="Arial" panose="020B0604020202020204" pitchFamily="34" charset="0"/>
                          <a:cs typeface="Arial" panose="020B0604020202020204" pitchFamily="34" charset="0"/>
                        </a:rPr>
                        <a:t>Multiple DCF</a:t>
                      </a:r>
                    </a:p>
                  </a:txBody>
                  <a:tcPr>
                    <a:noFill/>
                  </a:tcPr>
                </a:tc>
                <a:tc>
                  <a:txBody>
                    <a:bodyPr/>
                    <a:lstStyle/>
                    <a:p>
                      <a:pPr algn="ctr"/>
                      <a:r>
                        <a:rPr lang="en-US" sz="1050" dirty="0">
                          <a:latin typeface="Arial" panose="020B0604020202020204" pitchFamily="34" charset="0"/>
                          <a:cs typeface="Arial" panose="020B0604020202020204" pitchFamily="34" charset="0"/>
                        </a:rPr>
                        <a:t>234.30</a:t>
                      </a:r>
                    </a:p>
                  </a:txBody>
                  <a:tcPr anchor="ctr">
                    <a:noFill/>
                  </a:tcPr>
                </a:tc>
                <a:tc>
                  <a:txBody>
                    <a:bodyPr/>
                    <a:lstStyle/>
                    <a:p>
                      <a:pPr algn="ctr"/>
                      <a:r>
                        <a:rPr lang="en-US" sz="1050" dirty="0">
                          <a:latin typeface="Arial" panose="020B0604020202020204" pitchFamily="34" charset="0"/>
                          <a:cs typeface="Arial" panose="020B0604020202020204" pitchFamily="34" charset="0"/>
                        </a:rPr>
                        <a:t>30%</a:t>
                      </a:r>
                    </a:p>
                  </a:txBody>
                  <a:tcPr anchor="ctr">
                    <a:noFill/>
                  </a:tcPr>
                </a:tc>
                <a:extLst>
                  <a:ext uri="{0D108BD9-81ED-4DB2-BD59-A6C34878D82A}">
                    <a16:rowId xmlns:a16="http://schemas.microsoft.com/office/drawing/2014/main" val="977840504"/>
                  </a:ext>
                </a:extLst>
              </a:tr>
              <a:tr h="237214">
                <a:tc>
                  <a:txBody>
                    <a:bodyPr/>
                    <a:lstStyle/>
                    <a:p>
                      <a:r>
                        <a:rPr lang="en-US" sz="1050" dirty="0">
                          <a:latin typeface="Arial" panose="020B0604020202020204" pitchFamily="34" charset="0"/>
                          <a:cs typeface="Arial" panose="020B0604020202020204" pitchFamily="34" charset="0"/>
                        </a:rPr>
                        <a:t>Street</a:t>
                      </a:r>
                    </a:p>
                  </a:txBody>
                  <a:tcPr>
                    <a:noFill/>
                  </a:tcPr>
                </a:tc>
                <a:tc>
                  <a:txBody>
                    <a:bodyPr/>
                    <a:lstStyle/>
                    <a:p>
                      <a:pPr algn="ctr"/>
                      <a:r>
                        <a:rPr lang="en-US" sz="1050" dirty="0">
                          <a:latin typeface="Arial" panose="020B0604020202020204" pitchFamily="34" charset="0"/>
                          <a:cs typeface="Arial" panose="020B0604020202020204" pitchFamily="34" charset="0"/>
                        </a:rPr>
                        <a:t>226.10</a:t>
                      </a:r>
                    </a:p>
                  </a:txBody>
                  <a:tcPr anchor="ctr">
                    <a:noFill/>
                  </a:tcPr>
                </a:tc>
                <a:tc>
                  <a:txBody>
                    <a:bodyPr/>
                    <a:lstStyle/>
                    <a:p>
                      <a:pPr algn="ctr"/>
                      <a:r>
                        <a:rPr lang="en-US" sz="1050" dirty="0">
                          <a:latin typeface="Arial" panose="020B0604020202020204" pitchFamily="34" charset="0"/>
                          <a:cs typeface="Arial" panose="020B0604020202020204" pitchFamily="34" charset="0"/>
                        </a:rPr>
                        <a:t>10%</a:t>
                      </a:r>
                    </a:p>
                  </a:txBody>
                  <a:tcPr anchor="ctr">
                    <a:noFill/>
                  </a:tcPr>
                </a:tc>
                <a:extLst>
                  <a:ext uri="{0D108BD9-81ED-4DB2-BD59-A6C34878D82A}">
                    <a16:rowId xmlns:a16="http://schemas.microsoft.com/office/drawing/2014/main" val="2334803123"/>
                  </a:ext>
                </a:extLst>
              </a:tr>
              <a:tr h="237214">
                <a:tc>
                  <a:txBody>
                    <a:bodyPr/>
                    <a:lstStyle/>
                    <a:p>
                      <a:r>
                        <a:rPr lang="en-US" sz="1050" b="1" dirty="0">
                          <a:latin typeface="Arial" panose="020B0604020202020204" pitchFamily="34" charset="0"/>
                          <a:cs typeface="Arial" panose="020B0604020202020204" pitchFamily="34" charset="0"/>
                        </a:rPr>
                        <a:t>Target Price</a:t>
                      </a:r>
                    </a:p>
                  </a:txBody>
                  <a:tcPr>
                    <a:solidFill>
                      <a:schemeClr val="bg1">
                        <a:lumMod val="85000"/>
                      </a:schemeClr>
                    </a:solidFill>
                  </a:tcPr>
                </a:tc>
                <a:tc>
                  <a:txBody>
                    <a:bodyPr/>
                    <a:lstStyle/>
                    <a:p>
                      <a:pPr algn="ctr"/>
                      <a:r>
                        <a:rPr lang="en-US" sz="1050" dirty="0">
                          <a:latin typeface="Arial" panose="020B0604020202020204" pitchFamily="34" charset="0"/>
                          <a:cs typeface="Arial" panose="020B0604020202020204" pitchFamily="34" charset="0"/>
                        </a:rPr>
                        <a:t>231.45</a:t>
                      </a:r>
                    </a:p>
                  </a:txBody>
                  <a:tcPr>
                    <a:solidFill>
                      <a:schemeClr val="bg1">
                        <a:lumMod val="85000"/>
                      </a:schemeClr>
                    </a:solidFill>
                  </a:tcPr>
                </a:tc>
                <a:tc>
                  <a:txBody>
                    <a:bodyPr/>
                    <a:lstStyle/>
                    <a:p>
                      <a:pPr algn="ctr"/>
                      <a:r>
                        <a:rPr lang="en-US" sz="1050" dirty="0">
                          <a:latin typeface="Arial" panose="020B0604020202020204" pitchFamily="34" charset="0"/>
                          <a:cs typeface="Arial" panose="020B0604020202020204" pitchFamily="34" charset="0"/>
                        </a:rPr>
                        <a:t>100%</a:t>
                      </a:r>
                    </a:p>
                  </a:txBody>
                  <a:tcPr>
                    <a:solidFill>
                      <a:schemeClr val="bg1">
                        <a:lumMod val="85000"/>
                      </a:schemeClr>
                    </a:solidFill>
                  </a:tcPr>
                </a:tc>
                <a:extLst>
                  <a:ext uri="{0D108BD9-81ED-4DB2-BD59-A6C34878D82A}">
                    <a16:rowId xmlns:a16="http://schemas.microsoft.com/office/drawing/2014/main" val="856161732"/>
                  </a:ext>
                </a:extLst>
              </a:tr>
            </a:tbl>
          </a:graphicData>
        </a:graphic>
      </p:graphicFrame>
      <p:sp>
        <p:nvSpPr>
          <p:cNvPr id="53" name="Rectangle 52">
            <a:extLst>
              <a:ext uri="{FF2B5EF4-FFF2-40B4-BE49-F238E27FC236}">
                <a16:creationId xmlns:a16="http://schemas.microsoft.com/office/drawing/2014/main" id="{4DDD72A3-B65A-9B25-965D-E244D4FF3823}"/>
              </a:ext>
            </a:extLst>
          </p:cNvPr>
          <p:cNvSpPr/>
          <p:nvPr/>
        </p:nvSpPr>
        <p:spPr>
          <a:xfrm>
            <a:off x="2795055" y="1395968"/>
            <a:ext cx="190900" cy="4436679"/>
          </a:xfrm>
          <a:prstGeom prst="rect">
            <a:avLst/>
          </a:prstGeom>
          <a:solidFill>
            <a:schemeClr val="bg1">
              <a:lumMod val="95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sp>
        <p:nvSpPr>
          <p:cNvPr id="15" name="Title 1">
            <a:extLst>
              <a:ext uri="{FF2B5EF4-FFF2-40B4-BE49-F238E27FC236}">
                <a16:creationId xmlns:a16="http://schemas.microsoft.com/office/drawing/2014/main" id="{9DB5AE6F-DBEE-3268-5BB6-DC44C6C0D91E}"/>
              </a:ext>
            </a:extLst>
          </p:cNvPr>
          <p:cNvSpPr>
            <a:spLocks noGrp="1"/>
          </p:cNvSpPr>
          <p:nvPr/>
        </p:nvSpPr>
        <p:spPr>
          <a:xfrm>
            <a:off x="0" y="396096"/>
            <a:ext cx="4862079" cy="401648"/>
          </a:xfrm>
          <a:prstGeom prst="rect">
            <a:avLst/>
          </a:prstGeom>
        </p:spPr>
        <p:txBody>
          <a:bodyPr vert="horz" wrap="square" lIns="68580" tIns="34290" rIns="68580" bIns="34290" rtlCol="0" anchor="ctr">
            <a:spAutoFit/>
          </a:bodyPr>
          <a:lstStyle>
            <a:lvl1pPr algn="l" defTabSz="914400" rtl="0" eaLnBrk="1" latinLnBrk="0" hangingPunct="1">
              <a:lnSpc>
                <a:spcPct val="90000"/>
              </a:lnSpc>
              <a:spcBef>
                <a:spcPct val="0"/>
              </a:spcBef>
              <a:buNone/>
              <a:defRPr sz="3200" kern="1200">
                <a:solidFill>
                  <a:srgbClr val="67676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sz="2400">
                <a:solidFill>
                  <a:srgbClr val="333F44"/>
                </a:solidFill>
              </a:rPr>
              <a:t>Price Target &amp; Recommendation</a:t>
            </a:r>
          </a:p>
        </p:txBody>
      </p:sp>
      <p:sp>
        <p:nvSpPr>
          <p:cNvPr id="14" name="Google Shape;1160;p84">
            <a:extLst>
              <a:ext uri="{FF2B5EF4-FFF2-40B4-BE49-F238E27FC236}">
                <a16:creationId xmlns:a16="http://schemas.microsoft.com/office/drawing/2014/main" id="{8C38AE86-4781-709E-13DD-EB54599A12B6}"/>
              </a:ext>
            </a:extLst>
          </p:cNvPr>
          <p:cNvSpPr txBox="1">
            <a:spLocks/>
          </p:cNvSpPr>
          <p:nvPr/>
        </p:nvSpPr>
        <p:spPr>
          <a:xfrm>
            <a:off x="4809880" y="1464205"/>
            <a:ext cx="4120978" cy="298631"/>
          </a:xfrm>
          <a:prstGeom prst="rect">
            <a:avLst/>
          </a:prstGeom>
          <a:solidFill>
            <a:srgbClr val="333F44"/>
          </a:solid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dk1"/>
              </a:buClr>
              <a:buSzPts val="1200"/>
              <a:buFont typeface="Arial"/>
              <a:buNone/>
              <a:defRPr sz="1200" b="1" i="0" u="none" strike="noStrike" cap="none">
                <a:solidFill>
                  <a:schemeClr val="dk1"/>
                </a:solidFill>
                <a:latin typeface="Arial"/>
                <a:ea typeface="Arial"/>
                <a:cs typeface="Arial"/>
                <a:sym typeface="Arial"/>
              </a:defRPr>
            </a:lvl1pPr>
            <a:lvl2pPr marL="914400" marR="0" lvl="1"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457200" marR="0" lvl="0" indent="-457200" algn="l" defTabSz="914400" rtl="0" eaLnBrk="1" fontAlgn="auto" latinLnBrk="0" hangingPunct="1">
              <a:lnSpc>
                <a:spcPct val="90000"/>
              </a:lnSpc>
              <a:spcBef>
                <a:spcPts val="1000"/>
              </a:spcBef>
              <a:spcAft>
                <a:spcPts val="0"/>
              </a:spcAft>
              <a:buClr>
                <a:srgbClr val="000000"/>
              </a:buClr>
              <a:buSzPts val="1200"/>
              <a:buFont typeface="Arial"/>
              <a:buNone/>
              <a:tabLst/>
              <a:defRPr/>
            </a:pPr>
            <a:r>
              <a:rPr kumimoji="0" lang="en-CA" sz="1200" b="1" i="0" u="none" strike="noStrike" kern="0" cap="none" spc="0" normalizeH="0" baseline="0" noProof="0">
                <a:ln>
                  <a:noFill/>
                </a:ln>
                <a:solidFill>
                  <a:schemeClr val="bg1"/>
                </a:solidFill>
                <a:effectLst/>
                <a:uLnTx/>
                <a:uFillTx/>
                <a:latin typeface="Arial"/>
                <a:cs typeface="Arial"/>
                <a:sym typeface="Arial"/>
              </a:rPr>
              <a:t>Price Target</a:t>
            </a:r>
          </a:p>
        </p:txBody>
      </p:sp>
      <p:graphicFrame>
        <p:nvGraphicFramePr>
          <p:cNvPr id="16" name="Google Shape;1168;p84">
            <a:extLst>
              <a:ext uri="{FF2B5EF4-FFF2-40B4-BE49-F238E27FC236}">
                <a16:creationId xmlns:a16="http://schemas.microsoft.com/office/drawing/2014/main" id="{F6A4322F-A42A-BD63-F12F-A4802E719C88}"/>
              </a:ext>
            </a:extLst>
          </p:cNvPr>
          <p:cNvGraphicFramePr/>
          <p:nvPr>
            <p:extLst>
              <p:ext uri="{D42A27DB-BD31-4B8C-83A1-F6EECF244321}">
                <p14:modId xmlns:p14="http://schemas.microsoft.com/office/powerpoint/2010/main" val="1969807602"/>
              </p:ext>
            </p:extLst>
          </p:nvPr>
        </p:nvGraphicFramePr>
        <p:xfrm>
          <a:off x="5062443" y="3429000"/>
          <a:ext cx="3875425" cy="910609"/>
        </p:xfrm>
        <a:graphic>
          <a:graphicData uri="http://schemas.openxmlformats.org/drawingml/2006/chart">
            <c:chart xmlns:c="http://schemas.openxmlformats.org/drawingml/2006/chart" xmlns:r="http://schemas.openxmlformats.org/officeDocument/2006/relationships" r:id="rId3"/>
          </a:graphicData>
        </a:graphic>
      </p:graphicFrame>
      <p:sp>
        <p:nvSpPr>
          <p:cNvPr id="19" name="Google Shape;1171;p84">
            <a:extLst>
              <a:ext uri="{FF2B5EF4-FFF2-40B4-BE49-F238E27FC236}">
                <a16:creationId xmlns:a16="http://schemas.microsoft.com/office/drawing/2014/main" id="{111107F8-06F2-E882-5DED-97C561FEACA8}"/>
              </a:ext>
            </a:extLst>
          </p:cNvPr>
          <p:cNvSpPr/>
          <p:nvPr/>
        </p:nvSpPr>
        <p:spPr>
          <a:xfrm>
            <a:off x="213142" y="1263734"/>
            <a:ext cx="1025525" cy="900000"/>
          </a:xfrm>
          <a:prstGeom prst="rect">
            <a:avLst/>
          </a:prstGeom>
          <a:solidFill>
            <a:srgbClr val="333F4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dirty="0">
                <a:ln>
                  <a:noFill/>
                </a:ln>
                <a:solidFill>
                  <a:srgbClr val="FFFFFF"/>
                </a:solidFill>
                <a:effectLst/>
                <a:uLnTx/>
                <a:uFillTx/>
                <a:latin typeface="Arial"/>
                <a:ea typeface="Arial"/>
                <a:cs typeface="Arial"/>
                <a:sym typeface="Arial"/>
              </a:rPr>
              <a:t>Analyst Estimates</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0" name="Google Shape;1172;p84">
            <a:extLst>
              <a:ext uri="{FF2B5EF4-FFF2-40B4-BE49-F238E27FC236}">
                <a16:creationId xmlns:a16="http://schemas.microsoft.com/office/drawing/2014/main" id="{72728C91-4CED-3B55-8A4C-1C31E1E146D5}"/>
              </a:ext>
            </a:extLst>
          </p:cNvPr>
          <p:cNvSpPr/>
          <p:nvPr/>
        </p:nvSpPr>
        <p:spPr>
          <a:xfrm>
            <a:off x="213142" y="2204644"/>
            <a:ext cx="1025525" cy="900000"/>
          </a:xfrm>
          <a:prstGeom prst="rect">
            <a:avLst/>
          </a:prstGeom>
          <a:solidFill>
            <a:srgbClr val="333F4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dirty="0">
                <a:ln>
                  <a:noFill/>
                </a:ln>
                <a:solidFill>
                  <a:srgbClr val="FFFFFF"/>
                </a:solidFill>
                <a:effectLst/>
                <a:uLnTx/>
                <a:uFillTx/>
                <a:latin typeface="Arial"/>
                <a:ea typeface="Arial"/>
                <a:cs typeface="Arial"/>
                <a:sym typeface="Arial"/>
              </a:rPr>
              <a:t>52-Week</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dirty="0">
                <a:ln>
                  <a:noFill/>
                </a:ln>
                <a:solidFill>
                  <a:srgbClr val="FFFFFF"/>
                </a:solidFill>
                <a:effectLst/>
                <a:uLnTx/>
                <a:uFillTx/>
                <a:latin typeface="Arial"/>
                <a:ea typeface="Arial"/>
                <a:cs typeface="Arial"/>
                <a:sym typeface="Arial"/>
              </a:rPr>
              <a:t>Range</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1" name="Google Shape;1173;p84">
            <a:extLst>
              <a:ext uri="{FF2B5EF4-FFF2-40B4-BE49-F238E27FC236}">
                <a16:creationId xmlns:a16="http://schemas.microsoft.com/office/drawing/2014/main" id="{0B3D9046-39D7-9166-5509-FD97E29FBCD0}"/>
              </a:ext>
            </a:extLst>
          </p:cNvPr>
          <p:cNvSpPr/>
          <p:nvPr/>
        </p:nvSpPr>
        <p:spPr>
          <a:xfrm>
            <a:off x="213142" y="4086465"/>
            <a:ext cx="1025525" cy="900000"/>
          </a:xfrm>
          <a:prstGeom prst="rect">
            <a:avLst/>
          </a:prstGeom>
          <a:solidFill>
            <a:srgbClr val="333F4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dirty="0">
                <a:ln>
                  <a:noFill/>
                </a:ln>
                <a:solidFill>
                  <a:srgbClr val="FFFFFF"/>
                </a:solidFill>
                <a:effectLst/>
                <a:uLnTx/>
                <a:uFillTx/>
                <a:latin typeface="Arial"/>
                <a:ea typeface="Arial"/>
                <a:cs typeface="Arial"/>
                <a:sym typeface="Arial"/>
              </a:rPr>
              <a:t>Discounted Cash Flow Perp.</a:t>
            </a:r>
            <a:endParaRPr kumimoji="0" lang="en-CA"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2" name="Google Shape;1174;p84">
            <a:extLst>
              <a:ext uri="{FF2B5EF4-FFF2-40B4-BE49-F238E27FC236}">
                <a16:creationId xmlns:a16="http://schemas.microsoft.com/office/drawing/2014/main" id="{AB6A0120-5317-3CE3-73AE-1AB701A9E304}"/>
              </a:ext>
            </a:extLst>
          </p:cNvPr>
          <p:cNvSpPr/>
          <p:nvPr/>
        </p:nvSpPr>
        <p:spPr>
          <a:xfrm>
            <a:off x="213142" y="5027376"/>
            <a:ext cx="1025525" cy="900000"/>
          </a:xfrm>
          <a:prstGeom prst="rect">
            <a:avLst/>
          </a:prstGeom>
          <a:solidFill>
            <a:srgbClr val="333F4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dirty="0">
                <a:ln>
                  <a:noFill/>
                </a:ln>
                <a:solidFill>
                  <a:srgbClr val="FFFFFF"/>
                </a:solidFill>
                <a:effectLst/>
                <a:uLnTx/>
                <a:uFillTx/>
                <a:latin typeface="Arial"/>
                <a:ea typeface="Arial"/>
                <a:cs typeface="Arial"/>
                <a:sym typeface="Arial"/>
              </a:rPr>
              <a:t>Comps Rev.</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Rectangle 26">
            <a:extLst>
              <a:ext uri="{FF2B5EF4-FFF2-40B4-BE49-F238E27FC236}">
                <a16:creationId xmlns:a16="http://schemas.microsoft.com/office/drawing/2014/main" id="{9558C06A-9585-8F1F-642E-6D99314BF0AE}"/>
              </a:ext>
            </a:extLst>
          </p:cNvPr>
          <p:cNvSpPr/>
          <p:nvPr/>
        </p:nvSpPr>
        <p:spPr>
          <a:xfrm>
            <a:off x="4862079" y="4445154"/>
            <a:ext cx="4001267" cy="1508760"/>
          </a:xfrm>
          <a:prstGeom prst="rect">
            <a:avLst/>
          </a:prstGeom>
          <a:noFill/>
          <a:ln w="9525" cap="flat" cmpd="sng" algn="ctr">
            <a:solidFill>
              <a:srgbClr val="2A90BC"/>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GB"/>
          </a:p>
        </p:txBody>
      </p:sp>
      <p:sp>
        <p:nvSpPr>
          <p:cNvPr id="28" name="TextBox 27">
            <a:extLst>
              <a:ext uri="{FF2B5EF4-FFF2-40B4-BE49-F238E27FC236}">
                <a16:creationId xmlns:a16="http://schemas.microsoft.com/office/drawing/2014/main" id="{6B64E7C0-8EF7-9C22-4D24-DB8805778D03}"/>
              </a:ext>
            </a:extLst>
          </p:cNvPr>
          <p:cNvSpPr txBox="1"/>
          <p:nvPr/>
        </p:nvSpPr>
        <p:spPr>
          <a:xfrm>
            <a:off x="5393545" y="5061034"/>
            <a:ext cx="3119893" cy="276999"/>
          </a:xfrm>
          <a:prstGeom prst="rect">
            <a:avLst/>
          </a:prstGeom>
          <a:noFill/>
        </p:spPr>
        <p:txBody>
          <a:bodyPr wrap="none" rtlCol="0">
            <a:spAutoFit/>
          </a:bodyPr>
          <a:lstStyle/>
          <a:p>
            <a:r>
              <a:rPr lang="es-PE" sz="1200" dirty="0">
                <a:latin typeface="Open Sans Light" panose="020B0306030504020204" pitchFamily="34" charset="0"/>
                <a:ea typeface="Open Sans Light" panose="020B0306030504020204" pitchFamily="34" charset="0"/>
                <a:cs typeface="Open Sans Light" panose="020B0306030504020204" pitchFamily="34" charset="0"/>
              </a:rPr>
              <a:t>The</a:t>
            </a:r>
            <a:r>
              <a:rPr lang="es-PE" sz="1200">
                <a:latin typeface="Open Sans Light" panose="020B0306030504020204" pitchFamily="34" charset="0"/>
                <a:ea typeface="Open Sans Light" panose="020B0306030504020204" pitchFamily="34" charset="0"/>
                <a:cs typeface="Open Sans Light" panose="020B0306030504020204" pitchFamily="34" charset="0"/>
              </a:rPr>
              <a:t> stock </a:t>
            </a:r>
            <a:r>
              <a:rPr lang="es-PE" sz="1200" dirty="0">
                <a:latin typeface="Open Sans Light" panose="020B0306030504020204" pitchFamily="34" charset="0"/>
                <a:ea typeface="Open Sans Light" panose="020B0306030504020204" pitchFamily="34" charset="0"/>
                <a:cs typeface="Open Sans Light" panose="020B0306030504020204" pitchFamily="34" charset="0"/>
              </a:rPr>
              <a:t>should</a:t>
            </a:r>
            <a:r>
              <a:rPr lang="es-PE" sz="1200">
                <a:latin typeface="Open Sans Light" panose="020B0306030504020204" pitchFamily="34" charset="0"/>
                <a:ea typeface="Open Sans Light" panose="020B0306030504020204" pitchFamily="34" charset="0"/>
                <a:cs typeface="Open Sans Light" panose="020B0306030504020204" pitchFamily="34" charset="0"/>
              </a:rPr>
              <a:t> be </a:t>
            </a:r>
            <a:r>
              <a:rPr lang="es-PE" sz="1200" dirty="0">
                <a:latin typeface="Open Sans Light" panose="020B0306030504020204" pitchFamily="34" charset="0"/>
                <a:ea typeface="Open Sans Light" panose="020B0306030504020204" pitchFamily="34" charset="0"/>
                <a:cs typeface="Open Sans Light" panose="020B0306030504020204" pitchFamily="34" charset="0"/>
              </a:rPr>
              <a:t>bought</a:t>
            </a:r>
            <a:r>
              <a:rPr lang="es-PE" sz="1200">
                <a:latin typeface="Open Sans Light" panose="020B0306030504020204" pitchFamily="34" charset="0"/>
                <a:ea typeface="Open Sans Light" panose="020B0306030504020204" pitchFamily="34" charset="0"/>
                <a:cs typeface="Open Sans Light" panose="020B0306030504020204" pitchFamily="34" charset="0"/>
              </a:rPr>
              <a:t> at </a:t>
            </a:r>
            <a:r>
              <a:rPr lang="es-PE" sz="1200" dirty="0">
                <a:latin typeface="Open Sans Light" panose="020B0306030504020204" pitchFamily="34" charset="0"/>
                <a:ea typeface="Open Sans Light" panose="020B0306030504020204" pitchFamily="34" charset="0"/>
                <a:cs typeface="Open Sans Light" panose="020B0306030504020204" pitchFamily="34" charset="0"/>
              </a:rPr>
              <a:t>below $178</a:t>
            </a:r>
            <a:endParaRPr lang="en-GB" sz="120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9" name="Google Shape;1048;p22">
            <a:extLst>
              <a:ext uri="{FF2B5EF4-FFF2-40B4-BE49-F238E27FC236}">
                <a16:creationId xmlns:a16="http://schemas.microsoft.com/office/drawing/2014/main" id="{2E3AC0DA-8E1F-58AB-A8A6-F385ADBD2ED3}"/>
              </a:ext>
            </a:extLst>
          </p:cNvPr>
          <p:cNvSpPr txBox="1">
            <a:spLocks/>
          </p:cNvSpPr>
          <p:nvPr/>
        </p:nvSpPr>
        <p:spPr>
          <a:xfrm>
            <a:off x="4816683" y="1806221"/>
            <a:ext cx="4114383" cy="297688"/>
          </a:xfrm>
          <a:prstGeom prst="rect">
            <a:avLst/>
          </a:prstGeom>
          <a:solidFill>
            <a:srgbClr val="333F44"/>
          </a:solidFill>
          <a:ln>
            <a:noFill/>
          </a:ln>
        </p:spPr>
        <p:txBody>
          <a:bodyPr spcFirstLastPara="1" wrap="square" lIns="91425" tIns="45700" rIns="91425" bIns="4570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Clr>
                <a:schemeClr val="dk1"/>
              </a:buClr>
              <a:buSzPts val="1200"/>
              <a:buFont typeface="Arial" panose="020B0604020202020204" pitchFamily="34" charset="0"/>
              <a:buNone/>
            </a:pPr>
            <a:r>
              <a:rPr lang="en-CA" sz="1400" b="1" dirty="0">
                <a:solidFill>
                  <a:schemeClr val="bg1"/>
                </a:solidFill>
                <a:ea typeface="Open Sans Light" panose="020B0306030504020204" pitchFamily="34" charset="0"/>
                <a:cs typeface="Open Sans Light" panose="020B0306030504020204" pitchFamily="34" charset="0"/>
              </a:rPr>
              <a:t>Valuation Summary</a:t>
            </a:r>
          </a:p>
        </p:txBody>
      </p:sp>
      <p:sp>
        <p:nvSpPr>
          <p:cNvPr id="7" name="Google Shape;1172;p84">
            <a:extLst>
              <a:ext uri="{FF2B5EF4-FFF2-40B4-BE49-F238E27FC236}">
                <a16:creationId xmlns:a16="http://schemas.microsoft.com/office/drawing/2014/main" id="{6247D28B-AA64-7EB2-9664-55ADC8CA15F3}"/>
              </a:ext>
            </a:extLst>
          </p:cNvPr>
          <p:cNvSpPr/>
          <p:nvPr/>
        </p:nvSpPr>
        <p:spPr>
          <a:xfrm>
            <a:off x="213142" y="3145554"/>
            <a:ext cx="1025525" cy="900000"/>
          </a:xfrm>
          <a:prstGeom prst="rect">
            <a:avLst/>
          </a:prstGeom>
          <a:solidFill>
            <a:srgbClr val="333F44"/>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dirty="0">
                <a:ln>
                  <a:noFill/>
                </a:ln>
                <a:solidFill>
                  <a:srgbClr val="FFFFFF"/>
                </a:solidFill>
                <a:effectLst/>
                <a:uLnTx/>
                <a:uFillTx/>
                <a:latin typeface="Arial"/>
                <a:ea typeface="Arial"/>
                <a:cs typeface="Arial"/>
                <a:sym typeface="Arial"/>
              </a:rPr>
              <a:t>Discounted Cash Flow Mult.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aphicFrame>
        <p:nvGraphicFramePr>
          <p:cNvPr id="41" name="Chart 40">
            <a:extLst>
              <a:ext uri="{FF2B5EF4-FFF2-40B4-BE49-F238E27FC236}">
                <a16:creationId xmlns:a16="http://schemas.microsoft.com/office/drawing/2014/main" id="{1058E109-8F21-6B57-37CC-6D598DA6F88D}"/>
              </a:ext>
            </a:extLst>
          </p:cNvPr>
          <p:cNvGraphicFramePr>
            <a:graphicFrameLocks/>
          </p:cNvGraphicFramePr>
          <p:nvPr>
            <p:extLst>
              <p:ext uri="{D42A27DB-BD31-4B8C-83A1-F6EECF244321}">
                <p14:modId xmlns:p14="http://schemas.microsoft.com/office/powerpoint/2010/main" val="3804497761"/>
              </p:ext>
            </p:extLst>
          </p:nvPr>
        </p:nvGraphicFramePr>
        <p:xfrm>
          <a:off x="1349644" y="1182066"/>
          <a:ext cx="3460236" cy="4999792"/>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a:extLst>
              <a:ext uri="{FF2B5EF4-FFF2-40B4-BE49-F238E27FC236}">
                <a16:creationId xmlns:a16="http://schemas.microsoft.com/office/drawing/2014/main" id="{E0532227-9AAB-D731-5D52-7D9BC25FCBCD}"/>
              </a:ext>
            </a:extLst>
          </p:cNvPr>
          <p:cNvSpPr txBox="1"/>
          <p:nvPr/>
        </p:nvSpPr>
        <p:spPr>
          <a:xfrm>
            <a:off x="1275030" y="1590652"/>
            <a:ext cx="825770" cy="307777"/>
          </a:xfrm>
          <a:prstGeom prst="rect">
            <a:avLst/>
          </a:prstGeom>
          <a:noFill/>
        </p:spPr>
        <p:txBody>
          <a:bodyPr wrap="square" rtlCol="0">
            <a:spAutoFit/>
          </a:bodyPr>
          <a:lstStyle/>
          <a:p>
            <a:r>
              <a:rPr lang="en-US" sz="1400" b="1" dirty="0"/>
              <a:t>$140</a:t>
            </a:r>
          </a:p>
        </p:txBody>
      </p:sp>
      <p:sp>
        <p:nvSpPr>
          <p:cNvPr id="42" name="TextBox 41">
            <a:extLst>
              <a:ext uri="{FF2B5EF4-FFF2-40B4-BE49-F238E27FC236}">
                <a16:creationId xmlns:a16="http://schemas.microsoft.com/office/drawing/2014/main" id="{A56A33D0-15BF-AABC-7616-51BEBF249D51}"/>
              </a:ext>
            </a:extLst>
          </p:cNvPr>
          <p:cNvSpPr txBox="1"/>
          <p:nvPr/>
        </p:nvSpPr>
        <p:spPr>
          <a:xfrm>
            <a:off x="3652624" y="1587477"/>
            <a:ext cx="825770" cy="307777"/>
          </a:xfrm>
          <a:prstGeom prst="rect">
            <a:avLst/>
          </a:prstGeom>
          <a:noFill/>
        </p:spPr>
        <p:txBody>
          <a:bodyPr wrap="square" rtlCol="0">
            <a:spAutoFit/>
          </a:bodyPr>
          <a:lstStyle/>
          <a:p>
            <a:r>
              <a:rPr lang="en-US" sz="1400" b="1" dirty="0"/>
              <a:t>$300</a:t>
            </a:r>
          </a:p>
        </p:txBody>
      </p:sp>
      <p:sp>
        <p:nvSpPr>
          <p:cNvPr id="43" name="TextBox 42">
            <a:extLst>
              <a:ext uri="{FF2B5EF4-FFF2-40B4-BE49-F238E27FC236}">
                <a16:creationId xmlns:a16="http://schemas.microsoft.com/office/drawing/2014/main" id="{8EF86A1A-7FF6-E8DE-4CD9-B0A0337FC6F2}"/>
              </a:ext>
            </a:extLst>
          </p:cNvPr>
          <p:cNvSpPr txBox="1"/>
          <p:nvPr/>
        </p:nvSpPr>
        <p:spPr>
          <a:xfrm>
            <a:off x="3317441" y="2500755"/>
            <a:ext cx="825770" cy="307777"/>
          </a:xfrm>
          <a:prstGeom prst="rect">
            <a:avLst/>
          </a:prstGeom>
          <a:noFill/>
        </p:spPr>
        <p:txBody>
          <a:bodyPr wrap="square" rtlCol="0">
            <a:spAutoFit/>
          </a:bodyPr>
          <a:lstStyle/>
          <a:p>
            <a:r>
              <a:rPr lang="en-US" sz="1400" b="1" dirty="0"/>
              <a:t>$268</a:t>
            </a:r>
          </a:p>
        </p:txBody>
      </p:sp>
      <p:sp>
        <p:nvSpPr>
          <p:cNvPr id="44" name="TextBox 43">
            <a:extLst>
              <a:ext uri="{FF2B5EF4-FFF2-40B4-BE49-F238E27FC236}">
                <a16:creationId xmlns:a16="http://schemas.microsoft.com/office/drawing/2014/main" id="{F17E3258-700E-1301-6EB7-D7826088ECF4}"/>
              </a:ext>
            </a:extLst>
          </p:cNvPr>
          <p:cNvSpPr txBox="1"/>
          <p:nvPr/>
        </p:nvSpPr>
        <p:spPr>
          <a:xfrm>
            <a:off x="1493797" y="2500755"/>
            <a:ext cx="825770" cy="307777"/>
          </a:xfrm>
          <a:prstGeom prst="rect">
            <a:avLst/>
          </a:prstGeom>
          <a:noFill/>
        </p:spPr>
        <p:txBody>
          <a:bodyPr wrap="square" rtlCol="0">
            <a:spAutoFit/>
          </a:bodyPr>
          <a:lstStyle/>
          <a:p>
            <a:r>
              <a:rPr lang="en-US" sz="1400" b="1" dirty="0"/>
              <a:t>$160</a:t>
            </a:r>
          </a:p>
        </p:txBody>
      </p:sp>
      <p:sp>
        <p:nvSpPr>
          <p:cNvPr id="45" name="TextBox 44">
            <a:extLst>
              <a:ext uri="{FF2B5EF4-FFF2-40B4-BE49-F238E27FC236}">
                <a16:creationId xmlns:a16="http://schemas.microsoft.com/office/drawing/2014/main" id="{1A87D201-245B-61EB-085C-12C211875282}"/>
              </a:ext>
            </a:extLst>
          </p:cNvPr>
          <p:cNvSpPr txBox="1"/>
          <p:nvPr/>
        </p:nvSpPr>
        <p:spPr>
          <a:xfrm>
            <a:off x="2176791" y="3453335"/>
            <a:ext cx="825770" cy="307777"/>
          </a:xfrm>
          <a:prstGeom prst="rect">
            <a:avLst/>
          </a:prstGeom>
          <a:noFill/>
        </p:spPr>
        <p:txBody>
          <a:bodyPr wrap="square" rtlCol="0">
            <a:spAutoFit/>
          </a:bodyPr>
          <a:lstStyle/>
          <a:p>
            <a:r>
              <a:rPr lang="en-US" sz="1400" b="1" dirty="0"/>
              <a:t>$221</a:t>
            </a:r>
          </a:p>
        </p:txBody>
      </p:sp>
      <p:sp>
        <p:nvSpPr>
          <p:cNvPr id="46" name="TextBox 45">
            <a:extLst>
              <a:ext uri="{FF2B5EF4-FFF2-40B4-BE49-F238E27FC236}">
                <a16:creationId xmlns:a16="http://schemas.microsoft.com/office/drawing/2014/main" id="{8801611C-1AD8-9295-90C7-EF9AA8FCE13E}"/>
              </a:ext>
            </a:extLst>
          </p:cNvPr>
          <p:cNvSpPr txBox="1"/>
          <p:nvPr/>
        </p:nvSpPr>
        <p:spPr>
          <a:xfrm>
            <a:off x="3050731" y="3460420"/>
            <a:ext cx="825770" cy="307777"/>
          </a:xfrm>
          <a:prstGeom prst="rect">
            <a:avLst/>
          </a:prstGeom>
          <a:noFill/>
        </p:spPr>
        <p:txBody>
          <a:bodyPr wrap="square" rtlCol="0">
            <a:spAutoFit/>
          </a:bodyPr>
          <a:lstStyle/>
          <a:p>
            <a:r>
              <a:rPr lang="en-US" sz="1400" b="1" dirty="0"/>
              <a:t>$247</a:t>
            </a:r>
          </a:p>
        </p:txBody>
      </p:sp>
      <p:sp>
        <p:nvSpPr>
          <p:cNvPr id="47" name="TextBox 46">
            <a:extLst>
              <a:ext uri="{FF2B5EF4-FFF2-40B4-BE49-F238E27FC236}">
                <a16:creationId xmlns:a16="http://schemas.microsoft.com/office/drawing/2014/main" id="{97595FCD-092B-E333-1CB4-4F835ACFA83C}"/>
              </a:ext>
            </a:extLst>
          </p:cNvPr>
          <p:cNvSpPr txBox="1"/>
          <p:nvPr/>
        </p:nvSpPr>
        <p:spPr>
          <a:xfrm>
            <a:off x="3239739" y="4353378"/>
            <a:ext cx="825770" cy="307777"/>
          </a:xfrm>
          <a:prstGeom prst="rect">
            <a:avLst/>
          </a:prstGeom>
          <a:noFill/>
        </p:spPr>
        <p:txBody>
          <a:bodyPr wrap="square" rtlCol="0">
            <a:spAutoFit/>
          </a:bodyPr>
          <a:lstStyle/>
          <a:p>
            <a:r>
              <a:rPr lang="en-US" sz="1400" b="1" dirty="0"/>
              <a:t>$264</a:t>
            </a:r>
          </a:p>
        </p:txBody>
      </p:sp>
      <p:sp>
        <p:nvSpPr>
          <p:cNvPr id="48" name="TextBox 47">
            <a:extLst>
              <a:ext uri="{FF2B5EF4-FFF2-40B4-BE49-F238E27FC236}">
                <a16:creationId xmlns:a16="http://schemas.microsoft.com/office/drawing/2014/main" id="{E6549B10-B0D4-845F-67D2-ADC2CD3A38BF}"/>
              </a:ext>
            </a:extLst>
          </p:cNvPr>
          <p:cNvSpPr txBox="1"/>
          <p:nvPr/>
        </p:nvSpPr>
        <p:spPr>
          <a:xfrm>
            <a:off x="2302992" y="4353378"/>
            <a:ext cx="825770" cy="307777"/>
          </a:xfrm>
          <a:prstGeom prst="rect">
            <a:avLst/>
          </a:prstGeom>
          <a:noFill/>
        </p:spPr>
        <p:txBody>
          <a:bodyPr wrap="square" rtlCol="0">
            <a:spAutoFit/>
          </a:bodyPr>
          <a:lstStyle/>
          <a:p>
            <a:r>
              <a:rPr lang="en-US" sz="1400" b="1" dirty="0"/>
              <a:t>$231</a:t>
            </a:r>
          </a:p>
        </p:txBody>
      </p:sp>
      <p:sp>
        <p:nvSpPr>
          <p:cNvPr id="49" name="TextBox 48">
            <a:extLst>
              <a:ext uri="{FF2B5EF4-FFF2-40B4-BE49-F238E27FC236}">
                <a16:creationId xmlns:a16="http://schemas.microsoft.com/office/drawing/2014/main" id="{5AE8DAD6-0AAE-15AD-0133-DDC1ABB5E9C5}"/>
              </a:ext>
            </a:extLst>
          </p:cNvPr>
          <p:cNvSpPr txBox="1"/>
          <p:nvPr/>
        </p:nvSpPr>
        <p:spPr>
          <a:xfrm>
            <a:off x="1477222" y="5267618"/>
            <a:ext cx="825770" cy="307777"/>
          </a:xfrm>
          <a:prstGeom prst="rect">
            <a:avLst/>
          </a:prstGeom>
          <a:noFill/>
        </p:spPr>
        <p:txBody>
          <a:bodyPr wrap="square" rtlCol="0">
            <a:spAutoFit/>
          </a:bodyPr>
          <a:lstStyle/>
          <a:p>
            <a:r>
              <a:rPr lang="en-US" sz="1400" b="1" dirty="0"/>
              <a:t>$159</a:t>
            </a:r>
          </a:p>
        </p:txBody>
      </p:sp>
      <p:sp>
        <p:nvSpPr>
          <p:cNvPr id="50" name="TextBox 49">
            <a:extLst>
              <a:ext uri="{FF2B5EF4-FFF2-40B4-BE49-F238E27FC236}">
                <a16:creationId xmlns:a16="http://schemas.microsoft.com/office/drawing/2014/main" id="{81DD0AEE-CA08-AC80-05A4-618646189C2F}"/>
              </a:ext>
            </a:extLst>
          </p:cNvPr>
          <p:cNvSpPr txBox="1"/>
          <p:nvPr/>
        </p:nvSpPr>
        <p:spPr>
          <a:xfrm>
            <a:off x="4217867" y="5267618"/>
            <a:ext cx="825770" cy="307777"/>
          </a:xfrm>
          <a:prstGeom prst="rect">
            <a:avLst/>
          </a:prstGeom>
          <a:noFill/>
        </p:spPr>
        <p:txBody>
          <a:bodyPr wrap="square" rtlCol="0">
            <a:spAutoFit/>
          </a:bodyPr>
          <a:lstStyle/>
          <a:p>
            <a:r>
              <a:rPr lang="en-US" sz="1400" b="1" dirty="0"/>
              <a:t>$349</a:t>
            </a:r>
          </a:p>
        </p:txBody>
      </p:sp>
      <p:cxnSp>
        <p:nvCxnSpPr>
          <p:cNvPr id="51" name="Google Shape;1175;p84">
            <a:extLst>
              <a:ext uri="{FF2B5EF4-FFF2-40B4-BE49-F238E27FC236}">
                <a16:creationId xmlns:a16="http://schemas.microsoft.com/office/drawing/2014/main" id="{56FFBA9F-9EF0-CA11-7BC6-CE3FFDF0417A}"/>
              </a:ext>
            </a:extLst>
          </p:cNvPr>
          <p:cNvCxnSpPr>
            <a:cxnSpLocks/>
          </p:cNvCxnSpPr>
          <p:nvPr/>
        </p:nvCxnSpPr>
        <p:spPr>
          <a:xfrm flipV="1">
            <a:off x="2891572" y="1436044"/>
            <a:ext cx="0" cy="4436679"/>
          </a:xfrm>
          <a:prstGeom prst="straightConnector1">
            <a:avLst/>
          </a:prstGeom>
          <a:noFill/>
          <a:ln w="19050" cap="flat" cmpd="sng">
            <a:solidFill>
              <a:schemeClr val="bg1"/>
            </a:solidFill>
            <a:prstDash val="dash"/>
            <a:round/>
            <a:headEnd type="none" w="sm" len="sm"/>
            <a:tailEnd type="none" w="sm" len="sm"/>
          </a:ln>
        </p:spPr>
      </p:cxnSp>
      <p:sp>
        <p:nvSpPr>
          <p:cNvPr id="54" name="Google Shape;1176;p84">
            <a:extLst>
              <a:ext uri="{FF2B5EF4-FFF2-40B4-BE49-F238E27FC236}">
                <a16:creationId xmlns:a16="http://schemas.microsoft.com/office/drawing/2014/main" id="{B3758C96-F8E2-F0D6-A155-353544BA5324}"/>
              </a:ext>
            </a:extLst>
          </p:cNvPr>
          <p:cNvSpPr/>
          <p:nvPr/>
        </p:nvSpPr>
        <p:spPr>
          <a:xfrm>
            <a:off x="3317441" y="3055575"/>
            <a:ext cx="825769" cy="220205"/>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CA" sz="1200" b="0" i="0" u="none" strike="noStrike" kern="0" cap="none" spc="0" normalizeH="0" baseline="0" noProof="0" dirty="0">
                <a:ln>
                  <a:noFill/>
                </a:ln>
                <a:solidFill>
                  <a:srgbClr val="FFFFFF"/>
                </a:solidFill>
                <a:effectLst/>
                <a:uLnTx/>
                <a:uFillTx/>
                <a:latin typeface="Arial"/>
                <a:ea typeface="Arial"/>
                <a:cs typeface="Arial"/>
                <a:sym typeface="Arial"/>
              </a:rPr>
              <a:t>$231.45</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cxnSp>
        <p:nvCxnSpPr>
          <p:cNvPr id="55" name="Straight Arrow Connector 54">
            <a:extLst>
              <a:ext uri="{FF2B5EF4-FFF2-40B4-BE49-F238E27FC236}">
                <a16:creationId xmlns:a16="http://schemas.microsoft.com/office/drawing/2014/main" id="{B8BED4EA-DDDD-884B-A2C4-FFC7E97CD48E}"/>
              </a:ext>
            </a:extLst>
          </p:cNvPr>
          <p:cNvCxnSpPr/>
          <p:nvPr/>
        </p:nvCxnSpPr>
        <p:spPr>
          <a:xfrm flipH="1">
            <a:off x="2987144" y="3172295"/>
            <a:ext cx="325256" cy="0"/>
          </a:xfrm>
          <a:prstGeom prst="straightConnector1">
            <a:avLst/>
          </a:prstGeom>
          <a:ln>
            <a:solidFill>
              <a:srgbClr val="333F44"/>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F4B3924C-2DC4-A5DF-ECF9-EC2096A1BF39}"/>
              </a:ext>
            </a:extLst>
          </p:cNvPr>
          <p:cNvSpPr txBox="1"/>
          <p:nvPr/>
        </p:nvSpPr>
        <p:spPr>
          <a:xfrm>
            <a:off x="6363191" y="3924384"/>
            <a:ext cx="825770" cy="492443"/>
          </a:xfrm>
          <a:prstGeom prst="rect">
            <a:avLst/>
          </a:prstGeom>
          <a:noFill/>
        </p:spPr>
        <p:txBody>
          <a:bodyPr wrap="square" rtlCol="0">
            <a:spAutoFit/>
          </a:bodyPr>
          <a:lstStyle/>
          <a:p>
            <a:r>
              <a:rPr lang="en-US" sz="1300" b="1" dirty="0"/>
              <a:t>$167.80</a:t>
            </a:r>
          </a:p>
          <a:p>
            <a:pPr algn="ctr"/>
            <a:r>
              <a:rPr lang="en-US" sz="1200" dirty="0"/>
              <a:t>0%</a:t>
            </a:r>
          </a:p>
        </p:txBody>
      </p:sp>
      <p:sp>
        <p:nvSpPr>
          <p:cNvPr id="61" name="TextBox 60">
            <a:extLst>
              <a:ext uri="{FF2B5EF4-FFF2-40B4-BE49-F238E27FC236}">
                <a16:creationId xmlns:a16="http://schemas.microsoft.com/office/drawing/2014/main" id="{B9E7E5CF-0FF5-4FE3-951A-5E02B6840719}"/>
              </a:ext>
            </a:extLst>
          </p:cNvPr>
          <p:cNvSpPr txBox="1"/>
          <p:nvPr/>
        </p:nvSpPr>
        <p:spPr>
          <a:xfrm>
            <a:off x="7746101" y="3924384"/>
            <a:ext cx="825770" cy="492443"/>
          </a:xfrm>
          <a:prstGeom prst="rect">
            <a:avLst/>
          </a:prstGeom>
          <a:noFill/>
        </p:spPr>
        <p:txBody>
          <a:bodyPr wrap="square" rtlCol="0">
            <a:spAutoFit/>
          </a:bodyPr>
          <a:lstStyle/>
          <a:p>
            <a:r>
              <a:rPr lang="en-US" sz="1300" b="1" dirty="0"/>
              <a:t>$231.45</a:t>
            </a:r>
          </a:p>
          <a:p>
            <a:pPr algn="ctr"/>
            <a:r>
              <a:rPr lang="en-US" sz="1200" dirty="0"/>
              <a:t>37.9%</a:t>
            </a:r>
          </a:p>
        </p:txBody>
      </p:sp>
      <p:sp>
        <p:nvSpPr>
          <p:cNvPr id="62" name="TextBox 61">
            <a:extLst>
              <a:ext uri="{FF2B5EF4-FFF2-40B4-BE49-F238E27FC236}">
                <a16:creationId xmlns:a16="http://schemas.microsoft.com/office/drawing/2014/main" id="{4A62A59C-3AEF-B762-15D5-F110B1FB03B0}"/>
              </a:ext>
            </a:extLst>
          </p:cNvPr>
          <p:cNvSpPr txBox="1"/>
          <p:nvPr/>
        </p:nvSpPr>
        <p:spPr>
          <a:xfrm>
            <a:off x="5526038" y="3924384"/>
            <a:ext cx="825770" cy="492443"/>
          </a:xfrm>
          <a:prstGeom prst="rect">
            <a:avLst/>
          </a:prstGeom>
          <a:noFill/>
        </p:spPr>
        <p:txBody>
          <a:bodyPr wrap="square" rtlCol="0">
            <a:spAutoFit/>
          </a:bodyPr>
          <a:lstStyle/>
          <a:p>
            <a:pPr algn="ctr"/>
            <a:r>
              <a:rPr lang="en-US" sz="1300" b="1" dirty="0"/>
              <a:t>$140</a:t>
            </a:r>
          </a:p>
          <a:p>
            <a:pPr algn="ctr"/>
            <a:r>
              <a:rPr lang="en-US" sz="1200" dirty="0"/>
              <a:t>(16.6%)</a:t>
            </a:r>
          </a:p>
        </p:txBody>
      </p:sp>
    </p:spTree>
    <p:extLst>
      <p:ext uri="{BB962C8B-B14F-4D97-AF65-F5344CB8AC3E}">
        <p14:creationId xmlns:p14="http://schemas.microsoft.com/office/powerpoint/2010/main" val="3228802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6350">
          <a:solidFill>
            <a:schemeClr val="tx1"/>
          </a:solidFill>
        </a:ln>
      </a:spPr>
      <a:bodyPr rtlCol="0" anchor="ctr"/>
      <a:lstStyle>
        <a:defPPr marL="173038" indent="-173038">
          <a:buFont typeface="Wingdings" panose="05000000000000000000" pitchFamily="2" charset="2"/>
          <a:buChar char="§"/>
          <a:defRPr sz="1200" dirty="0" smtClean="0">
            <a:solidFill>
              <a:schemeClr val="tx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6350">
          <a:solidFill>
            <a:schemeClr val="tx1"/>
          </a:solidFill>
        </a:ln>
      </a:spPr>
      <a:bodyPr rtlCol="0" anchor="ctr"/>
      <a:lstStyle>
        <a:defPPr marL="173038" indent="-173038">
          <a:buFont typeface="Wingdings" panose="05000000000000000000" pitchFamily="2" charset="2"/>
          <a:buChar char="§"/>
          <a:defRPr sz="1200" dirty="0" smtClean="0">
            <a:solidFill>
              <a:schemeClr val="tx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Limestone">
    <a:dk1>
      <a:srgbClr val="000000"/>
    </a:dk1>
    <a:lt1>
      <a:srgbClr val="FFFFFF"/>
    </a:lt1>
    <a:dk2>
      <a:srgbClr val="000000"/>
    </a:dk2>
    <a:lt2>
      <a:srgbClr val="FFFFFF"/>
    </a:lt2>
    <a:accent1>
      <a:srgbClr val="ED7D31"/>
    </a:accent1>
    <a:accent2>
      <a:srgbClr val="7F7F7F"/>
    </a:accent2>
    <a:accent3>
      <a:srgbClr val="F79646"/>
    </a:accent3>
    <a:accent4>
      <a:srgbClr val="984807"/>
    </a:accent4>
    <a:accent5>
      <a:srgbClr val="D9D9D9"/>
    </a:accent5>
    <a:accent6>
      <a:srgbClr val="7F7F7F"/>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5F4D5F2B10064CBE583E3864B6AE5E" ma:contentTypeVersion="8" ma:contentTypeDescription="Crée un document." ma:contentTypeScope="" ma:versionID="230288d815fd1c02d5752d7070005c00">
  <xsd:schema xmlns:xsd="http://www.w3.org/2001/XMLSchema" xmlns:xs="http://www.w3.org/2001/XMLSchema" xmlns:p="http://schemas.microsoft.com/office/2006/metadata/properties" xmlns:ns3="6f5f9d28-0bb3-4b7c-aac7-4fa93115e979" xmlns:ns4="322653f7-20fe-4022-8ba2-40af190b9ccb" targetNamespace="http://schemas.microsoft.com/office/2006/metadata/properties" ma:root="true" ma:fieldsID="d0f9ac5a8048ee8d152f5bfb36955834" ns3:_="" ns4:_="">
    <xsd:import namespace="6f5f9d28-0bb3-4b7c-aac7-4fa93115e979"/>
    <xsd:import namespace="322653f7-20fe-4022-8ba2-40af190b9cc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_activity"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5f9d28-0bb3-4b7c-aac7-4fa93115e9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22653f7-20fe-4022-8ba2-40af190b9ccb" elementFormDefault="qualified">
    <xsd:import namespace="http://schemas.microsoft.com/office/2006/documentManagement/types"/>
    <xsd:import namespace="http://schemas.microsoft.com/office/infopath/2007/PartnerControls"/>
    <xsd:element name="SharedWithUsers" ma:index="13"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Partagé avec détails" ma:internalName="SharedWithDetails" ma:readOnly="true">
      <xsd:simpleType>
        <xsd:restriction base="dms:Note">
          <xsd:maxLength value="255"/>
        </xsd:restriction>
      </xsd:simpleType>
    </xsd:element>
    <xsd:element name="SharingHintHash" ma:index="15"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6f5f9d28-0bb3-4b7c-aac7-4fa93115e979" xsi:nil="true"/>
  </documentManagement>
</p:properties>
</file>

<file path=customXml/itemProps1.xml><?xml version="1.0" encoding="utf-8"?>
<ds:datastoreItem xmlns:ds="http://schemas.openxmlformats.org/officeDocument/2006/customXml" ds:itemID="{7D18A6CA-6188-4F10-8396-5FADABB48D7F}">
  <ds:schemaRefs>
    <ds:schemaRef ds:uri="322653f7-20fe-4022-8ba2-40af190b9ccb"/>
    <ds:schemaRef ds:uri="6f5f9d28-0bb3-4b7c-aac7-4fa93115e97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F4850CE-EAA3-41C0-9595-80EDD0321D02}">
  <ds:schemaRefs>
    <ds:schemaRef ds:uri="http://schemas.microsoft.com/sharepoint/v3/contenttype/forms"/>
  </ds:schemaRefs>
</ds:datastoreItem>
</file>

<file path=customXml/itemProps3.xml><?xml version="1.0" encoding="utf-8"?>
<ds:datastoreItem xmlns:ds="http://schemas.openxmlformats.org/officeDocument/2006/customXml" ds:itemID="{E6A3102B-7055-4226-8875-560DB39AD89E}">
  <ds:schemaRefs>
    <ds:schemaRef ds:uri="http://purl.org/dc/dcmitype/"/>
    <ds:schemaRef ds:uri="http://schemas.microsoft.com/office/infopath/2007/PartnerControls"/>
    <ds:schemaRef ds:uri="322653f7-20fe-4022-8ba2-40af190b9ccb"/>
    <ds:schemaRef ds:uri="http://schemas.microsoft.com/office/2006/documentManagement/types"/>
    <ds:schemaRef ds:uri="http://schemas.microsoft.com/office/2006/metadata/properties"/>
    <ds:schemaRef ds:uri="6f5f9d28-0bb3-4b7c-aac7-4fa93115e979"/>
    <ds:schemaRef ds:uri="http://purl.org/dc/terms/"/>
    <ds:schemaRef ds:uri="http://schemas.openxmlformats.org/package/2006/metadata/core-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2437</TotalTime>
  <Words>3195</Words>
  <Application>Microsoft Office PowerPoint</Application>
  <PresentationFormat>On-screen Show (4:3)</PresentationFormat>
  <Paragraphs>801</Paragraphs>
  <Slides>21</Slides>
  <Notes>5</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21</vt:i4>
      </vt:variant>
    </vt:vector>
  </HeadingPairs>
  <TitlesOfParts>
    <vt:vector size="31" baseType="lpstr">
      <vt:lpstr>ＭＳ Ｐゴシック</vt:lpstr>
      <vt:lpstr>Arial</vt:lpstr>
      <vt:lpstr>Arial Narrow</vt:lpstr>
      <vt:lpstr>Calibri</vt:lpstr>
      <vt:lpstr>Noto Sans Symbols</vt:lpstr>
      <vt:lpstr>Open Sans</vt:lpstr>
      <vt:lpstr>Open Sans Light</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Nautilus</dc:title>
  <dc:creator>BIWS</dc:creator>
  <cp:lastModifiedBy>CASSIN Luca</cp:lastModifiedBy>
  <cp:revision>2</cp:revision>
  <dcterms:created xsi:type="dcterms:W3CDTF">2010-05-26T09:54:24Z</dcterms:created>
  <dcterms:modified xsi:type="dcterms:W3CDTF">2024-05-02T14:54:04Z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0x010100615F4D5F2B10064CBE583E3864B6AE5E</vt:lpwstr>
  </property>
</Properties>
</file>