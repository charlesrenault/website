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61" r:id="rId4"/>
    <p:sldId id="262" r:id="rId5"/>
    <p:sldId id="266" r:id="rId6"/>
    <p:sldId id="267" r:id="rId7"/>
    <p:sldId id="268" r:id="rId8"/>
    <p:sldId id="270" r:id="rId9"/>
    <p:sldId id="308" r:id="rId10"/>
    <p:sldId id="273" r:id="rId11"/>
    <p:sldId id="347" r:id="rId12"/>
    <p:sldId id="271" r:id="rId13"/>
    <p:sldId id="474" r:id="rId14"/>
    <p:sldId id="275" r:id="rId15"/>
    <p:sldId id="479" r:id="rId16"/>
    <p:sldId id="480" r:id="rId17"/>
    <p:sldId id="277" r:id="rId18"/>
    <p:sldId id="278" r:id="rId1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63"/>
    <p:restoredTop sz="94650"/>
  </p:normalViewPr>
  <p:slideViewPr>
    <p:cSldViewPr snapToGrid="0">
      <p:cViewPr varScale="1">
        <p:scale>
          <a:sx n="120" d="100"/>
          <a:sy n="120" d="100"/>
        </p:scale>
        <p:origin x="10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1BB9D9-164B-AF46-93C0-C95B77D5FA59}" type="datetimeFigureOut">
              <a:rPr lang="fr-FR" smtClean="0"/>
              <a:t>03/04/2026</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7B22B3-865F-4B40-A076-D5836391BEBF}" type="slidenum">
              <a:rPr lang="fr-FR" smtClean="0"/>
              <a:t>‹N°›</a:t>
            </a:fld>
            <a:endParaRPr lang="fr-FR"/>
          </a:p>
        </p:txBody>
      </p:sp>
    </p:spTree>
    <p:extLst>
      <p:ext uri="{BB962C8B-B14F-4D97-AF65-F5344CB8AC3E}">
        <p14:creationId xmlns:p14="http://schemas.microsoft.com/office/powerpoint/2010/main" val="1231194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6: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6:notes"/>
          <p:cNvSpPr>
            <a:spLocks noGrp="1" noRot="1" noChangeAspect="1"/>
          </p:cNvSpPr>
          <p:nvPr>
            <p:ph type="sldImg" idx="2"/>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7: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7:notes"/>
          <p:cNvSpPr>
            <a:spLocks noGrp="1" noRot="1" noChangeAspect="1"/>
          </p:cNvSpPr>
          <p:nvPr>
            <p:ph type="sldImg" idx="2"/>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11: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1:notes"/>
          <p:cNvSpPr>
            <a:spLocks noGrp="1" noRot="1" noChangeAspect="1"/>
          </p:cNvSpPr>
          <p:nvPr>
            <p:ph type="sldImg" idx="2"/>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12: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3" name="Google Shape;563;p12:notes"/>
          <p:cNvSpPr>
            <a:spLocks noGrp="1" noRot="1" noChangeAspect="1"/>
          </p:cNvSpPr>
          <p:nvPr>
            <p:ph type="sldImg" idx="2"/>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13: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6" name="Google Shape;616;p13:notes"/>
          <p:cNvSpPr>
            <a:spLocks noGrp="1" noRot="1" noChangeAspect="1"/>
          </p:cNvSpPr>
          <p:nvPr>
            <p:ph type="sldImg" idx="2"/>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1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32" name="Google Shape;732;p1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733" name="Google Shape;733;p15:notes"/>
          <p:cNvSpPr>
            <a:spLocks noGrp="1" noRot="1" noChangeAspect="1"/>
          </p:cNvSpPr>
          <p:nvPr>
            <p:ph type="sldImg" idx="3"/>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4" name="Google Shape;734;p1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16</a:t>
            </a:r>
            <a:endParaRPr/>
          </a:p>
        </p:txBody>
      </p:sp>
      <p:sp>
        <p:nvSpPr>
          <p:cNvPr id="735" name="Google Shape;735;p1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36" name="Google Shape;736;p1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a:extLst>
            <a:ext uri="{FF2B5EF4-FFF2-40B4-BE49-F238E27FC236}">
              <a16:creationId xmlns:a16="http://schemas.microsoft.com/office/drawing/2014/main" id="{4DD8464C-8503-257C-2B7F-58F51E227609}"/>
            </a:ext>
          </a:extLst>
        </p:cNvPr>
        <p:cNvGrpSpPr/>
        <p:nvPr/>
      </p:nvGrpSpPr>
      <p:grpSpPr>
        <a:xfrm>
          <a:off x="0" y="0"/>
          <a:ext cx="0" cy="0"/>
          <a:chOff x="0" y="0"/>
          <a:chExt cx="0" cy="0"/>
        </a:xfrm>
      </p:grpSpPr>
      <p:sp>
        <p:nvSpPr>
          <p:cNvPr id="802" name="Google Shape;802;p17:notes">
            <a:extLst>
              <a:ext uri="{FF2B5EF4-FFF2-40B4-BE49-F238E27FC236}">
                <a16:creationId xmlns:a16="http://schemas.microsoft.com/office/drawing/2014/main" id="{5BE95FC1-5BE6-ADB8-9B9E-5F752D5CA6CA}"/>
              </a:ext>
            </a:extLst>
          </p:cNvPr>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803" name="Google Shape;803;p17:notes">
            <a:extLst>
              <a:ext uri="{FF2B5EF4-FFF2-40B4-BE49-F238E27FC236}">
                <a16:creationId xmlns:a16="http://schemas.microsoft.com/office/drawing/2014/main" id="{42F30D0F-A4E7-9A2E-6C33-B9B9A3B32FE6}"/>
              </a:ext>
            </a:extLst>
          </p:cNvPr>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804" name="Google Shape;804;p17:notes">
            <a:extLst>
              <a:ext uri="{FF2B5EF4-FFF2-40B4-BE49-F238E27FC236}">
                <a16:creationId xmlns:a16="http://schemas.microsoft.com/office/drawing/2014/main" id="{B845F6E0-E3B8-3534-6D02-C00E26F7196F}"/>
              </a:ext>
            </a:extLst>
          </p:cNvPr>
          <p:cNvSpPr>
            <a:spLocks noGrp="1" noRot="1" noChangeAspect="1"/>
          </p:cNvSpPr>
          <p:nvPr>
            <p:ph type="sldImg" idx="3"/>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805" name="Google Shape;805;p17:notes">
            <a:extLst>
              <a:ext uri="{FF2B5EF4-FFF2-40B4-BE49-F238E27FC236}">
                <a16:creationId xmlns:a16="http://schemas.microsoft.com/office/drawing/2014/main" id="{AEF656FF-6AB2-73C6-9A6B-31D09F502B39}"/>
              </a:ext>
            </a:extLst>
          </p:cNvPr>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17</a:t>
            </a:r>
            <a:endParaRPr/>
          </a:p>
        </p:txBody>
      </p:sp>
      <p:sp>
        <p:nvSpPr>
          <p:cNvPr id="806" name="Google Shape;806;p17:notes">
            <a:extLst>
              <a:ext uri="{FF2B5EF4-FFF2-40B4-BE49-F238E27FC236}">
                <a16:creationId xmlns:a16="http://schemas.microsoft.com/office/drawing/2014/main" id="{DBB09FF0-C627-E961-1C6E-E33A99378B97}"/>
              </a:ext>
            </a:extLst>
          </p:cNvPr>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807" name="Google Shape;807;p17:notes">
            <a:extLst>
              <a:ext uri="{FF2B5EF4-FFF2-40B4-BE49-F238E27FC236}">
                <a16:creationId xmlns:a16="http://schemas.microsoft.com/office/drawing/2014/main" id="{A709C2CF-1076-768D-3A37-221C5EBB5D42}"/>
              </a:ext>
            </a:extLst>
          </p:cNvPr>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4230427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p1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75" name="Google Shape;875;p1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876" name="Google Shape;876;p18:notes"/>
          <p:cNvSpPr>
            <a:spLocks noGrp="1" noRot="1" noChangeAspect="1"/>
          </p:cNvSpPr>
          <p:nvPr>
            <p:ph type="sldImg" idx="3"/>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7" name="Google Shape;877;p1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a:t>
            </a:r>
            <a:endParaRPr/>
          </a:p>
        </p:txBody>
      </p:sp>
      <p:sp>
        <p:nvSpPr>
          <p:cNvPr id="878" name="Google Shape;878;p1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79" name="Google Shape;879;p1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a:extLst>
            <a:ext uri="{FF2B5EF4-FFF2-40B4-BE49-F238E27FC236}">
              <a16:creationId xmlns:a16="http://schemas.microsoft.com/office/drawing/2014/main" id="{6F32FFF7-8569-2880-EAF6-71934811CB25}"/>
            </a:ext>
          </a:extLst>
        </p:cNvPr>
        <p:cNvGrpSpPr/>
        <p:nvPr/>
      </p:nvGrpSpPr>
      <p:grpSpPr>
        <a:xfrm>
          <a:off x="0" y="0"/>
          <a:ext cx="0" cy="0"/>
          <a:chOff x="0" y="0"/>
          <a:chExt cx="0" cy="0"/>
        </a:xfrm>
      </p:grpSpPr>
      <p:sp>
        <p:nvSpPr>
          <p:cNvPr id="847" name="Google Shape;847;p18:notes">
            <a:extLst>
              <a:ext uri="{FF2B5EF4-FFF2-40B4-BE49-F238E27FC236}">
                <a16:creationId xmlns:a16="http://schemas.microsoft.com/office/drawing/2014/main" id="{001627D2-8A77-8DB3-668C-BDC5C1A1E235}"/>
              </a:ext>
            </a:extLst>
          </p:cNvPr>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848" name="Google Shape;848;p18:notes">
            <a:extLst>
              <a:ext uri="{FF2B5EF4-FFF2-40B4-BE49-F238E27FC236}">
                <a16:creationId xmlns:a16="http://schemas.microsoft.com/office/drawing/2014/main" id="{E3C64595-992D-18EF-C1B6-1FD934810A1B}"/>
              </a:ext>
            </a:extLst>
          </p:cNvPr>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849" name="Google Shape;849;p18:notes">
            <a:extLst>
              <a:ext uri="{FF2B5EF4-FFF2-40B4-BE49-F238E27FC236}">
                <a16:creationId xmlns:a16="http://schemas.microsoft.com/office/drawing/2014/main" id="{CCB27884-2360-CCF4-58C0-A4D4F13DD321}"/>
              </a:ext>
            </a:extLst>
          </p:cNvPr>
          <p:cNvSpPr>
            <a:spLocks noGrp="1" noRot="1" noChangeAspect="1"/>
          </p:cNvSpPr>
          <p:nvPr>
            <p:ph type="sldImg" idx="3"/>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850" name="Google Shape;850;p18:notes">
            <a:extLst>
              <a:ext uri="{FF2B5EF4-FFF2-40B4-BE49-F238E27FC236}">
                <a16:creationId xmlns:a16="http://schemas.microsoft.com/office/drawing/2014/main" id="{4224733B-2C30-5D00-CA86-0614AC9913AB}"/>
              </a:ext>
            </a:extLst>
          </p:cNvPr>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17</a:t>
            </a:r>
            <a:endParaRPr/>
          </a:p>
        </p:txBody>
      </p:sp>
      <p:sp>
        <p:nvSpPr>
          <p:cNvPr id="851" name="Google Shape;851;p18:notes">
            <a:extLst>
              <a:ext uri="{FF2B5EF4-FFF2-40B4-BE49-F238E27FC236}">
                <a16:creationId xmlns:a16="http://schemas.microsoft.com/office/drawing/2014/main" id="{8D5C0ECF-547D-66F2-0B38-F06FC02A28BE}"/>
              </a:ext>
            </a:extLst>
          </p:cNvPr>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852" name="Google Shape;852;p18:notes">
            <a:extLst>
              <a:ext uri="{FF2B5EF4-FFF2-40B4-BE49-F238E27FC236}">
                <a16:creationId xmlns:a16="http://schemas.microsoft.com/office/drawing/2014/main" id="{ABDE0447-8437-1ADE-BC79-A903F345AB20}"/>
              </a:ext>
            </a:extLst>
          </p:cNvPr>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9000506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p1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66" name="Google Shape;766;p1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767" name="Google Shape;767;p16:notes"/>
          <p:cNvSpPr>
            <a:spLocks noGrp="1" noRot="1" noChangeAspect="1"/>
          </p:cNvSpPr>
          <p:nvPr>
            <p:ph type="sldImg" idx="3"/>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8" name="Google Shape;768;p1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16</a:t>
            </a:r>
            <a:endParaRPr/>
          </a:p>
        </p:txBody>
      </p:sp>
      <p:sp>
        <p:nvSpPr>
          <p:cNvPr id="769" name="Google Shape;769;p1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70" name="Google Shape;770;p1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a:extLst>
            <a:ext uri="{FF2B5EF4-FFF2-40B4-BE49-F238E27FC236}">
              <a16:creationId xmlns:a16="http://schemas.microsoft.com/office/drawing/2014/main" id="{72B3E79A-35F9-AE3C-89F4-C9C3D05F9F79}"/>
            </a:ext>
          </a:extLst>
        </p:cNvPr>
        <p:cNvGrpSpPr/>
        <p:nvPr/>
      </p:nvGrpSpPr>
      <p:grpSpPr>
        <a:xfrm>
          <a:off x="0" y="0"/>
          <a:ext cx="0" cy="0"/>
          <a:chOff x="0" y="0"/>
          <a:chExt cx="0" cy="0"/>
        </a:xfrm>
      </p:grpSpPr>
      <p:sp>
        <p:nvSpPr>
          <p:cNvPr id="770" name="Google Shape;770;p16:notes">
            <a:extLst>
              <a:ext uri="{FF2B5EF4-FFF2-40B4-BE49-F238E27FC236}">
                <a16:creationId xmlns:a16="http://schemas.microsoft.com/office/drawing/2014/main" id="{7AB8FF85-1412-F60F-A7C2-212FBC595FF8}"/>
              </a:ext>
            </a:extLst>
          </p:cNvPr>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771" name="Google Shape;771;p16:notes">
            <a:extLst>
              <a:ext uri="{FF2B5EF4-FFF2-40B4-BE49-F238E27FC236}">
                <a16:creationId xmlns:a16="http://schemas.microsoft.com/office/drawing/2014/main" id="{0B42ED52-776E-0AE8-A0E3-FD093568A8EC}"/>
              </a:ext>
            </a:extLst>
          </p:cNvPr>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772" name="Google Shape;772;p16:notes">
            <a:extLst>
              <a:ext uri="{FF2B5EF4-FFF2-40B4-BE49-F238E27FC236}">
                <a16:creationId xmlns:a16="http://schemas.microsoft.com/office/drawing/2014/main" id="{5A524EDC-B565-5843-53E6-54F05F845B84}"/>
              </a:ext>
            </a:extLst>
          </p:cNvPr>
          <p:cNvSpPr>
            <a:spLocks noGrp="1" noRot="1" noChangeAspect="1"/>
          </p:cNvSpPr>
          <p:nvPr>
            <p:ph type="sldImg" idx="3"/>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fr-FR"/>
          </a:p>
        </p:txBody>
      </p:sp>
      <p:sp>
        <p:nvSpPr>
          <p:cNvPr id="773" name="Google Shape;773;p16:notes">
            <a:extLst>
              <a:ext uri="{FF2B5EF4-FFF2-40B4-BE49-F238E27FC236}">
                <a16:creationId xmlns:a16="http://schemas.microsoft.com/office/drawing/2014/main" id="{CCACEA65-5845-2821-70E0-23C512B7F5D4}"/>
              </a:ext>
            </a:extLst>
          </p:cNvPr>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16</a:t>
            </a:r>
            <a:endParaRPr/>
          </a:p>
        </p:txBody>
      </p:sp>
      <p:sp>
        <p:nvSpPr>
          <p:cNvPr id="774" name="Google Shape;774;p16:notes">
            <a:extLst>
              <a:ext uri="{FF2B5EF4-FFF2-40B4-BE49-F238E27FC236}">
                <a16:creationId xmlns:a16="http://schemas.microsoft.com/office/drawing/2014/main" id="{C89F71B1-DFD1-5A4E-3AF4-C02B57858C0E}"/>
              </a:ext>
            </a:extLst>
          </p:cNvPr>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sz="1200">
              <a:solidFill>
                <a:schemeClr val="dk1"/>
              </a:solidFill>
              <a:latin typeface="Calibri"/>
              <a:ea typeface="Calibri"/>
              <a:cs typeface="Calibri"/>
              <a:sym typeface="Calibri"/>
            </a:endParaRPr>
          </a:p>
        </p:txBody>
      </p:sp>
      <p:sp>
        <p:nvSpPr>
          <p:cNvPr id="775" name="Google Shape;775;p16:notes">
            <a:extLst>
              <a:ext uri="{FF2B5EF4-FFF2-40B4-BE49-F238E27FC236}">
                <a16:creationId xmlns:a16="http://schemas.microsoft.com/office/drawing/2014/main" id="{A5BD6BDE-5F72-1583-87B2-AAF24B607AB1}"/>
              </a:ext>
            </a:extLst>
          </p:cNvPr>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25674629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p20: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6" name="Google Shape;976;p20:notes"/>
          <p:cNvSpPr>
            <a:spLocks noGrp="1" noRot="1" noChangeAspect="1"/>
          </p:cNvSpPr>
          <p:nvPr>
            <p:ph type="sldImg" idx="2"/>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a:extLst>
            <a:ext uri="{FF2B5EF4-FFF2-40B4-BE49-F238E27FC236}">
              <a16:creationId xmlns:a16="http://schemas.microsoft.com/office/drawing/2014/main" id="{D95E54AD-B895-4992-8131-D49CE26C807F}"/>
            </a:ext>
          </a:extLst>
        </p:cNvPr>
        <p:cNvGrpSpPr/>
        <p:nvPr/>
      </p:nvGrpSpPr>
      <p:grpSpPr>
        <a:xfrm>
          <a:off x="0" y="0"/>
          <a:ext cx="0" cy="0"/>
          <a:chOff x="0" y="0"/>
          <a:chExt cx="0" cy="0"/>
        </a:xfrm>
      </p:grpSpPr>
      <p:sp>
        <p:nvSpPr>
          <p:cNvPr id="562" name="Google Shape;562;p12:notes">
            <a:extLst>
              <a:ext uri="{FF2B5EF4-FFF2-40B4-BE49-F238E27FC236}">
                <a16:creationId xmlns:a16="http://schemas.microsoft.com/office/drawing/2014/main" id="{93B6BB24-9257-DAE8-8F44-9D6723658D58}"/>
              </a:ext>
            </a:extLst>
          </p:cNvPr>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3" name="Google Shape;563;p12:notes">
            <a:extLst>
              <a:ext uri="{FF2B5EF4-FFF2-40B4-BE49-F238E27FC236}">
                <a16:creationId xmlns:a16="http://schemas.microsoft.com/office/drawing/2014/main" id="{E66B1ED5-FDDA-A92B-8D57-183D014224D5}"/>
              </a:ext>
            </a:extLst>
          </p:cNvPr>
          <p:cNvSpPr>
            <a:spLocks noGrp="1" noRot="1" noChangeAspect="1"/>
          </p:cNvSpPr>
          <p:nvPr>
            <p:ph type="sldImg" idx="2"/>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51584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a:extLst>
            <a:ext uri="{FF2B5EF4-FFF2-40B4-BE49-F238E27FC236}">
              <a16:creationId xmlns:a16="http://schemas.microsoft.com/office/drawing/2014/main" id="{A8795C22-0B65-45B4-3578-1583F9BBCB9E}"/>
            </a:ext>
          </a:extLst>
        </p:cNvPr>
        <p:cNvGrpSpPr/>
        <p:nvPr/>
      </p:nvGrpSpPr>
      <p:grpSpPr>
        <a:xfrm>
          <a:off x="0" y="0"/>
          <a:ext cx="0" cy="0"/>
          <a:chOff x="0" y="0"/>
          <a:chExt cx="0" cy="0"/>
        </a:xfrm>
      </p:grpSpPr>
      <p:sp>
        <p:nvSpPr>
          <p:cNvPr id="562" name="Google Shape;562;p12:notes">
            <a:extLst>
              <a:ext uri="{FF2B5EF4-FFF2-40B4-BE49-F238E27FC236}">
                <a16:creationId xmlns:a16="http://schemas.microsoft.com/office/drawing/2014/main" id="{21626F45-CF49-03EB-621F-25D914455973}"/>
              </a:ext>
            </a:extLst>
          </p:cNvPr>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3" name="Google Shape;563;p12:notes">
            <a:extLst>
              <a:ext uri="{FF2B5EF4-FFF2-40B4-BE49-F238E27FC236}">
                <a16:creationId xmlns:a16="http://schemas.microsoft.com/office/drawing/2014/main" id="{F5E05C36-C514-F501-064F-C96936C42EAF}"/>
              </a:ext>
            </a:extLst>
          </p:cNvPr>
          <p:cNvSpPr>
            <a:spLocks noGrp="1" noRot="1" noChangeAspect="1"/>
          </p:cNvSpPr>
          <p:nvPr>
            <p:ph type="sldImg" idx="2"/>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58746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p22: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2" name="Google Shape;1122;p22:notes"/>
          <p:cNvSpPr>
            <a:spLocks noGrp="1" noRot="1" noChangeAspect="1"/>
          </p:cNvSpPr>
          <p:nvPr>
            <p:ph type="sldImg" idx="2"/>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9"/>
        <p:cNvGrpSpPr/>
        <p:nvPr/>
      </p:nvGrpSpPr>
      <p:grpSpPr>
        <a:xfrm>
          <a:off x="0" y="0"/>
          <a:ext cx="0" cy="0"/>
          <a:chOff x="0" y="0"/>
          <a:chExt cx="0" cy="0"/>
        </a:xfrm>
      </p:grpSpPr>
      <p:sp>
        <p:nvSpPr>
          <p:cNvPr id="1190" name="Google Shape;1190;p2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191" name="Google Shape;1191;p2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192" name="Google Shape;1192;p23:notes"/>
          <p:cNvSpPr>
            <a:spLocks noGrp="1" noRot="1" noChangeAspect="1"/>
          </p:cNvSpPr>
          <p:nvPr>
            <p:ph type="sldImg" idx="3"/>
          </p:nvPr>
        </p:nvSpPr>
        <p:spPr>
          <a:xfrm>
            <a:off x="2860675" y="512763"/>
            <a:ext cx="342265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3" name="Google Shape;1193;p2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21</a:t>
            </a:r>
            <a:endParaRPr/>
          </a:p>
        </p:txBody>
      </p:sp>
      <p:sp>
        <p:nvSpPr>
          <p:cNvPr id="1194" name="Google Shape;1194;p2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195" name="Google Shape;1195;p2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420EAC-9AF1-D1D2-3442-CEA86E1C6496}"/>
              </a:ext>
            </a:extLst>
          </p:cNvPr>
          <p:cNvSpPr>
            <a:spLocks noGrp="1"/>
          </p:cNvSpPr>
          <p:nvPr>
            <p:ph type="ctrTitle"/>
          </p:nvPr>
        </p:nvSpPr>
        <p:spPr>
          <a:xfrm>
            <a:off x="1143000" y="1122363"/>
            <a:ext cx="6858000" cy="2387600"/>
          </a:xfrm>
        </p:spPr>
        <p:txBody>
          <a:bodyPr anchor="b"/>
          <a:lstStyle>
            <a:lvl1pPr algn="ctr">
              <a:defRPr sz="4500"/>
            </a:lvl1pPr>
          </a:lstStyle>
          <a:p>
            <a:r>
              <a:rPr lang="fr-FR"/>
              <a:t>Modifiez le style du titre</a:t>
            </a:r>
          </a:p>
        </p:txBody>
      </p:sp>
      <p:sp>
        <p:nvSpPr>
          <p:cNvPr id="3" name="Sous-titre 2">
            <a:extLst>
              <a:ext uri="{FF2B5EF4-FFF2-40B4-BE49-F238E27FC236}">
                <a16:creationId xmlns:a16="http://schemas.microsoft.com/office/drawing/2014/main" id="{A83851ED-9FB2-35F3-7D27-FD1569028E0B}"/>
              </a:ext>
            </a:extLst>
          </p:cNvPr>
          <p:cNvSpPr>
            <a:spLocks noGrp="1"/>
          </p:cNvSpPr>
          <p:nvPr>
            <p:ph type="subTitle" idx="1"/>
          </p:nvPr>
        </p:nvSpPr>
        <p:spPr>
          <a:xfrm>
            <a:off x="1143000" y="3602038"/>
            <a:ext cx="6858000" cy="1655762"/>
          </a:xfrm>
        </p:spPr>
        <p:txBody>
          <a:bodyPr/>
          <a:lstStyle>
            <a:lvl1pPr marL="0" indent="0" algn="ctr">
              <a:buNone/>
              <a:defRPr sz="1800"/>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B2453C06-474D-B8F7-DBA4-8DCDCEE2D0F7}"/>
              </a:ext>
            </a:extLst>
          </p:cNvPr>
          <p:cNvSpPr>
            <a:spLocks noGrp="1"/>
          </p:cNvSpPr>
          <p:nvPr>
            <p:ph type="dt" sz="half" idx="10"/>
          </p:nvPr>
        </p:nvSpPr>
        <p:spPr/>
        <p:txBody>
          <a:bodyPr/>
          <a:lstStyle/>
          <a:p>
            <a:fld id="{1C763AA4-91E5-CB43-8763-54A8472909AD}" type="datetimeFigureOut">
              <a:rPr lang="fr-FR" smtClean="0"/>
              <a:t>03/04/2026</a:t>
            </a:fld>
            <a:endParaRPr lang="fr-FR"/>
          </a:p>
        </p:txBody>
      </p:sp>
      <p:sp>
        <p:nvSpPr>
          <p:cNvPr id="5" name="Espace réservé du pied de page 4">
            <a:extLst>
              <a:ext uri="{FF2B5EF4-FFF2-40B4-BE49-F238E27FC236}">
                <a16:creationId xmlns:a16="http://schemas.microsoft.com/office/drawing/2014/main" id="{ADD53812-2B2B-F5BC-9A07-5E582C157C3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B1209D1-2872-D540-0E62-C4CBB47F33A4}"/>
              </a:ext>
            </a:extLst>
          </p:cNvPr>
          <p:cNvSpPr>
            <a:spLocks noGrp="1"/>
          </p:cNvSpPr>
          <p:nvPr>
            <p:ph type="sldNum" sz="quarter" idx="12"/>
          </p:nvPr>
        </p:nvSpPr>
        <p:spPr/>
        <p:txBody>
          <a:bodyPr/>
          <a:lstStyle/>
          <a:p>
            <a:fld id="{A21DAF91-4150-3549-86FD-906CD9B1222C}" type="slidenum">
              <a:rPr lang="fr-FR" smtClean="0"/>
              <a:t>‹N°›</a:t>
            </a:fld>
            <a:endParaRPr lang="fr-FR"/>
          </a:p>
        </p:txBody>
      </p:sp>
    </p:spTree>
    <p:extLst>
      <p:ext uri="{BB962C8B-B14F-4D97-AF65-F5344CB8AC3E}">
        <p14:creationId xmlns:p14="http://schemas.microsoft.com/office/powerpoint/2010/main" val="3481538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15DA90-1FA6-5BA6-3D7A-37DDE069405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486E5BB-367A-DF16-B6A7-C313882DCD9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B666CC2-4C81-63D0-A7C3-C4C2927E4E6D}"/>
              </a:ext>
            </a:extLst>
          </p:cNvPr>
          <p:cNvSpPr>
            <a:spLocks noGrp="1"/>
          </p:cNvSpPr>
          <p:nvPr>
            <p:ph type="dt" sz="half" idx="10"/>
          </p:nvPr>
        </p:nvSpPr>
        <p:spPr/>
        <p:txBody>
          <a:bodyPr/>
          <a:lstStyle/>
          <a:p>
            <a:fld id="{1C763AA4-91E5-CB43-8763-54A8472909AD}" type="datetimeFigureOut">
              <a:rPr lang="fr-FR" smtClean="0"/>
              <a:t>03/04/2026</a:t>
            </a:fld>
            <a:endParaRPr lang="fr-FR"/>
          </a:p>
        </p:txBody>
      </p:sp>
      <p:sp>
        <p:nvSpPr>
          <p:cNvPr id="5" name="Espace réservé du pied de page 4">
            <a:extLst>
              <a:ext uri="{FF2B5EF4-FFF2-40B4-BE49-F238E27FC236}">
                <a16:creationId xmlns:a16="http://schemas.microsoft.com/office/drawing/2014/main" id="{D2386F7B-FCD9-641C-6C15-11E383111B8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FA7F01C-7A20-8E3D-C544-49FB1A1320AC}"/>
              </a:ext>
            </a:extLst>
          </p:cNvPr>
          <p:cNvSpPr>
            <a:spLocks noGrp="1"/>
          </p:cNvSpPr>
          <p:nvPr>
            <p:ph type="sldNum" sz="quarter" idx="12"/>
          </p:nvPr>
        </p:nvSpPr>
        <p:spPr/>
        <p:txBody>
          <a:bodyPr/>
          <a:lstStyle/>
          <a:p>
            <a:fld id="{A21DAF91-4150-3549-86FD-906CD9B1222C}" type="slidenum">
              <a:rPr lang="fr-FR" smtClean="0"/>
              <a:t>‹N°›</a:t>
            </a:fld>
            <a:endParaRPr lang="fr-FR"/>
          </a:p>
        </p:txBody>
      </p:sp>
    </p:spTree>
    <p:extLst>
      <p:ext uri="{BB962C8B-B14F-4D97-AF65-F5344CB8AC3E}">
        <p14:creationId xmlns:p14="http://schemas.microsoft.com/office/powerpoint/2010/main" val="436750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32B2B1-812A-EC7B-0B69-C12623C09F4E}"/>
              </a:ext>
            </a:extLst>
          </p:cNvPr>
          <p:cNvSpPr>
            <a:spLocks noGrp="1"/>
          </p:cNvSpPr>
          <p:nvPr>
            <p:ph type="title"/>
          </p:nvPr>
        </p:nvSpPr>
        <p:spPr>
          <a:xfrm>
            <a:off x="623888" y="1709741"/>
            <a:ext cx="7886700" cy="2852737"/>
          </a:xfrm>
        </p:spPr>
        <p:txBody>
          <a:bodyPr anchor="b"/>
          <a:lstStyle>
            <a:lvl1pPr>
              <a:defRPr sz="4500"/>
            </a:lvl1pPr>
          </a:lstStyle>
          <a:p>
            <a:r>
              <a:rPr lang="fr-FR"/>
              <a:t>Modifiez le style du titre</a:t>
            </a:r>
          </a:p>
        </p:txBody>
      </p:sp>
      <p:sp>
        <p:nvSpPr>
          <p:cNvPr id="3" name="Espace réservé du texte 2">
            <a:extLst>
              <a:ext uri="{FF2B5EF4-FFF2-40B4-BE49-F238E27FC236}">
                <a16:creationId xmlns:a16="http://schemas.microsoft.com/office/drawing/2014/main" id="{338D2846-73F2-1DBA-0367-AD787D0452B6}"/>
              </a:ext>
            </a:extLst>
          </p:cNvPr>
          <p:cNvSpPr>
            <a:spLocks noGrp="1"/>
          </p:cNvSpPr>
          <p:nvPr>
            <p:ph type="body" idx="1"/>
          </p:nvPr>
        </p:nvSpPr>
        <p:spPr>
          <a:xfrm>
            <a:off x="623888" y="4589466"/>
            <a:ext cx="7886700" cy="1500187"/>
          </a:xfrm>
        </p:spPr>
        <p:txBody>
          <a:bodyPr/>
          <a:lstStyle>
            <a:lvl1pPr marL="0" indent="0">
              <a:buNone/>
              <a:defRPr sz="1800">
                <a:solidFill>
                  <a:schemeClr val="tx1">
                    <a:tint val="82000"/>
                  </a:schemeClr>
                </a:solidFill>
              </a:defRPr>
            </a:lvl1pPr>
            <a:lvl2pPr marL="342892" indent="0">
              <a:buNone/>
              <a:defRPr sz="1500">
                <a:solidFill>
                  <a:schemeClr val="tx1">
                    <a:tint val="82000"/>
                  </a:schemeClr>
                </a:solidFill>
              </a:defRPr>
            </a:lvl2pPr>
            <a:lvl3pPr marL="685783" indent="0">
              <a:buNone/>
              <a:defRPr sz="1350">
                <a:solidFill>
                  <a:schemeClr val="tx1">
                    <a:tint val="82000"/>
                  </a:schemeClr>
                </a:solidFill>
              </a:defRPr>
            </a:lvl3pPr>
            <a:lvl4pPr marL="1028675" indent="0">
              <a:buNone/>
              <a:defRPr sz="1200">
                <a:solidFill>
                  <a:schemeClr val="tx1">
                    <a:tint val="82000"/>
                  </a:schemeClr>
                </a:solidFill>
              </a:defRPr>
            </a:lvl4pPr>
            <a:lvl5pPr marL="1371566" indent="0">
              <a:buNone/>
              <a:defRPr sz="1200">
                <a:solidFill>
                  <a:schemeClr val="tx1">
                    <a:tint val="82000"/>
                  </a:schemeClr>
                </a:solidFill>
              </a:defRPr>
            </a:lvl5pPr>
            <a:lvl6pPr marL="1714457" indent="0">
              <a:buNone/>
              <a:defRPr sz="1200">
                <a:solidFill>
                  <a:schemeClr val="tx1">
                    <a:tint val="82000"/>
                  </a:schemeClr>
                </a:solidFill>
              </a:defRPr>
            </a:lvl6pPr>
            <a:lvl7pPr marL="2057348" indent="0">
              <a:buNone/>
              <a:defRPr sz="1200">
                <a:solidFill>
                  <a:schemeClr val="tx1">
                    <a:tint val="82000"/>
                  </a:schemeClr>
                </a:solidFill>
              </a:defRPr>
            </a:lvl7pPr>
            <a:lvl8pPr marL="2400240" indent="0">
              <a:buNone/>
              <a:defRPr sz="1200">
                <a:solidFill>
                  <a:schemeClr val="tx1">
                    <a:tint val="82000"/>
                  </a:schemeClr>
                </a:solidFill>
              </a:defRPr>
            </a:lvl8pPr>
            <a:lvl9pPr marL="2743132" indent="0">
              <a:buNone/>
              <a:defRPr sz="12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488306F-F36D-BF9C-0163-B6D1E067D530}"/>
              </a:ext>
            </a:extLst>
          </p:cNvPr>
          <p:cNvSpPr>
            <a:spLocks noGrp="1"/>
          </p:cNvSpPr>
          <p:nvPr>
            <p:ph type="dt" sz="half" idx="10"/>
          </p:nvPr>
        </p:nvSpPr>
        <p:spPr/>
        <p:txBody>
          <a:bodyPr/>
          <a:lstStyle/>
          <a:p>
            <a:fld id="{1C763AA4-91E5-CB43-8763-54A8472909AD}" type="datetimeFigureOut">
              <a:rPr lang="fr-FR" smtClean="0"/>
              <a:t>03/04/2026</a:t>
            </a:fld>
            <a:endParaRPr lang="fr-FR"/>
          </a:p>
        </p:txBody>
      </p:sp>
      <p:sp>
        <p:nvSpPr>
          <p:cNvPr id="5" name="Espace réservé du pied de page 4">
            <a:extLst>
              <a:ext uri="{FF2B5EF4-FFF2-40B4-BE49-F238E27FC236}">
                <a16:creationId xmlns:a16="http://schemas.microsoft.com/office/drawing/2014/main" id="{4B25DB67-6ADE-4839-5248-2F9CF4EAF07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864692C-44F2-9825-49AF-97242096D39D}"/>
              </a:ext>
            </a:extLst>
          </p:cNvPr>
          <p:cNvSpPr>
            <a:spLocks noGrp="1"/>
          </p:cNvSpPr>
          <p:nvPr>
            <p:ph type="sldNum" sz="quarter" idx="12"/>
          </p:nvPr>
        </p:nvSpPr>
        <p:spPr/>
        <p:txBody>
          <a:bodyPr/>
          <a:lstStyle/>
          <a:p>
            <a:fld id="{A21DAF91-4150-3549-86FD-906CD9B1222C}" type="slidenum">
              <a:rPr lang="fr-FR" smtClean="0"/>
              <a:t>‹N°›</a:t>
            </a:fld>
            <a:endParaRPr lang="fr-FR"/>
          </a:p>
        </p:txBody>
      </p:sp>
    </p:spTree>
    <p:extLst>
      <p:ext uri="{BB962C8B-B14F-4D97-AF65-F5344CB8AC3E}">
        <p14:creationId xmlns:p14="http://schemas.microsoft.com/office/powerpoint/2010/main" val="3053251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43F844-D48D-4A6F-15C0-C057EC865EF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B3804B3-9147-FCB2-DCA8-40448A927276}"/>
              </a:ext>
            </a:extLst>
          </p:cNvPr>
          <p:cNvSpPr>
            <a:spLocks noGrp="1"/>
          </p:cNvSpPr>
          <p:nvPr>
            <p:ph sz="half" idx="1"/>
          </p:nvPr>
        </p:nvSpPr>
        <p:spPr>
          <a:xfrm>
            <a:off x="6286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D3E9863-D018-FF43-EDCE-81DB27E44271}"/>
              </a:ext>
            </a:extLst>
          </p:cNvPr>
          <p:cNvSpPr>
            <a:spLocks noGrp="1"/>
          </p:cNvSpPr>
          <p:nvPr>
            <p:ph sz="half" idx="2"/>
          </p:nvPr>
        </p:nvSpPr>
        <p:spPr>
          <a:xfrm>
            <a:off x="46291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2723FE0-0F99-0CF1-4302-04D5A279D3D9}"/>
              </a:ext>
            </a:extLst>
          </p:cNvPr>
          <p:cNvSpPr>
            <a:spLocks noGrp="1"/>
          </p:cNvSpPr>
          <p:nvPr>
            <p:ph type="dt" sz="half" idx="10"/>
          </p:nvPr>
        </p:nvSpPr>
        <p:spPr/>
        <p:txBody>
          <a:bodyPr/>
          <a:lstStyle/>
          <a:p>
            <a:fld id="{1C763AA4-91E5-CB43-8763-54A8472909AD}" type="datetimeFigureOut">
              <a:rPr lang="fr-FR" smtClean="0"/>
              <a:t>03/04/2026</a:t>
            </a:fld>
            <a:endParaRPr lang="fr-FR"/>
          </a:p>
        </p:txBody>
      </p:sp>
      <p:sp>
        <p:nvSpPr>
          <p:cNvPr id="6" name="Espace réservé du pied de page 5">
            <a:extLst>
              <a:ext uri="{FF2B5EF4-FFF2-40B4-BE49-F238E27FC236}">
                <a16:creationId xmlns:a16="http://schemas.microsoft.com/office/drawing/2014/main" id="{9416582E-1C04-10C9-C6AC-F1B96ED78AA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6D2752B-90A2-989E-A585-CF39B3E47CF1}"/>
              </a:ext>
            </a:extLst>
          </p:cNvPr>
          <p:cNvSpPr>
            <a:spLocks noGrp="1"/>
          </p:cNvSpPr>
          <p:nvPr>
            <p:ph type="sldNum" sz="quarter" idx="12"/>
          </p:nvPr>
        </p:nvSpPr>
        <p:spPr/>
        <p:txBody>
          <a:bodyPr/>
          <a:lstStyle/>
          <a:p>
            <a:fld id="{A21DAF91-4150-3549-86FD-906CD9B1222C}" type="slidenum">
              <a:rPr lang="fr-FR" smtClean="0"/>
              <a:t>‹N°›</a:t>
            </a:fld>
            <a:endParaRPr lang="fr-FR"/>
          </a:p>
        </p:txBody>
      </p:sp>
    </p:spTree>
    <p:extLst>
      <p:ext uri="{BB962C8B-B14F-4D97-AF65-F5344CB8AC3E}">
        <p14:creationId xmlns:p14="http://schemas.microsoft.com/office/powerpoint/2010/main" val="1477718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673E14-3DB2-261D-8DC2-721C228618D9}"/>
              </a:ext>
            </a:extLst>
          </p:cNvPr>
          <p:cNvSpPr>
            <a:spLocks noGrp="1"/>
          </p:cNvSpPr>
          <p:nvPr>
            <p:ph type="title"/>
          </p:nvPr>
        </p:nvSpPr>
        <p:spPr>
          <a:xfrm>
            <a:off x="629841" y="365128"/>
            <a:ext cx="78867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7AD2F59-C525-5853-CB55-D3BF00E46D56}"/>
              </a:ext>
            </a:extLst>
          </p:cNvPr>
          <p:cNvSpPr>
            <a:spLocks noGrp="1"/>
          </p:cNvSpPr>
          <p:nvPr>
            <p:ph type="body" idx="1"/>
          </p:nvPr>
        </p:nvSpPr>
        <p:spPr>
          <a:xfrm>
            <a:off x="629842" y="1681163"/>
            <a:ext cx="3868340"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36B4661A-1B65-A382-0870-6EC63AED4D24}"/>
              </a:ext>
            </a:extLst>
          </p:cNvPr>
          <p:cNvSpPr>
            <a:spLocks noGrp="1"/>
          </p:cNvSpPr>
          <p:nvPr>
            <p:ph sz="half" idx="2"/>
          </p:nvPr>
        </p:nvSpPr>
        <p:spPr>
          <a:xfrm>
            <a:off x="629842" y="2505075"/>
            <a:ext cx="3868340"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5483654-893A-7A24-8C26-58E5A42B9B64}"/>
              </a:ext>
            </a:extLst>
          </p:cNvPr>
          <p:cNvSpPr>
            <a:spLocks noGrp="1"/>
          </p:cNvSpPr>
          <p:nvPr>
            <p:ph type="body" sz="quarter" idx="3"/>
          </p:nvPr>
        </p:nvSpPr>
        <p:spPr>
          <a:xfrm>
            <a:off x="4629151" y="1681163"/>
            <a:ext cx="3887391"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D188E42-389B-AA54-A231-A6CEC14C86A7}"/>
              </a:ext>
            </a:extLst>
          </p:cNvPr>
          <p:cNvSpPr>
            <a:spLocks noGrp="1"/>
          </p:cNvSpPr>
          <p:nvPr>
            <p:ph sz="quarter" idx="4"/>
          </p:nvPr>
        </p:nvSpPr>
        <p:spPr>
          <a:xfrm>
            <a:off x="4629151" y="2505075"/>
            <a:ext cx="3887391"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58E63124-2EE4-ECEA-52AB-AE3919DC252B}"/>
              </a:ext>
            </a:extLst>
          </p:cNvPr>
          <p:cNvSpPr>
            <a:spLocks noGrp="1"/>
          </p:cNvSpPr>
          <p:nvPr>
            <p:ph type="dt" sz="half" idx="10"/>
          </p:nvPr>
        </p:nvSpPr>
        <p:spPr/>
        <p:txBody>
          <a:bodyPr/>
          <a:lstStyle/>
          <a:p>
            <a:fld id="{1C763AA4-91E5-CB43-8763-54A8472909AD}" type="datetimeFigureOut">
              <a:rPr lang="fr-FR" smtClean="0"/>
              <a:t>03/04/2026</a:t>
            </a:fld>
            <a:endParaRPr lang="fr-FR"/>
          </a:p>
        </p:txBody>
      </p:sp>
      <p:sp>
        <p:nvSpPr>
          <p:cNvPr id="8" name="Espace réservé du pied de page 7">
            <a:extLst>
              <a:ext uri="{FF2B5EF4-FFF2-40B4-BE49-F238E27FC236}">
                <a16:creationId xmlns:a16="http://schemas.microsoft.com/office/drawing/2014/main" id="{3DC89DAD-52FF-75A7-DC68-F095D001983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1CECC109-9A62-739C-7DF3-90555DDE0478}"/>
              </a:ext>
            </a:extLst>
          </p:cNvPr>
          <p:cNvSpPr>
            <a:spLocks noGrp="1"/>
          </p:cNvSpPr>
          <p:nvPr>
            <p:ph type="sldNum" sz="quarter" idx="12"/>
          </p:nvPr>
        </p:nvSpPr>
        <p:spPr/>
        <p:txBody>
          <a:bodyPr/>
          <a:lstStyle/>
          <a:p>
            <a:fld id="{A21DAF91-4150-3549-86FD-906CD9B1222C}" type="slidenum">
              <a:rPr lang="fr-FR" smtClean="0"/>
              <a:t>‹N°›</a:t>
            </a:fld>
            <a:endParaRPr lang="fr-FR"/>
          </a:p>
        </p:txBody>
      </p:sp>
    </p:spTree>
    <p:extLst>
      <p:ext uri="{BB962C8B-B14F-4D97-AF65-F5344CB8AC3E}">
        <p14:creationId xmlns:p14="http://schemas.microsoft.com/office/powerpoint/2010/main" val="3772574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73D9E7-8EC8-54DF-8E0C-23762A0E697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550D307C-453A-F99B-7F24-D64AD9510DEE}"/>
              </a:ext>
            </a:extLst>
          </p:cNvPr>
          <p:cNvSpPr>
            <a:spLocks noGrp="1"/>
          </p:cNvSpPr>
          <p:nvPr>
            <p:ph type="dt" sz="half" idx="10"/>
          </p:nvPr>
        </p:nvSpPr>
        <p:spPr/>
        <p:txBody>
          <a:bodyPr/>
          <a:lstStyle/>
          <a:p>
            <a:fld id="{1C763AA4-91E5-CB43-8763-54A8472909AD}" type="datetimeFigureOut">
              <a:rPr lang="fr-FR" smtClean="0"/>
              <a:t>03/04/2026</a:t>
            </a:fld>
            <a:endParaRPr lang="fr-FR"/>
          </a:p>
        </p:txBody>
      </p:sp>
      <p:sp>
        <p:nvSpPr>
          <p:cNvPr id="4" name="Espace réservé du pied de page 3">
            <a:extLst>
              <a:ext uri="{FF2B5EF4-FFF2-40B4-BE49-F238E27FC236}">
                <a16:creationId xmlns:a16="http://schemas.microsoft.com/office/drawing/2014/main" id="{5B4459EB-E6F8-FBC8-90EE-CFDE87FE0F1F}"/>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BA9680F-00D5-D0CC-19FA-4AA1F4940179}"/>
              </a:ext>
            </a:extLst>
          </p:cNvPr>
          <p:cNvSpPr>
            <a:spLocks noGrp="1"/>
          </p:cNvSpPr>
          <p:nvPr>
            <p:ph type="sldNum" sz="quarter" idx="12"/>
          </p:nvPr>
        </p:nvSpPr>
        <p:spPr/>
        <p:txBody>
          <a:bodyPr/>
          <a:lstStyle/>
          <a:p>
            <a:fld id="{A21DAF91-4150-3549-86FD-906CD9B1222C}" type="slidenum">
              <a:rPr lang="fr-FR" smtClean="0"/>
              <a:t>‹N°›</a:t>
            </a:fld>
            <a:endParaRPr lang="fr-FR"/>
          </a:p>
        </p:txBody>
      </p:sp>
    </p:spTree>
    <p:extLst>
      <p:ext uri="{BB962C8B-B14F-4D97-AF65-F5344CB8AC3E}">
        <p14:creationId xmlns:p14="http://schemas.microsoft.com/office/powerpoint/2010/main" val="2198038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0664AE0-C85E-91AA-B72C-C805B371C26C}"/>
              </a:ext>
            </a:extLst>
          </p:cNvPr>
          <p:cNvSpPr>
            <a:spLocks noGrp="1"/>
          </p:cNvSpPr>
          <p:nvPr>
            <p:ph type="dt" sz="half" idx="10"/>
          </p:nvPr>
        </p:nvSpPr>
        <p:spPr/>
        <p:txBody>
          <a:bodyPr/>
          <a:lstStyle/>
          <a:p>
            <a:fld id="{1C763AA4-91E5-CB43-8763-54A8472909AD}" type="datetimeFigureOut">
              <a:rPr lang="fr-FR" smtClean="0"/>
              <a:t>03/04/2026</a:t>
            </a:fld>
            <a:endParaRPr lang="fr-FR"/>
          </a:p>
        </p:txBody>
      </p:sp>
      <p:sp>
        <p:nvSpPr>
          <p:cNvPr id="3" name="Espace réservé du pied de page 2">
            <a:extLst>
              <a:ext uri="{FF2B5EF4-FFF2-40B4-BE49-F238E27FC236}">
                <a16:creationId xmlns:a16="http://schemas.microsoft.com/office/drawing/2014/main" id="{F53E4FDA-6579-6F0F-1DF6-E75E23A17C1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9AF7F461-2DFF-36B7-01F4-7EACC27F223F}"/>
              </a:ext>
            </a:extLst>
          </p:cNvPr>
          <p:cNvSpPr>
            <a:spLocks noGrp="1"/>
          </p:cNvSpPr>
          <p:nvPr>
            <p:ph type="sldNum" sz="quarter" idx="12"/>
          </p:nvPr>
        </p:nvSpPr>
        <p:spPr/>
        <p:txBody>
          <a:bodyPr/>
          <a:lstStyle/>
          <a:p>
            <a:fld id="{A21DAF91-4150-3549-86FD-906CD9B1222C}" type="slidenum">
              <a:rPr lang="fr-FR" smtClean="0"/>
              <a:t>‹N°›</a:t>
            </a:fld>
            <a:endParaRPr lang="fr-FR"/>
          </a:p>
        </p:txBody>
      </p:sp>
    </p:spTree>
    <p:extLst>
      <p:ext uri="{BB962C8B-B14F-4D97-AF65-F5344CB8AC3E}">
        <p14:creationId xmlns:p14="http://schemas.microsoft.com/office/powerpoint/2010/main" val="3831366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EBD363-29C8-AB3F-8636-EAC238BA00D5}"/>
              </a:ext>
            </a:extLst>
          </p:cNvPr>
          <p:cNvSpPr>
            <a:spLocks noGrp="1"/>
          </p:cNvSpPr>
          <p:nvPr>
            <p:ph type="title"/>
          </p:nvPr>
        </p:nvSpPr>
        <p:spPr>
          <a:xfrm>
            <a:off x="629841" y="457200"/>
            <a:ext cx="2949178" cy="1600200"/>
          </a:xfrm>
        </p:spPr>
        <p:txBody>
          <a:bodyPr anchor="b"/>
          <a:lstStyle>
            <a:lvl1pPr>
              <a:defRPr sz="2400"/>
            </a:lvl1pPr>
          </a:lstStyle>
          <a:p>
            <a:r>
              <a:rPr lang="fr-FR"/>
              <a:t>Modifiez le style du titre</a:t>
            </a:r>
          </a:p>
        </p:txBody>
      </p:sp>
      <p:sp>
        <p:nvSpPr>
          <p:cNvPr id="3" name="Espace réservé du contenu 2">
            <a:extLst>
              <a:ext uri="{FF2B5EF4-FFF2-40B4-BE49-F238E27FC236}">
                <a16:creationId xmlns:a16="http://schemas.microsoft.com/office/drawing/2014/main" id="{71444F08-33E4-6E79-670F-35ACA6E911D8}"/>
              </a:ext>
            </a:extLst>
          </p:cNvPr>
          <p:cNvSpPr>
            <a:spLocks noGrp="1"/>
          </p:cNvSpPr>
          <p:nvPr>
            <p:ph idx="1"/>
          </p:nvPr>
        </p:nvSpPr>
        <p:spPr>
          <a:xfrm>
            <a:off x="3887391" y="987428"/>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784CEC03-5C8C-7D8D-8737-DF4D9BE73CC3}"/>
              </a:ext>
            </a:extLst>
          </p:cNvPr>
          <p:cNvSpPr>
            <a:spLocks noGrp="1"/>
          </p:cNvSpPr>
          <p:nvPr>
            <p:ph type="body" sz="half" idx="2"/>
          </p:nvPr>
        </p:nvSpPr>
        <p:spPr>
          <a:xfrm>
            <a:off x="629841" y="2057400"/>
            <a:ext cx="2949178" cy="3811588"/>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7A03A83-133D-0363-51DE-46EADAD6C476}"/>
              </a:ext>
            </a:extLst>
          </p:cNvPr>
          <p:cNvSpPr>
            <a:spLocks noGrp="1"/>
          </p:cNvSpPr>
          <p:nvPr>
            <p:ph type="dt" sz="half" idx="10"/>
          </p:nvPr>
        </p:nvSpPr>
        <p:spPr/>
        <p:txBody>
          <a:bodyPr/>
          <a:lstStyle/>
          <a:p>
            <a:fld id="{1C763AA4-91E5-CB43-8763-54A8472909AD}" type="datetimeFigureOut">
              <a:rPr lang="fr-FR" smtClean="0"/>
              <a:t>03/04/2026</a:t>
            </a:fld>
            <a:endParaRPr lang="fr-FR"/>
          </a:p>
        </p:txBody>
      </p:sp>
      <p:sp>
        <p:nvSpPr>
          <p:cNvPr id="6" name="Espace réservé du pied de page 5">
            <a:extLst>
              <a:ext uri="{FF2B5EF4-FFF2-40B4-BE49-F238E27FC236}">
                <a16:creationId xmlns:a16="http://schemas.microsoft.com/office/drawing/2014/main" id="{C630E268-93FD-4C8A-93C9-8EEFB1FB6FC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62A30A1-23AC-3E3B-5A38-C52B88EE925F}"/>
              </a:ext>
            </a:extLst>
          </p:cNvPr>
          <p:cNvSpPr>
            <a:spLocks noGrp="1"/>
          </p:cNvSpPr>
          <p:nvPr>
            <p:ph type="sldNum" sz="quarter" idx="12"/>
          </p:nvPr>
        </p:nvSpPr>
        <p:spPr/>
        <p:txBody>
          <a:bodyPr/>
          <a:lstStyle/>
          <a:p>
            <a:fld id="{A21DAF91-4150-3549-86FD-906CD9B1222C}" type="slidenum">
              <a:rPr lang="fr-FR" smtClean="0"/>
              <a:t>‹N°›</a:t>
            </a:fld>
            <a:endParaRPr lang="fr-FR"/>
          </a:p>
        </p:txBody>
      </p:sp>
    </p:spTree>
    <p:extLst>
      <p:ext uri="{BB962C8B-B14F-4D97-AF65-F5344CB8AC3E}">
        <p14:creationId xmlns:p14="http://schemas.microsoft.com/office/powerpoint/2010/main" val="691848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DD8147-AD3B-4891-3560-548B65480410}"/>
              </a:ext>
            </a:extLst>
          </p:cNvPr>
          <p:cNvSpPr>
            <a:spLocks noGrp="1"/>
          </p:cNvSpPr>
          <p:nvPr>
            <p:ph type="title"/>
          </p:nvPr>
        </p:nvSpPr>
        <p:spPr>
          <a:xfrm>
            <a:off x="629841" y="457200"/>
            <a:ext cx="2949178" cy="1600200"/>
          </a:xfrm>
        </p:spPr>
        <p:txBody>
          <a:bodyPr anchor="b"/>
          <a:lstStyle>
            <a:lvl1pPr>
              <a:defRPr sz="2400"/>
            </a:lvl1pPr>
          </a:lstStyle>
          <a:p>
            <a:r>
              <a:rPr lang="fr-FR"/>
              <a:t>Modifiez le style du titre</a:t>
            </a:r>
          </a:p>
        </p:txBody>
      </p:sp>
      <p:sp>
        <p:nvSpPr>
          <p:cNvPr id="3" name="Espace réservé pour une image  2">
            <a:extLst>
              <a:ext uri="{FF2B5EF4-FFF2-40B4-BE49-F238E27FC236}">
                <a16:creationId xmlns:a16="http://schemas.microsoft.com/office/drawing/2014/main" id="{946CD7C6-F1F0-216F-F0E1-22671C24EBDB}"/>
              </a:ext>
            </a:extLst>
          </p:cNvPr>
          <p:cNvSpPr>
            <a:spLocks noGrp="1"/>
          </p:cNvSpPr>
          <p:nvPr>
            <p:ph type="pic" idx="1"/>
          </p:nvPr>
        </p:nvSpPr>
        <p:spPr>
          <a:xfrm>
            <a:off x="3887391" y="987428"/>
            <a:ext cx="4629150" cy="4873625"/>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endParaRPr lang="fr-FR"/>
          </a:p>
        </p:txBody>
      </p:sp>
      <p:sp>
        <p:nvSpPr>
          <p:cNvPr id="4" name="Espace réservé du texte 3">
            <a:extLst>
              <a:ext uri="{FF2B5EF4-FFF2-40B4-BE49-F238E27FC236}">
                <a16:creationId xmlns:a16="http://schemas.microsoft.com/office/drawing/2014/main" id="{25947ED1-54C0-82F1-5C79-336ED682B0F8}"/>
              </a:ext>
            </a:extLst>
          </p:cNvPr>
          <p:cNvSpPr>
            <a:spLocks noGrp="1"/>
          </p:cNvSpPr>
          <p:nvPr>
            <p:ph type="body" sz="half" idx="2"/>
          </p:nvPr>
        </p:nvSpPr>
        <p:spPr>
          <a:xfrm>
            <a:off x="629841" y="2057400"/>
            <a:ext cx="2949178" cy="3811588"/>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4F59676-AE5C-390F-51E3-2C3DC78FEF13}"/>
              </a:ext>
            </a:extLst>
          </p:cNvPr>
          <p:cNvSpPr>
            <a:spLocks noGrp="1"/>
          </p:cNvSpPr>
          <p:nvPr>
            <p:ph type="dt" sz="half" idx="10"/>
          </p:nvPr>
        </p:nvSpPr>
        <p:spPr/>
        <p:txBody>
          <a:bodyPr/>
          <a:lstStyle/>
          <a:p>
            <a:fld id="{1C763AA4-91E5-CB43-8763-54A8472909AD}" type="datetimeFigureOut">
              <a:rPr lang="fr-FR" smtClean="0"/>
              <a:t>03/04/2026</a:t>
            </a:fld>
            <a:endParaRPr lang="fr-FR"/>
          </a:p>
        </p:txBody>
      </p:sp>
      <p:sp>
        <p:nvSpPr>
          <p:cNvPr id="6" name="Espace réservé du pied de page 5">
            <a:extLst>
              <a:ext uri="{FF2B5EF4-FFF2-40B4-BE49-F238E27FC236}">
                <a16:creationId xmlns:a16="http://schemas.microsoft.com/office/drawing/2014/main" id="{188AAAA8-0DF1-BBB2-FDFE-E8F9F8F439A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6991B64-E893-2D9E-1C0C-648442C78DEC}"/>
              </a:ext>
            </a:extLst>
          </p:cNvPr>
          <p:cNvSpPr>
            <a:spLocks noGrp="1"/>
          </p:cNvSpPr>
          <p:nvPr>
            <p:ph type="sldNum" sz="quarter" idx="12"/>
          </p:nvPr>
        </p:nvSpPr>
        <p:spPr/>
        <p:txBody>
          <a:bodyPr/>
          <a:lstStyle/>
          <a:p>
            <a:fld id="{A21DAF91-4150-3549-86FD-906CD9B1222C}" type="slidenum">
              <a:rPr lang="fr-FR" smtClean="0"/>
              <a:t>‹N°›</a:t>
            </a:fld>
            <a:endParaRPr lang="fr-FR"/>
          </a:p>
        </p:txBody>
      </p:sp>
    </p:spTree>
    <p:extLst>
      <p:ext uri="{BB962C8B-B14F-4D97-AF65-F5344CB8AC3E}">
        <p14:creationId xmlns:p14="http://schemas.microsoft.com/office/powerpoint/2010/main" val="4044535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388386-F1C2-B693-5819-8AE25C2579A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FFD6EBE-FD3D-85E9-99A4-905A54FC85F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6AE7960-B85D-786E-C999-3F578F240C09}"/>
              </a:ext>
            </a:extLst>
          </p:cNvPr>
          <p:cNvSpPr>
            <a:spLocks noGrp="1"/>
          </p:cNvSpPr>
          <p:nvPr>
            <p:ph type="dt" sz="half" idx="10"/>
          </p:nvPr>
        </p:nvSpPr>
        <p:spPr/>
        <p:txBody>
          <a:bodyPr/>
          <a:lstStyle/>
          <a:p>
            <a:fld id="{1C763AA4-91E5-CB43-8763-54A8472909AD}" type="datetimeFigureOut">
              <a:rPr lang="fr-FR" smtClean="0"/>
              <a:t>03/04/2026</a:t>
            </a:fld>
            <a:endParaRPr lang="fr-FR"/>
          </a:p>
        </p:txBody>
      </p:sp>
      <p:sp>
        <p:nvSpPr>
          <p:cNvPr id="5" name="Espace réservé du pied de page 4">
            <a:extLst>
              <a:ext uri="{FF2B5EF4-FFF2-40B4-BE49-F238E27FC236}">
                <a16:creationId xmlns:a16="http://schemas.microsoft.com/office/drawing/2014/main" id="{F5A501D7-EEE0-3BFB-1D62-50B0B1601F7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DE2052B-9806-FB54-D92C-77A9C0483DF6}"/>
              </a:ext>
            </a:extLst>
          </p:cNvPr>
          <p:cNvSpPr>
            <a:spLocks noGrp="1"/>
          </p:cNvSpPr>
          <p:nvPr>
            <p:ph type="sldNum" sz="quarter" idx="12"/>
          </p:nvPr>
        </p:nvSpPr>
        <p:spPr/>
        <p:txBody>
          <a:bodyPr/>
          <a:lstStyle/>
          <a:p>
            <a:fld id="{A21DAF91-4150-3549-86FD-906CD9B1222C}" type="slidenum">
              <a:rPr lang="fr-FR" smtClean="0"/>
              <a:t>‹N°›</a:t>
            </a:fld>
            <a:endParaRPr lang="fr-FR"/>
          </a:p>
        </p:txBody>
      </p:sp>
    </p:spTree>
    <p:extLst>
      <p:ext uri="{BB962C8B-B14F-4D97-AF65-F5344CB8AC3E}">
        <p14:creationId xmlns:p14="http://schemas.microsoft.com/office/powerpoint/2010/main" val="1933128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60706B5-613C-80E8-C82B-A7B02CDC7911}"/>
              </a:ext>
            </a:extLst>
          </p:cNvPr>
          <p:cNvSpPr>
            <a:spLocks noGrp="1"/>
          </p:cNvSpPr>
          <p:nvPr>
            <p:ph type="title" orient="vert"/>
          </p:nvPr>
        </p:nvSpPr>
        <p:spPr>
          <a:xfrm>
            <a:off x="6543676" y="365125"/>
            <a:ext cx="1971675"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184FA4F7-86A2-37DC-0C43-3547C0F317FC}"/>
              </a:ext>
            </a:extLst>
          </p:cNvPr>
          <p:cNvSpPr>
            <a:spLocks noGrp="1"/>
          </p:cNvSpPr>
          <p:nvPr>
            <p:ph type="body" orient="vert" idx="1"/>
          </p:nvPr>
        </p:nvSpPr>
        <p:spPr>
          <a:xfrm>
            <a:off x="628651" y="365125"/>
            <a:ext cx="5800725"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61B0090-C7A9-3BF4-534B-70DA27131EF2}"/>
              </a:ext>
            </a:extLst>
          </p:cNvPr>
          <p:cNvSpPr>
            <a:spLocks noGrp="1"/>
          </p:cNvSpPr>
          <p:nvPr>
            <p:ph type="dt" sz="half" idx="10"/>
          </p:nvPr>
        </p:nvSpPr>
        <p:spPr/>
        <p:txBody>
          <a:bodyPr/>
          <a:lstStyle/>
          <a:p>
            <a:fld id="{1C763AA4-91E5-CB43-8763-54A8472909AD}" type="datetimeFigureOut">
              <a:rPr lang="fr-FR" smtClean="0"/>
              <a:t>03/04/2026</a:t>
            </a:fld>
            <a:endParaRPr lang="fr-FR"/>
          </a:p>
        </p:txBody>
      </p:sp>
      <p:sp>
        <p:nvSpPr>
          <p:cNvPr id="5" name="Espace réservé du pied de page 4">
            <a:extLst>
              <a:ext uri="{FF2B5EF4-FFF2-40B4-BE49-F238E27FC236}">
                <a16:creationId xmlns:a16="http://schemas.microsoft.com/office/drawing/2014/main" id="{DDDD22F3-2F4C-6304-7FD6-A5403FB1685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D9CC119-C7EA-FA05-E655-2FB6E5A9B856}"/>
              </a:ext>
            </a:extLst>
          </p:cNvPr>
          <p:cNvSpPr>
            <a:spLocks noGrp="1"/>
          </p:cNvSpPr>
          <p:nvPr>
            <p:ph type="sldNum" sz="quarter" idx="12"/>
          </p:nvPr>
        </p:nvSpPr>
        <p:spPr/>
        <p:txBody>
          <a:bodyPr/>
          <a:lstStyle/>
          <a:p>
            <a:fld id="{A21DAF91-4150-3549-86FD-906CD9B1222C}" type="slidenum">
              <a:rPr lang="fr-FR" smtClean="0"/>
              <a:t>‹N°›</a:t>
            </a:fld>
            <a:endParaRPr lang="fr-FR"/>
          </a:p>
        </p:txBody>
      </p:sp>
    </p:spTree>
    <p:extLst>
      <p:ext uri="{BB962C8B-B14F-4D97-AF65-F5344CB8AC3E}">
        <p14:creationId xmlns:p14="http://schemas.microsoft.com/office/powerpoint/2010/main" val="3642423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340DA71-0E75-CEE7-6256-FC7C5F38FBEC}"/>
              </a:ext>
            </a:extLst>
          </p:cNvPr>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473FC434-FF81-C408-F41D-1B0AD118149B}"/>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B27774E-360E-A204-2A46-6AA517DAE56C}"/>
              </a:ext>
            </a:extLst>
          </p:cNvPr>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1C763AA4-91E5-CB43-8763-54A8472909AD}" type="datetimeFigureOut">
              <a:rPr lang="fr-FR" smtClean="0"/>
              <a:t>03/04/2026</a:t>
            </a:fld>
            <a:endParaRPr lang="fr-FR"/>
          </a:p>
        </p:txBody>
      </p:sp>
      <p:sp>
        <p:nvSpPr>
          <p:cNvPr id="5" name="Espace réservé du pied de page 4">
            <a:extLst>
              <a:ext uri="{FF2B5EF4-FFF2-40B4-BE49-F238E27FC236}">
                <a16:creationId xmlns:a16="http://schemas.microsoft.com/office/drawing/2014/main" id="{12A76E06-FC8B-92BA-CBCF-BFC7263A2EF6}"/>
              </a:ext>
            </a:extLst>
          </p:cNvPr>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95F8963-B20B-2DC1-6A6C-465F918EFCFC}"/>
              </a:ext>
            </a:extLst>
          </p:cNvPr>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A21DAF91-4150-3549-86FD-906CD9B1222C}" type="slidenum">
              <a:rPr lang="fr-FR" smtClean="0"/>
              <a:t>‹N°›</a:t>
            </a:fld>
            <a:endParaRPr lang="fr-FR"/>
          </a:p>
        </p:txBody>
      </p:sp>
    </p:spTree>
    <p:extLst>
      <p:ext uri="{BB962C8B-B14F-4D97-AF65-F5344CB8AC3E}">
        <p14:creationId xmlns:p14="http://schemas.microsoft.com/office/powerpoint/2010/main" val="863109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78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6" indent="-171446" algn="l" defTabSz="685783"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cxnSp>
        <p:nvCxnSpPr>
          <p:cNvPr id="88" name="Google Shape;88;p1"/>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89" name="Google Shape;89;p1"/>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grpSp>
        <p:nvGrpSpPr>
          <p:cNvPr id="90" name="Google Shape;90;p1"/>
          <p:cNvGrpSpPr/>
          <p:nvPr/>
        </p:nvGrpSpPr>
        <p:grpSpPr>
          <a:xfrm>
            <a:off x="379526" y="4040268"/>
            <a:ext cx="8384919" cy="1313289"/>
            <a:chOff x="404829" y="3471483"/>
            <a:chExt cx="8943914" cy="1400842"/>
          </a:xfrm>
        </p:grpSpPr>
        <p:grpSp>
          <p:nvGrpSpPr>
            <p:cNvPr id="91" name="Google Shape;91;p1"/>
            <p:cNvGrpSpPr/>
            <p:nvPr/>
          </p:nvGrpSpPr>
          <p:grpSpPr>
            <a:xfrm>
              <a:off x="404829" y="3471483"/>
              <a:ext cx="8943880" cy="1400842"/>
              <a:chOff x="-762" y="0"/>
              <a:chExt cx="11925173" cy="1867789"/>
            </a:xfrm>
          </p:grpSpPr>
          <p:sp>
            <p:nvSpPr>
              <p:cNvPr id="92" name="Google Shape;92;p1"/>
              <p:cNvSpPr/>
              <p:nvPr/>
            </p:nvSpPr>
            <p:spPr>
              <a:xfrm>
                <a:off x="18034" y="18034"/>
                <a:ext cx="11887581" cy="1831721"/>
              </a:xfrm>
              <a:custGeom>
                <a:avLst/>
                <a:gdLst/>
                <a:ahLst/>
                <a:cxnLst/>
                <a:rect l="l" t="t" r="r" b="b"/>
                <a:pathLst>
                  <a:path w="11887581" h="1831721" extrusionOk="0">
                    <a:moveTo>
                      <a:pt x="0" y="1831721"/>
                    </a:moveTo>
                    <a:lnTo>
                      <a:pt x="465582" y="0"/>
                    </a:lnTo>
                    <a:lnTo>
                      <a:pt x="11887581" y="0"/>
                    </a:lnTo>
                    <a:lnTo>
                      <a:pt x="11422126" y="1831721"/>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93" name="Google Shape;93;p1"/>
              <p:cNvSpPr/>
              <p:nvPr/>
            </p:nvSpPr>
            <p:spPr>
              <a:xfrm>
                <a:off x="-762" y="0"/>
                <a:ext cx="11925173" cy="1867789"/>
              </a:xfrm>
              <a:custGeom>
                <a:avLst/>
                <a:gdLst/>
                <a:ahLst/>
                <a:cxnLst/>
                <a:rect l="l" t="t" r="r" b="b"/>
                <a:pathLst>
                  <a:path w="11925173" h="1867789" extrusionOk="0">
                    <a:moveTo>
                      <a:pt x="1270" y="1845310"/>
                    </a:moveTo>
                    <a:lnTo>
                      <a:pt x="466852" y="13589"/>
                    </a:lnTo>
                    <a:cubicBezTo>
                      <a:pt x="468884" y="5588"/>
                      <a:pt x="476123" y="0"/>
                      <a:pt x="484378" y="0"/>
                    </a:cubicBezTo>
                    <a:lnTo>
                      <a:pt x="11906377" y="0"/>
                    </a:lnTo>
                    <a:cubicBezTo>
                      <a:pt x="11911965" y="0"/>
                      <a:pt x="11917172" y="2540"/>
                      <a:pt x="11920601" y="6985"/>
                    </a:cubicBezTo>
                    <a:cubicBezTo>
                      <a:pt x="11924030" y="11430"/>
                      <a:pt x="11925173" y="17145"/>
                      <a:pt x="11923903" y="22479"/>
                    </a:cubicBezTo>
                    <a:lnTo>
                      <a:pt x="11458448" y="1854200"/>
                    </a:lnTo>
                    <a:cubicBezTo>
                      <a:pt x="11456416" y="1862201"/>
                      <a:pt x="11449177" y="1867789"/>
                      <a:pt x="11440922" y="1867789"/>
                    </a:cubicBezTo>
                    <a:lnTo>
                      <a:pt x="18796" y="1867789"/>
                    </a:lnTo>
                    <a:cubicBezTo>
                      <a:pt x="13208" y="1867789"/>
                      <a:pt x="8001" y="1865249"/>
                      <a:pt x="4572" y="1860804"/>
                    </a:cubicBezTo>
                    <a:cubicBezTo>
                      <a:pt x="1143" y="1856359"/>
                      <a:pt x="0" y="1850644"/>
                      <a:pt x="1270" y="1845310"/>
                    </a:cubicBezTo>
                    <a:moveTo>
                      <a:pt x="36322" y="1854200"/>
                    </a:moveTo>
                    <a:lnTo>
                      <a:pt x="18796" y="1849755"/>
                    </a:lnTo>
                    <a:lnTo>
                      <a:pt x="18796" y="1831721"/>
                    </a:lnTo>
                    <a:lnTo>
                      <a:pt x="11440922" y="1831721"/>
                    </a:lnTo>
                    <a:lnTo>
                      <a:pt x="11440922" y="1849755"/>
                    </a:lnTo>
                    <a:lnTo>
                      <a:pt x="11423396" y="1845310"/>
                    </a:lnTo>
                    <a:lnTo>
                      <a:pt x="11888978" y="13589"/>
                    </a:lnTo>
                    <a:lnTo>
                      <a:pt x="11906504" y="18034"/>
                    </a:lnTo>
                    <a:lnTo>
                      <a:pt x="11906504" y="36068"/>
                    </a:lnTo>
                    <a:lnTo>
                      <a:pt x="484378" y="36068"/>
                    </a:lnTo>
                    <a:lnTo>
                      <a:pt x="484378" y="18034"/>
                    </a:lnTo>
                    <a:lnTo>
                      <a:pt x="501904" y="22479"/>
                    </a:lnTo>
                    <a:lnTo>
                      <a:pt x="36322" y="1854200"/>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grpSp>
        <p:grpSp>
          <p:nvGrpSpPr>
            <p:cNvPr id="94" name="Google Shape;94;p1"/>
            <p:cNvGrpSpPr/>
            <p:nvPr/>
          </p:nvGrpSpPr>
          <p:grpSpPr>
            <a:xfrm>
              <a:off x="6768040" y="3471483"/>
              <a:ext cx="2580703" cy="1400842"/>
              <a:chOff x="-762" y="0"/>
              <a:chExt cx="3440938" cy="1867789"/>
            </a:xfrm>
          </p:grpSpPr>
          <p:sp>
            <p:nvSpPr>
              <p:cNvPr id="95" name="Google Shape;95;p1"/>
              <p:cNvSpPr/>
              <p:nvPr/>
            </p:nvSpPr>
            <p:spPr>
              <a:xfrm>
                <a:off x="18034" y="18034"/>
                <a:ext cx="3403346" cy="1831721"/>
              </a:xfrm>
              <a:custGeom>
                <a:avLst/>
                <a:gdLst/>
                <a:ahLst/>
                <a:cxnLst/>
                <a:rect l="l" t="t" r="r" b="b"/>
                <a:pathLst>
                  <a:path w="3403346" h="1831721" extrusionOk="0">
                    <a:moveTo>
                      <a:pt x="0" y="1831721"/>
                    </a:moveTo>
                    <a:lnTo>
                      <a:pt x="462026" y="0"/>
                    </a:lnTo>
                    <a:lnTo>
                      <a:pt x="3403346" y="0"/>
                    </a:lnTo>
                    <a:lnTo>
                      <a:pt x="2941320" y="1831721"/>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96" name="Google Shape;96;p1"/>
              <p:cNvSpPr/>
              <p:nvPr/>
            </p:nvSpPr>
            <p:spPr>
              <a:xfrm>
                <a:off x="-762" y="0"/>
                <a:ext cx="3440938" cy="1867789"/>
              </a:xfrm>
              <a:custGeom>
                <a:avLst/>
                <a:gdLst/>
                <a:ahLst/>
                <a:cxnLst/>
                <a:rect l="l" t="t" r="r" b="b"/>
                <a:pathLst>
                  <a:path w="3440938" h="1867789" extrusionOk="0">
                    <a:moveTo>
                      <a:pt x="1270" y="1845310"/>
                    </a:moveTo>
                    <a:lnTo>
                      <a:pt x="463296" y="13589"/>
                    </a:lnTo>
                    <a:cubicBezTo>
                      <a:pt x="465328" y="5588"/>
                      <a:pt x="472567" y="0"/>
                      <a:pt x="480822" y="0"/>
                    </a:cubicBezTo>
                    <a:lnTo>
                      <a:pt x="3422142" y="0"/>
                    </a:lnTo>
                    <a:cubicBezTo>
                      <a:pt x="3427730" y="0"/>
                      <a:pt x="3432937" y="2540"/>
                      <a:pt x="3436366" y="6985"/>
                    </a:cubicBezTo>
                    <a:cubicBezTo>
                      <a:pt x="3439795" y="11430"/>
                      <a:pt x="3440938" y="17145"/>
                      <a:pt x="3439668" y="22479"/>
                    </a:cubicBezTo>
                    <a:lnTo>
                      <a:pt x="2977642" y="1854200"/>
                    </a:lnTo>
                    <a:cubicBezTo>
                      <a:pt x="2975610" y="1862201"/>
                      <a:pt x="2968371" y="1867789"/>
                      <a:pt x="2960116" y="1867789"/>
                    </a:cubicBezTo>
                    <a:lnTo>
                      <a:pt x="18796" y="1867789"/>
                    </a:lnTo>
                    <a:cubicBezTo>
                      <a:pt x="13208" y="1867789"/>
                      <a:pt x="8001" y="1865249"/>
                      <a:pt x="4572" y="1860804"/>
                    </a:cubicBezTo>
                    <a:cubicBezTo>
                      <a:pt x="1143" y="1856359"/>
                      <a:pt x="0" y="1850644"/>
                      <a:pt x="1270" y="1845310"/>
                    </a:cubicBezTo>
                    <a:moveTo>
                      <a:pt x="36322" y="1854200"/>
                    </a:moveTo>
                    <a:lnTo>
                      <a:pt x="18796" y="1849755"/>
                    </a:lnTo>
                    <a:lnTo>
                      <a:pt x="18796" y="1831721"/>
                    </a:lnTo>
                    <a:lnTo>
                      <a:pt x="2960116" y="1831721"/>
                    </a:lnTo>
                    <a:lnTo>
                      <a:pt x="2960116" y="1849755"/>
                    </a:lnTo>
                    <a:lnTo>
                      <a:pt x="2942590" y="1845310"/>
                    </a:lnTo>
                    <a:lnTo>
                      <a:pt x="3404616" y="13589"/>
                    </a:lnTo>
                    <a:lnTo>
                      <a:pt x="3422142" y="18034"/>
                    </a:lnTo>
                    <a:lnTo>
                      <a:pt x="3422142" y="36068"/>
                    </a:lnTo>
                    <a:lnTo>
                      <a:pt x="480822" y="36068"/>
                    </a:lnTo>
                    <a:lnTo>
                      <a:pt x="480822" y="18034"/>
                    </a:lnTo>
                    <a:lnTo>
                      <a:pt x="498348" y="22479"/>
                    </a:lnTo>
                    <a:lnTo>
                      <a:pt x="36322" y="1854200"/>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grpSp>
        <p:sp>
          <p:nvSpPr>
            <p:cNvPr id="97" name="Google Shape;97;p1"/>
            <p:cNvSpPr txBox="1"/>
            <p:nvPr/>
          </p:nvSpPr>
          <p:spPr>
            <a:xfrm>
              <a:off x="1057672" y="3809420"/>
              <a:ext cx="5085761" cy="372273"/>
            </a:xfrm>
            <a:prstGeom prst="rect">
              <a:avLst/>
            </a:prstGeom>
            <a:noFill/>
            <a:ln>
              <a:noFill/>
            </a:ln>
          </p:spPr>
          <p:txBody>
            <a:bodyPr spcFirstLastPara="1" wrap="square" lIns="0" tIns="0" rIns="0" bIns="0" anchor="t" anchorCtr="0">
              <a:spAutoFit/>
            </a:bodyPr>
            <a:lstStyle/>
            <a:p>
              <a:pPr>
                <a:lnSpc>
                  <a:spcPct val="107991"/>
                </a:lnSpc>
              </a:pPr>
              <a:r>
                <a:rPr lang="en-US" sz="2100" dirty="0">
                  <a:solidFill>
                    <a:srgbClr val="FFFFFF"/>
                  </a:solidFill>
                  <a:latin typeface="Open Sans Light"/>
                  <a:ea typeface="Open Sans Light"/>
                  <a:cs typeface="Open Sans Light"/>
                  <a:sym typeface="Open Sans Light"/>
                </a:rPr>
                <a:t>Air Liquide S.A. - EPA:AI</a:t>
              </a:r>
              <a:endParaRPr sz="1688" dirty="0"/>
            </a:p>
          </p:txBody>
        </p:sp>
        <p:sp>
          <p:nvSpPr>
            <p:cNvPr id="98" name="Google Shape;98;p1"/>
            <p:cNvSpPr txBox="1"/>
            <p:nvPr/>
          </p:nvSpPr>
          <p:spPr>
            <a:xfrm>
              <a:off x="1252882" y="4189497"/>
              <a:ext cx="4191953" cy="265919"/>
            </a:xfrm>
            <a:prstGeom prst="rect">
              <a:avLst/>
            </a:prstGeom>
            <a:noFill/>
            <a:ln>
              <a:noFill/>
            </a:ln>
          </p:spPr>
          <p:txBody>
            <a:bodyPr spcFirstLastPara="1" wrap="square" lIns="0" tIns="0" rIns="0" bIns="0" anchor="t" anchorCtr="0">
              <a:spAutoFit/>
            </a:bodyPr>
            <a:lstStyle/>
            <a:p>
              <a:pPr>
                <a:lnSpc>
                  <a:spcPct val="108000"/>
                </a:lnSpc>
              </a:pPr>
              <a:r>
                <a:rPr lang="en-US" sz="1500" dirty="0">
                  <a:solidFill>
                    <a:srgbClr val="FFFFFF"/>
                  </a:solidFill>
                  <a:latin typeface="Open Sans Light"/>
                  <a:ea typeface="Open Sans Light"/>
                  <a:cs typeface="Open Sans Light"/>
                  <a:sym typeface="Open Sans Light"/>
                </a:rPr>
                <a:t>07/04/2026</a:t>
              </a:r>
              <a:endParaRPr sz="1688" dirty="0"/>
            </a:p>
          </p:txBody>
        </p:sp>
        <p:sp>
          <p:nvSpPr>
            <p:cNvPr id="99" name="Google Shape;99;p1"/>
            <p:cNvSpPr txBox="1"/>
            <p:nvPr/>
          </p:nvSpPr>
          <p:spPr>
            <a:xfrm>
              <a:off x="7229653" y="3801283"/>
              <a:ext cx="1466275" cy="146092"/>
            </a:xfrm>
            <a:prstGeom prst="rect">
              <a:avLst/>
            </a:prstGeom>
            <a:noFill/>
            <a:ln>
              <a:noFill/>
            </a:ln>
          </p:spPr>
          <p:txBody>
            <a:bodyPr spcFirstLastPara="1" wrap="square" lIns="0" tIns="0" rIns="0" bIns="0" anchor="t" anchorCtr="0">
              <a:spAutoFit/>
            </a:bodyPr>
            <a:lstStyle/>
            <a:p>
              <a:pPr algn="r">
                <a:lnSpc>
                  <a:spcPct val="108077"/>
                </a:lnSpc>
              </a:pPr>
              <a:r>
                <a:rPr lang="en-US" sz="824" b="1">
                  <a:solidFill>
                    <a:srgbClr val="FFFFFF"/>
                  </a:solidFill>
                  <a:latin typeface="Open Sans"/>
                  <a:ea typeface="Open Sans"/>
                  <a:cs typeface="Open Sans"/>
                  <a:sym typeface="Open Sans"/>
                </a:rPr>
                <a:t>Equity Research Report</a:t>
              </a:r>
              <a:endParaRPr sz="1688"/>
            </a:p>
          </p:txBody>
        </p:sp>
      </p:grpSp>
      <p:sp>
        <p:nvSpPr>
          <p:cNvPr id="101" name="Google Shape;101;p1"/>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9" b="-138"/>
            </a:stretch>
          </a:blip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pic>
        <p:nvPicPr>
          <p:cNvPr id="2" name="Picture 2" descr="Air Liquide annonce une nouvelle identité visuelle - L'ADN">
            <a:extLst>
              <a:ext uri="{FF2B5EF4-FFF2-40B4-BE49-F238E27FC236}">
                <a16:creationId xmlns:a16="http://schemas.microsoft.com/office/drawing/2014/main" id="{907D68A2-B5FA-7CF2-B75A-3E0262F8F9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8193" y="1761802"/>
            <a:ext cx="6907614" cy="21118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grpSp>
        <p:nvGrpSpPr>
          <p:cNvPr id="107" name="Google Shape;107;p2"/>
          <p:cNvGrpSpPr/>
          <p:nvPr/>
        </p:nvGrpSpPr>
        <p:grpSpPr>
          <a:xfrm>
            <a:off x="-2192501" y="2633500"/>
            <a:ext cx="1970251" cy="496313"/>
            <a:chOff x="0" y="-28575"/>
            <a:chExt cx="2802135" cy="705866"/>
          </a:xfrm>
        </p:grpSpPr>
        <p:sp>
          <p:nvSpPr>
            <p:cNvPr id="108" name="Google Shape;108;p2"/>
            <p:cNvSpPr/>
            <p:nvPr/>
          </p:nvSpPr>
          <p:spPr>
            <a:xfrm>
              <a:off x="0" y="0"/>
              <a:ext cx="2802128" cy="677291"/>
            </a:xfrm>
            <a:custGeom>
              <a:avLst/>
              <a:gdLst/>
              <a:ahLst/>
              <a:cxnLst/>
              <a:rect l="l" t="t" r="r" b="b"/>
              <a:pathLst>
                <a:path w="2802128" h="677291" extrusionOk="0">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09" name="Google Shape;109;p2"/>
            <p:cNvSpPr txBox="1"/>
            <p:nvPr/>
          </p:nvSpPr>
          <p:spPr>
            <a:xfrm>
              <a:off x="0" y="-28575"/>
              <a:ext cx="2802135" cy="705837"/>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Outline: black, ½ pt.</a:t>
              </a:r>
              <a:endParaRPr sz="1688"/>
            </a:p>
          </p:txBody>
        </p:sp>
      </p:grpSp>
      <p:grpSp>
        <p:nvGrpSpPr>
          <p:cNvPr id="110" name="Google Shape;110;p2"/>
          <p:cNvGrpSpPr/>
          <p:nvPr/>
        </p:nvGrpSpPr>
        <p:grpSpPr>
          <a:xfrm>
            <a:off x="-2186151" y="3363382"/>
            <a:ext cx="1957566" cy="486436"/>
            <a:chOff x="0" y="-28575"/>
            <a:chExt cx="2784094" cy="691820"/>
          </a:xfrm>
        </p:grpSpPr>
        <p:sp>
          <p:nvSpPr>
            <p:cNvPr id="111" name="Google Shape;111;p2"/>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CCD1D7"/>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2" name="Google Shape;112;p2"/>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204 – 209 – 215</a:t>
              </a:r>
              <a:endParaRPr sz="1688"/>
            </a:p>
          </p:txBody>
        </p:sp>
      </p:grpSp>
      <p:grpSp>
        <p:nvGrpSpPr>
          <p:cNvPr id="113" name="Google Shape;113;p2"/>
          <p:cNvGrpSpPr/>
          <p:nvPr/>
        </p:nvGrpSpPr>
        <p:grpSpPr>
          <a:xfrm>
            <a:off x="-2186151" y="4089757"/>
            <a:ext cx="1957566" cy="486436"/>
            <a:chOff x="0" y="-28575"/>
            <a:chExt cx="2784094" cy="691820"/>
          </a:xfrm>
        </p:grpSpPr>
        <p:sp>
          <p:nvSpPr>
            <p:cNvPr id="114" name="Google Shape;114;p2"/>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485059"/>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5" name="Google Shape;115;p2"/>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72 – 80 – 89 </a:t>
              </a:r>
              <a:endParaRPr sz="1688"/>
            </a:p>
          </p:txBody>
        </p:sp>
      </p:grpSp>
      <p:grpSp>
        <p:nvGrpSpPr>
          <p:cNvPr id="116" name="Google Shape;116;p2"/>
          <p:cNvGrpSpPr/>
          <p:nvPr/>
        </p:nvGrpSpPr>
        <p:grpSpPr>
          <a:xfrm>
            <a:off x="-2186151" y="4816132"/>
            <a:ext cx="1957566" cy="486436"/>
            <a:chOff x="0" y="-28575"/>
            <a:chExt cx="2784094" cy="691820"/>
          </a:xfrm>
        </p:grpSpPr>
        <p:sp>
          <p:nvSpPr>
            <p:cNvPr id="117" name="Google Shape;117;p2"/>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5E7C9E"/>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8" name="Google Shape;118;p2"/>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94 – 124 – 158</a:t>
              </a:r>
              <a:endParaRPr sz="1688"/>
            </a:p>
          </p:txBody>
        </p:sp>
      </p:grpSp>
      <p:grpSp>
        <p:nvGrpSpPr>
          <p:cNvPr id="119" name="Google Shape;119;p2"/>
          <p:cNvGrpSpPr/>
          <p:nvPr/>
        </p:nvGrpSpPr>
        <p:grpSpPr>
          <a:xfrm>
            <a:off x="-2186151" y="5542509"/>
            <a:ext cx="1957566" cy="486436"/>
            <a:chOff x="0" y="-28575"/>
            <a:chExt cx="2784094" cy="691820"/>
          </a:xfrm>
        </p:grpSpPr>
        <p:sp>
          <p:nvSpPr>
            <p:cNvPr id="120" name="Google Shape;120;p2"/>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21" name="Google Shape;121;p2"/>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17 – 61 – 99</a:t>
              </a:r>
              <a:endParaRPr sz="1688"/>
            </a:p>
          </p:txBody>
        </p:sp>
      </p:grpSp>
      <p:grpSp>
        <p:nvGrpSpPr>
          <p:cNvPr id="122" name="Google Shape;122;p2"/>
          <p:cNvGrpSpPr/>
          <p:nvPr/>
        </p:nvGrpSpPr>
        <p:grpSpPr>
          <a:xfrm>
            <a:off x="-2186151" y="1916319"/>
            <a:ext cx="1957566" cy="483632"/>
            <a:chOff x="0" y="-28575"/>
            <a:chExt cx="2784094" cy="687832"/>
          </a:xfrm>
        </p:grpSpPr>
        <p:sp>
          <p:nvSpPr>
            <p:cNvPr id="123" name="Google Shape;123;p2"/>
            <p:cNvSpPr/>
            <p:nvPr/>
          </p:nvSpPr>
          <p:spPr>
            <a:xfrm>
              <a:off x="0" y="0"/>
              <a:ext cx="2784094" cy="659257"/>
            </a:xfrm>
            <a:custGeom>
              <a:avLst/>
              <a:gdLst/>
              <a:ahLst/>
              <a:cxnLst/>
              <a:rect l="l" t="t" r="r" b="b"/>
              <a:pathLst>
                <a:path w="2784094" h="659257" extrusionOk="0">
                  <a:moveTo>
                    <a:pt x="0" y="0"/>
                  </a:moveTo>
                  <a:lnTo>
                    <a:pt x="2784094" y="0"/>
                  </a:lnTo>
                  <a:lnTo>
                    <a:pt x="2784094" y="659257"/>
                  </a:lnTo>
                  <a:lnTo>
                    <a:pt x="0" y="659257"/>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24" name="Google Shape;124;p2"/>
            <p:cNvSpPr txBox="1"/>
            <p:nvPr/>
          </p:nvSpPr>
          <p:spPr>
            <a:xfrm>
              <a:off x="0" y="-28575"/>
              <a:ext cx="2784073" cy="687775"/>
            </a:xfrm>
            <a:prstGeom prst="rect">
              <a:avLst/>
            </a:prstGeom>
            <a:noFill/>
            <a:ln>
              <a:noFill/>
            </a:ln>
          </p:spPr>
          <p:txBody>
            <a:bodyPr spcFirstLastPara="1" wrap="square" lIns="47625" tIns="47625" rIns="47625" bIns="47625" anchor="ctr" anchorCtr="0">
              <a:noAutofit/>
            </a:bodyPr>
            <a:lstStyle/>
            <a:p>
              <a:pPr marL="154432" lvl="1" indent="-76140">
                <a:lnSpc>
                  <a:spcPct val="120015"/>
                </a:lnSpc>
                <a:buClr>
                  <a:srgbClr val="FFFFFF"/>
                </a:buClr>
                <a:buSzPts val="1279"/>
                <a:buFont typeface="Arial"/>
                <a:buChar char="•"/>
              </a:pPr>
              <a:r>
                <a:rPr lang="en-US" sz="1199">
                  <a:solidFill>
                    <a:srgbClr val="FFFFFF"/>
                  </a:solidFill>
                  <a:latin typeface="Arial"/>
                  <a:ea typeface="Arial"/>
                  <a:cs typeface="Arial"/>
                  <a:sym typeface="Arial"/>
                </a:rPr>
                <a:t>Normal shapes w/ text</a:t>
              </a:r>
              <a:endParaRPr sz="1688"/>
            </a:p>
          </p:txBody>
        </p:sp>
      </p:grpSp>
      <p:cxnSp>
        <p:nvCxnSpPr>
          <p:cNvPr id="125" name="Google Shape;125;p2"/>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126" name="Google Shape;126;p2"/>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cxnSp>
        <p:nvCxnSpPr>
          <p:cNvPr id="127" name="Google Shape;127;p2"/>
          <p:cNvCxnSpPr/>
          <p:nvPr/>
        </p:nvCxnSpPr>
        <p:spPr>
          <a:xfrm rot="39499">
            <a:off x="-9578" y="2182319"/>
            <a:ext cx="1658019" cy="0"/>
          </a:xfrm>
          <a:prstGeom prst="straightConnector1">
            <a:avLst/>
          </a:prstGeom>
          <a:noFill/>
          <a:ln w="19050" cap="rnd" cmpd="sng">
            <a:solidFill>
              <a:srgbClr val="39598F"/>
            </a:solidFill>
            <a:prstDash val="solid"/>
            <a:round/>
            <a:headEnd type="none" w="sm" len="sm"/>
            <a:tailEnd type="none" w="sm" len="sm"/>
          </a:ln>
        </p:spPr>
      </p:cxnSp>
      <p:grpSp>
        <p:nvGrpSpPr>
          <p:cNvPr id="128" name="Google Shape;128;p2"/>
          <p:cNvGrpSpPr/>
          <p:nvPr/>
        </p:nvGrpSpPr>
        <p:grpSpPr>
          <a:xfrm>
            <a:off x="3248144" y="2958428"/>
            <a:ext cx="2647742" cy="2604173"/>
            <a:chOff x="572329" y="2243270"/>
            <a:chExt cx="3765677" cy="3703713"/>
          </a:xfrm>
        </p:grpSpPr>
        <p:grpSp>
          <p:nvGrpSpPr>
            <p:cNvPr id="129" name="Google Shape;129;p2"/>
            <p:cNvGrpSpPr/>
            <p:nvPr/>
          </p:nvGrpSpPr>
          <p:grpSpPr>
            <a:xfrm>
              <a:off x="572329" y="2279846"/>
              <a:ext cx="3765677" cy="452882"/>
              <a:chOff x="-1524" y="-1524"/>
              <a:chExt cx="3765677" cy="452882"/>
            </a:xfrm>
          </p:grpSpPr>
          <p:sp>
            <p:nvSpPr>
              <p:cNvPr id="130" name="Google Shape;130;p2"/>
              <p:cNvSpPr/>
              <p:nvPr/>
            </p:nvSpPr>
            <p:spPr>
              <a:xfrm>
                <a:off x="0" y="0"/>
                <a:ext cx="3762629" cy="449834"/>
              </a:xfrm>
              <a:custGeom>
                <a:avLst/>
                <a:gdLst/>
                <a:ahLst/>
                <a:cxnLst/>
                <a:rect l="l" t="t" r="r" b="b"/>
                <a:pathLst>
                  <a:path w="3762629" h="449834" extrusionOk="0">
                    <a:moveTo>
                      <a:pt x="0" y="0"/>
                    </a:moveTo>
                    <a:lnTo>
                      <a:pt x="3762629" y="0"/>
                    </a:lnTo>
                    <a:lnTo>
                      <a:pt x="3762629" y="449834"/>
                    </a:lnTo>
                    <a:lnTo>
                      <a:pt x="0" y="449834"/>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31" name="Google Shape;131;p2"/>
              <p:cNvSpPr/>
              <p:nvPr/>
            </p:nvSpPr>
            <p:spPr>
              <a:xfrm>
                <a:off x="-1524" y="-1524"/>
                <a:ext cx="3765677" cy="452882"/>
              </a:xfrm>
              <a:custGeom>
                <a:avLst/>
                <a:gdLst/>
                <a:ahLst/>
                <a:cxnLst/>
                <a:rect l="l" t="t" r="r" b="b"/>
                <a:pathLst>
                  <a:path w="3765677" h="452882" extrusionOk="0">
                    <a:moveTo>
                      <a:pt x="1524" y="0"/>
                    </a:moveTo>
                    <a:lnTo>
                      <a:pt x="3764153" y="0"/>
                    </a:lnTo>
                    <a:cubicBezTo>
                      <a:pt x="3765042" y="0"/>
                      <a:pt x="3765677" y="762"/>
                      <a:pt x="3765677" y="1524"/>
                    </a:cubicBezTo>
                    <a:lnTo>
                      <a:pt x="3765677" y="451358"/>
                    </a:lnTo>
                    <a:cubicBezTo>
                      <a:pt x="3765677" y="452247"/>
                      <a:pt x="3764915" y="452882"/>
                      <a:pt x="3764153"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764153" y="449834"/>
                    </a:lnTo>
                    <a:lnTo>
                      <a:pt x="3764153" y="451358"/>
                    </a:lnTo>
                    <a:lnTo>
                      <a:pt x="3762629" y="451358"/>
                    </a:lnTo>
                    <a:lnTo>
                      <a:pt x="3762629" y="1524"/>
                    </a:lnTo>
                    <a:lnTo>
                      <a:pt x="3764153" y="1524"/>
                    </a:lnTo>
                    <a:lnTo>
                      <a:pt x="3764153" y="3048"/>
                    </a:lnTo>
                    <a:lnTo>
                      <a:pt x="1524" y="3048"/>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grpSp>
        <p:grpSp>
          <p:nvGrpSpPr>
            <p:cNvPr id="132" name="Google Shape;132;p2"/>
            <p:cNvGrpSpPr/>
            <p:nvPr/>
          </p:nvGrpSpPr>
          <p:grpSpPr>
            <a:xfrm>
              <a:off x="595005" y="2243270"/>
              <a:ext cx="339344" cy="489458"/>
              <a:chOff x="-1524" y="-38100"/>
              <a:chExt cx="339344" cy="489458"/>
            </a:xfrm>
          </p:grpSpPr>
          <p:sp>
            <p:nvSpPr>
              <p:cNvPr id="133" name="Google Shape;133;p2"/>
              <p:cNvSpPr/>
              <p:nvPr/>
            </p:nvSpPr>
            <p:spPr>
              <a:xfrm>
                <a:off x="0" y="0"/>
                <a:ext cx="336296" cy="449834"/>
              </a:xfrm>
              <a:custGeom>
                <a:avLst/>
                <a:gdLst/>
                <a:ahLst/>
                <a:cxnLst/>
                <a:rect l="l" t="t" r="r" b="b"/>
                <a:pathLst>
                  <a:path w="336296" h="449834" extrusionOk="0">
                    <a:moveTo>
                      <a:pt x="0" y="0"/>
                    </a:moveTo>
                    <a:lnTo>
                      <a:pt x="336296" y="0"/>
                    </a:lnTo>
                    <a:lnTo>
                      <a:pt x="336296" y="449834"/>
                    </a:lnTo>
                    <a:lnTo>
                      <a:pt x="0" y="449834"/>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34" name="Google Shape;134;p2"/>
              <p:cNvSpPr/>
              <p:nvPr/>
            </p:nvSpPr>
            <p:spPr>
              <a:xfrm>
                <a:off x="-1524" y="-1524"/>
                <a:ext cx="339344" cy="452882"/>
              </a:xfrm>
              <a:custGeom>
                <a:avLst/>
                <a:gdLst/>
                <a:ahLst/>
                <a:cxnLst/>
                <a:rect l="l" t="t" r="r" b="b"/>
                <a:pathLst>
                  <a:path w="339344" h="452882" extrusionOk="0">
                    <a:moveTo>
                      <a:pt x="1524" y="0"/>
                    </a:moveTo>
                    <a:lnTo>
                      <a:pt x="337820" y="0"/>
                    </a:lnTo>
                    <a:cubicBezTo>
                      <a:pt x="338709" y="0"/>
                      <a:pt x="339344" y="762"/>
                      <a:pt x="339344" y="1524"/>
                    </a:cubicBezTo>
                    <a:lnTo>
                      <a:pt x="339344" y="451358"/>
                    </a:lnTo>
                    <a:cubicBezTo>
                      <a:pt x="339344" y="452247"/>
                      <a:pt x="338582" y="452882"/>
                      <a:pt x="337820"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37820" y="449834"/>
                    </a:lnTo>
                    <a:lnTo>
                      <a:pt x="337820" y="451358"/>
                    </a:lnTo>
                    <a:lnTo>
                      <a:pt x="336296" y="451358"/>
                    </a:lnTo>
                    <a:lnTo>
                      <a:pt x="336296" y="1524"/>
                    </a:lnTo>
                    <a:lnTo>
                      <a:pt x="337820" y="1524"/>
                    </a:lnTo>
                    <a:lnTo>
                      <a:pt x="337820" y="3048"/>
                    </a:lnTo>
                    <a:lnTo>
                      <a:pt x="1524" y="3048"/>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35" name="Google Shape;135;p2"/>
              <p:cNvSpPr txBox="1"/>
              <p:nvPr/>
            </p:nvSpPr>
            <p:spPr>
              <a:xfrm>
                <a:off x="0" y="-38100"/>
                <a:ext cx="336348"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1</a:t>
                </a:r>
                <a:endParaRPr sz="1688"/>
              </a:p>
            </p:txBody>
          </p:sp>
        </p:grpSp>
        <p:grpSp>
          <p:nvGrpSpPr>
            <p:cNvPr id="136" name="Google Shape;136;p2"/>
            <p:cNvGrpSpPr/>
            <p:nvPr/>
          </p:nvGrpSpPr>
          <p:grpSpPr>
            <a:xfrm>
              <a:off x="596529" y="3501024"/>
              <a:ext cx="452374" cy="487938"/>
              <a:chOff x="0" y="-38100"/>
              <a:chExt cx="452374" cy="487938"/>
            </a:xfrm>
          </p:grpSpPr>
          <p:sp>
            <p:nvSpPr>
              <p:cNvPr id="137" name="Google Shape;137;p2"/>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38" name="Google Shape;138;p2"/>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3</a:t>
                </a:r>
                <a:endParaRPr sz="1688"/>
              </a:p>
            </p:txBody>
          </p:sp>
        </p:grpSp>
        <p:grpSp>
          <p:nvGrpSpPr>
            <p:cNvPr id="139" name="Google Shape;139;p2"/>
            <p:cNvGrpSpPr/>
            <p:nvPr/>
          </p:nvGrpSpPr>
          <p:grpSpPr>
            <a:xfrm>
              <a:off x="596529" y="4153699"/>
              <a:ext cx="452374" cy="487938"/>
              <a:chOff x="0" y="-38100"/>
              <a:chExt cx="452374" cy="487938"/>
            </a:xfrm>
          </p:grpSpPr>
          <p:sp>
            <p:nvSpPr>
              <p:cNvPr id="140" name="Google Shape;140;p2"/>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41" name="Google Shape;141;p2"/>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4</a:t>
                </a:r>
                <a:endParaRPr sz="1688"/>
              </a:p>
            </p:txBody>
          </p:sp>
        </p:grpSp>
        <p:grpSp>
          <p:nvGrpSpPr>
            <p:cNvPr id="142" name="Google Shape;142;p2"/>
            <p:cNvGrpSpPr/>
            <p:nvPr/>
          </p:nvGrpSpPr>
          <p:grpSpPr>
            <a:xfrm>
              <a:off x="596527" y="4806372"/>
              <a:ext cx="537083" cy="487938"/>
              <a:chOff x="0" y="-38100"/>
              <a:chExt cx="537083" cy="487938"/>
            </a:xfrm>
          </p:grpSpPr>
          <p:sp>
            <p:nvSpPr>
              <p:cNvPr id="143" name="Google Shape;143;p2"/>
              <p:cNvSpPr/>
              <p:nvPr/>
            </p:nvSpPr>
            <p:spPr>
              <a:xfrm>
                <a:off x="0" y="0"/>
                <a:ext cx="537083" cy="449834"/>
              </a:xfrm>
              <a:custGeom>
                <a:avLst/>
                <a:gdLst/>
                <a:ahLst/>
                <a:cxnLst/>
                <a:rect l="l" t="t" r="r" b="b"/>
                <a:pathLst>
                  <a:path w="537083" h="449834" extrusionOk="0">
                    <a:moveTo>
                      <a:pt x="0" y="0"/>
                    </a:moveTo>
                    <a:lnTo>
                      <a:pt x="537083" y="0"/>
                    </a:lnTo>
                    <a:lnTo>
                      <a:pt x="537083"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44" name="Google Shape;144;p2"/>
              <p:cNvSpPr txBox="1"/>
              <p:nvPr/>
            </p:nvSpPr>
            <p:spPr>
              <a:xfrm>
                <a:off x="0" y="-38100"/>
                <a:ext cx="537027"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5</a:t>
                </a:r>
                <a:endParaRPr sz="1688"/>
              </a:p>
            </p:txBody>
          </p:sp>
        </p:grpSp>
        <p:grpSp>
          <p:nvGrpSpPr>
            <p:cNvPr id="145" name="Google Shape;145;p2"/>
            <p:cNvGrpSpPr/>
            <p:nvPr/>
          </p:nvGrpSpPr>
          <p:grpSpPr>
            <a:xfrm>
              <a:off x="1047345" y="2262320"/>
              <a:ext cx="3290570" cy="470408"/>
              <a:chOff x="-1524" y="-19050"/>
              <a:chExt cx="3290570" cy="470408"/>
            </a:xfrm>
          </p:grpSpPr>
          <p:sp>
            <p:nvSpPr>
              <p:cNvPr id="146" name="Google Shape;146;p2"/>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47" name="Google Shape;147;p2"/>
              <p:cNvSpPr/>
              <p:nvPr/>
            </p:nvSpPr>
            <p:spPr>
              <a:xfrm>
                <a:off x="-1524" y="-1524"/>
                <a:ext cx="3290570" cy="452882"/>
              </a:xfrm>
              <a:custGeom>
                <a:avLst/>
                <a:gdLst/>
                <a:ahLst/>
                <a:cxnLst/>
                <a:rect l="l" t="t" r="r" b="b"/>
                <a:pathLst>
                  <a:path w="3290570" h="452882" extrusionOk="0">
                    <a:moveTo>
                      <a:pt x="1524" y="0"/>
                    </a:moveTo>
                    <a:lnTo>
                      <a:pt x="3289046" y="0"/>
                    </a:lnTo>
                    <a:cubicBezTo>
                      <a:pt x="3289935" y="0"/>
                      <a:pt x="3290570" y="762"/>
                      <a:pt x="3290570" y="1524"/>
                    </a:cubicBezTo>
                    <a:lnTo>
                      <a:pt x="3290570" y="451358"/>
                    </a:lnTo>
                    <a:cubicBezTo>
                      <a:pt x="3290570" y="452247"/>
                      <a:pt x="3289808" y="452882"/>
                      <a:pt x="3289046"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289046" y="449834"/>
                    </a:lnTo>
                    <a:lnTo>
                      <a:pt x="3289046" y="451358"/>
                    </a:lnTo>
                    <a:lnTo>
                      <a:pt x="3287522" y="451358"/>
                    </a:lnTo>
                    <a:lnTo>
                      <a:pt x="3287522" y="1524"/>
                    </a:lnTo>
                    <a:lnTo>
                      <a:pt x="3289046" y="1524"/>
                    </a:lnTo>
                    <a:lnTo>
                      <a:pt x="3289046" y="3048"/>
                    </a:lnTo>
                    <a:lnTo>
                      <a:pt x="1524" y="3048"/>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48" name="Google Shape;148;p2"/>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Company Overview</a:t>
                </a:r>
                <a:endParaRPr sz="1688"/>
              </a:p>
            </p:txBody>
          </p:sp>
        </p:grpSp>
        <p:grpSp>
          <p:nvGrpSpPr>
            <p:cNvPr id="149" name="Google Shape;149;p2"/>
            <p:cNvGrpSpPr/>
            <p:nvPr/>
          </p:nvGrpSpPr>
          <p:grpSpPr>
            <a:xfrm>
              <a:off x="1048869" y="3520074"/>
              <a:ext cx="3287570" cy="468888"/>
              <a:chOff x="0" y="-19050"/>
              <a:chExt cx="3287570" cy="468888"/>
            </a:xfrm>
          </p:grpSpPr>
          <p:sp>
            <p:nvSpPr>
              <p:cNvPr id="150" name="Google Shape;150;p2"/>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51" name="Google Shape;151;p2"/>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Investment Thesis</a:t>
                </a:r>
                <a:endParaRPr sz="1688"/>
              </a:p>
            </p:txBody>
          </p:sp>
        </p:grpSp>
        <p:grpSp>
          <p:nvGrpSpPr>
            <p:cNvPr id="152" name="Google Shape;152;p2"/>
            <p:cNvGrpSpPr/>
            <p:nvPr/>
          </p:nvGrpSpPr>
          <p:grpSpPr>
            <a:xfrm>
              <a:off x="1048869" y="4172749"/>
              <a:ext cx="3287570" cy="468888"/>
              <a:chOff x="0" y="-19050"/>
              <a:chExt cx="3287570" cy="468888"/>
            </a:xfrm>
          </p:grpSpPr>
          <p:sp>
            <p:nvSpPr>
              <p:cNvPr id="153" name="Google Shape;153;p2"/>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54" name="Google Shape;154;p2"/>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Valuation</a:t>
                </a:r>
                <a:endParaRPr sz="1688"/>
              </a:p>
            </p:txBody>
          </p:sp>
        </p:grpSp>
        <p:grpSp>
          <p:nvGrpSpPr>
            <p:cNvPr id="155" name="Google Shape;155;p2"/>
            <p:cNvGrpSpPr/>
            <p:nvPr/>
          </p:nvGrpSpPr>
          <p:grpSpPr>
            <a:xfrm>
              <a:off x="1048869" y="4825422"/>
              <a:ext cx="3287570" cy="468888"/>
              <a:chOff x="0" y="-19050"/>
              <a:chExt cx="3287570" cy="468888"/>
            </a:xfrm>
          </p:grpSpPr>
          <p:sp>
            <p:nvSpPr>
              <p:cNvPr id="156" name="Google Shape;156;p2"/>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57" name="Google Shape;157;p2"/>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Catalysts and Risks</a:t>
                </a:r>
                <a:endParaRPr sz="1688"/>
              </a:p>
            </p:txBody>
          </p:sp>
        </p:grpSp>
        <p:grpSp>
          <p:nvGrpSpPr>
            <p:cNvPr id="158" name="Google Shape;158;p2"/>
            <p:cNvGrpSpPr/>
            <p:nvPr/>
          </p:nvGrpSpPr>
          <p:grpSpPr>
            <a:xfrm>
              <a:off x="596529" y="5459045"/>
              <a:ext cx="452374" cy="487938"/>
              <a:chOff x="0" y="-38100"/>
              <a:chExt cx="452374" cy="487938"/>
            </a:xfrm>
          </p:grpSpPr>
          <p:sp>
            <p:nvSpPr>
              <p:cNvPr id="159" name="Google Shape;159;p2"/>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60" name="Google Shape;160;p2"/>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6</a:t>
                </a:r>
                <a:endParaRPr sz="1688"/>
              </a:p>
            </p:txBody>
          </p:sp>
        </p:grpSp>
        <p:grpSp>
          <p:nvGrpSpPr>
            <p:cNvPr id="161" name="Google Shape;161;p2"/>
            <p:cNvGrpSpPr/>
            <p:nvPr/>
          </p:nvGrpSpPr>
          <p:grpSpPr>
            <a:xfrm>
              <a:off x="1048869" y="5478095"/>
              <a:ext cx="3287570" cy="468888"/>
              <a:chOff x="0" y="-19050"/>
              <a:chExt cx="3287570" cy="468888"/>
            </a:xfrm>
          </p:grpSpPr>
          <p:sp>
            <p:nvSpPr>
              <p:cNvPr id="162" name="Google Shape;162;p2"/>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63" name="Google Shape;163;p2"/>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Recommendation</a:t>
                </a:r>
                <a:endParaRPr sz="1688"/>
              </a:p>
            </p:txBody>
          </p:sp>
        </p:grpSp>
        <p:grpSp>
          <p:nvGrpSpPr>
            <p:cNvPr id="164" name="Google Shape;164;p2"/>
            <p:cNvGrpSpPr/>
            <p:nvPr/>
          </p:nvGrpSpPr>
          <p:grpSpPr>
            <a:xfrm>
              <a:off x="573851" y="2872147"/>
              <a:ext cx="455461" cy="487938"/>
              <a:chOff x="0" y="-38100"/>
              <a:chExt cx="455461" cy="487938"/>
            </a:xfrm>
          </p:grpSpPr>
          <p:sp>
            <p:nvSpPr>
              <p:cNvPr id="165" name="Google Shape;165;p2"/>
              <p:cNvSpPr/>
              <p:nvPr/>
            </p:nvSpPr>
            <p:spPr>
              <a:xfrm>
                <a:off x="0" y="0"/>
                <a:ext cx="455422" cy="449834"/>
              </a:xfrm>
              <a:custGeom>
                <a:avLst/>
                <a:gdLst/>
                <a:ahLst/>
                <a:cxnLst/>
                <a:rect l="l" t="t" r="r" b="b"/>
                <a:pathLst>
                  <a:path w="455422" h="449834" extrusionOk="0">
                    <a:moveTo>
                      <a:pt x="0" y="0"/>
                    </a:moveTo>
                    <a:lnTo>
                      <a:pt x="455422" y="0"/>
                    </a:lnTo>
                    <a:lnTo>
                      <a:pt x="4554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66" name="Google Shape;166;p2"/>
              <p:cNvSpPr txBox="1"/>
              <p:nvPr/>
            </p:nvSpPr>
            <p:spPr>
              <a:xfrm>
                <a:off x="0" y="-38100"/>
                <a:ext cx="45546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2</a:t>
                </a:r>
                <a:endParaRPr sz="1688"/>
              </a:p>
            </p:txBody>
          </p:sp>
        </p:grpSp>
        <p:grpSp>
          <p:nvGrpSpPr>
            <p:cNvPr id="167" name="Google Shape;167;p2"/>
            <p:cNvGrpSpPr/>
            <p:nvPr/>
          </p:nvGrpSpPr>
          <p:grpSpPr>
            <a:xfrm>
              <a:off x="1026192" y="2891197"/>
              <a:ext cx="3310255" cy="468888"/>
              <a:chOff x="0" y="-19050"/>
              <a:chExt cx="3310255" cy="468888"/>
            </a:xfrm>
          </p:grpSpPr>
          <p:sp>
            <p:nvSpPr>
              <p:cNvPr id="168" name="Google Shape;168;p2"/>
              <p:cNvSpPr/>
              <p:nvPr/>
            </p:nvSpPr>
            <p:spPr>
              <a:xfrm>
                <a:off x="0" y="0"/>
                <a:ext cx="3310255" cy="449834"/>
              </a:xfrm>
              <a:custGeom>
                <a:avLst/>
                <a:gdLst/>
                <a:ahLst/>
                <a:cxnLst/>
                <a:rect l="l" t="t" r="r" b="b"/>
                <a:pathLst>
                  <a:path w="3310255" h="449834" extrusionOk="0">
                    <a:moveTo>
                      <a:pt x="0" y="0"/>
                    </a:moveTo>
                    <a:lnTo>
                      <a:pt x="3310255" y="0"/>
                    </a:lnTo>
                    <a:lnTo>
                      <a:pt x="3310255"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69" name="Google Shape;169;p2"/>
              <p:cNvSpPr txBox="1"/>
              <p:nvPr/>
            </p:nvSpPr>
            <p:spPr>
              <a:xfrm>
                <a:off x="0" y="-19050"/>
                <a:ext cx="3310246"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Industry</a:t>
                </a:r>
                <a:r>
                  <a:rPr lang="en-US" sz="1050">
                    <a:solidFill>
                      <a:srgbClr val="000000"/>
                    </a:solidFill>
                    <a:latin typeface="Arial"/>
                    <a:ea typeface="Arial"/>
                    <a:cs typeface="Arial"/>
                    <a:sym typeface="Arial"/>
                  </a:rPr>
                  <a:t> </a:t>
                </a:r>
                <a:r>
                  <a:rPr lang="en-US" sz="1050">
                    <a:solidFill>
                      <a:srgbClr val="FFFFFF"/>
                    </a:solidFill>
                    <a:latin typeface="Arial"/>
                    <a:ea typeface="Arial"/>
                    <a:cs typeface="Arial"/>
                    <a:sym typeface="Arial"/>
                  </a:rPr>
                  <a:t>Overview</a:t>
                </a:r>
                <a:endParaRPr sz="1688"/>
              </a:p>
            </p:txBody>
          </p:sp>
        </p:grpSp>
      </p:grpSp>
      <p:sp>
        <p:nvSpPr>
          <p:cNvPr id="170" name="Google Shape;170;p2"/>
          <p:cNvSpPr txBox="1"/>
          <p:nvPr/>
        </p:nvSpPr>
        <p:spPr>
          <a:xfrm>
            <a:off x="-3429000" y="342186"/>
            <a:ext cx="3200400" cy="1107611"/>
          </a:xfrm>
          <a:prstGeom prst="rect">
            <a:avLst/>
          </a:prstGeom>
          <a:noFill/>
          <a:ln>
            <a:noFill/>
          </a:ln>
        </p:spPr>
        <p:txBody>
          <a:bodyPr spcFirstLastPara="1" wrap="square" lIns="0" tIns="0" rIns="0" bIns="0" anchor="t" anchorCtr="0">
            <a:spAutoFit/>
          </a:bodyPr>
          <a:lstStyle/>
          <a:p>
            <a:pPr algn="r">
              <a:lnSpc>
                <a:spcPct val="120007"/>
              </a:lnSpc>
            </a:pPr>
            <a:r>
              <a:rPr lang="en-US" sz="2399" b="1">
                <a:solidFill>
                  <a:srgbClr val="000000"/>
                </a:solidFill>
                <a:latin typeface="Arial"/>
                <a:ea typeface="Arial"/>
                <a:cs typeface="Arial"/>
                <a:sym typeface="Arial"/>
              </a:rPr>
              <a:t>Arial Slide Title – 24</a:t>
            </a:r>
            <a:endParaRPr sz="1688"/>
          </a:p>
          <a:p>
            <a:pPr algn="r">
              <a:lnSpc>
                <a:spcPct val="119959"/>
              </a:lnSpc>
            </a:pPr>
            <a:r>
              <a:rPr lang="en-US" sz="1400">
                <a:solidFill>
                  <a:srgbClr val="000000"/>
                </a:solidFill>
                <a:latin typeface="Arial"/>
                <a:ea typeface="Arial"/>
                <a:cs typeface="Arial"/>
                <a:sym typeface="Arial"/>
              </a:rPr>
              <a:t>Content/Section Title Text – 14</a:t>
            </a:r>
            <a:endParaRPr sz="1688"/>
          </a:p>
          <a:p>
            <a:pPr algn="r">
              <a:lnSpc>
                <a:spcPct val="120015"/>
              </a:lnSpc>
            </a:pPr>
            <a:r>
              <a:rPr lang="en-US" sz="1199">
                <a:solidFill>
                  <a:srgbClr val="000000"/>
                </a:solidFill>
                <a:latin typeface="Arial"/>
                <a:ea typeface="Arial"/>
                <a:cs typeface="Arial"/>
                <a:sym typeface="Arial"/>
              </a:rPr>
              <a:t>Bullet and Subtitle Text – 12</a:t>
            </a:r>
            <a:endParaRPr sz="1688"/>
          </a:p>
          <a:p>
            <a:pPr algn="r">
              <a:lnSpc>
                <a:spcPct val="120075"/>
              </a:lnSpc>
            </a:pPr>
            <a:r>
              <a:rPr lang="en-US" sz="999">
                <a:solidFill>
                  <a:srgbClr val="000000"/>
                </a:solidFill>
                <a:latin typeface="Arial"/>
                <a:ea typeface="Arial"/>
                <a:cs typeface="Arial"/>
                <a:sym typeface="Arial"/>
              </a:rPr>
              <a:t>Chart, Profile, and Currency Text – 10</a:t>
            </a:r>
            <a:endParaRPr sz="1688"/>
          </a:p>
        </p:txBody>
      </p:sp>
      <p:sp>
        <p:nvSpPr>
          <p:cNvPr id="171" name="Google Shape;171;p2"/>
          <p:cNvSpPr txBox="1"/>
          <p:nvPr/>
        </p:nvSpPr>
        <p:spPr>
          <a:xfrm>
            <a:off x="529564" y="1678468"/>
            <a:ext cx="2328863" cy="398764"/>
          </a:xfrm>
          <a:prstGeom prst="rect">
            <a:avLst/>
          </a:prstGeom>
          <a:noFill/>
          <a:ln>
            <a:noFill/>
          </a:ln>
        </p:spPr>
        <p:txBody>
          <a:bodyPr spcFirstLastPara="1" wrap="square" lIns="0" tIns="0" rIns="0" bIns="0" anchor="t" anchorCtr="0">
            <a:spAutoFit/>
          </a:bodyPr>
          <a:lstStyle/>
          <a:p>
            <a:pPr>
              <a:lnSpc>
                <a:spcPct val="108010"/>
              </a:lnSpc>
            </a:pPr>
            <a:r>
              <a:rPr lang="en-US" sz="2399">
                <a:solidFill>
                  <a:srgbClr val="333F44"/>
                </a:solidFill>
                <a:latin typeface="Open Sans Light"/>
                <a:ea typeface="Open Sans Light"/>
                <a:cs typeface="Open Sans Light"/>
                <a:sym typeface="Open Sans Light"/>
              </a:rPr>
              <a:t>Agenda</a:t>
            </a:r>
            <a:endParaRPr sz="1688"/>
          </a:p>
        </p:txBody>
      </p:sp>
      <p:sp>
        <p:nvSpPr>
          <p:cNvPr id="173" name="Google Shape;173;p2"/>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9" b="-138"/>
            </a:stretch>
          </a:blip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pic>
        <p:nvPicPr>
          <p:cNvPr id="2" name="Picture 2" descr="Air Liquide annonce une nouvelle identité visuelle - L'ADN">
            <a:extLst>
              <a:ext uri="{FF2B5EF4-FFF2-40B4-BE49-F238E27FC236}">
                <a16:creationId xmlns:a16="http://schemas.microsoft.com/office/drawing/2014/main" id="{B1C58EC7-68D2-D6D3-CB18-18A3C94F2F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9164" y="1554637"/>
            <a:ext cx="4025671" cy="12307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grpSp>
        <p:nvGrpSpPr>
          <p:cNvPr id="297" name="Google Shape;297;p6"/>
          <p:cNvGrpSpPr/>
          <p:nvPr/>
        </p:nvGrpSpPr>
        <p:grpSpPr>
          <a:xfrm>
            <a:off x="-2192501" y="2633500"/>
            <a:ext cx="1970251" cy="496313"/>
            <a:chOff x="0" y="-28575"/>
            <a:chExt cx="2802135" cy="705866"/>
          </a:xfrm>
        </p:grpSpPr>
        <p:sp>
          <p:nvSpPr>
            <p:cNvPr id="298" name="Google Shape;298;p6"/>
            <p:cNvSpPr/>
            <p:nvPr/>
          </p:nvSpPr>
          <p:spPr>
            <a:xfrm>
              <a:off x="0" y="0"/>
              <a:ext cx="2802128" cy="677291"/>
            </a:xfrm>
            <a:custGeom>
              <a:avLst/>
              <a:gdLst/>
              <a:ahLst/>
              <a:cxnLst/>
              <a:rect l="l" t="t" r="r" b="b"/>
              <a:pathLst>
                <a:path w="2802128" h="677291" extrusionOk="0">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299" name="Google Shape;299;p6"/>
            <p:cNvSpPr txBox="1"/>
            <p:nvPr/>
          </p:nvSpPr>
          <p:spPr>
            <a:xfrm>
              <a:off x="0" y="-28575"/>
              <a:ext cx="2802135" cy="705837"/>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Outline: black, ½ pt.</a:t>
              </a:r>
              <a:endParaRPr sz="1688"/>
            </a:p>
          </p:txBody>
        </p:sp>
      </p:grpSp>
      <p:grpSp>
        <p:nvGrpSpPr>
          <p:cNvPr id="300" name="Google Shape;300;p6"/>
          <p:cNvGrpSpPr/>
          <p:nvPr/>
        </p:nvGrpSpPr>
        <p:grpSpPr>
          <a:xfrm>
            <a:off x="-2186151" y="3363382"/>
            <a:ext cx="1957566" cy="486436"/>
            <a:chOff x="0" y="-28575"/>
            <a:chExt cx="2784094" cy="691820"/>
          </a:xfrm>
        </p:grpSpPr>
        <p:sp>
          <p:nvSpPr>
            <p:cNvPr id="301" name="Google Shape;301;p6"/>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CCD1D7"/>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02" name="Google Shape;302;p6"/>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204 – 209 – 215</a:t>
              </a:r>
              <a:endParaRPr sz="1688"/>
            </a:p>
          </p:txBody>
        </p:sp>
      </p:grpSp>
      <p:grpSp>
        <p:nvGrpSpPr>
          <p:cNvPr id="303" name="Google Shape;303;p6"/>
          <p:cNvGrpSpPr/>
          <p:nvPr/>
        </p:nvGrpSpPr>
        <p:grpSpPr>
          <a:xfrm>
            <a:off x="-2186151" y="4089757"/>
            <a:ext cx="1957566" cy="486436"/>
            <a:chOff x="0" y="-28575"/>
            <a:chExt cx="2784094" cy="691820"/>
          </a:xfrm>
        </p:grpSpPr>
        <p:sp>
          <p:nvSpPr>
            <p:cNvPr id="304" name="Google Shape;304;p6"/>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485059"/>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05" name="Google Shape;305;p6"/>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72 – 80 – 89 </a:t>
              </a:r>
              <a:endParaRPr sz="1688"/>
            </a:p>
          </p:txBody>
        </p:sp>
      </p:grpSp>
      <p:grpSp>
        <p:nvGrpSpPr>
          <p:cNvPr id="306" name="Google Shape;306;p6"/>
          <p:cNvGrpSpPr/>
          <p:nvPr/>
        </p:nvGrpSpPr>
        <p:grpSpPr>
          <a:xfrm>
            <a:off x="-2186151" y="4816132"/>
            <a:ext cx="1957566" cy="486436"/>
            <a:chOff x="0" y="-28575"/>
            <a:chExt cx="2784094" cy="691820"/>
          </a:xfrm>
        </p:grpSpPr>
        <p:sp>
          <p:nvSpPr>
            <p:cNvPr id="307" name="Google Shape;307;p6"/>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5E7C9E"/>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08" name="Google Shape;308;p6"/>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94 – 124 – 158</a:t>
              </a:r>
              <a:endParaRPr sz="1688"/>
            </a:p>
          </p:txBody>
        </p:sp>
      </p:grpSp>
      <p:grpSp>
        <p:nvGrpSpPr>
          <p:cNvPr id="309" name="Google Shape;309;p6"/>
          <p:cNvGrpSpPr/>
          <p:nvPr/>
        </p:nvGrpSpPr>
        <p:grpSpPr>
          <a:xfrm>
            <a:off x="-2186151" y="5542509"/>
            <a:ext cx="1957566" cy="486436"/>
            <a:chOff x="0" y="-28575"/>
            <a:chExt cx="2784094" cy="691820"/>
          </a:xfrm>
        </p:grpSpPr>
        <p:sp>
          <p:nvSpPr>
            <p:cNvPr id="310" name="Google Shape;310;p6"/>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11" name="Google Shape;311;p6"/>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17 – 61 – 99</a:t>
              </a:r>
              <a:endParaRPr sz="1688"/>
            </a:p>
          </p:txBody>
        </p:sp>
      </p:grpSp>
      <p:grpSp>
        <p:nvGrpSpPr>
          <p:cNvPr id="312" name="Google Shape;312;p6"/>
          <p:cNvGrpSpPr/>
          <p:nvPr/>
        </p:nvGrpSpPr>
        <p:grpSpPr>
          <a:xfrm>
            <a:off x="-2186151" y="1916319"/>
            <a:ext cx="1957566" cy="483632"/>
            <a:chOff x="0" y="-28575"/>
            <a:chExt cx="2784094" cy="687832"/>
          </a:xfrm>
        </p:grpSpPr>
        <p:sp>
          <p:nvSpPr>
            <p:cNvPr id="313" name="Google Shape;313;p6"/>
            <p:cNvSpPr/>
            <p:nvPr/>
          </p:nvSpPr>
          <p:spPr>
            <a:xfrm>
              <a:off x="0" y="0"/>
              <a:ext cx="2784094" cy="659257"/>
            </a:xfrm>
            <a:custGeom>
              <a:avLst/>
              <a:gdLst/>
              <a:ahLst/>
              <a:cxnLst/>
              <a:rect l="l" t="t" r="r" b="b"/>
              <a:pathLst>
                <a:path w="2784094" h="659257" extrusionOk="0">
                  <a:moveTo>
                    <a:pt x="0" y="0"/>
                  </a:moveTo>
                  <a:lnTo>
                    <a:pt x="2784094" y="0"/>
                  </a:lnTo>
                  <a:lnTo>
                    <a:pt x="2784094" y="659257"/>
                  </a:lnTo>
                  <a:lnTo>
                    <a:pt x="0" y="659257"/>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14" name="Google Shape;314;p6"/>
            <p:cNvSpPr txBox="1"/>
            <p:nvPr/>
          </p:nvSpPr>
          <p:spPr>
            <a:xfrm>
              <a:off x="0" y="-28575"/>
              <a:ext cx="2784073" cy="687775"/>
            </a:xfrm>
            <a:prstGeom prst="rect">
              <a:avLst/>
            </a:prstGeom>
            <a:noFill/>
            <a:ln>
              <a:noFill/>
            </a:ln>
          </p:spPr>
          <p:txBody>
            <a:bodyPr spcFirstLastPara="1" wrap="square" lIns="47625" tIns="47625" rIns="47625" bIns="47625" anchor="ctr" anchorCtr="0">
              <a:noAutofit/>
            </a:bodyPr>
            <a:lstStyle/>
            <a:p>
              <a:pPr marL="154432" lvl="1" indent="-76140">
                <a:lnSpc>
                  <a:spcPct val="120015"/>
                </a:lnSpc>
                <a:buClr>
                  <a:srgbClr val="FFFFFF"/>
                </a:buClr>
                <a:buSzPts val="1279"/>
                <a:buFont typeface="Arial"/>
                <a:buChar char="•"/>
              </a:pPr>
              <a:r>
                <a:rPr lang="en-US" sz="1199">
                  <a:solidFill>
                    <a:srgbClr val="FFFFFF"/>
                  </a:solidFill>
                  <a:latin typeface="Arial"/>
                  <a:ea typeface="Arial"/>
                  <a:cs typeface="Arial"/>
                  <a:sym typeface="Arial"/>
                </a:rPr>
                <a:t>Normal shapes w/ text</a:t>
              </a:r>
              <a:endParaRPr sz="1688"/>
            </a:p>
          </p:txBody>
        </p:sp>
      </p:grpSp>
      <p:cxnSp>
        <p:nvCxnSpPr>
          <p:cNvPr id="315" name="Google Shape;315;p6"/>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316" name="Google Shape;316;p6"/>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cxnSp>
        <p:nvCxnSpPr>
          <p:cNvPr id="317" name="Google Shape;317;p6"/>
          <p:cNvCxnSpPr/>
          <p:nvPr/>
        </p:nvCxnSpPr>
        <p:spPr>
          <a:xfrm rot="8930">
            <a:off x="-11128" y="6240264"/>
            <a:ext cx="9166256" cy="0"/>
          </a:xfrm>
          <a:prstGeom prst="straightConnector1">
            <a:avLst/>
          </a:prstGeom>
          <a:noFill/>
          <a:ln w="19050" cap="rnd" cmpd="sng">
            <a:solidFill>
              <a:srgbClr val="39598F"/>
            </a:solidFill>
            <a:prstDash val="solid"/>
            <a:round/>
            <a:headEnd type="none" w="sm" len="sm"/>
            <a:tailEnd type="none" w="sm" len="sm"/>
          </a:ln>
        </p:spPr>
      </p:cxnSp>
      <p:sp>
        <p:nvSpPr>
          <p:cNvPr id="318" name="Google Shape;318;p6"/>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9" b="-138"/>
            </a:stretch>
          </a:blip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25" name="Google Shape;325;p6"/>
          <p:cNvSpPr txBox="1"/>
          <p:nvPr/>
        </p:nvSpPr>
        <p:spPr>
          <a:xfrm>
            <a:off x="-3429000" y="342186"/>
            <a:ext cx="3200400" cy="1107611"/>
          </a:xfrm>
          <a:prstGeom prst="rect">
            <a:avLst/>
          </a:prstGeom>
          <a:noFill/>
          <a:ln>
            <a:noFill/>
          </a:ln>
        </p:spPr>
        <p:txBody>
          <a:bodyPr spcFirstLastPara="1" wrap="square" lIns="0" tIns="0" rIns="0" bIns="0" anchor="t" anchorCtr="0">
            <a:spAutoFit/>
          </a:bodyPr>
          <a:lstStyle/>
          <a:p>
            <a:pPr algn="r">
              <a:lnSpc>
                <a:spcPct val="120007"/>
              </a:lnSpc>
            </a:pPr>
            <a:r>
              <a:rPr lang="en-US" sz="2399" b="1">
                <a:solidFill>
                  <a:srgbClr val="000000"/>
                </a:solidFill>
                <a:latin typeface="Arial"/>
                <a:ea typeface="Arial"/>
                <a:cs typeface="Arial"/>
                <a:sym typeface="Arial"/>
              </a:rPr>
              <a:t>Arial Slide Title – 24</a:t>
            </a:r>
            <a:endParaRPr sz="1688"/>
          </a:p>
          <a:p>
            <a:pPr algn="r">
              <a:lnSpc>
                <a:spcPct val="119959"/>
              </a:lnSpc>
            </a:pPr>
            <a:r>
              <a:rPr lang="en-US" sz="1400">
                <a:solidFill>
                  <a:srgbClr val="000000"/>
                </a:solidFill>
                <a:latin typeface="Arial"/>
                <a:ea typeface="Arial"/>
                <a:cs typeface="Arial"/>
                <a:sym typeface="Arial"/>
              </a:rPr>
              <a:t>Content/Section Title Text – 14</a:t>
            </a:r>
            <a:endParaRPr sz="1688"/>
          </a:p>
          <a:p>
            <a:pPr algn="r">
              <a:lnSpc>
                <a:spcPct val="120015"/>
              </a:lnSpc>
            </a:pPr>
            <a:r>
              <a:rPr lang="en-US" sz="1199">
                <a:solidFill>
                  <a:srgbClr val="000000"/>
                </a:solidFill>
                <a:latin typeface="Arial"/>
                <a:ea typeface="Arial"/>
                <a:cs typeface="Arial"/>
                <a:sym typeface="Arial"/>
              </a:rPr>
              <a:t>Bullet and Subtitle Text – 12</a:t>
            </a:r>
            <a:endParaRPr sz="1688"/>
          </a:p>
          <a:p>
            <a:pPr algn="r">
              <a:lnSpc>
                <a:spcPct val="120075"/>
              </a:lnSpc>
            </a:pPr>
            <a:r>
              <a:rPr lang="en-US" sz="999">
                <a:solidFill>
                  <a:srgbClr val="000000"/>
                </a:solidFill>
                <a:latin typeface="Arial"/>
                <a:ea typeface="Arial"/>
                <a:cs typeface="Arial"/>
                <a:sym typeface="Arial"/>
              </a:rPr>
              <a:t>Chart, Profile, and Currency Text – 10</a:t>
            </a:r>
            <a:endParaRPr sz="1688"/>
          </a:p>
        </p:txBody>
      </p:sp>
      <p:sp>
        <p:nvSpPr>
          <p:cNvPr id="326" name="Google Shape;326;p6"/>
          <p:cNvSpPr txBox="1"/>
          <p:nvPr/>
        </p:nvSpPr>
        <p:spPr>
          <a:xfrm>
            <a:off x="239485" y="6382553"/>
            <a:ext cx="3537857" cy="332399"/>
          </a:xfrm>
          <a:prstGeom prst="rect">
            <a:avLst/>
          </a:prstGeom>
          <a:noFill/>
          <a:ln>
            <a:noFill/>
          </a:ln>
        </p:spPr>
        <p:txBody>
          <a:bodyPr spcFirstLastPara="1" wrap="square" lIns="0" tIns="0" rIns="0" bIns="0" anchor="t" anchorCtr="0">
            <a:spAutoFit/>
          </a:bodyPr>
          <a:lstStyle/>
          <a:p>
            <a:pPr>
              <a:lnSpc>
                <a:spcPct val="120000"/>
              </a:lnSpc>
            </a:pPr>
            <a:r>
              <a:rPr lang="en-US">
                <a:solidFill>
                  <a:srgbClr val="2A90BC"/>
                </a:solidFill>
                <a:latin typeface="Arimo"/>
                <a:ea typeface="Arimo"/>
                <a:cs typeface="Arimo"/>
                <a:sym typeface="Arimo"/>
              </a:rPr>
              <a:t>ESSEC Capital Investments Club</a:t>
            </a:r>
            <a:endParaRPr sz="1688"/>
          </a:p>
        </p:txBody>
      </p:sp>
      <p:sp>
        <p:nvSpPr>
          <p:cNvPr id="327" name="Google Shape;327;p6"/>
          <p:cNvSpPr txBox="1"/>
          <p:nvPr/>
        </p:nvSpPr>
        <p:spPr>
          <a:xfrm>
            <a:off x="64294" y="455032"/>
            <a:ext cx="3061006" cy="398764"/>
          </a:xfrm>
          <a:prstGeom prst="rect">
            <a:avLst/>
          </a:prstGeom>
          <a:noFill/>
          <a:ln>
            <a:noFill/>
          </a:ln>
        </p:spPr>
        <p:txBody>
          <a:bodyPr spcFirstLastPara="1" wrap="square" lIns="0" tIns="0" rIns="0" bIns="0" anchor="t" anchorCtr="0">
            <a:spAutoFit/>
          </a:bodyPr>
          <a:lstStyle/>
          <a:p>
            <a:pPr>
              <a:lnSpc>
                <a:spcPct val="108010"/>
              </a:lnSpc>
            </a:pPr>
            <a:r>
              <a:rPr lang="en-US" sz="2399">
                <a:solidFill>
                  <a:srgbClr val="333F44"/>
                </a:solidFill>
                <a:latin typeface="Open Sans Light"/>
                <a:ea typeface="Open Sans Light"/>
                <a:cs typeface="Open Sans Light"/>
                <a:sym typeface="Open Sans Light"/>
              </a:rPr>
              <a:t>Operating Forecast</a:t>
            </a:r>
            <a:endParaRPr sz="1688"/>
          </a:p>
        </p:txBody>
      </p:sp>
      <p:sp>
        <p:nvSpPr>
          <p:cNvPr id="4" name="Google Shape;328;p6">
            <a:extLst>
              <a:ext uri="{FF2B5EF4-FFF2-40B4-BE49-F238E27FC236}">
                <a16:creationId xmlns:a16="http://schemas.microsoft.com/office/drawing/2014/main" id="{EAA83D30-5067-1297-70A8-E52707508D46}"/>
              </a:ext>
            </a:extLst>
          </p:cNvPr>
          <p:cNvSpPr txBox="1"/>
          <p:nvPr/>
        </p:nvSpPr>
        <p:spPr>
          <a:xfrm>
            <a:off x="155448" y="3258920"/>
            <a:ext cx="8824247" cy="519566"/>
          </a:xfrm>
          <a:prstGeom prst="rect">
            <a:avLst/>
          </a:prstGeom>
          <a:noFill/>
          <a:ln>
            <a:noFill/>
          </a:ln>
        </p:spPr>
        <p:txBody>
          <a:bodyPr spcFirstLastPara="1" wrap="square" lIns="0" tIns="0" rIns="0" bIns="0" anchor="t" anchorCtr="0">
            <a:spAutoFit/>
          </a:bodyPr>
          <a:lstStyle/>
          <a:p>
            <a:pPr algn="just">
              <a:lnSpc>
                <a:spcPct val="119981"/>
              </a:lnSpc>
            </a:pPr>
            <a:r>
              <a:rPr lang="en-US" sz="938" b="1" dirty="0">
                <a:solidFill>
                  <a:srgbClr val="000000"/>
                </a:solidFill>
                <a:latin typeface="Arial"/>
                <a:ea typeface="Arial"/>
                <a:cs typeface="Arial"/>
                <a:sym typeface="Arial"/>
              </a:rPr>
              <a:t>Revenue drivers: </a:t>
            </a:r>
          </a:p>
          <a:p>
            <a:pPr algn="just">
              <a:lnSpc>
                <a:spcPct val="119981"/>
              </a:lnSpc>
            </a:pPr>
            <a:endParaRPr lang="en-US" sz="938" b="1" dirty="0">
              <a:solidFill>
                <a:srgbClr val="000000"/>
              </a:solidFill>
              <a:latin typeface="Arial"/>
              <a:ea typeface="Arial"/>
              <a:cs typeface="Arial"/>
              <a:sym typeface="Arial"/>
            </a:endParaRPr>
          </a:p>
          <a:p>
            <a:pPr marL="160734" indent="-160734" algn="just">
              <a:lnSpc>
                <a:spcPct val="119981"/>
              </a:lnSpc>
              <a:buFont typeface="Arial" panose="020B0604020202020204" pitchFamily="34" charset="0"/>
              <a:buChar char="•"/>
            </a:pPr>
            <a:r>
              <a:rPr lang="en-US" sz="938" b="1" dirty="0">
                <a:solidFill>
                  <a:srgbClr val="FF0000"/>
                </a:solidFill>
                <a:highlight>
                  <a:srgbClr val="FFFF00"/>
                </a:highlight>
                <a:latin typeface="Arial"/>
                <a:ea typeface="Arial"/>
                <a:cs typeface="Arial"/>
                <a:sym typeface="Arial"/>
              </a:rPr>
              <a:t>For Marvin or whoever wants to do it </a:t>
            </a:r>
            <a:endParaRPr sz="938" dirty="0">
              <a:solidFill>
                <a:srgbClr val="FF0000"/>
              </a:solidFill>
              <a:highlight>
                <a:srgbClr val="FFFF00"/>
              </a:highlight>
              <a:latin typeface="Arial"/>
              <a:ea typeface="Arial"/>
              <a:cs typeface="Arial"/>
              <a:sym typeface="Arial"/>
            </a:endParaRPr>
          </a:p>
        </p:txBody>
      </p:sp>
      <p:pic>
        <p:nvPicPr>
          <p:cNvPr id="7" name="Image 6">
            <a:extLst>
              <a:ext uri="{FF2B5EF4-FFF2-40B4-BE49-F238E27FC236}">
                <a16:creationId xmlns:a16="http://schemas.microsoft.com/office/drawing/2014/main" id="{35CA597E-866A-037E-2DF0-487023399595}"/>
              </a:ext>
            </a:extLst>
          </p:cNvPr>
          <p:cNvPicPr>
            <a:picLocks noChangeAspect="1"/>
          </p:cNvPicPr>
          <p:nvPr/>
        </p:nvPicPr>
        <p:blipFill>
          <a:blip r:embed="rId4"/>
          <a:stretch>
            <a:fillRect/>
          </a:stretch>
        </p:blipFill>
        <p:spPr>
          <a:xfrm>
            <a:off x="239485" y="1355580"/>
            <a:ext cx="8672538" cy="16252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7"/>
          <p:cNvSpPr txBox="1"/>
          <p:nvPr/>
        </p:nvSpPr>
        <p:spPr>
          <a:xfrm>
            <a:off x="-3429000" y="342186"/>
            <a:ext cx="3200400" cy="1107611"/>
          </a:xfrm>
          <a:prstGeom prst="rect">
            <a:avLst/>
          </a:prstGeom>
          <a:noFill/>
          <a:ln>
            <a:noFill/>
          </a:ln>
        </p:spPr>
        <p:txBody>
          <a:bodyPr spcFirstLastPara="1" wrap="square" lIns="0" tIns="0" rIns="0" bIns="0" anchor="t" anchorCtr="0">
            <a:spAutoFit/>
          </a:bodyPr>
          <a:lstStyle/>
          <a:p>
            <a:pPr algn="r">
              <a:lnSpc>
                <a:spcPct val="120007"/>
              </a:lnSpc>
            </a:pPr>
            <a:r>
              <a:rPr lang="en-US" sz="2399" b="1" dirty="0">
                <a:solidFill>
                  <a:srgbClr val="000000"/>
                </a:solidFill>
                <a:latin typeface="Arial"/>
                <a:ea typeface="Arial"/>
                <a:cs typeface="Arial"/>
                <a:sym typeface="Arial"/>
              </a:rPr>
              <a:t>Arial Slide Title – 24</a:t>
            </a:r>
            <a:endParaRPr sz="1688" dirty="0"/>
          </a:p>
          <a:p>
            <a:pPr algn="r">
              <a:lnSpc>
                <a:spcPct val="119959"/>
              </a:lnSpc>
            </a:pPr>
            <a:r>
              <a:rPr lang="en-US" sz="1400" dirty="0">
                <a:solidFill>
                  <a:srgbClr val="000000"/>
                </a:solidFill>
                <a:latin typeface="Arial"/>
                <a:ea typeface="Arial"/>
                <a:cs typeface="Arial"/>
                <a:sym typeface="Arial"/>
              </a:rPr>
              <a:t>Content/Section Title Text – 14</a:t>
            </a:r>
            <a:endParaRPr sz="1688" dirty="0"/>
          </a:p>
          <a:p>
            <a:pPr algn="r">
              <a:lnSpc>
                <a:spcPct val="120015"/>
              </a:lnSpc>
            </a:pPr>
            <a:r>
              <a:rPr lang="en-US" sz="1199" dirty="0">
                <a:solidFill>
                  <a:srgbClr val="000000"/>
                </a:solidFill>
                <a:latin typeface="Arial"/>
                <a:ea typeface="Arial"/>
                <a:cs typeface="Arial"/>
                <a:sym typeface="Arial"/>
              </a:rPr>
              <a:t>Bullet and Subtitle Text – 12</a:t>
            </a:r>
            <a:endParaRPr sz="1688" dirty="0"/>
          </a:p>
          <a:p>
            <a:pPr algn="r">
              <a:lnSpc>
                <a:spcPct val="120075"/>
              </a:lnSpc>
            </a:pPr>
            <a:r>
              <a:rPr lang="en-US" sz="999" dirty="0">
                <a:solidFill>
                  <a:srgbClr val="000000"/>
                </a:solidFill>
                <a:latin typeface="Arial"/>
                <a:ea typeface="Arial"/>
                <a:cs typeface="Arial"/>
                <a:sym typeface="Arial"/>
              </a:rPr>
              <a:t>Chart. Profile. and Currency Text – 10</a:t>
            </a:r>
            <a:endParaRPr sz="1688" dirty="0"/>
          </a:p>
        </p:txBody>
      </p:sp>
      <p:grpSp>
        <p:nvGrpSpPr>
          <p:cNvPr id="336" name="Google Shape;336;p7"/>
          <p:cNvGrpSpPr/>
          <p:nvPr/>
        </p:nvGrpSpPr>
        <p:grpSpPr>
          <a:xfrm>
            <a:off x="-2192501" y="2633500"/>
            <a:ext cx="1970251" cy="496313"/>
            <a:chOff x="0" y="-28575"/>
            <a:chExt cx="2802135" cy="705866"/>
          </a:xfrm>
        </p:grpSpPr>
        <p:sp>
          <p:nvSpPr>
            <p:cNvPr id="337" name="Google Shape;337;p7"/>
            <p:cNvSpPr/>
            <p:nvPr/>
          </p:nvSpPr>
          <p:spPr>
            <a:xfrm>
              <a:off x="0" y="0"/>
              <a:ext cx="2802128" cy="677291"/>
            </a:xfrm>
            <a:custGeom>
              <a:avLst/>
              <a:gdLst/>
              <a:ahLst/>
              <a:cxnLst/>
              <a:rect l="l" t="t" r="r" b="b"/>
              <a:pathLst>
                <a:path w="2802128" h="677291" extrusionOk="0">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38" name="Google Shape;338;p7"/>
            <p:cNvSpPr txBox="1"/>
            <p:nvPr/>
          </p:nvSpPr>
          <p:spPr>
            <a:xfrm>
              <a:off x="0" y="-28575"/>
              <a:ext cx="2802135" cy="705837"/>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dirty="0">
                  <a:solidFill>
                    <a:srgbClr val="000000"/>
                  </a:solidFill>
                  <a:latin typeface="Arial"/>
                  <a:ea typeface="Arial"/>
                  <a:cs typeface="Arial"/>
                  <a:sym typeface="Arial"/>
                </a:rPr>
                <a:t>Outline: black. ½ pt.</a:t>
              </a:r>
              <a:endParaRPr sz="1688" dirty="0"/>
            </a:p>
          </p:txBody>
        </p:sp>
      </p:grpSp>
      <p:grpSp>
        <p:nvGrpSpPr>
          <p:cNvPr id="339" name="Google Shape;339;p7"/>
          <p:cNvGrpSpPr/>
          <p:nvPr/>
        </p:nvGrpSpPr>
        <p:grpSpPr>
          <a:xfrm>
            <a:off x="-2186151" y="3363382"/>
            <a:ext cx="1957566" cy="486436"/>
            <a:chOff x="0" y="-28575"/>
            <a:chExt cx="2784094" cy="691820"/>
          </a:xfrm>
        </p:grpSpPr>
        <p:sp>
          <p:nvSpPr>
            <p:cNvPr id="340" name="Google Shape;340;p7"/>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CCD1D7"/>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41" name="Google Shape;341;p7"/>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204 – 209 – 215</a:t>
              </a:r>
              <a:endParaRPr sz="1688"/>
            </a:p>
          </p:txBody>
        </p:sp>
      </p:grpSp>
      <p:grpSp>
        <p:nvGrpSpPr>
          <p:cNvPr id="342" name="Google Shape;342;p7"/>
          <p:cNvGrpSpPr/>
          <p:nvPr/>
        </p:nvGrpSpPr>
        <p:grpSpPr>
          <a:xfrm>
            <a:off x="-2186151" y="4089757"/>
            <a:ext cx="1957566" cy="486436"/>
            <a:chOff x="0" y="-28575"/>
            <a:chExt cx="2784094" cy="691820"/>
          </a:xfrm>
        </p:grpSpPr>
        <p:sp>
          <p:nvSpPr>
            <p:cNvPr id="343" name="Google Shape;343;p7"/>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485059"/>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44" name="Google Shape;344;p7"/>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72 – 80 – 89 </a:t>
              </a:r>
              <a:endParaRPr sz="1688"/>
            </a:p>
          </p:txBody>
        </p:sp>
      </p:grpSp>
      <p:grpSp>
        <p:nvGrpSpPr>
          <p:cNvPr id="345" name="Google Shape;345;p7"/>
          <p:cNvGrpSpPr/>
          <p:nvPr/>
        </p:nvGrpSpPr>
        <p:grpSpPr>
          <a:xfrm>
            <a:off x="-2186151" y="4816132"/>
            <a:ext cx="1957566" cy="486436"/>
            <a:chOff x="0" y="-28575"/>
            <a:chExt cx="2784094" cy="691820"/>
          </a:xfrm>
        </p:grpSpPr>
        <p:sp>
          <p:nvSpPr>
            <p:cNvPr id="346" name="Google Shape;346;p7"/>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5E7C9E"/>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47" name="Google Shape;347;p7"/>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94 – 124 – 158</a:t>
              </a:r>
              <a:endParaRPr sz="1688"/>
            </a:p>
          </p:txBody>
        </p:sp>
      </p:grpSp>
      <p:grpSp>
        <p:nvGrpSpPr>
          <p:cNvPr id="348" name="Google Shape;348;p7"/>
          <p:cNvGrpSpPr/>
          <p:nvPr/>
        </p:nvGrpSpPr>
        <p:grpSpPr>
          <a:xfrm>
            <a:off x="-2186151" y="5542509"/>
            <a:ext cx="1957566" cy="486436"/>
            <a:chOff x="0" y="-28575"/>
            <a:chExt cx="2784094" cy="691820"/>
          </a:xfrm>
        </p:grpSpPr>
        <p:sp>
          <p:nvSpPr>
            <p:cNvPr id="349" name="Google Shape;349;p7"/>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50" name="Google Shape;350;p7"/>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17 – 61 – 99</a:t>
              </a:r>
              <a:endParaRPr sz="1688"/>
            </a:p>
          </p:txBody>
        </p:sp>
      </p:grpSp>
      <p:grpSp>
        <p:nvGrpSpPr>
          <p:cNvPr id="351" name="Google Shape;351;p7"/>
          <p:cNvGrpSpPr/>
          <p:nvPr/>
        </p:nvGrpSpPr>
        <p:grpSpPr>
          <a:xfrm>
            <a:off x="-2186151" y="1916319"/>
            <a:ext cx="1957566" cy="483632"/>
            <a:chOff x="0" y="-28575"/>
            <a:chExt cx="2784094" cy="687832"/>
          </a:xfrm>
        </p:grpSpPr>
        <p:sp>
          <p:nvSpPr>
            <p:cNvPr id="352" name="Google Shape;352;p7"/>
            <p:cNvSpPr/>
            <p:nvPr/>
          </p:nvSpPr>
          <p:spPr>
            <a:xfrm>
              <a:off x="0" y="0"/>
              <a:ext cx="2784094" cy="659257"/>
            </a:xfrm>
            <a:custGeom>
              <a:avLst/>
              <a:gdLst/>
              <a:ahLst/>
              <a:cxnLst/>
              <a:rect l="l" t="t" r="r" b="b"/>
              <a:pathLst>
                <a:path w="2784094" h="659257" extrusionOk="0">
                  <a:moveTo>
                    <a:pt x="0" y="0"/>
                  </a:moveTo>
                  <a:lnTo>
                    <a:pt x="2784094" y="0"/>
                  </a:lnTo>
                  <a:lnTo>
                    <a:pt x="2784094" y="659257"/>
                  </a:lnTo>
                  <a:lnTo>
                    <a:pt x="0" y="659257"/>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53" name="Google Shape;353;p7"/>
            <p:cNvSpPr txBox="1"/>
            <p:nvPr/>
          </p:nvSpPr>
          <p:spPr>
            <a:xfrm>
              <a:off x="0" y="-28575"/>
              <a:ext cx="2784073" cy="687775"/>
            </a:xfrm>
            <a:prstGeom prst="rect">
              <a:avLst/>
            </a:prstGeom>
            <a:noFill/>
            <a:ln>
              <a:noFill/>
            </a:ln>
          </p:spPr>
          <p:txBody>
            <a:bodyPr spcFirstLastPara="1" wrap="square" lIns="47625" tIns="47625" rIns="47625" bIns="47625" anchor="ctr" anchorCtr="0">
              <a:noAutofit/>
            </a:bodyPr>
            <a:lstStyle/>
            <a:p>
              <a:pPr marL="154432" lvl="1" indent="-76140">
                <a:lnSpc>
                  <a:spcPct val="120015"/>
                </a:lnSpc>
                <a:buClr>
                  <a:srgbClr val="FFFFFF"/>
                </a:buClr>
                <a:buSzPts val="1279"/>
                <a:buFont typeface="Arial"/>
                <a:buChar char="•"/>
              </a:pPr>
              <a:r>
                <a:rPr lang="en-US" sz="1199">
                  <a:solidFill>
                    <a:srgbClr val="FFFFFF"/>
                  </a:solidFill>
                  <a:latin typeface="Arial"/>
                  <a:ea typeface="Arial"/>
                  <a:cs typeface="Arial"/>
                  <a:sym typeface="Arial"/>
                </a:rPr>
                <a:t>Normal shapes w/ text</a:t>
              </a:r>
              <a:endParaRPr sz="1688"/>
            </a:p>
          </p:txBody>
        </p:sp>
      </p:grpSp>
      <p:sp>
        <p:nvSpPr>
          <p:cNvPr id="354" name="Google Shape;354;p7"/>
          <p:cNvSpPr txBox="1"/>
          <p:nvPr/>
        </p:nvSpPr>
        <p:spPr>
          <a:xfrm>
            <a:off x="239485" y="6382553"/>
            <a:ext cx="3537857" cy="332399"/>
          </a:xfrm>
          <a:prstGeom prst="rect">
            <a:avLst/>
          </a:prstGeom>
          <a:noFill/>
          <a:ln>
            <a:noFill/>
          </a:ln>
        </p:spPr>
        <p:txBody>
          <a:bodyPr spcFirstLastPara="1" wrap="square" lIns="0" tIns="0" rIns="0" bIns="0" anchor="t" anchorCtr="0">
            <a:spAutoFit/>
          </a:bodyPr>
          <a:lstStyle/>
          <a:p>
            <a:pPr>
              <a:lnSpc>
                <a:spcPct val="120000"/>
              </a:lnSpc>
            </a:pPr>
            <a:r>
              <a:rPr lang="en-US">
                <a:solidFill>
                  <a:srgbClr val="2A90BC"/>
                </a:solidFill>
                <a:latin typeface="Arimo"/>
                <a:ea typeface="Arimo"/>
                <a:cs typeface="Arimo"/>
                <a:sym typeface="Arimo"/>
              </a:rPr>
              <a:t>ESSEC Capital Investments Club</a:t>
            </a:r>
            <a:endParaRPr sz="1688"/>
          </a:p>
        </p:txBody>
      </p:sp>
      <p:cxnSp>
        <p:nvCxnSpPr>
          <p:cNvPr id="355" name="Google Shape;355;p7"/>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356" name="Google Shape;356;p7"/>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cxnSp>
        <p:nvCxnSpPr>
          <p:cNvPr id="357" name="Google Shape;357;p7"/>
          <p:cNvCxnSpPr/>
          <p:nvPr/>
        </p:nvCxnSpPr>
        <p:spPr>
          <a:xfrm rot="8930">
            <a:off x="-11128" y="6240264"/>
            <a:ext cx="9166256" cy="0"/>
          </a:xfrm>
          <a:prstGeom prst="straightConnector1">
            <a:avLst/>
          </a:prstGeom>
          <a:noFill/>
          <a:ln w="19050" cap="rnd" cmpd="sng">
            <a:solidFill>
              <a:srgbClr val="39598F"/>
            </a:solidFill>
            <a:prstDash val="solid"/>
            <a:round/>
            <a:headEnd type="none" w="sm" len="sm"/>
            <a:tailEnd type="none" w="sm" len="sm"/>
          </a:ln>
        </p:spPr>
      </p:cxnSp>
      <p:sp>
        <p:nvSpPr>
          <p:cNvPr id="358" name="Google Shape;358;p7"/>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9" b="-138"/>
            </a:stretch>
          </a:blip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grpSp>
        <p:nvGrpSpPr>
          <p:cNvPr id="359" name="Google Shape;359;p7"/>
          <p:cNvGrpSpPr/>
          <p:nvPr/>
        </p:nvGrpSpPr>
        <p:grpSpPr>
          <a:xfrm>
            <a:off x="3252268" y="2818212"/>
            <a:ext cx="2647742" cy="2580970"/>
            <a:chOff x="3464686" y="2446304"/>
            <a:chExt cx="2824258" cy="2753035"/>
          </a:xfrm>
        </p:grpSpPr>
        <p:grpSp>
          <p:nvGrpSpPr>
            <p:cNvPr id="360" name="Google Shape;360;p7"/>
            <p:cNvGrpSpPr/>
            <p:nvPr/>
          </p:nvGrpSpPr>
          <p:grpSpPr>
            <a:xfrm>
              <a:off x="3464687" y="2448986"/>
              <a:ext cx="2824257" cy="339661"/>
              <a:chOff x="-1524" y="-1524"/>
              <a:chExt cx="3765677" cy="452882"/>
            </a:xfrm>
          </p:grpSpPr>
          <p:sp>
            <p:nvSpPr>
              <p:cNvPr id="361" name="Google Shape;361;p7"/>
              <p:cNvSpPr/>
              <p:nvPr/>
            </p:nvSpPr>
            <p:spPr>
              <a:xfrm>
                <a:off x="0" y="0"/>
                <a:ext cx="3762629" cy="449834"/>
              </a:xfrm>
              <a:custGeom>
                <a:avLst/>
                <a:gdLst/>
                <a:ahLst/>
                <a:cxnLst/>
                <a:rect l="l" t="t" r="r" b="b"/>
                <a:pathLst>
                  <a:path w="3762629" h="449834" extrusionOk="0">
                    <a:moveTo>
                      <a:pt x="0" y="0"/>
                    </a:moveTo>
                    <a:lnTo>
                      <a:pt x="3762629" y="0"/>
                    </a:lnTo>
                    <a:lnTo>
                      <a:pt x="3762629"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62" name="Google Shape;362;p7"/>
              <p:cNvSpPr/>
              <p:nvPr/>
            </p:nvSpPr>
            <p:spPr>
              <a:xfrm>
                <a:off x="-1524" y="-1524"/>
                <a:ext cx="3765677" cy="452882"/>
              </a:xfrm>
              <a:custGeom>
                <a:avLst/>
                <a:gdLst/>
                <a:ahLst/>
                <a:cxnLst/>
                <a:rect l="l" t="t" r="r" b="b"/>
                <a:pathLst>
                  <a:path w="3765677" h="452882" extrusionOk="0">
                    <a:moveTo>
                      <a:pt x="1524" y="0"/>
                    </a:moveTo>
                    <a:lnTo>
                      <a:pt x="3764153" y="0"/>
                    </a:lnTo>
                    <a:cubicBezTo>
                      <a:pt x="3765042" y="0"/>
                      <a:pt x="3765677" y="762"/>
                      <a:pt x="3765677" y="1524"/>
                    </a:cubicBezTo>
                    <a:lnTo>
                      <a:pt x="3765677" y="451358"/>
                    </a:lnTo>
                    <a:cubicBezTo>
                      <a:pt x="3765677" y="452247"/>
                      <a:pt x="3764915" y="452882"/>
                      <a:pt x="3764153"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764153" y="449834"/>
                    </a:lnTo>
                    <a:lnTo>
                      <a:pt x="3764153" y="451358"/>
                    </a:lnTo>
                    <a:lnTo>
                      <a:pt x="3762629" y="451358"/>
                    </a:lnTo>
                    <a:lnTo>
                      <a:pt x="3762629" y="1524"/>
                    </a:lnTo>
                    <a:lnTo>
                      <a:pt x="3764153" y="1524"/>
                    </a:lnTo>
                    <a:lnTo>
                      <a:pt x="3764153" y="3048"/>
                    </a:lnTo>
                    <a:lnTo>
                      <a:pt x="1524" y="3048"/>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grpSp>
        <p:sp>
          <p:nvSpPr>
            <p:cNvPr id="363" name="Google Shape;363;p7"/>
            <p:cNvSpPr txBox="1"/>
            <p:nvPr/>
          </p:nvSpPr>
          <p:spPr>
            <a:xfrm>
              <a:off x="3551406" y="2446304"/>
              <a:ext cx="115123" cy="295466"/>
            </a:xfrm>
            <a:prstGeom prst="rect">
              <a:avLst/>
            </a:prstGeom>
            <a:noFill/>
            <a:ln>
              <a:noFill/>
            </a:ln>
          </p:spPr>
          <p:txBody>
            <a:bodyPr spcFirstLastPara="1" wrap="square" lIns="0" tIns="0" rIns="0" bIns="0" anchor="t" anchorCtr="0">
              <a:spAutoFit/>
            </a:bodyPr>
            <a:lstStyle/>
            <a:p>
              <a:pPr algn="ctr">
                <a:lnSpc>
                  <a:spcPct val="120000"/>
                </a:lnSpc>
              </a:pPr>
              <a:r>
                <a:rPr lang="en-US" sz="1500" b="1">
                  <a:solidFill>
                    <a:srgbClr val="FFFFFF"/>
                  </a:solidFill>
                  <a:latin typeface="Arial"/>
                  <a:ea typeface="Arial"/>
                  <a:cs typeface="Arial"/>
                  <a:sym typeface="Arial"/>
                </a:rPr>
                <a:t>1</a:t>
              </a:r>
              <a:endParaRPr sz="1688"/>
            </a:p>
          </p:txBody>
        </p:sp>
        <p:grpSp>
          <p:nvGrpSpPr>
            <p:cNvPr id="364" name="Google Shape;364;p7"/>
            <p:cNvGrpSpPr/>
            <p:nvPr/>
          </p:nvGrpSpPr>
          <p:grpSpPr>
            <a:xfrm>
              <a:off x="3482837" y="3364869"/>
              <a:ext cx="339280" cy="365953"/>
              <a:chOff x="0" y="-38100"/>
              <a:chExt cx="452374" cy="487938"/>
            </a:xfrm>
          </p:grpSpPr>
          <p:sp>
            <p:nvSpPr>
              <p:cNvPr id="365" name="Google Shape;365;p7"/>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66" name="Google Shape;366;p7"/>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3</a:t>
                </a:r>
                <a:endParaRPr sz="1688"/>
              </a:p>
            </p:txBody>
          </p:sp>
        </p:grpSp>
        <p:grpSp>
          <p:nvGrpSpPr>
            <p:cNvPr id="367" name="Google Shape;367;p7"/>
            <p:cNvGrpSpPr/>
            <p:nvPr/>
          </p:nvGrpSpPr>
          <p:grpSpPr>
            <a:xfrm>
              <a:off x="3482837" y="3854375"/>
              <a:ext cx="339280" cy="365953"/>
              <a:chOff x="0" y="-38100"/>
              <a:chExt cx="452374" cy="487938"/>
            </a:xfrm>
          </p:grpSpPr>
          <p:sp>
            <p:nvSpPr>
              <p:cNvPr id="368" name="Google Shape;368;p7"/>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69" name="Google Shape;369;p7"/>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4</a:t>
                </a:r>
                <a:endParaRPr sz="1688"/>
              </a:p>
            </p:txBody>
          </p:sp>
        </p:grpSp>
        <p:grpSp>
          <p:nvGrpSpPr>
            <p:cNvPr id="370" name="Google Shape;370;p7"/>
            <p:cNvGrpSpPr/>
            <p:nvPr/>
          </p:nvGrpSpPr>
          <p:grpSpPr>
            <a:xfrm>
              <a:off x="3482836" y="4343880"/>
              <a:ext cx="402812" cy="365953"/>
              <a:chOff x="0" y="-38100"/>
              <a:chExt cx="537083" cy="487938"/>
            </a:xfrm>
          </p:grpSpPr>
          <p:sp>
            <p:nvSpPr>
              <p:cNvPr id="371" name="Google Shape;371;p7"/>
              <p:cNvSpPr/>
              <p:nvPr/>
            </p:nvSpPr>
            <p:spPr>
              <a:xfrm>
                <a:off x="0" y="0"/>
                <a:ext cx="537083" cy="449834"/>
              </a:xfrm>
              <a:custGeom>
                <a:avLst/>
                <a:gdLst/>
                <a:ahLst/>
                <a:cxnLst/>
                <a:rect l="l" t="t" r="r" b="b"/>
                <a:pathLst>
                  <a:path w="537083" h="449834" extrusionOk="0">
                    <a:moveTo>
                      <a:pt x="0" y="0"/>
                    </a:moveTo>
                    <a:lnTo>
                      <a:pt x="537083" y="0"/>
                    </a:lnTo>
                    <a:lnTo>
                      <a:pt x="537083"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72" name="Google Shape;372;p7"/>
              <p:cNvSpPr txBox="1"/>
              <p:nvPr/>
            </p:nvSpPr>
            <p:spPr>
              <a:xfrm>
                <a:off x="0" y="-38100"/>
                <a:ext cx="537027"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5</a:t>
                </a:r>
                <a:endParaRPr sz="1688"/>
              </a:p>
            </p:txBody>
          </p:sp>
        </p:grpSp>
        <p:sp>
          <p:nvSpPr>
            <p:cNvPr id="373" name="Google Shape;373;p7"/>
            <p:cNvSpPr txBox="1"/>
            <p:nvPr/>
          </p:nvSpPr>
          <p:spPr>
            <a:xfrm>
              <a:off x="3890663" y="2465354"/>
              <a:ext cx="2328540" cy="206826"/>
            </a:xfrm>
            <a:prstGeom prst="rect">
              <a:avLst/>
            </a:prstGeom>
            <a:noFill/>
            <a:ln>
              <a:noFill/>
            </a:ln>
          </p:spPr>
          <p:txBody>
            <a:bodyPr spcFirstLastPara="1" wrap="square" lIns="0" tIns="0" rIns="0" bIns="0" anchor="t" anchorCtr="0">
              <a:spAutoFit/>
            </a:bodyPr>
            <a:lstStyle/>
            <a:p>
              <a:pPr>
                <a:lnSpc>
                  <a:spcPct val="120000"/>
                </a:lnSpc>
              </a:pPr>
              <a:r>
                <a:rPr lang="en-US" sz="1050">
                  <a:solidFill>
                    <a:srgbClr val="FFFFFF"/>
                  </a:solidFill>
                  <a:latin typeface="Arial"/>
                  <a:ea typeface="Arial"/>
                  <a:cs typeface="Arial"/>
                  <a:sym typeface="Arial"/>
                </a:rPr>
                <a:t>Company Overview</a:t>
              </a:r>
              <a:endParaRPr sz="1688"/>
            </a:p>
          </p:txBody>
        </p:sp>
        <p:grpSp>
          <p:nvGrpSpPr>
            <p:cNvPr id="374" name="Google Shape;374;p7"/>
            <p:cNvGrpSpPr/>
            <p:nvPr/>
          </p:nvGrpSpPr>
          <p:grpSpPr>
            <a:xfrm>
              <a:off x="3822093" y="3379157"/>
              <a:ext cx="2465678" cy="351665"/>
              <a:chOff x="0" y="-19050"/>
              <a:chExt cx="3287570" cy="468888"/>
            </a:xfrm>
          </p:grpSpPr>
          <p:sp>
            <p:nvSpPr>
              <p:cNvPr id="375" name="Google Shape;375;p7"/>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76" name="Google Shape;376;p7"/>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Investment Thesis</a:t>
                </a:r>
                <a:endParaRPr sz="1688"/>
              </a:p>
            </p:txBody>
          </p:sp>
        </p:grpSp>
        <p:grpSp>
          <p:nvGrpSpPr>
            <p:cNvPr id="377" name="Google Shape;377;p7"/>
            <p:cNvGrpSpPr/>
            <p:nvPr/>
          </p:nvGrpSpPr>
          <p:grpSpPr>
            <a:xfrm>
              <a:off x="3822093" y="3868663"/>
              <a:ext cx="2465678" cy="351665"/>
              <a:chOff x="0" y="-19050"/>
              <a:chExt cx="3287570" cy="468888"/>
            </a:xfrm>
          </p:grpSpPr>
          <p:sp>
            <p:nvSpPr>
              <p:cNvPr id="378" name="Google Shape;378;p7"/>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79" name="Google Shape;379;p7"/>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Valuation</a:t>
                </a:r>
                <a:endParaRPr sz="1688"/>
              </a:p>
            </p:txBody>
          </p:sp>
        </p:grpSp>
        <p:grpSp>
          <p:nvGrpSpPr>
            <p:cNvPr id="380" name="Google Shape;380;p7"/>
            <p:cNvGrpSpPr/>
            <p:nvPr/>
          </p:nvGrpSpPr>
          <p:grpSpPr>
            <a:xfrm>
              <a:off x="3822093" y="4358168"/>
              <a:ext cx="2465678" cy="351665"/>
              <a:chOff x="0" y="-19050"/>
              <a:chExt cx="3287570" cy="468888"/>
            </a:xfrm>
          </p:grpSpPr>
          <p:sp>
            <p:nvSpPr>
              <p:cNvPr id="381" name="Google Shape;381;p7"/>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82" name="Google Shape;382;p7"/>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Catalysts and Risks</a:t>
                </a:r>
                <a:endParaRPr sz="1688"/>
              </a:p>
            </p:txBody>
          </p:sp>
        </p:grpSp>
        <p:grpSp>
          <p:nvGrpSpPr>
            <p:cNvPr id="383" name="Google Shape;383;p7"/>
            <p:cNvGrpSpPr/>
            <p:nvPr/>
          </p:nvGrpSpPr>
          <p:grpSpPr>
            <a:xfrm>
              <a:off x="3482837" y="4833386"/>
              <a:ext cx="339280" cy="365953"/>
              <a:chOff x="0" y="-38100"/>
              <a:chExt cx="452374" cy="487938"/>
            </a:xfrm>
          </p:grpSpPr>
          <p:sp>
            <p:nvSpPr>
              <p:cNvPr id="384" name="Google Shape;384;p7"/>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85" name="Google Shape;385;p7"/>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6</a:t>
                </a:r>
                <a:endParaRPr sz="1688"/>
              </a:p>
            </p:txBody>
          </p:sp>
        </p:grpSp>
        <p:grpSp>
          <p:nvGrpSpPr>
            <p:cNvPr id="386" name="Google Shape;386;p7"/>
            <p:cNvGrpSpPr/>
            <p:nvPr/>
          </p:nvGrpSpPr>
          <p:grpSpPr>
            <a:xfrm>
              <a:off x="3822093" y="4847674"/>
              <a:ext cx="2465678" cy="351665"/>
              <a:chOff x="0" y="-19050"/>
              <a:chExt cx="3287570" cy="468888"/>
            </a:xfrm>
          </p:grpSpPr>
          <p:sp>
            <p:nvSpPr>
              <p:cNvPr id="387" name="Google Shape;387;p7"/>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88" name="Google Shape;388;p7"/>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Recommendation</a:t>
                </a:r>
                <a:endParaRPr sz="1688"/>
              </a:p>
            </p:txBody>
          </p:sp>
        </p:grpSp>
        <p:grpSp>
          <p:nvGrpSpPr>
            <p:cNvPr id="389" name="Google Shape;389;p7"/>
            <p:cNvGrpSpPr/>
            <p:nvPr/>
          </p:nvGrpSpPr>
          <p:grpSpPr>
            <a:xfrm>
              <a:off x="3464686" y="2893212"/>
              <a:ext cx="343853" cy="367093"/>
              <a:chOff x="-1524" y="-38100"/>
              <a:chExt cx="458470" cy="489458"/>
            </a:xfrm>
          </p:grpSpPr>
          <p:sp>
            <p:nvSpPr>
              <p:cNvPr id="390" name="Google Shape;390;p7"/>
              <p:cNvSpPr/>
              <p:nvPr/>
            </p:nvSpPr>
            <p:spPr>
              <a:xfrm>
                <a:off x="0" y="0"/>
                <a:ext cx="455422" cy="449834"/>
              </a:xfrm>
              <a:custGeom>
                <a:avLst/>
                <a:gdLst/>
                <a:ahLst/>
                <a:cxnLst/>
                <a:rect l="l" t="t" r="r" b="b"/>
                <a:pathLst>
                  <a:path w="455422" h="449834" extrusionOk="0">
                    <a:moveTo>
                      <a:pt x="0" y="0"/>
                    </a:moveTo>
                    <a:lnTo>
                      <a:pt x="455422" y="0"/>
                    </a:lnTo>
                    <a:lnTo>
                      <a:pt x="455422" y="449834"/>
                    </a:lnTo>
                    <a:lnTo>
                      <a:pt x="0" y="449834"/>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91" name="Google Shape;391;p7"/>
              <p:cNvSpPr/>
              <p:nvPr/>
            </p:nvSpPr>
            <p:spPr>
              <a:xfrm>
                <a:off x="-1524" y="-1524"/>
                <a:ext cx="458470" cy="452882"/>
              </a:xfrm>
              <a:custGeom>
                <a:avLst/>
                <a:gdLst/>
                <a:ahLst/>
                <a:cxnLst/>
                <a:rect l="l" t="t" r="r" b="b"/>
                <a:pathLst>
                  <a:path w="458470" h="452882" extrusionOk="0">
                    <a:moveTo>
                      <a:pt x="1524" y="0"/>
                    </a:moveTo>
                    <a:lnTo>
                      <a:pt x="456946" y="0"/>
                    </a:lnTo>
                    <a:cubicBezTo>
                      <a:pt x="457835" y="0"/>
                      <a:pt x="458470" y="762"/>
                      <a:pt x="458470" y="1524"/>
                    </a:cubicBezTo>
                    <a:lnTo>
                      <a:pt x="458470" y="451358"/>
                    </a:lnTo>
                    <a:cubicBezTo>
                      <a:pt x="458470" y="452247"/>
                      <a:pt x="457708" y="452882"/>
                      <a:pt x="456946"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456946" y="449834"/>
                    </a:lnTo>
                    <a:lnTo>
                      <a:pt x="456946" y="451358"/>
                    </a:lnTo>
                    <a:lnTo>
                      <a:pt x="455422" y="451358"/>
                    </a:lnTo>
                    <a:lnTo>
                      <a:pt x="455422" y="1524"/>
                    </a:lnTo>
                    <a:lnTo>
                      <a:pt x="456946" y="1524"/>
                    </a:lnTo>
                    <a:lnTo>
                      <a:pt x="456946" y="3048"/>
                    </a:lnTo>
                    <a:lnTo>
                      <a:pt x="1524" y="3048"/>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92" name="Google Shape;392;p7"/>
              <p:cNvSpPr txBox="1"/>
              <p:nvPr/>
            </p:nvSpPr>
            <p:spPr>
              <a:xfrm>
                <a:off x="0" y="-38100"/>
                <a:ext cx="45546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2</a:t>
                </a:r>
                <a:endParaRPr sz="1688"/>
              </a:p>
            </p:txBody>
          </p:sp>
        </p:grpSp>
        <p:grpSp>
          <p:nvGrpSpPr>
            <p:cNvPr id="393" name="Google Shape;393;p7"/>
            <p:cNvGrpSpPr/>
            <p:nvPr/>
          </p:nvGrpSpPr>
          <p:grpSpPr>
            <a:xfrm>
              <a:off x="3803942" y="2907500"/>
              <a:ext cx="2484978" cy="352805"/>
              <a:chOff x="-1524" y="-19050"/>
              <a:chExt cx="3313303" cy="470408"/>
            </a:xfrm>
          </p:grpSpPr>
          <p:sp>
            <p:nvSpPr>
              <p:cNvPr id="394" name="Google Shape;394;p7"/>
              <p:cNvSpPr/>
              <p:nvPr/>
            </p:nvSpPr>
            <p:spPr>
              <a:xfrm>
                <a:off x="0" y="0"/>
                <a:ext cx="3310255" cy="449834"/>
              </a:xfrm>
              <a:custGeom>
                <a:avLst/>
                <a:gdLst/>
                <a:ahLst/>
                <a:cxnLst/>
                <a:rect l="l" t="t" r="r" b="b"/>
                <a:pathLst>
                  <a:path w="3310255" h="449834" extrusionOk="0">
                    <a:moveTo>
                      <a:pt x="0" y="0"/>
                    </a:moveTo>
                    <a:lnTo>
                      <a:pt x="3310255" y="0"/>
                    </a:lnTo>
                    <a:lnTo>
                      <a:pt x="3310255" y="449834"/>
                    </a:lnTo>
                    <a:lnTo>
                      <a:pt x="0" y="449834"/>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95" name="Google Shape;395;p7"/>
              <p:cNvSpPr/>
              <p:nvPr/>
            </p:nvSpPr>
            <p:spPr>
              <a:xfrm>
                <a:off x="-1524" y="-1524"/>
                <a:ext cx="3313303" cy="452882"/>
              </a:xfrm>
              <a:custGeom>
                <a:avLst/>
                <a:gdLst/>
                <a:ahLst/>
                <a:cxnLst/>
                <a:rect l="l" t="t" r="r" b="b"/>
                <a:pathLst>
                  <a:path w="3313303" h="452882" extrusionOk="0">
                    <a:moveTo>
                      <a:pt x="1524" y="0"/>
                    </a:moveTo>
                    <a:lnTo>
                      <a:pt x="3311779" y="0"/>
                    </a:lnTo>
                    <a:cubicBezTo>
                      <a:pt x="3312668" y="0"/>
                      <a:pt x="3313303" y="762"/>
                      <a:pt x="3313303" y="1524"/>
                    </a:cubicBezTo>
                    <a:lnTo>
                      <a:pt x="3313303" y="451358"/>
                    </a:lnTo>
                    <a:cubicBezTo>
                      <a:pt x="3313303" y="452247"/>
                      <a:pt x="3312541" y="452882"/>
                      <a:pt x="3311779"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311779" y="449834"/>
                    </a:lnTo>
                    <a:lnTo>
                      <a:pt x="3311779" y="451358"/>
                    </a:lnTo>
                    <a:lnTo>
                      <a:pt x="3310255" y="451358"/>
                    </a:lnTo>
                    <a:lnTo>
                      <a:pt x="3310255" y="1524"/>
                    </a:lnTo>
                    <a:lnTo>
                      <a:pt x="3311779" y="1524"/>
                    </a:lnTo>
                    <a:lnTo>
                      <a:pt x="3311779" y="3048"/>
                    </a:lnTo>
                    <a:lnTo>
                      <a:pt x="1524" y="3048"/>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396" name="Google Shape;396;p7"/>
              <p:cNvSpPr txBox="1"/>
              <p:nvPr/>
            </p:nvSpPr>
            <p:spPr>
              <a:xfrm>
                <a:off x="0" y="-19050"/>
                <a:ext cx="3310246"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Industry Overview</a:t>
                </a:r>
                <a:endParaRPr sz="1688"/>
              </a:p>
            </p:txBody>
          </p:sp>
        </p:grpSp>
      </p:grpSp>
      <p:cxnSp>
        <p:nvCxnSpPr>
          <p:cNvPr id="397" name="Google Shape;397;p7"/>
          <p:cNvCxnSpPr/>
          <p:nvPr/>
        </p:nvCxnSpPr>
        <p:spPr>
          <a:xfrm rot="39499">
            <a:off x="-9578" y="2182319"/>
            <a:ext cx="1658019" cy="0"/>
          </a:xfrm>
          <a:prstGeom prst="straightConnector1">
            <a:avLst/>
          </a:prstGeom>
          <a:noFill/>
          <a:ln w="19050" cap="rnd" cmpd="sng">
            <a:solidFill>
              <a:srgbClr val="39598F"/>
            </a:solidFill>
            <a:prstDash val="solid"/>
            <a:round/>
            <a:headEnd type="none" w="sm" len="sm"/>
            <a:tailEnd type="none" w="sm" len="sm"/>
          </a:ln>
        </p:spPr>
      </p:cxnSp>
      <p:sp>
        <p:nvSpPr>
          <p:cNvPr id="398" name="Google Shape;398;p7"/>
          <p:cNvSpPr txBox="1"/>
          <p:nvPr/>
        </p:nvSpPr>
        <p:spPr>
          <a:xfrm>
            <a:off x="529564" y="1678468"/>
            <a:ext cx="2328863" cy="398764"/>
          </a:xfrm>
          <a:prstGeom prst="rect">
            <a:avLst/>
          </a:prstGeom>
          <a:noFill/>
          <a:ln>
            <a:noFill/>
          </a:ln>
        </p:spPr>
        <p:txBody>
          <a:bodyPr spcFirstLastPara="1" wrap="square" lIns="0" tIns="0" rIns="0" bIns="0" anchor="t" anchorCtr="0">
            <a:spAutoFit/>
          </a:bodyPr>
          <a:lstStyle/>
          <a:p>
            <a:pPr>
              <a:lnSpc>
                <a:spcPct val="108010"/>
              </a:lnSpc>
            </a:pPr>
            <a:r>
              <a:rPr lang="en-US" sz="2399">
                <a:solidFill>
                  <a:srgbClr val="333F44"/>
                </a:solidFill>
                <a:latin typeface="Open Sans Light"/>
                <a:ea typeface="Open Sans Light"/>
                <a:cs typeface="Open Sans Light"/>
                <a:sym typeface="Open Sans Light"/>
              </a:rPr>
              <a:t>Agenda</a:t>
            </a:r>
            <a:endParaRPr sz="1688"/>
          </a:p>
        </p:txBody>
      </p:sp>
      <p:pic>
        <p:nvPicPr>
          <p:cNvPr id="3" name="Picture 2" descr="Air Liquide annonce une nouvelle identité visuelle - L'ADN">
            <a:extLst>
              <a:ext uri="{FF2B5EF4-FFF2-40B4-BE49-F238E27FC236}">
                <a16:creationId xmlns:a16="http://schemas.microsoft.com/office/drawing/2014/main" id="{73B16536-3DDA-7F45-C1FD-49B7EF6322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9164" y="1554637"/>
            <a:ext cx="4025671" cy="12307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1"/>
          <p:cNvSpPr txBox="1"/>
          <p:nvPr/>
        </p:nvSpPr>
        <p:spPr>
          <a:xfrm>
            <a:off x="-3429000" y="342186"/>
            <a:ext cx="3200400" cy="1107611"/>
          </a:xfrm>
          <a:prstGeom prst="rect">
            <a:avLst/>
          </a:prstGeom>
          <a:noFill/>
          <a:ln>
            <a:noFill/>
          </a:ln>
        </p:spPr>
        <p:txBody>
          <a:bodyPr spcFirstLastPara="1" wrap="square" lIns="0" tIns="0" rIns="0" bIns="0" anchor="t" anchorCtr="0">
            <a:spAutoFit/>
          </a:bodyPr>
          <a:lstStyle/>
          <a:p>
            <a:pPr algn="r">
              <a:lnSpc>
                <a:spcPct val="120007"/>
              </a:lnSpc>
            </a:pPr>
            <a:r>
              <a:rPr lang="en-US" sz="2399" b="1">
                <a:solidFill>
                  <a:srgbClr val="000000"/>
                </a:solidFill>
                <a:latin typeface="Arial"/>
                <a:ea typeface="Arial"/>
                <a:cs typeface="Arial"/>
                <a:sym typeface="Arial"/>
              </a:rPr>
              <a:t>Arial Slide Title – 24</a:t>
            </a:r>
            <a:endParaRPr sz="1688"/>
          </a:p>
          <a:p>
            <a:pPr algn="r">
              <a:lnSpc>
                <a:spcPct val="119959"/>
              </a:lnSpc>
            </a:pPr>
            <a:r>
              <a:rPr lang="en-US" sz="1400">
                <a:solidFill>
                  <a:srgbClr val="000000"/>
                </a:solidFill>
                <a:latin typeface="Arial"/>
                <a:ea typeface="Arial"/>
                <a:cs typeface="Arial"/>
                <a:sym typeface="Arial"/>
              </a:rPr>
              <a:t>Content/Section Title Text – 14</a:t>
            </a:r>
            <a:endParaRPr sz="1688"/>
          </a:p>
          <a:p>
            <a:pPr algn="r">
              <a:lnSpc>
                <a:spcPct val="120015"/>
              </a:lnSpc>
            </a:pPr>
            <a:r>
              <a:rPr lang="en-US" sz="1199">
                <a:solidFill>
                  <a:srgbClr val="000000"/>
                </a:solidFill>
                <a:latin typeface="Arial"/>
                <a:ea typeface="Arial"/>
                <a:cs typeface="Arial"/>
                <a:sym typeface="Arial"/>
              </a:rPr>
              <a:t>Bullet and Subtitle Text – 12</a:t>
            </a:r>
            <a:endParaRPr sz="1688"/>
          </a:p>
          <a:p>
            <a:pPr algn="r">
              <a:lnSpc>
                <a:spcPct val="120075"/>
              </a:lnSpc>
            </a:pPr>
            <a:r>
              <a:rPr lang="en-US" sz="999">
                <a:solidFill>
                  <a:srgbClr val="000000"/>
                </a:solidFill>
                <a:latin typeface="Arial"/>
                <a:ea typeface="Arial"/>
                <a:cs typeface="Arial"/>
                <a:sym typeface="Arial"/>
              </a:rPr>
              <a:t>Chart, Profile, and Currency Text – 10</a:t>
            </a:r>
            <a:endParaRPr sz="1688"/>
          </a:p>
        </p:txBody>
      </p:sp>
      <p:grpSp>
        <p:nvGrpSpPr>
          <p:cNvPr id="497" name="Google Shape;497;p11"/>
          <p:cNvGrpSpPr/>
          <p:nvPr/>
        </p:nvGrpSpPr>
        <p:grpSpPr>
          <a:xfrm>
            <a:off x="-2192501" y="2633500"/>
            <a:ext cx="1970251" cy="496313"/>
            <a:chOff x="0" y="-28575"/>
            <a:chExt cx="2802135" cy="705866"/>
          </a:xfrm>
        </p:grpSpPr>
        <p:sp>
          <p:nvSpPr>
            <p:cNvPr id="498" name="Google Shape;498;p11"/>
            <p:cNvSpPr/>
            <p:nvPr/>
          </p:nvSpPr>
          <p:spPr>
            <a:xfrm>
              <a:off x="0" y="0"/>
              <a:ext cx="2802128" cy="677291"/>
            </a:xfrm>
            <a:custGeom>
              <a:avLst/>
              <a:gdLst/>
              <a:ahLst/>
              <a:cxnLst/>
              <a:rect l="l" t="t" r="r" b="b"/>
              <a:pathLst>
                <a:path w="2802128" h="677291" extrusionOk="0">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499" name="Google Shape;499;p11"/>
            <p:cNvSpPr txBox="1"/>
            <p:nvPr/>
          </p:nvSpPr>
          <p:spPr>
            <a:xfrm>
              <a:off x="0" y="-28575"/>
              <a:ext cx="2802135" cy="705837"/>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Outline: black, ½ pt.</a:t>
              </a:r>
              <a:endParaRPr sz="1688"/>
            </a:p>
          </p:txBody>
        </p:sp>
      </p:grpSp>
      <p:grpSp>
        <p:nvGrpSpPr>
          <p:cNvPr id="500" name="Google Shape;500;p11"/>
          <p:cNvGrpSpPr/>
          <p:nvPr/>
        </p:nvGrpSpPr>
        <p:grpSpPr>
          <a:xfrm>
            <a:off x="-2186151" y="3363382"/>
            <a:ext cx="1957566" cy="486436"/>
            <a:chOff x="0" y="-28575"/>
            <a:chExt cx="2784094" cy="691820"/>
          </a:xfrm>
        </p:grpSpPr>
        <p:sp>
          <p:nvSpPr>
            <p:cNvPr id="501" name="Google Shape;501;p11"/>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CCD1D7"/>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02" name="Google Shape;502;p11"/>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204 – 209 – 215</a:t>
              </a:r>
              <a:endParaRPr sz="1688"/>
            </a:p>
          </p:txBody>
        </p:sp>
      </p:grpSp>
      <p:grpSp>
        <p:nvGrpSpPr>
          <p:cNvPr id="503" name="Google Shape;503;p11"/>
          <p:cNvGrpSpPr/>
          <p:nvPr/>
        </p:nvGrpSpPr>
        <p:grpSpPr>
          <a:xfrm>
            <a:off x="-2186151" y="4089757"/>
            <a:ext cx="1957566" cy="486436"/>
            <a:chOff x="0" y="-28575"/>
            <a:chExt cx="2784094" cy="691820"/>
          </a:xfrm>
        </p:grpSpPr>
        <p:sp>
          <p:nvSpPr>
            <p:cNvPr id="504" name="Google Shape;504;p11"/>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485059"/>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05" name="Google Shape;505;p11"/>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72 – 80 – 89 </a:t>
              </a:r>
              <a:endParaRPr sz="1688"/>
            </a:p>
          </p:txBody>
        </p:sp>
      </p:grpSp>
      <p:grpSp>
        <p:nvGrpSpPr>
          <p:cNvPr id="506" name="Google Shape;506;p11"/>
          <p:cNvGrpSpPr/>
          <p:nvPr/>
        </p:nvGrpSpPr>
        <p:grpSpPr>
          <a:xfrm>
            <a:off x="-2186151" y="4816132"/>
            <a:ext cx="1957566" cy="486436"/>
            <a:chOff x="0" y="-28575"/>
            <a:chExt cx="2784094" cy="691820"/>
          </a:xfrm>
        </p:grpSpPr>
        <p:sp>
          <p:nvSpPr>
            <p:cNvPr id="507" name="Google Shape;507;p11"/>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5E7C9E"/>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08" name="Google Shape;508;p11"/>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94 – 124 – 158</a:t>
              </a:r>
              <a:endParaRPr sz="1688"/>
            </a:p>
          </p:txBody>
        </p:sp>
      </p:grpSp>
      <p:grpSp>
        <p:nvGrpSpPr>
          <p:cNvPr id="509" name="Google Shape;509;p11"/>
          <p:cNvGrpSpPr/>
          <p:nvPr/>
        </p:nvGrpSpPr>
        <p:grpSpPr>
          <a:xfrm>
            <a:off x="-2186151" y="5542509"/>
            <a:ext cx="1957566" cy="486436"/>
            <a:chOff x="0" y="-28575"/>
            <a:chExt cx="2784094" cy="691820"/>
          </a:xfrm>
        </p:grpSpPr>
        <p:sp>
          <p:nvSpPr>
            <p:cNvPr id="510" name="Google Shape;510;p11"/>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11" name="Google Shape;511;p11"/>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17 – 61 – 99</a:t>
              </a:r>
              <a:endParaRPr sz="1688"/>
            </a:p>
          </p:txBody>
        </p:sp>
      </p:grpSp>
      <p:grpSp>
        <p:nvGrpSpPr>
          <p:cNvPr id="512" name="Google Shape;512;p11"/>
          <p:cNvGrpSpPr/>
          <p:nvPr/>
        </p:nvGrpSpPr>
        <p:grpSpPr>
          <a:xfrm>
            <a:off x="-2186151" y="1916319"/>
            <a:ext cx="1957566" cy="483632"/>
            <a:chOff x="0" y="-28575"/>
            <a:chExt cx="2784094" cy="687832"/>
          </a:xfrm>
        </p:grpSpPr>
        <p:sp>
          <p:nvSpPr>
            <p:cNvPr id="513" name="Google Shape;513;p11"/>
            <p:cNvSpPr/>
            <p:nvPr/>
          </p:nvSpPr>
          <p:spPr>
            <a:xfrm>
              <a:off x="0" y="0"/>
              <a:ext cx="2784094" cy="659257"/>
            </a:xfrm>
            <a:custGeom>
              <a:avLst/>
              <a:gdLst/>
              <a:ahLst/>
              <a:cxnLst/>
              <a:rect l="l" t="t" r="r" b="b"/>
              <a:pathLst>
                <a:path w="2784094" h="659257" extrusionOk="0">
                  <a:moveTo>
                    <a:pt x="0" y="0"/>
                  </a:moveTo>
                  <a:lnTo>
                    <a:pt x="2784094" y="0"/>
                  </a:lnTo>
                  <a:lnTo>
                    <a:pt x="2784094" y="659257"/>
                  </a:lnTo>
                  <a:lnTo>
                    <a:pt x="0" y="659257"/>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14" name="Google Shape;514;p11"/>
            <p:cNvSpPr txBox="1"/>
            <p:nvPr/>
          </p:nvSpPr>
          <p:spPr>
            <a:xfrm>
              <a:off x="0" y="-28575"/>
              <a:ext cx="2784073" cy="687775"/>
            </a:xfrm>
            <a:prstGeom prst="rect">
              <a:avLst/>
            </a:prstGeom>
            <a:noFill/>
            <a:ln>
              <a:noFill/>
            </a:ln>
          </p:spPr>
          <p:txBody>
            <a:bodyPr spcFirstLastPara="1" wrap="square" lIns="47625" tIns="47625" rIns="47625" bIns="47625" anchor="ctr" anchorCtr="0">
              <a:noAutofit/>
            </a:bodyPr>
            <a:lstStyle/>
            <a:p>
              <a:pPr marL="154432" lvl="1" indent="-76140">
                <a:lnSpc>
                  <a:spcPct val="120015"/>
                </a:lnSpc>
                <a:buClr>
                  <a:srgbClr val="FFFFFF"/>
                </a:buClr>
                <a:buSzPts val="1279"/>
                <a:buFont typeface="Arial"/>
                <a:buChar char="•"/>
              </a:pPr>
              <a:r>
                <a:rPr lang="en-US" sz="1199">
                  <a:solidFill>
                    <a:srgbClr val="FFFFFF"/>
                  </a:solidFill>
                  <a:latin typeface="Arial"/>
                  <a:ea typeface="Arial"/>
                  <a:cs typeface="Arial"/>
                  <a:sym typeface="Arial"/>
                </a:rPr>
                <a:t>Normal shapes w/ text</a:t>
              </a:r>
              <a:endParaRPr sz="1688"/>
            </a:p>
          </p:txBody>
        </p:sp>
      </p:grpSp>
      <p:sp>
        <p:nvSpPr>
          <p:cNvPr id="515" name="Google Shape;515;p11"/>
          <p:cNvSpPr txBox="1"/>
          <p:nvPr/>
        </p:nvSpPr>
        <p:spPr>
          <a:xfrm>
            <a:off x="239485" y="6382553"/>
            <a:ext cx="3537857" cy="332399"/>
          </a:xfrm>
          <a:prstGeom prst="rect">
            <a:avLst/>
          </a:prstGeom>
          <a:noFill/>
          <a:ln>
            <a:noFill/>
          </a:ln>
        </p:spPr>
        <p:txBody>
          <a:bodyPr spcFirstLastPara="1" wrap="square" lIns="0" tIns="0" rIns="0" bIns="0" anchor="t" anchorCtr="0">
            <a:spAutoFit/>
          </a:bodyPr>
          <a:lstStyle/>
          <a:p>
            <a:pPr>
              <a:lnSpc>
                <a:spcPct val="120000"/>
              </a:lnSpc>
            </a:pPr>
            <a:r>
              <a:rPr lang="en-US">
                <a:solidFill>
                  <a:srgbClr val="2A90BC"/>
                </a:solidFill>
                <a:latin typeface="Arimo"/>
                <a:ea typeface="Arimo"/>
                <a:cs typeface="Arimo"/>
                <a:sym typeface="Arimo"/>
              </a:rPr>
              <a:t>ESSEC Capital Investments Club</a:t>
            </a:r>
            <a:endParaRPr sz="1688"/>
          </a:p>
        </p:txBody>
      </p:sp>
      <p:cxnSp>
        <p:nvCxnSpPr>
          <p:cNvPr id="516" name="Google Shape;516;p11"/>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517" name="Google Shape;517;p11"/>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cxnSp>
        <p:nvCxnSpPr>
          <p:cNvPr id="518" name="Google Shape;518;p11"/>
          <p:cNvCxnSpPr/>
          <p:nvPr/>
        </p:nvCxnSpPr>
        <p:spPr>
          <a:xfrm rot="8930">
            <a:off x="-11128" y="6240264"/>
            <a:ext cx="9166256" cy="0"/>
          </a:xfrm>
          <a:prstGeom prst="straightConnector1">
            <a:avLst/>
          </a:prstGeom>
          <a:noFill/>
          <a:ln w="19050" cap="rnd" cmpd="sng">
            <a:solidFill>
              <a:srgbClr val="39598F"/>
            </a:solidFill>
            <a:prstDash val="solid"/>
            <a:round/>
            <a:headEnd type="none" w="sm" len="sm"/>
            <a:tailEnd type="none" w="sm" len="sm"/>
          </a:ln>
        </p:spPr>
      </p:cxnSp>
      <p:sp>
        <p:nvSpPr>
          <p:cNvPr id="519" name="Google Shape;519;p11"/>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9" b="-138"/>
            </a:stretch>
          </a:blip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grpSp>
        <p:nvGrpSpPr>
          <p:cNvPr id="520" name="Google Shape;520;p11"/>
          <p:cNvGrpSpPr/>
          <p:nvPr/>
        </p:nvGrpSpPr>
        <p:grpSpPr>
          <a:xfrm>
            <a:off x="3246975" y="2929020"/>
            <a:ext cx="2647741" cy="2580970"/>
            <a:chOff x="3464687" y="2446304"/>
            <a:chExt cx="2824257" cy="2753035"/>
          </a:xfrm>
        </p:grpSpPr>
        <p:grpSp>
          <p:nvGrpSpPr>
            <p:cNvPr id="521" name="Google Shape;521;p11"/>
            <p:cNvGrpSpPr/>
            <p:nvPr/>
          </p:nvGrpSpPr>
          <p:grpSpPr>
            <a:xfrm>
              <a:off x="3464687" y="2448986"/>
              <a:ext cx="2824257" cy="339661"/>
              <a:chOff x="-1524" y="-1524"/>
              <a:chExt cx="3765677" cy="452882"/>
            </a:xfrm>
          </p:grpSpPr>
          <p:sp>
            <p:nvSpPr>
              <p:cNvPr id="522" name="Google Shape;522;p11"/>
              <p:cNvSpPr/>
              <p:nvPr/>
            </p:nvSpPr>
            <p:spPr>
              <a:xfrm>
                <a:off x="0" y="0"/>
                <a:ext cx="3762629" cy="449834"/>
              </a:xfrm>
              <a:custGeom>
                <a:avLst/>
                <a:gdLst/>
                <a:ahLst/>
                <a:cxnLst/>
                <a:rect l="l" t="t" r="r" b="b"/>
                <a:pathLst>
                  <a:path w="3762629" h="449834" extrusionOk="0">
                    <a:moveTo>
                      <a:pt x="0" y="0"/>
                    </a:moveTo>
                    <a:lnTo>
                      <a:pt x="3762629" y="0"/>
                    </a:lnTo>
                    <a:lnTo>
                      <a:pt x="3762629"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23" name="Google Shape;523;p11"/>
              <p:cNvSpPr/>
              <p:nvPr/>
            </p:nvSpPr>
            <p:spPr>
              <a:xfrm>
                <a:off x="-1524" y="-1524"/>
                <a:ext cx="3765677" cy="452882"/>
              </a:xfrm>
              <a:custGeom>
                <a:avLst/>
                <a:gdLst/>
                <a:ahLst/>
                <a:cxnLst/>
                <a:rect l="l" t="t" r="r" b="b"/>
                <a:pathLst>
                  <a:path w="3765677" h="452882" extrusionOk="0">
                    <a:moveTo>
                      <a:pt x="1524" y="0"/>
                    </a:moveTo>
                    <a:lnTo>
                      <a:pt x="3764153" y="0"/>
                    </a:lnTo>
                    <a:cubicBezTo>
                      <a:pt x="3765042" y="0"/>
                      <a:pt x="3765677" y="762"/>
                      <a:pt x="3765677" y="1524"/>
                    </a:cubicBezTo>
                    <a:lnTo>
                      <a:pt x="3765677" y="451358"/>
                    </a:lnTo>
                    <a:cubicBezTo>
                      <a:pt x="3765677" y="452247"/>
                      <a:pt x="3764915" y="452882"/>
                      <a:pt x="3764153"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764153" y="449834"/>
                    </a:lnTo>
                    <a:lnTo>
                      <a:pt x="3764153" y="451358"/>
                    </a:lnTo>
                    <a:lnTo>
                      <a:pt x="3762629" y="451358"/>
                    </a:lnTo>
                    <a:lnTo>
                      <a:pt x="3762629" y="1524"/>
                    </a:lnTo>
                    <a:lnTo>
                      <a:pt x="3764153" y="1524"/>
                    </a:lnTo>
                    <a:lnTo>
                      <a:pt x="3764153" y="3048"/>
                    </a:lnTo>
                    <a:lnTo>
                      <a:pt x="1524" y="3048"/>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grpSp>
        <p:sp>
          <p:nvSpPr>
            <p:cNvPr id="524" name="Google Shape;524;p11"/>
            <p:cNvSpPr txBox="1"/>
            <p:nvPr/>
          </p:nvSpPr>
          <p:spPr>
            <a:xfrm>
              <a:off x="3551406" y="2446304"/>
              <a:ext cx="115123" cy="295466"/>
            </a:xfrm>
            <a:prstGeom prst="rect">
              <a:avLst/>
            </a:prstGeom>
            <a:noFill/>
            <a:ln>
              <a:noFill/>
            </a:ln>
          </p:spPr>
          <p:txBody>
            <a:bodyPr spcFirstLastPara="1" wrap="square" lIns="0" tIns="0" rIns="0" bIns="0" anchor="t" anchorCtr="0">
              <a:spAutoFit/>
            </a:bodyPr>
            <a:lstStyle/>
            <a:p>
              <a:pPr algn="ctr">
                <a:lnSpc>
                  <a:spcPct val="120000"/>
                </a:lnSpc>
              </a:pPr>
              <a:r>
                <a:rPr lang="en-US" sz="1500" b="1">
                  <a:solidFill>
                    <a:srgbClr val="FFFFFF"/>
                  </a:solidFill>
                  <a:latin typeface="Arial"/>
                  <a:ea typeface="Arial"/>
                  <a:cs typeface="Arial"/>
                  <a:sym typeface="Arial"/>
                </a:rPr>
                <a:t>1</a:t>
              </a:r>
              <a:endParaRPr sz="1688"/>
            </a:p>
          </p:txBody>
        </p:sp>
        <p:grpSp>
          <p:nvGrpSpPr>
            <p:cNvPr id="525" name="Google Shape;525;p11"/>
            <p:cNvGrpSpPr/>
            <p:nvPr/>
          </p:nvGrpSpPr>
          <p:grpSpPr>
            <a:xfrm>
              <a:off x="3481694" y="3364869"/>
              <a:ext cx="341566" cy="367093"/>
              <a:chOff x="-1524" y="-38100"/>
              <a:chExt cx="455422" cy="489458"/>
            </a:xfrm>
          </p:grpSpPr>
          <p:sp>
            <p:nvSpPr>
              <p:cNvPr id="526" name="Google Shape;526;p11"/>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27" name="Google Shape;527;p11"/>
              <p:cNvSpPr/>
              <p:nvPr/>
            </p:nvSpPr>
            <p:spPr>
              <a:xfrm>
                <a:off x="-1524" y="-1524"/>
                <a:ext cx="455422" cy="452882"/>
              </a:xfrm>
              <a:custGeom>
                <a:avLst/>
                <a:gdLst/>
                <a:ahLst/>
                <a:cxnLst/>
                <a:rect l="l" t="t" r="r" b="b"/>
                <a:pathLst>
                  <a:path w="455422" h="452882" extrusionOk="0">
                    <a:moveTo>
                      <a:pt x="1524" y="0"/>
                    </a:moveTo>
                    <a:lnTo>
                      <a:pt x="453898" y="0"/>
                    </a:lnTo>
                    <a:cubicBezTo>
                      <a:pt x="454787" y="0"/>
                      <a:pt x="455422" y="762"/>
                      <a:pt x="455422" y="1524"/>
                    </a:cubicBezTo>
                    <a:lnTo>
                      <a:pt x="455422" y="451358"/>
                    </a:lnTo>
                    <a:cubicBezTo>
                      <a:pt x="455422" y="452247"/>
                      <a:pt x="454660" y="452882"/>
                      <a:pt x="453898"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453898" y="449834"/>
                    </a:lnTo>
                    <a:lnTo>
                      <a:pt x="453898" y="451358"/>
                    </a:lnTo>
                    <a:lnTo>
                      <a:pt x="452374" y="451358"/>
                    </a:lnTo>
                    <a:lnTo>
                      <a:pt x="452374" y="1524"/>
                    </a:lnTo>
                    <a:lnTo>
                      <a:pt x="453898" y="1524"/>
                    </a:lnTo>
                    <a:lnTo>
                      <a:pt x="453898" y="3048"/>
                    </a:lnTo>
                    <a:lnTo>
                      <a:pt x="1524" y="3048"/>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28" name="Google Shape;528;p11"/>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3</a:t>
                </a:r>
                <a:endParaRPr sz="1688"/>
              </a:p>
            </p:txBody>
          </p:sp>
        </p:grpSp>
        <p:grpSp>
          <p:nvGrpSpPr>
            <p:cNvPr id="529" name="Google Shape;529;p11"/>
            <p:cNvGrpSpPr/>
            <p:nvPr/>
          </p:nvGrpSpPr>
          <p:grpSpPr>
            <a:xfrm>
              <a:off x="3482837" y="3854375"/>
              <a:ext cx="339280" cy="365953"/>
              <a:chOff x="0" y="-38100"/>
              <a:chExt cx="452374" cy="487938"/>
            </a:xfrm>
          </p:grpSpPr>
          <p:sp>
            <p:nvSpPr>
              <p:cNvPr id="530" name="Google Shape;530;p11"/>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31" name="Google Shape;531;p11"/>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4</a:t>
                </a:r>
                <a:endParaRPr sz="1688"/>
              </a:p>
            </p:txBody>
          </p:sp>
        </p:grpSp>
        <p:grpSp>
          <p:nvGrpSpPr>
            <p:cNvPr id="532" name="Google Shape;532;p11"/>
            <p:cNvGrpSpPr/>
            <p:nvPr/>
          </p:nvGrpSpPr>
          <p:grpSpPr>
            <a:xfrm>
              <a:off x="3482836" y="4343880"/>
              <a:ext cx="402812" cy="365953"/>
              <a:chOff x="0" y="-38100"/>
              <a:chExt cx="537083" cy="487938"/>
            </a:xfrm>
          </p:grpSpPr>
          <p:sp>
            <p:nvSpPr>
              <p:cNvPr id="533" name="Google Shape;533;p11"/>
              <p:cNvSpPr/>
              <p:nvPr/>
            </p:nvSpPr>
            <p:spPr>
              <a:xfrm>
                <a:off x="0" y="0"/>
                <a:ext cx="537083" cy="449834"/>
              </a:xfrm>
              <a:custGeom>
                <a:avLst/>
                <a:gdLst/>
                <a:ahLst/>
                <a:cxnLst/>
                <a:rect l="l" t="t" r="r" b="b"/>
                <a:pathLst>
                  <a:path w="537083" h="449834" extrusionOk="0">
                    <a:moveTo>
                      <a:pt x="0" y="0"/>
                    </a:moveTo>
                    <a:lnTo>
                      <a:pt x="537083" y="0"/>
                    </a:lnTo>
                    <a:lnTo>
                      <a:pt x="537083"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34" name="Google Shape;534;p11"/>
              <p:cNvSpPr txBox="1"/>
              <p:nvPr/>
            </p:nvSpPr>
            <p:spPr>
              <a:xfrm>
                <a:off x="0" y="-38100"/>
                <a:ext cx="537027"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5</a:t>
                </a:r>
                <a:endParaRPr sz="1688"/>
              </a:p>
            </p:txBody>
          </p:sp>
        </p:grpSp>
        <p:sp>
          <p:nvSpPr>
            <p:cNvPr id="535" name="Google Shape;535;p11"/>
            <p:cNvSpPr txBox="1"/>
            <p:nvPr/>
          </p:nvSpPr>
          <p:spPr>
            <a:xfrm>
              <a:off x="3890662" y="2465354"/>
              <a:ext cx="2328540" cy="206826"/>
            </a:xfrm>
            <a:prstGeom prst="rect">
              <a:avLst/>
            </a:prstGeom>
            <a:noFill/>
            <a:ln>
              <a:noFill/>
            </a:ln>
          </p:spPr>
          <p:txBody>
            <a:bodyPr spcFirstLastPara="1" wrap="square" lIns="0" tIns="0" rIns="0" bIns="0" anchor="t" anchorCtr="0">
              <a:spAutoFit/>
            </a:bodyPr>
            <a:lstStyle/>
            <a:p>
              <a:pPr>
                <a:lnSpc>
                  <a:spcPct val="120000"/>
                </a:lnSpc>
              </a:pPr>
              <a:r>
                <a:rPr lang="en-US" sz="1050">
                  <a:solidFill>
                    <a:srgbClr val="FFFFFF"/>
                  </a:solidFill>
                  <a:latin typeface="Arial"/>
                  <a:ea typeface="Arial"/>
                  <a:cs typeface="Arial"/>
                  <a:sym typeface="Arial"/>
                </a:rPr>
                <a:t>Company Overview</a:t>
              </a:r>
              <a:endParaRPr sz="1688"/>
            </a:p>
          </p:txBody>
        </p:sp>
        <p:grpSp>
          <p:nvGrpSpPr>
            <p:cNvPr id="536" name="Google Shape;536;p11"/>
            <p:cNvGrpSpPr/>
            <p:nvPr/>
          </p:nvGrpSpPr>
          <p:grpSpPr>
            <a:xfrm>
              <a:off x="3820950" y="3379157"/>
              <a:ext cx="2467928" cy="352805"/>
              <a:chOff x="-1524" y="-19050"/>
              <a:chExt cx="3290570" cy="470408"/>
            </a:xfrm>
          </p:grpSpPr>
          <p:sp>
            <p:nvSpPr>
              <p:cNvPr id="537" name="Google Shape;537;p11"/>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38" name="Google Shape;538;p11"/>
              <p:cNvSpPr/>
              <p:nvPr/>
            </p:nvSpPr>
            <p:spPr>
              <a:xfrm>
                <a:off x="-1524" y="-1524"/>
                <a:ext cx="3290570" cy="452882"/>
              </a:xfrm>
              <a:custGeom>
                <a:avLst/>
                <a:gdLst/>
                <a:ahLst/>
                <a:cxnLst/>
                <a:rect l="l" t="t" r="r" b="b"/>
                <a:pathLst>
                  <a:path w="3290570" h="452882" extrusionOk="0">
                    <a:moveTo>
                      <a:pt x="1524" y="0"/>
                    </a:moveTo>
                    <a:lnTo>
                      <a:pt x="3289046" y="0"/>
                    </a:lnTo>
                    <a:cubicBezTo>
                      <a:pt x="3289935" y="0"/>
                      <a:pt x="3290570" y="762"/>
                      <a:pt x="3290570" y="1524"/>
                    </a:cubicBezTo>
                    <a:lnTo>
                      <a:pt x="3290570" y="451358"/>
                    </a:lnTo>
                    <a:cubicBezTo>
                      <a:pt x="3290570" y="452247"/>
                      <a:pt x="3289808" y="452882"/>
                      <a:pt x="3289046"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289046" y="449834"/>
                    </a:lnTo>
                    <a:lnTo>
                      <a:pt x="3289046" y="451358"/>
                    </a:lnTo>
                    <a:lnTo>
                      <a:pt x="3287522" y="451358"/>
                    </a:lnTo>
                    <a:lnTo>
                      <a:pt x="3287522" y="1524"/>
                    </a:lnTo>
                    <a:lnTo>
                      <a:pt x="3289046" y="1524"/>
                    </a:lnTo>
                    <a:lnTo>
                      <a:pt x="3289046" y="3048"/>
                    </a:lnTo>
                    <a:lnTo>
                      <a:pt x="1524" y="3048"/>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39" name="Google Shape;539;p11"/>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Investment Thesis</a:t>
                </a:r>
                <a:endParaRPr sz="1688"/>
              </a:p>
            </p:txBody>
          </p:sp>
        </p:grpSp>
        <p:grpSp>
          <p:nvGrpSpPr>
            <p:cNvPr id="540" name="Google Shape;540;p11"/>
            <p:cNvGrpSpPr/>
            <p:nvPr/>
          </p:nvGrpSpPr>
          <p:grpSpPr>
            <a:xfrm>
              <a:off x="3822093" y="3868663"/>
              <a:ext cx="2465678" cy="351665"/>
              <a:chOff x="0" y="-19050"/>
              <a:chExt cx="3287570" cy="468888"/>
            </a:xfrm>
          </p:grpSpPr>
          <p:sp>
            <p:nvSpPr>
              <p:cNvPr id="541" name="Google Shape;541;p11"/>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42" name="Google Shape;542;p11"/>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Valuation</a:t>
                </a:r>
                <a:endParaRPr sz="1688"/>
              </a:p>
            </p:txBody>
          </p:sp>
        </p:grpSp>
        <p:grpSp>
          <p:nvGrpSpPr>
            <p:cNvPr id="543" name="Google Shape;543;p11"/>
            <p:cNvGrpSpPr/>
            <p:nvPr/>
          </p:nvGrpSpPr>
          <p:grpSpPr>
            <a:xfrm>
              <a:off x="3822093" y="4358168"/>
              <a:ext cx="2465678" cy="351665"/>
              <a:chOff x="0" y="-19050"/>
              <a:chExt cx="3287570" cy="468888"/>
            </a:xfrm>
          </p:grpSpPr>
          <p:sp>
            <p:nvSpPr>
              <p:cNvPr id="544" name="Google Shape;544;p11"/>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45" name="Google Shape;545;p11"/>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Catalysts and Risks</a:t>
                </a:r>
                <a:endParaRPr sz="1688"/>
              </a:p>
            </p:txBody>
          </p:sp>
        </p:grpSp>
        <p:grpSp>
          <p:nvGrpSpPr>
            <p:cNvPr id="546" name="Google Shape;546;p11"/>
            <p:cNvGrpSpPr/>
            <p:nvPr/>
          </p:nvGrpSpPr>
          <p:grpSpPr>
            <a:xfrm>
              <a:off x="3482837" y="4833386"/>
              <a:ext cx="339280" cy="365953"/>
              <a:chOff x="0" y="-38100"/>
              <a:chExt cx="452374" cy="487938"/>
            </a:xfrm>
          </p:grpSpPr>
          <p:sp>
            <p:nvSpPr>
              <p:cNvPr id="547" name="Google Shape;547;p11"/>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48" name="Google Shape;548;p11"/>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6</a:t>
                </a:r>
                <a:endParaRPr sz="1688"/>
              </a:p>
            </p:txBody>
          </p:sp>
        </p:grpSp>
        <p:grpSp>
          <p:nvGrpSpPr>
            <p:cNvPr id="549" name="Google Shape;549;p11"/>
            <p:cNvGrpSpPr/>
            <p:nvPr/>
          </p:nvGrpSpPr>
          <p:grpSpPr>
            <a:xfrm>
              <a:off x="3822093" y="4847674"/>
              <a:ext cx="2465678" cy="351665"/>
              <a:chOff x="0" y="-19050"/>
              <a:chExt cx="3287570" cy="468888"/>
            </a:xfrm>
          </p:grpSpPr>
          <p:sp>
            <p:nvSpPr>
              <p:cNvPr id="550" name="Google Shape;550;p11"/>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51" name="Google Shape;551;p11"/>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Recommendation</a:t>
                </a:r>
                <a:endParaRPr sz="1688"/>
              </a:p>
            </p:txBody>
          </p:sp>
        </p:grpSp>
        <p:grpSp>
          <p:nvGrpSpPr>
            <p:cNvPr id="552" name="Google Shape;552;p11"/>
            <p:cNvGrpSpPr/>
            <p:nvPr/>
          </p:nvGrpSpPr>
          <p:grpSpPr>
            <a:xfrm>
              <a:off x="3465829" y="2893212"/>
              <a:ext cx="341596" cy="365953"/>
              <a:chOff x="0" y="-38100"/>
              <a:chExt cx="455461" cy="487938"/>
            </a:xfrm>
          </p:grpSpPr>
          <p:sp>
            <p:nvSpPr>
              <p:cNvPr id="553" name="Google Shape;553;p11"/>
              <p:cNvSpPr/>
              <p:nvPr/>
            </p:nvSpPr>
            <p:spPr>
              <a:xfrm>
                <a:off x="0" y="0"/>
                <a:ext cx="455422" cy="449834"/>
              </a:xfrm>
              <a:custGeom>
                <a:avLst/>
                <a:gdLst/>
                <a:ahLst/>
                <a:cxnLst/>
                <a:rect l="l" t="t" r="r" b="b"/>
                <a:pathLst>
                  <a:path w="455422" h="449834" extrusionOk="0">
                    <a:moveTo>
                      <a:pt x="0" y="0"/>
                    </a:moveTo>
                    <a:lnTo>
                      <a:pt x="455422" y="0"/>
                    </a:lnTo>
                    <a:lnTo>
                      <a:pt x="4554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54" name="Google Shape;554;p11"/>
              <p:cNvSpPr txBox="1"/>
              <p:nvPr/>
            </p:nvSpPr>
            <p:spPr>
              <a:xfrm>
                <a:off x="0" y="-38100"/>
                <a:ext cx="45546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2</a:t>
                </a:r>
                <a:endParaRPr sz="1688"/>
              </a:p>
            </p:txBody>
          </p:sp>
        </p:grpSp>
        <p:grpSp>
          <p:nvGrpSpPr>
            <p:cNvPr id="555" name="Google Shape;555;p11"/>
            <p:cNvGrpSpPr/>
            <p:nvPr/>
          </p:nvGrpSpPr>
          <p:grpSpPr>
            <a:xfrm>
              <a:off x="3805085" y="2907500"/>
              <a:ext cx="2482692" cy="351665"/>
              <a:chOff x="0" y="-19050"/>
              <a:chExt cx="3310255" cy="468888"/>
            </a:xfrm>
          </p:grpSpPr>
          <p:sp>
            <p:nvSpPr>
              <p:cNvPr id="556" name="Google Shape;556;p11"/>
              <p:cNvSpPr/>
              <p:nvPr/>
            </p:nvSpPr>
            <p:spPr>
              <a:xfrm>
                <a:off x="0" y="0"/>
                <a:ext cx="3310255" cy="449834"/>
              </a:xfrm>
              <a:custGeom>
                <a:avLst/>
                <a:gdLst/>
                <a:ahLst/>
                <a:cxnLst/>
                <a:rect l="l" t="t" r="r" b="b"/>
                <a:pathLst>
                  <a:path w="3310255" h="449834" extrusionOk="0">
                    <a:moveTo>
                      <a:pt x="0" y="0"/>
                    </a:moveTo>
                    <a:lnTo>
                      <a:pt x="3310255" y="0"/>
                    </a:lnTo>
                    <a:lnTo>
                      <a:pt x="3310255"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57" name="Google Shape;557;p11"/>
              <p:cNvSpPr txBox="1"/>
              <p:nvPr/>
            </p:nvSpPr>
            <p:spPr>
              <a:xfrm>
                <a:off x="0" y="-19050"/>
                <a:ext cx="3310246"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Industry Overview</a:t>
                </a:r>
                <a:endParaRPr sz="1688"/>
              </a:p>
            </p:txBody>
          </p:sp>
        </p:grpSp>
      </p:grpSp>
      <p:cxnSp>
        <p:nvCxnSpPr>
          <p:cNvPr id="558" name="Google Shape;558;p11"/>
          <p:cNvCxnSpPr/>
          <p:nvPr/>
        </p:nvCxnSpPr>
        <p:spPr>
          <a:xfrm rot="39499">
            <a:off x="-9578" y="2182319"/>
            <a:ext cx="1658019" cy="0"/>
          </a:xfrm>
          <a:prstGeom prst="straightConnector1">
            <a:avLst/>
          </a:prstGeom>
          <a:noFill/>
          <a:ln w="19050" cap="rnd" cmpd="sng">
            <a:solidFill>
              <a:srgbClr val="39598F"/>
            </a:solidFill>
            <a:prstDash val="solid"/>
            <a:round/>
            <a:headEnd type="none" w="sm" len="sm"/>
            <a:tailEnd type="none" w="sm" len="sm"/>
          </a:ln>
        </p:spPr>
      </p:cxnSp>
      <p:sp>
        <p:nvSpPr>
          <p:cNvPr id="559" name="Google Shape;559;p11"/>
          <p:cNvSpPr txBox="1"/>
          <p:nvPr/>
        </p:nvSpPr>
        <p:spPr>
          <a:xfrm>
            <a:off x="529564" y="1678468"/>
            <a:ext cx="2328863" cy="398764"/>
          </a:xfrm>
          <a:prstGeom prst="rect">
            <a:avLst/>
          </a:prstGeom>
          <a:noFill/>
          <a:ln>
            <a:noFill/>
          </a:ln>
        </p:spPr>
        <p:txBody>
          <a:bodyPr spcFirstLastPara="1" wrap="square" lIns="0" tIns="0" rIns="0" bIns="0" anchor="t" anchorCtr="0">
            <a:spAutoFit/>
          </a:bodyPr>
          <a:lstStyle/>
          <a:p>
            <a:pPr>
              <a:lnSpc>
                <a:spcPct val="108010"/>
              </a:lnSpc>
            </a:pPr>
            <a:r>
              <a:rPr lang="en-US" sz="2399">
                <a:solidFill>
                  <a:srgbClr val="333F44"/>
                </a:solidFill>
                <a:latin typeface="Open Sans Light"/>
                <a:ea typeface="Open Sans Light"/>
                <a:cs typeface="Open Sans Light"/>
                <a:sym typeface="Open Sans Light"/>
              </a:rPr>
              <a:t>Agenda</a:t>
            </a:r>
            <a:endParaRPr sz="1688"/>
          </a:p>
        </p:txBody>
      </p:sp>
      <p:pic>
        <p:nvPicPr>
          <p:cNvPr id="3" name="Picture 2" descr="Air Liquide annonce une nouvelle identité visuelle - L'ADN">
            <a:extLst>
              <a:ext uri="{FF2B5EF4-FFF2-40B4-BE49-F238E27FC236}">
                <a16:creationId xmlns:a16="http://schemas.microsoft.com/office/drawing/2014/main" id="{E5324AE0-D5EB-1B68-E71A-5916CDF2E4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9164" y="1554637"/>
            <a:ext cx="4025671" cy="12307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12"/>
          <p:cNvSpPr txBox="1"/>
          <p:nvPr/>
        </p:nvSpPr>
        <p:spPr>
          <a:xfrm>
            <a:off x="-3429000" y="342186"/>
            <a:ext cx="3200400" cy="1107611"/>
          </a:xfrm>
          <a:prstGeom prst="rect">
            <a:avLst/>
          </a:prstGeom>
          <a:noFill/>
          <a:ln>
            <a:noFill/>
          </a:ln>
        </p:spPr>
        <p:txBody>
          <a:bodyPr spcFirstLastPara="1" wrap="square" lIns="0" tIns="0" rIns="0" bIns="0" anchor="t" anchorCtr="0">
            <a:spAutoFit/>
          </a:bodyPr>
          <a:lstStyle/>
          <a:p>
            <a:pPr algn="r">
              <a:lnSpc>
                <a:spcPct val="120007"/>
              </a:lnSpc>
            </a:pPr>
            <a:r>
              <a:rPr lang="en-US" sz="2399" b="1">
                <a:solidFill>
                  <a:srgbClr val="000000"/>
                </a:solidFill>
                <a:latin typeface="Arial"/>
                <a:ea typeface="Arial"/>
                <a:cs typeface="Arial"/>
                <a:sym typeface="Arial"/>
              </a:rPr>
              <a:t>Arial Slide Title – 24</a:t>
            </a:r>
            <a:endParaRPr sz="1688"/>
          </a:p>
          <a:p>
            <a:pPr algn="r">
              <a:lnSpc>
                <a:spcPct val="119959"/>
              </a:lnSpc>
            </a:pPr>
            <a:r>
              <a:rPr lang="en-US" sz="1400">
                <a:solidFill>
                  <a:srgbClr val="000000"/>
                </a:solidFill>
                <a:latin typeface="Arial"/>
                <a:ea typeface="Arial"/>
                <a:cs typeface="Arial"/>
                <a:sym typeface="Arial"/>
              </a:rPr>
              <a:t>Content/Section Title Text – 14</a:t>
            </a:r>
            <a:endParaRPr sz="1688"/>
          </a:p>
          <a:p>
            <a:pPr algn="r">
              <a:lnSpc>
                <a:spcPct val="120015"/>
              </a:lnSpc>
            </a:pPr>
            <a:r>
              <a:rPr lang="en-US" sz="1199">
                <a:solidFill>
                  <a:srgbClr val="000000"/>
                </a:solidFill>
                <a:latin typeface="Arial"/>
                <a:ea typeface="Arial"/>
                <a:cs typeface="Arial"/>
                <a:sym typeface="Arial"/>
              </a:rPr>
              <a:t>Bullet and Subtitle Text – 12</a:t>
            </a:r>
            <a:endParaRPr sz="1688"/>
          </a:p>
          <a:p>
            <a:pPr algn="r">
              <a:lnSpc>
                <a:spcPct val="120075"/>
              </a:lnSpc>
            </a:pPr>
            <a:r>
              <a:rPr lang="en-US" sz="999">
                <a:solidFill>
                  <a:srgbClr val="000000"/>
                </a:solidFill>
                <a:latin typeface="Arial"/>
                <a:ea typeface="Arial"/>
                <a:cs typeface="Arial"/>
                <a:sym typeface="Arial"/>
              </a:rPr>
              <a:t>Chart, Profile, and Currency Text – 10</a:t>
            </a:r>
            <a:endParaRPr sz="1688"/>
          </a:p>
        </p:txBody>
      </p:sp>
      <p:grpSp>
        <p:nvGrpSpPr>
          <p:cNvPr id="566" name="Google Shape;566;p12"/>
          <p:cNvGrpSpPr/>
          <p:nvPr/>
        </p:nvGrpSpPr>
        <p:grpSpPr>
          <a:xfrm>
            <a:off x="-2192501" y="2633500"/>
            <a:ext cx="1970251" cy="496313"/>
            <a:chOff x="0" y="-28575"/>
            <a:chExt cx="2802135" cy="705866"/>
          </a:xfrm>
        </p:grpSpPr>
        <p:sp>
          <p:nvSpPr>
            <p:cNvPr id="567" name="Google Shape;567;p12"/>
            <p:cNvSpPr/>
            <p:nvPr/>
          </p:nvSpPr>
          <p:spPr>
            <a:xfrm>
              <a:off x="0" y="0"/>
              <a:ext cx="2802128" cy="677291"/>
            </a:xfrm>
            <a:custGeom>
              <a:avLst/>
              <a:gdLst/>
              <a:ahLst/>
              <a:cxnLst/>
              <a:rect l="l" t="t" r="r" b="b"/>
              <a:pathLst>
                <a:path w="2802128" h="677291" extrusionOk="0">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68" name="Google Shape;568;p12"/>
            <p:cNvSpPr txBox="1"/>
            <p:nvPr/>
          </p:nvSpPr>
          <p:spPr>
            <a:xfrm>
              <a:off x="0" y="-28575"/>
              <a:ext cx="2802135" cy="705837"/>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Outline: black, ½ pt.</a:t>
              </a:r>
              <a:endParaRPr sz="1688"/>
            </a:p>
          </p:txBody>
        </p:sp>
      </p:grpSp>
      <p:grpSp>
        <p:nvGrpSpPr>
          <p:cNvPr id="569" name="Google Shape;569;p12"/>
          <p:cNvGrpSpPr/>
          <p:nvPr/>
        </p:nvGrpSpPr>
        <p:grpSpPr>
          <a:xfrm>
            <a:off x="-2186151" y="3363382"/>
            <a:ext cx="1957566" cy="486436"/>
            <a:chOff x="0" y="-28575"/>
            <a:chExt cx="2784094" cy="691820"/>
          </a:xfrm>
        </p:grpSpPr>
        <p:sp>
          <p:nvSpPr>
            <p:cNvPr id="570" name="Google Shape;570;p12"/>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CCD1D7"/>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71" name="Google Shape;571;p12"/>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204 – 209 – 215</a:t>
              </a:r>
              <a:endParaRPr sz="1688"/>
            </a:p>
          </p:txBody>
        </p:sp>
      </p:grpSp>
      <p:grpSp>
        <p:nvGrpSpPr>
          <p:cNvPr id="572" name="Google Shape;572;p12"/>
          <p:cNvGrpSpPr/>
          <p:nvPr/>
        </p:nvGrpSpPr>
        <p:grpSpPr>
          <a:xfrm>
            <a:off x="-2186151" y="4089757"/>
            <a:ext cx="1957566" cy="486436"/>
            <a:chOff x="0" y="-28575"/>
            <a:chExt cx="2784094" cy="691820"/>
          </a:xfrm>
        </p:grpSpPr>
        <p:sp>
          <p:nvSpPr>
            <p:cNvPr id="573" name="Google Shape;573;p12"/>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485059"/>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74" name="Google Shape;574;p12"/>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72 – 80 – 89 </a:t>
              </a:r>
              <a:endParaRPr sz="1688"/>
            </a:p>
          </p:txBody>
        </p:sp>
      </p:grpSp>
      <p:grpSp>
        <p:nvGrpSpPr>
          <p:cNvPr id="575" name="Google Shape;575;p12"/>
          <p:cNvGrpSpPr/>
          <p:nvPr/>
        </p:nvGrpSpPr>
        <p:grpSpPr>
          <a:xfrm>
            <a:off x="-2186151" y="4816132"/>
            <a:ext cx="1957566" cy="486436"/>
            <a:chOff x="0" y="-28575"/>
            <a:chExt cx="2784094" cy="691820"/>
          </a:xfrm>
        </p:grpSpPr>
        <p:sp>
          <p:nvSpPr>
            <p:cNvPr id="576" name="Google Shape;576;p12"/>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5E7C9E"/>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77" name="Google Shape;577;p12"/>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94 – 124 – 158</a:t>
              </a:r>
              <a:endParaRPr sz="1688"/>
            </a:p>
          </p:txBody>
        </p:sp>
      </p:grpSp>
      <p:grpSp>
        <p:nvGrpSpPr>
          <p:cNvPr id="578" name="Google Shape;578;p12"/>
          <p:cNvGrpSpPr/>
          <p:nvPr/>
        </p:nvGrpSpPr>
        <p:grpSpPr>
          <a:xfrm>
            <a:off x="-2186151" y="5542509"/>
            <a:ext cx="1957566" cy="486436"/>
            <a:chOff x="0" y="-28575"/>
            <a:chExt cx="2784094" cy="691820"/>
          </a:xfrm>
        </p:grpSpPr>
        <p:sp>
          <p:nvSpPr>
            <p:cNvPr id="579" name="Google Shape;579;p12"/>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80" name="Google Shape;580;p12"/>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17 – 61 – 99</a:t>
              </a:r>
              <a:endParaRPr sz="1688"/>
            </a:p>
          </p:txBody>
        </p:sp>
      </p:grpSp>
      <p:grpSp>
        <p:nvGrpSpPr>
          <p:cNvPr id="581" name="Google Shape;581;p12"/>
          <p:cNvGrpSpPr/>
          <p:nvPr/>
        </p:nvGrpSpPr>
        <p:grpSpPr>
          <a:xfrm>
            <a:off x="-2186151" y="1916319"/>
            <a:ext cx="1957566" cy="483632"/>
            <a:chOff x="0" y="-28575"/>
            <a:chExt cx="2784094" cy="687832"/>
          </a:xfrm>
        </p:grpSpPr>
        <p:sp>
          <p:nvSpPr>
            <p:cNvPr id="582" name="Google Shape;582;p12"/>
            <p:cNvSpPr/>
            <p:nvPr/>
          </p:nvSpPr>
          <p:spPr>
            <a:xfrm>
              <a:off x="0" y="0"/>
              <a:ext cx="2784094" cy="659257"/>
            </a:xfrm>
            <a:custGeom>
              <a:avLst/>
              <a:gdLst/>
              <a:ahLst/>
              <a:cxnLst/>
              <a:rect l="l" t="t" r="r" b="b"/>
              <a:pathLst>
                <a:path w="2784094" h="659257" extrusionOk="0">
                  <a:moveTo>
                    <a:pt x="0" y="0"/>
                  </a:moveTo>
                  <a:lnTo>
                    <a:pt x="2784094" y="0"/>
                  </a:lnTo>
                  <a:lnTo>
                    <a:pt x="2784094" y="659257"/>
                  </a:lnTo>
                  <a:lnTo>
                    <a:pt x="0" y="659257"/>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83" name="Google Shape;583;p12"/>
            <p:cNvSpPr txBox="1"/>
            <p:nvPr/>
          </p:nvSpPr>
          <p:spPr>
            <a:xfrm>
              <a:off x="0" y="-28575"/>
              <a:ext cx="2784073" cy="687775"/>
            </a:xfrm>
            <a:prstGeom prst="rect">
              <a:avLst/>
            </a:prstGeom>
            <a:noFill/>
            <a:ln>
              <a:noFill/>
            </a:ln>
          </p:spPr>
          <p:txBody>
            <a:bodyPr spcFirstLastPara="1" wrap="square" lIns="47625" tIns="47625" rIns="47625" bIns="47625" anchor="ctr" anchorCtr="0">
              <a:noAutofit/>
            </a:bodyPr>
            <a:lstStyle/>
            <a:p>
              <a:pPr marL="154432" lvl="1" indent="-76140">
                <a:lnSpc>
                  <a:spcPct val="120015"/>
                </a:lnSpc>
                <a:buClr>
                  <a:srgbClr val="FFFFFF"/>
                </a:buClr>
                <a:buSzPts val="1279"/>
                <a:buFont typeface="Arial"/>
                <a:buChar char="•"/>
              </a:pPr>
              <a:r>
                <a:rPr lang="en-US" sz="1199">
                  <a:solidFill>
                    <a:srgbClr val="FFFFFF"/>
                  </a:solidFill>
                  <a:latin typeface="Arial"/>
                  <a:ea typeface="Arial"/>
                  <a:cs typeface="Arial"/>
                  <a:sym typeface="Arial"/>
                </a:rPr>
                <a:t>Normal shapes w/ text</a:t>
              </a:r>
              <a:endParaRPr sz="1688"/>
            </a:p>
          </p:txBody>
        </p:sp>
      </p:grpSp>
      <p:sp>
        <p:nvSpPr>
          <p:cNvPr id="584" name="Google Shape;584;p12"/>
          <p:cNvSpPr txBox="1"/>
          <p:nvPr/>
        </p:nvSpPr>
        <p:spPr>
          <a:xfrm>
            <a:off x="239485" y="6382553"/>
            <a:ext cx="3537857" cy="332399"/>
          </a:xfrm>
          <a:prstGeom prst="rect">
            <a:avLst/>
          </a:prstGeom>
          <a:noFill/>
          <a:ln>
            <a:noFill/>
          </a:ln>
        </p:spPr>
        <p:txBody>
          <a:bodyPr spcFirstLastPara="1" wrap="square" lIns="0" tIns="0" rIns="0" bIns="0" anchor="t" anchorCtr="0">
            <a:spAutoFit/>
          </a:bodyPr>
          <a:lstStyle/>
          <a:p>
            <a:pPr>
              <a:lnSpc>
                <a:spcPct val="120000"/>
              </a:lnSpc>
            </a:pPr>
            <a:r>
              <a:rPr lang="en-US">
                <a:solidFill>
                  <a:srgbClr val="2A90BC"/>
                </a:solidFill>
                <a:latin typeface="Arimo"/>
                <a:ea typeface="Arimo"/>
                <a:cs typeface="Arimo"/>
                <a:sym typeface="Arimo"/>
              </a:rPr>
              <a:t>ESSEC Capital Investments Club</a:t>
            </a:r>
            <a:endParaRPr sz="1688"/>
          </a:p>
        </p:txBody>
      </p:sp>
      <p:cxnSp>
        <p:nvCxnSpPr>
          <p:cNvPr id="585" name="Google Shape;585;p12"/>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586" name="Google Shape;586;p12"/>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cxnSp>
        <p:nvCxnSpPr>
          <p:cNvPr id="587" name="Google Shape;587;p12"/>
          <p:cNvCxnSpPr/>
          <p:nvPr/>
        </p:nvCxnSpPr>
        <p:spPr>
          <a:xfrm rot="8930">
            <a:off x="-11128" y="6240264"/>
            <a:ext cx="9166256" cy="0"/>
          </a:xfrm>
          <a:prstGeom prst="straightConnector1">
            <a:avLst/>
          </a:prstGeom>
          <a:noFill/>
          <a:ln w="19050" cap="rnd" cmpd="sng">
            <a:solidFill>
              <a:srgbClr val="39598F"/>
            </a:solidFill>
            <a:prstDash val="solid"/>
            <a:round/>
            <a:headEnd type="none" w="sm" len="sm"/>
            <a:tailEnd type="none" w="sm" len="sm"/>
          </a:ln>
        </p:spPr>
      </p:cxnSp>
      <p:sp>
        <p:nvSpPr>
          <p:cNvPr id="588" name="Google Shape;588;p12"/>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9" b="-138"/>
            </a:stretch>
          </a:blip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89" name="Google Shape;589;p12"/>
          <p:cNvSpPr txBox="1"/>
          <p:nvPr/>
        </p:nvSpPr>
        <p:spPr>
          <a:xfrm>
            <a:off x="64294" y="455032"/>
            <a:ext cx="3985673" cy="398764"/>
          </a:xfrm>
          <a:prstGeom prst="rect">
            <a:avLst/>
          </a:prstGeom>
          <a:noFill/>
          <a:ln>
            <a:noFill/>
          </a:ln>
        </p:spPr>
        <p:txBody>
          <a:bodyPr spcFirstLastPara="1" wrap="square" lIns="0" tIns="0" rIns="0" bIns="0" anchor="t" anchorCtr="0">
            <a:spAutoFit/>
          </a:bodyPr>
          <a:lstStyle/>
          <a:p>
            <a:pPr>
              <a:lnSpc>
                <a:spcPct val="108010"/>
              </a:lnSpc>
            </a:pPr>
            <a:r>
              <a:rPr lang="en-US" sz="2399">
                <a:solidFill>
                  <a:srgbClr val="333F44"/>
                </a:solidFill>
                <a:latin typeface="Open Sans Light"/>
                <a:ea typeface="Open Sans Light"/>
                <a:cs typeface="Open Sans Light"/>
                <a:sym typeface="Open Sans Light"/>
              </a:rPr>
              <a:t>Investment Thesis</a:t>
            </a:r>
            <a:endParaRPr sz="1688"/>
          </a:p>
        </p:txBody>
      </p:sp>
      <p:grpSp>
        <p:nvGrpSpPr>
          <p:cNvPr id="590" name="Google Shape;590;p12"/>
          <p:cNvGrpSpPr/>
          <p:nvPr/>
        </p:nvGrpSpPr>
        <p:grpSpPr>
          <a:xfrm>
            <a:off x="544516" y="1296628"/>
            <a:ext cx="1764416" cy="4640045"/>
            <a:chOff x="0" y="0"/>
            <a:chExt cx="2509393" cy="6599174"/>
          </a:xfrm>
        </p:grpSpPr>
        <p:sp>
          <p:nvSpPr>
            <p:cNvPr id="591" name="Google Shape;591;p12"/>
            <p:cNvSpPr/>
            <p:nvPr/>
          </p:nvSpPr>
          <p:spPr>
            <a:xfrm>
              <a:off x="4572" y="4572"/>
              <a:ext cx="2500249" cy="6590030"/>
            </a:xfrm>
            <a:custGeom>
              <a:avLst/>
              <a:gdLst/>
              <a:ahLst/>
              <a:cxnLst/>
              <a:rect l="l" t="t" r="r" b="b"/>
              <a:pathLst>
                <a:path w="2500249" h="6590030" extrusionOk="0">
                  <a:moveTo>
                    <a:pt x="0" y="0"/>
                  </a:moveTo>
                  <a:lnTo>
                    <a:pt x="2500249" y="0"/>
                  </a:lnTo>
                  <a:lnTo>
                    <a:pt x="2500249" y="6590030"/>
                  </a:lnTo>
                  <a:lnTo>
                    <a:pt x="0" y="6590030"/>
                  </a:lnTo>
                  <a:close/>
                </a:path>
              </a:pathLst>
            </a:custGeom>
            <a:solidFill>
              <a:srgbClr val="1F497D"/>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92" name="Google Shape;592;p12"/>
            <p:cNvSpPr/>
            <p:nvPr/>
          </p:nvSpPr>
          <p:spPr>
            <a:xfrm>
              <a:off x="0" y="0"/>
              <a:ext cx="2509393" cy="6599174"/>
            </a:xfrm>
            <a:custGeom>
              <a:avLst/>
              <a:gdLst/>
              <a:ahLst/>
              <a:cxnLst/>
              <a:rect l="l" t="t" r="r" b="b"/>
              <a:pathLst>
                <a:path w="2509393" h="6599174" extrusionOk="0">
                  <a:moveTo>
                    <a:pt x="4572" y="0"/>
                  </a:moveTo>
                  <a:lnTo>
                    <a:pt x="2504821" y="0"/>
                  </a:lnTo>
                  <a:cubicBezTo>
                    <a:pt x="2507361" y="0"/>
                    <a:pt x="2509393" y="2032"/>
                    <a:pt x="2509393" y="4572"/>
                  </a:cubicBezTo>
                  <a:lnTo>
                    <a:pt x="2509393" y="6594602"/>
                  </a:lnTo>
                  <a:cubicBezTo>
                    <a:pt x="2509393" y="6597142"/>
                    <a:pt x="2507361" y="6599174"/>
                    <a:pt x="2504821" y="6599174"/>
                  </a:cubicBezTo>
                  <a:lnTo>
                    <a:pt x="4572" y="6599174"/>
                  </a:lnTo>
                  <a:cubicBezTo>
                    <a:pt x="2032" y="6599174"/>
                    <a:pt x="0" y="6597142"/>
                    <a:pt x="0" y="6594602"/>
                  </a:cubicBezTo>
                  <a:lnTo>
                    <a:pt x="0" y="4572"/>
                  </a:lnTo>
                  <a:cubicBezTo>
                    <a:pt x="0" y="2032"/>
                    <a:pt x="2032" y="0"/>
                    <a:pt x="4572" y="0"/>
                  </a:cubicBezTo>
                  <a:moveTo>
                    <a:pt x="4572" y="9017"/>
                  </a:moveTo>
                  <a:lnTo>
                    <a:pt x="4572" y="4572"/>
                  </a:lnTo>
                  <a:lnTo>
                    <a:pt x="9017" y="4572"/>
                  </a:lnTo>
                  <a:lnTo>
                    <a:pt x="9017" y="6594602"/>
                  </a:lnTo>
                  <a:lnTo>
                    <a:pt x="4572" y="6594602"/>
                  </a:lnTo>
                  <a:lnTo>
                    <a:pt x="4572" y="6590030"/>
                  </a:lnTo>
                  <a:lnTo>
                    <a:pt x="2504821" y="6590030"/>
                  </a:lnTo>
                  <a:lnTo>
                    <a:pt x="2504821" y="6594602"/>
                  </a:lnTo>
                  <a:lnTo>
                    <a:pt x="2500249" y="6594602"/>
                  </a:lnTo>
                  <a:lnTo>
                    <a:pt x="2500249" y="4572"/>
                  </a:lnTo>
                  <a:lnTo>
                    <a:pt x="2504821" y="4572"/>
                  </a:lnTo>
                  <a:lnTo>
                    <a:pt x="2504821" y="9017"/>
                  </a:lnTo>
                  <a:lnTo>
                    <a:pt x="4572" y="9017"/>
                  </a:lnTo>
                  <a:close/>
                </a:path>
              </a:pathLst>
            </a:custGeom>
            <a:solidFill>
              <a:srgbClr val="1F497D"/>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grpSp>
      <p:grpSp>
        <p:nvGrpSpPr>
          <p:cNvPr id="593" name="Google Shape;593;p12"/>
          <p:cNvGrpSpPr/>
          <p:nvPr/>
        </p:nvGrpSpPr>
        <p:grpSpPr>
          <a:xfrm>
            <a:off x="775607" y="1489296"/>
            <a:ext cx="2358599" cy="1131221"/>
            <a:chOff x="0" y="-38100"/>
            <a:chExt cx="3354451" cy="1608848"/>
          </a:xfrm>
        </p:grpSpPr>
        <p:sp>
          <p:nvSpPr>
            <p:cNvPr id="594" name="Google Shape;594;p12"/>
            <p:cNvSpPr/>
            <p:nvPr/>
          </p:nvSpPr>
          <p:spPr>
            <a:xfrm>
              <a:off x="0" y="0"/>
              <a:ext cx="3354451" cy="1570736"/>
            </a:xfrm>
            <a:custGeom>
              <a:avLst/>
              <a:gdLst/>
              <a:ahLst/>
              <a:cxnLst/>
              <a:rect l="l" t="t" r="r" b="b"/>
              <a:pathLst>
                <a:path w="3354451" h="1570736" extrusionOk="0">
                  <a:moveTo>
                    <a:pt x="0" y="0"/>
                  </a:moveTo>
                  <a:lnTo>
                    <a:pt x="3354451" y="0"/>
                  </a:lnTo>
                  <a:lnTo>
                    <a:pt x="3354451" y="1570736"/>
                  </a:lnTo>
                  <a:lnTo>
                    <a:pt x="0" y="1570736"/>
                  </a:lnTo>
                  <a:close/>
                </a:path>
              </a:pathLst>
            </a:custGeom>
            <a:solidFill>
              <a:srgbClr val="FFFFF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95" name="Google Shape;595;p12"/>
            <p:cNvSpPr txBox="1"/>
            <p:nvPr/>
          </p:nvSpPr>
          <p:spPr>
            <a:xfrm>
              <a:off x="0" y="-38100"/>
              <a:ext cx="3354409" cy="1608848"/>
            </a:xfrm>
            <a:prstGeom prst="rect">
              <a:avLst/>
            </a:prstGeom>
            <a:noFill/>
            <a:ln>
              <a:noFill/>
            </a:ln>
          </p:spPr>
          <p:txBody>
            <a:bodyPr spcFirstLastPara="1" wrap="square" lIns="47625" tIns="47625" rIns="47625" bIns="47625" anchor="ctr" anchorCtr="0">
              <a:noAutofit/>
            </a:bodyPr>
            <a:lstStyle/>
            <a:p>
              <a:pPr algn="ctr">
                <a:lnSpc>
                  <a:spcPct val="120046"/>
                </a:lnSpc>
              </a:pPr>
              <a:r>
                <a:rPr lang="en-US" sz="1599" b="1" dirty="0">
                  <a:solidFill>
                    <a:srgbClr val="000000"/>
                  </a:solidFill>
                  <a:latin typeface="Arial"/>
                  <a:ea typeface="Arial"/>
                  <a:cs typeface="Arial"/>
                  <a:sym typeface="Arial"/>
                </a:rPr>
                <a:t>Operational Excellence and Margin Leverage (ADVANCE Plan)</a:t>
              </a:r>
              <a:endParaRPr sz="1688" b="1" dirty="0"/>
            </a:p>
          </p:txBody>
        </p:sp>
      </p:grpSp>
      <p:grpSp>
        <p:nvGrpSpPr>
          <p:cNvPr id="596" name="Google Shape;596;p12"/>
          <p:cNvGrpSpPr/>
          <p:nvPr/>
        </p:nvGrpSpPr>
        <p:grpSpPr>
          <a:xfrm>
            <a:off x="3404053" y="1351978"/>
            <a:ext cx="5238780" cy="1412588"/>
            <a:chOff x="0" y="-28575"/>
            <a:chExt cx="7450709" cy="2009013"/>
          </a:xfrm>
        </p:grpSpPr>
        <p:sp>
          <p:nvSpPr>
            <p:cNvPr id="597" name="Google Shape;597;p12"/>
            <p:cNvSpPr/>
            <p:nvPr/>
          </p:nvSpPr>
          <p:spPr>
            <a:xfrm>
              <a:off x="4572" y="4572"/>
              <a:ext cx="7441565" cy="1971294"/>
            </a:xfrm>
            <a:custGeom>
              <a:avLst/>
              <a:gdLst/>
              <a:ahLst/>
              <a:cxnLst/>
              <a:rect l="l" t="t" r="r" b="b"/>
              <a:pathLst>
                <a:path w="7441565" h="1971294" extrusionOk="0">
                  <a:moveTo>
                    <a:pt x="0" y="0"/>
                  </a:moveTo>
                  <a:lnTo>
                    <a:pt x="7441565" y="0"/>
                  </a:lnTo>
                  <a:lnTo>
                    <a:pt x="7441565" y="1971294"/>
                  </a:lnTo>
                  <a:lnTo>
                    <a:pt x="0" y="1971294"/>
                  </a:lnTo>
                  <a:close/>
                </a:path>
              </a:pathLst>
            </a:custGeom>
            <a:solidFill>
              <a:srgbClr val="D9D9D9"/>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98" name="Google Shape;598;p12"/>
            <p:cNvSpPr/>
            <p:nvPr/>
          </p:nvSpPr>
          <p:spPr>
            <a:xfrm>
              <a:off x="0" y="0"/>
              <a:ext cx="7450709" cy="1980438"/>
            </a:xfrm>
            <a:custGeom>
              <a:avLst/>
              <a:gdLst/>
              <a:ahLst/>
              <a:cxnLst/>
              <a:rect l="l" t="t" r="r" b="b"/>
              <a:pathLst>
                <a:path w="7450709" h="1980438" extrusionOk="0">
                  <a:moveTo>
                    <a:pt x="4572" y="0"/>
                  </a:moveTo>
                  <a:lnTo>
                    <a:pt x="7446137" y="0"/>
                  </a:lnTo>
                  <a:cubicBezTo>
                    <a:pt x="7448677" y="0"/>
                    <a:pt x="7450709" y="2032"/>
                    <a:pt x="7450709" y="4572"/>
                  </a:cubicBezTo>
                  <a:lnTo>
                    <a:pt x="7450709" y="1975866"/>
                  </a:lnTo>
                  <a:cubicBezTo>
                    <a:pt x="7450709" y="1978406"/>
                    <a:pt x="7448677" y="1980438"/>
                    <a:pt x="7446137" y="1980438"/>
                  </a:cubicBezTo>
                  <a:lnTo>
                    <a:pt x="4572" y="1980438"/>
                  </a:lnTo>
                  <a:cubicBezTo>
                    <a:pt x="2032" y="1980438"/>
                    <a:pt x="0" y="1978406"/>
                    <a:pt x="0" y="1975866"/>
                  </a:cubicBezTo>
                  <a:lnTo>
                    <a:pt x="0" y="4572"/>
                  </a:lnTo>
                  <a:cubicBezTo>
                    <a:pt x="0" y="2032"/>
                    <a:pt x="2032" y="0"/>
                    <a:pt x="4572" y="0"/>
                  </a:cubicBezTo>
                  <a:moveTo>
                    <a:pt x="4572" y="9017"/>
                  </a:moveTo>
                  <a:lnTo>
                    <a:pt x="4572" y="4572"/>
                  </a:lnTo>
                  <a:lnTo>
                    <a:pt x="9017" y="4572"/>
                  </a:lnTo>
                  <a:lnTo>
                    <a:pt x="9017" y="1975866"/>
                  </a:lnTo>
                  <a:lnTo>
                    <a:pt x="4572" y="1975866"/>
                  </a:lnTo>
                  <a:lnTo>
                    <a:pt x="4572" y="1971294"/>
                  </a:lnTo>
                  <a:lnTo>
                    <a:pt x="7446137" y="1971294"/>
                  </a:lnTo>
                  <a:lnTo>
                    <a:pt x="7446137" y="1975866"/>
                  </a:lnTo>
                  <a:lnTo>
                    <a:pt x="7441565" y="1975866"/>
                  </a:lnTo>
                  <a:lnTo>
                    <a:pt x="7441565" y="4572"/>
                  </a:lnTo>
                  <a:lnTo>
                    <a:pt x="7446137" y="4572"/>
                  </a:lnTo>
                  <a:lnTo>
                    <a:pt x="7446137" y="9017"/>
                  </a:lnTo>
                  <a:lnTo>
                    <a:pt x="4572" y="9017"/>
                  </a:lnTo>
                  <a:close/>
                </a:path>
              </a:pathLst>
            </a:custGeom>
            <a:solidFill>
              <a:srgbClr val="000000"/>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99" name="Google Shape;599;p12"/>
            <p:cNvSpPr txBox="1"/>
            <p:nvPr/>
          </p:nvSpPr>
          <p:spPr>
            <a:xfrm>
              <a:off x="0" y="-28575"/>
              <a:ext cx="7450665" cy="2008967"/>
            </a:xfrm>
            <a:prstGeom prst="rect">
              <a:avLst/>
            </a:prstGeom>
            <a:noFill/>
            <a:ln>
              <a:noFill/>
            </a:ln>
          </p:spPr>
          <p:txBody>
            <a:bodyPr spcFirstLastPara="1" wrap="square" lIns="47625" tIns="47625" rIns="47625" bIns="47625" anchor="ctr" anchorCtr="0">
              <a:noAutofit/>
            </a:bodyPr>
            <a:lstStyle/>
            <a:p>
              <a:pPr marL="267891" indent="-267891">
                <a:buClr>
                  <a:srgbClr val="000000"/>
                </a:buClr>
                <a:buSzPts val="1280"/>
                <a:buFont typeface="Arial"/>
                <a:buChar char="•"/>
              </a:pPr>
              <a:r>
                <a:rPr lang="en-US" sz="1100" dirty="0">
                  <a:solidFill>
                    <a:srgbClr val="000000"/>
                  </a:solidFill>
                  <a:latin typeface="Arial"/>
                  <a:ea typeface="Arial"/>
                  <a:cs typeface="Arial"/>
                  <a:sym typeface="Arial"/>
                </a:rPr>
                <a:t>While the market focuses on volumes, Air Liquide is optimizing its profitability through its ADVANCE strategic plan. The digitization of control centers and the energy efficiency of air separation units are driving an expansion of the operating margin (targeted at +200 bps for 2025–2026). </a:t>
              </a:r>
            </a:p>
            <a:p>
              <a:pPr marL="267891" indent="-267891">
                <a:buClr>
                  <a:srgbClr val="000000"/>
                </a:buClr>
                <a:buSzPts val="1280"/>
                <a:buFont typeface="Arial"/>
                <a:buChar char="•"/>
              </a:pPr>
              <a:r>
                <a:rPr lang="en-US" sz="1100" dirty="0">
                  <a:solidFill>
                    <a:srgbClr val="000000"/>
                  </a:solidFill>
                  <a:latin typeface="Arial"/>
                  <a:ea typeface="Arial"/>
                  <a:cs typeface="Arial"/>
                  <a:sym typeface="Arial"/>
                </a:rPr>
                <a:t>This rigorous management, combined with a dividend and bonus share distribution policy that has been uninterrupted for 30 years, creates a positive risk asymmetry for long-term investors.</a:t>
              </a:r>
              <a:endParaRPr sz="1600" dirty="0"/>
            </a:p>
          </p:txBody>
        </p:sp>
      </p:grpSp>
      <p:grpSp>
        <p:nvGrpSpPr>
          <p:cNvPr id="600" name="Google Shape;600;p12"/>
          <p:cNvGrpSpPr/>
          <p:nvPr/>
        </p:nvGrpSpPr>
        <p:grpSpPr>
          <a:xfrm>
            <a:off x="811890" y="3052327"/>
            <a:ext cx="2440169" cy="1134785"/>
            <a:chOff x="-1" y="-38100"/>
            <a:chExt cx="3470463" cy="1613917"/>
          </a:xfrm>
        </p:grpSpPr>
        <p:sp>
          <p:nvSpPr>
            <p:cNvPr id="601" name="Google Shape;601;p12"/>
            <p:cNvSpPr/>
            <p:nvPr/>
          </p:nvSpPr>
          <p:spPr>
            <a:xfrm>
              <a:off x="0" y="0"/>
              <a:ext cx="3393059" cy="1575816"/>
            </a:xfrm>
            <a:custGeom>
              <a:avLst/>
              <a:gdLst/>
              <a:ahLst/>
              <a:cxnLst/>
              <a:rect l="l" t="t" r="r" b="b"/>
              <a:pathLst>
                <a:path w="3393059" h="1575816" extrusionOk="0">
                  <a:moveTo>
                    <a:pt x="0" y="0"/>
                  </a:moveTo>
                  <a:lnTo>
                    <a:pt x="3393059" y="0"/>
                  </a:lnTo>
                  <a:lnTo>
                    <a:pt x="3393059" y="1575816"/>
                  </a:lnTo>
                  <a:lnTo>
                    <a:pt x="0" y="1575816"/>
                  </a:lnTo>
                  <a:close/>
                </a:path>
              </a:pathLst>
            </a:custGeom>
            <a:solidFill>
              <a:srgbClr val="FFFFF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02" name="Google Shape;602;p12"/>
            <p:cNvSpPr txBox="1"/>
            <p:nvPr/>
          </p:nvSpPr>
          <p:spPr>
            <a:xfrm>
              <a:off x="-1" y="-38100"/>
              <a:ext cx="3470463" cy="1613917"/>
            </a:xfrm>
            <a:prstGeom prst="rect">
              <a:avLst/>
            </a:prstGeom>
            <a:noFill/>
            <a:ln>
              <a:noFill/>
            </a:ln>
          </p:spPr>
          <p:txBody>
            <a:bodyPr spcFirstLastPara="1" wrap="square" lIns="47625" tIns="47625" rIns="47625" bIns="47625" anchor="ctr" anchorCtr="0">
              <a:noAutofit/>
            </a:bodyPr>
            <a:lstStyle/>
            <a:p>
              <a:pPr algn="ctr">
                <a:lnSpc>
                  <a:spcPct val="113777"/>
                </a:lnSpc>
              </a:pPr>
              <a:r>
                <a:rPr lang="en-US" b="1" dirty="0"/>
                <a:t>Driving the Energy transition (“Hydrogen-Native” strategy)</a:t>
              </a:r>
              <a:endParaRPr sz="1599" b="1" dirty="0">
                <a:solidFill>
                  <a:srgbClr val="000000"/>
                </a:solidFill>
                <a:latin typeface="Arial"/>
                <a:ea typeface="Arial"/>
                <a:cs typeface="Arial"/>
                <a:sym typeface="Arial"/>
              </a:endParaRPr>
            </a:p>
          </p:txBody>
        </p:sp>
      </p:grpSp>
      <p:grpSp>
        <p:nvGrpSpPr>
          <p:cNvPr id="603" name="Google Shape;603;p12"/>
          <p:cNvGrpSpPr/>
          <p:nvPr/>
        </p:nvGrpSpPr>
        <p:grpSpPr>
          <a:xfrm>
            <a:off x="3409202" y="4597013"/>
            <a:ext cx="5247888" cy="1367225"/>
            <a:chOff x="0" y="-28575"/>
            <a:chExt cx="7463663" cy="1944497"/>
          </a:xfrm>
        </p:grpSpPr>
        <p:sp>
          <p:nvSpPr>
            <p:cNvPr id="604" name="Google Shape;604;p12"/>
            <p:cNvSpPr/>
            <p:nvPr/>
          </p:nvSpPr>
          <p:spPr>
            <a:xfrm>
              <a:off x="4572" y="4572"/>
              <a:ext cx="7454519" cy="1906778"/>
            </a:xfrm>
            <a:custGeom>
              <a:avLst/>
              <a:gdLst/>
              <a:ahLst/>
              <a:cxnLst/>
              <a:rect l="l" t="t" r="r" b="b"/>
              <a:pathLst>
                <a:path w="7454519" h="1906778" extrusionOk="0">
                  <a:moveTo>
                    <a:pt x="0" y="0"/>
                  </a:moveTo>
                  <a:lnTo>
                    <a:pt x="7454519" y="0"/>
                  </a:lnTo>
                  <a:lnTo>
                    <a:pt x="7454519" y="1906778"/>
                  </a:lnTo>
                  <a:lnTo>
                    <a:pt x="0" y="1906778"/>
                  </a:lnTo>
                  <a:close/>
                </a:path>
              </a:pathLst>
            </a:custGeom>
            <a:solidFill>
              <a:srgbClr val="D9D9D9"/>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05" name="Google Shape;605;p12"/>
            <p:cNvSpPr/>
            <p:nvPr/>
          </p:nvSpPr>
          <p:spPr>
            <a:xfrm>
              <a:off x="0" y="0"/>
              <a:ext cx="7463663" cy="1915922"/>
            </a:xfrm>
            <a:custGeom>
              <a:avLst/>
              <a:gdLst/>
              <a:ahLst/>
              <a:cxnLst/>
              <a:rect l="l" t="t" r="r" b="b"/>
              <a:pathLst>
                <a:path w="7463663" h="1915922" extrusionOk="0">
                  <a:moveTo>
                    <a:pt x="4572" y="0"/>
                  </a:moveTo>
                  <a:lnTo>
                    <a:pt x="7459091" y="0"/>
                  </a:lnTo>
                  <a:cubicBezTo>
                    <a:pt x="7461631" y="0"/>
                    <a:pt x="7463663" y="2032"/>
                    <a:pt x="7463663" y="4572"/>
                  </a:cubicBezTo>
                  <a:lnTo>
                    <a:pt x="7463663" y="1911350"/>
                  </a:lnTo>
                  <a:cubicBezTo>
                    <a:pt x="7463663" y="1913890"/>
                    <a:pt x="7461631" y="1915922"/>
                    <a:pt x="7459091" y="1915922"/>
                  </a:cubicBezTo>
                  <a:lnTo>
                    <a:pt x="4572" y="1915922"/>
                  </a:lnTo>
                  <a:cubicBezTo>
                    <a:pt x="2032" y="1915922"/>
                    <a:pt x="0" y="1913890"/>
                    <a:pt x="0" y="1911350"/>
                  </a:cubicBezTo>
                  <a:lnTo>
                    <a:pt x="0" y="4572"/>
                  </a:lnTo>
                  <a:cubicBezTo>
                    <a:pt x="0" y="2032"/>
                    <a:pt x="2032" y="0"/>
                    <a:pt x="4572" y="0"/>
                  </a:cubicBezTo>
                  <a:moveTo>
                    <a:pt x="4572" y="9017"/>
                  </a:moveTo>
                  <a:lnTo>
                    <a:pt x="4572" y="4572"/>
                  </a:lnTo>
                  <a:lnTo>
                    <a:pt x="9017" y="4572"/>
                  </a:lnTo>
                  <a:lnTo>
                    <a:pt x="9017" y="1911350"/>
                  </a:lnTo>
                  <a:lnTo>
                    <a:pt x="4572" y="1911350"/>
                  </a:lnTo>
                  <a:lnTo>
                    <a:pt x="4572" y="1906778"/>
                  </a:lnTo>
                  <a:lnTo>
                    <a:pt x="7459091" y="1906778"/>
                  </a:lnTo>
                  <a:lnTo>
                    <a:pt x="7459091" y="1911350"/>
                  </a:lnTo>
                  <a:lnTo>
                    <a:pt x="7454519" y="1911350"/>
                  </a:lnTo>
                  <a:lnTo>
                    <a:pt x="7454519" y="4572"/>
                  </a:lnTo>
                  <a:lnTo>
                    <a:pt x="7459091" y="4572"/>
                  </a:lnTo>
                  <a:lnTo>
                    <a:pt x="7459091" y="9017"/>
                  </a:lnTo>
                  <a:lnTo>
                    <a:pt x="4572" y="9017"/>
                  </a:lnTo>
                  <a:close/>
                </a:path>
              </a:pathLst>
            </a:custGeom>
            <a:solidFill>
              <a:srgbClr val="000000"/>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06" name="Google Shape;606;p12"/>
            <p:cNvSpPr txBox="1"/>
            <p:nvPr/>
          </p:nvSpPr>
          <p:spPr>
            <a:xfrm>
              <a:off x="0" y="-28575"/>
              <a:ext cx="7463568" cy="1944459"/>
            </a:xfrm>
            <a:prstGeom prst="rect">
              <a:avLst/>
            </a:prstGeom>
            <a:noFill/>
            <a:ln>
              <a:noFill/>
            </a:ln>
          </p:spPr>
          <p:txBody>
            <a:bodyPr spcFirstLastPara="1" wrap="square" lIns="47625" tIns="47625" rIns="47625" bIns="47625" anchor="ctr" anchorCtr="0">
              <a:noAutofit/>
            </a:bodyPr>
            <a:lstStyle/>
            <a:p>
              <a:pPr marL="267891" indent="-267891">
                <a:buClr>
                  <a:srgbClr val="000000"/>
                </a:buClr>
                <a:buSzPts val="1280"/>
                <a:buFont typeface="Arial"/>
                <a:buChar char="•"/>
              </a:pPr>
              <a:r>
                <a:rPr lang="en-US" sz="1100" dirty="0">
                  <a:solidFill>
                    <a:srgbClr val="000000"/>
                  </a:solidFill>
                  <a:latin typeface="Arial"/>
                  <a:ea typeface="Arial"/>
                  <a:cs typeface="Arial"/>
                  <a:sym typeface="Arial"/>
                </a:rPr>
                <a:t>Contrary to fears of an industrial slowdown, the Electronics division benefits from a significant technological barrier to entry. The supply of ultra-pure gases for the manufacture of next-generation semiconductors is driven by global “reshoring” (CHIPS Act, EU Chips Act). </a:t>
              </a:r>
            </a:p>
            <a:p>
              <a:pPr marL="267891" indent="-267891">
                <a:buClr>
                  <a:srgbClr val="000000"/>
                </a:buClr>
                <a:buSzPts val="1280"/>
                <a:buFont typeface="Arial"/>
                <a:buChar char="•"/>
              </a:pPr>
              <a:r>
                <a:rPr lang="en-US" sz="1100" dirty="0">
                  <a:solidFill>
                    <a:srgbClr val="000000"/>
                  </a:solidFill>
                  <a:latin typeface="Arial"/>
                  <a:ea typeface="Arial"/>
                  <a:cs typeface="Arial"/>
                  <a:sym typeface="Arial"/>
                </a:rPr>
                <a:t>The expansion of capacity by strategic clients such as TSMC and Intel should enable the capture of additional market share by 2027, creating a positive decoupling from traditional economic cycles.</a:t>
              </a:r>
              <a:endParaRPr sz="1600" dirty="0"/>
            </a:p>
          </p:txBody>
        </p:sp>
      </p:grpSp>
      <p:grpSp>
        <p:nvGrpSpPr>
          <p:cNvPr id="607" name="Google Shape;607;p12"/>
          <p:cNvGrpSpPr/>
          <p:nvPr/>
        </p:nvGrpSpPr>
        <p:grpSpPr>
          <a:xfrm>
            <a:off x="757462" y="4632528"/>
            <a:ext cx="2494642" cy="1104008"/>
            <a:chOff x="0" y="-38100"/>
            <a:chExt cx="3547935" cy="1570143"/>
          </a:xfrm>
        </p:grpSpPr>
        <p:sp>
          <p:nvSpPr>
            <p:cNvPr id="608" name="Google Shape;608;p12"/>
            <p:cNvSpPr/>
            <p:nvPr/>
          </p:nvSpPr>
          <p:spPr>
            <a:xfrm>
              <a:off x="0" y="0"/>
              <a:ext cx="3547872" cy="1532001"/>
            </a:xfrm>
            <a:custGeom>
              <a:avLst/>
              <a:gdLst/>
              <a:ahLst/>
              <a:cxnLst/>
              <a:rect l="l" t="t" r="r" b="b"/>
              <a:pathLst>
                <a:path w="3547872" h="1532001" extrusionOk="0">
                  <a:moveTo>
                    <a:pt x="0" y="0"/>
                  </a:moveTo>
                  <a:lnTo>
                    <a:pt x="3547872" y="0"/>
                  </a:lnTo>
                  <a:lnTo>
                    <a:pt x="3547872" y="1532001"/>
                  </a:lnTo>
                  <a:lnTo>
                    <a:pt x="0" y="1532001"/>
                  </a:lnTo>
                  <a:close/>
                </a:path>
              </a:pathLst>
            </a:custGeom>
            <a:solidFill>
              <a:srgbClr val="FFFFF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09" name="Google Shape;609;p12"/>
            <p:cNvSpPr txBox="1"/>
            <p:nvPr/>
          </p:nvSpPr>
          <p:spPr>
            <a:xfrm>
              <a:off x="0" y="-38100"/>
              <a:ext cx="3547935" cy="1570143"/>
            </a:xfrm>
            <a:prstGeom prst="rect">
              <a:avLst/>
            </a:prstGeom>
            <a:noFill/>
            <a:ln>
              <a:noFill/>
            </a:ln>
          </p:spPr>
          <p:txBody>
            <a:bodyPr spcFirstLastPara="1" wrap="square" lIns="47625" tIns="47625" rIns="47625" bIns="47625" anchor="ctr" anchorCtr="0">
              <a:noAutofit/>
            </a:bodyPr>
            <a:lstStyle/>
            <a:p>
              <a:pPr algn="ctr">
                <a:lnSpc>
                  <a:spcPct val="120046"/>
                </a:lnSpc>
              </a:pPr>
              <a:r>
                <a:rPr lang="en-US" b="1" dirty="0"/>
                <a:t>Dominance in the High-Tech and Electronics markets</a:t>
              </a:r>
              <a:endParaRPr sz="1688" dirty="0"/>
            </a:p>
          </p:txBody>
        </p:sp>
      </p:grpSp>
      <p:grpSp>
        <p:nvGrpSpPr>
          <p:cNvPr id="610" name="Google Shape;610;p12"/>
          <p:cNvGrpSpPr/>
          <p:nvPr/>
        </p:nvGrpSpPr>
        <p:grpSpPr>
          <a:xfrm>
            <a:off x="3404053" y="2984557"/>
            <a:ext cx="5238780" cy="1412588"/>
            <a:chOff x="0" y="-28575"/>
            <a:chExt cx="7450709" cy="2009013"/>
          </a:xfrm>
        </p:grpSpPr>
        <p:sp>
          <p:nvSpPr>
            <p:cNvPr id="611" name="Google Shape;611;p12"/>
            <p:cNvSpPr/>
            <p:nvPr/>
          </p:nvSpPr>
          <p:spPr>
            <a:xfrm>
              <a:off x="4572" y="4572"/>
              <a:ext cx="7441565" cy="1971294"/>
            </a:xfrm>
            <a:custGeom>
              <a:avLst/>
              <a:gdLst/>
              <a:ahLst/>
              <a:cxnLst/>
              <a:rect l="l" t="t" r="r" b="b"/>
              <a:pathLst>
                <a:path w="7441565" h="1971294" extrusionOk="0">
                  <a:moveTo>
                    <a:pt x="0" y="0"/>
                  </a:moveTo>
                  <a:lnTo>
                    <a:pt x="7441565" y="0"/>
                  </a:lnTo>
                  <a:lnTo>
                    <a:pt x="7441565" y="1971294"/>
                  </a:lnTo>
                  <a:lnTo>
                    <a:pt x="0" y="1971294"/>
                  </a:lnTo>
                  <a:close/>
                </a:path>
              </a:pathLst>
            </a:custGeom>
            <a:solidFill>
              <a:srgbClr val="D9D9D9"/>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12" name="Google Shape;612;p12"/>
            <p:cNvSpPr/>
            <p:nvPr/>
          </p:nvSpPr>
          <p:spPr>
            <a:xfrm>
              <a:off x="0" y="0"/>
              <a:ext cx="7450709" cy="1980438"/>
            </a:xfrm>
            <a:custGeom>
              <a:avLst/>
              <a:gdLst/>
              <a:ahLst/>
              <a:cxnLst/>
              <a:rect l="l" t="t" r="r" b="b"/>
              <a:pathLst>
                <a:path w="7450709" h="1980438" extrusionOk="0">
                  <a:moveTo>
                    <a:pt x="4572" y="0"/>
                  </a:moveTo>
                  <a:lnTo>
                    <a:pt x="7446137" y="0"/>
                  </a:lnTo>
                  <a:cubicBezTo>
                    <a:pt x="7448677" y="0"/>
                    <a:pt x="7450709" y="2032"/>
                    <a:pt x="7450709" y="4572"/>
                  </a:cubicBezTo>
                  <a:lnTo>
                    <a:pt x="7450709" y="1975866"/>
                  </a:lnTo>
                  <a:cubicBezTo>
                    <a:pt x="7450709" y="1978406"/>
                    <a:pt x="7448677" y="1980438"/>
                    <a:pt x="7446137" y="1980438"/>
                  </a:cubicBezTo>
                  <a:lnTo>
                    <a:pt x="4572" y="1980438"/>
                  </a:lnTo>
                  <a:cubicBezTo>
                    <a:pt x="2032" y="1980438"/>
                    <a:pt x="0" y="1978406"/>
                    <a:pt x="0" y="1975866"/>
                  </a:cubicBezTo>
                  <a:lnTo>
                    <a:pt x="0" y="4572"/>
                  </a:lnTo>
                  <a:cubicBezTo>
                    <a:pt x="0" y="2032"/>
                    <a:pt x="2032" y="0"/>
                    <a:pt x="4572" y="0"/>
                  </a:cubicBezTo>
                  <a:moveTo>
                    <a:pt x="4572" y="9017"/>
                  </a:moveTo>
                  <a:lnTo>
                    <a:pt x="4572" y="4572"/>
                  </a:lnTo>
                  <a:lnTo>
                    <a:pt x="9017" y="4572"/>
                  </a:lnTo>
                  <a:lnTo>
                    <a:pt x="9017" y="1975866"/>
                  </a:lnTo>
                  <a:lnTo>
                    <a:pt x="4572" y="1975866"/>
                  </a:lnTo>
                  <a:lnTo>
                    <a:pt x="4572" y="1971294"/>
                  </a:lnTo>
                  <a:lnTo>
                    <a:pt x="7446137" y="1971294"/>
                  </a:lnTo>
                  <a:lnTo>
                    <a:pt x="7446137" y="1975866"/>
                  </a:lnTo>
                  <a:lnTo>
                    <a:pt x="7441565" y="1975866"/>
                  </a:lnTo>
                  <a:lnTo>
                    <a:pt x="7441565" y="4572"/>
                  </a:lnTo>
                  <a:lnTo>
                    <a:pt x="7446137" y="4572"/>
                  </a:lnTo>
                  <a:lnTo>
                    <a:pt x="7446137" y="9017"/>
                  </a:lnTo>
                  <a:lnTo>
                    <a:pt x="4572" y="9017"/>
                  </a:lnTo>
                  <a:close/>
                </a:path>
              </a:pathLst>
            </a:custGeom>
            <a:solidFill>
              <a:srgbClr val="000000"/>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13" name="Google Shape;613;p12"/>
            <p:cNvSpPr txBox="1"/>
            <p:nvPr/>
          </p:nvSpPr>
          <p:spPr>
            <a:xfrm>
              <a:off x="0" y="-28575"/>
              <a:ext cx="7450665" cy="2008967"/>
            </a:xfrm>
            <a:prstGeom prst="rect">
              <a:avLst/>
            </a:prstGeom>
            <a:noFill/>
            <a:ln>
              <a:noFill/>
            </a:ln>
          </p:spPr>
          <p:txBody>
            <a:bodyPr spcFirstLastPara="1" wrap="square" lIns="47625" tIns="47625" rIns="47625" bIns="47625" anchor="ctr" anchorCtr="0">
              <a:noAutofit/>
            </a:bodyPr>
            <a:lstStyle/>
            <a:p>
              <a:pPr marL="267891" indent="-267891">
                <a:buClr>
                  <a:srgbClr val="000000"/>
                </a:buClr>
                <a:buSzPts val="1280"/>
                <a:buFont typeface="Arial"/>
                <a:buChar char="•"/>
              </a:pPr>
              <a:r>
                <a:rPr lang="en-US" sz="1100" dirty="0">
                  <a:solidFill>
                    <a:srgbClr val="000000"/>
                  </a:solidFill>
                  <a:latin typeface="Arial"/>
                  <a:ea typeface="Arial"/>
                  <a:cs typeface="Arial"/>
                  <a:sym typeface="Arial"/>
                </a:rPr>
                <a:t>Air Liquide is no longer just a gas supplier, but a pivotal technology platform for decarbonization. The widespread integration of renewable hydrogen and carbon capture and storage (CCS) solutions enable the group to turn regulatory constraints into growth drivers. </a:t>
              </a:r>
            </a:p>
            <a:p>
              <a:pPr marL="267891" indent="-267891">
                <a:buClr>
                  <a:srgbClr val="000000"/>
                </a:buClr>
                <a:buSzPts val="1280"/>
                <a:buFont typeface="Arial"/>
                <a:buChar char="•"/>
              </a:pPr>
              <a:r>
                <a:rPr lang="en-US" sz="1100" dirty="0">
                  <a:solidFill>
                    <a:srgbClr val="000000"/>
                  </a:solidFill>
                  <a:latin typeface="Arial"/>
                  <a:ea typeface="Arial"/>
                  <a:cs typeface="Arial"/>
                  <a:sym typeface="Arial"/>
                </a:rPr>
                <a:t>With major projects such as </a:t>
              </a:r>
              <a:r>
                <a:rPr lang="en-US" sz="1100" dirty="0" err="1">
                  <a:solidFill>
                    <a:srgbClr val="000000"/>
                  </a:solidFill>
                  <a:latin typeface="Arial"/>
                  <a:ea typeface="Arial"/>
                  <a:cs typeface="Arial"/>
                  <a:sym typeface="Arial"/>
                </a:rPr>
                <a:t>Normand'Hy</a:t>
              </a:r>
              <a:r>
                <a:rPr lang="en-US" sz="1100" dirty="0">
                  <a:solidFill>
                    <a:srgbClr val="000000"/>
                  </a:solidFill>
                  <a:latin typeface="Arial"/>
                  <a:ea typeface="Arial"/>
                  <a:cs typeface="Arial"/>
                  <a:sym typeface="Arial"/>
                </a:rPr>
                <a:t>, the group is securing massive subsidies and exclusive supply contracts, ensuring cash flow visibility for over 15 years.</a:t>
              </a:r>
              <a:endParaRPr sz="1600"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13"/>
          <p:cNvSpPr txBox="1"/>
          <p:nvPr/>
        </p:nvSpPr>
        <p:spPr>
          <a:xfrm>
            <a:off x="-3429000" y="342186"/>
            <a:ext cx="3200400" cy="1107611"/>
          </a:xfrm>
          <a:prstGeom prst="rect">
            <a:avLst/>
          </a:prstGeom>
          <a:noFill/>
          <a:ln>
            <a:noFill/>
          </a:ln>
        </p:spPr>
        <p:txBody>
          <a:bodyPr spcFirstLastPara="1" wrap="square" lIns="0" tIns="0" rIns="0" bIns="0" anchor="t" anchorCtr="0">
            <a:spAutoFit/>
          </a:bodyPr>
          <a:lstStyle/>
          <a:p>
            <a:pPr algn="r">
              <a:lnSpc>
                <a:spcPct val="120007"/>
              </a:lnSpc>
            </a:pPr>
            <a:r>
              <a:rPr lang="en-US" sz="2399" b="1">
                <a:solidFill>
                  <a:srgbClr val="000000"/>
                </a:solidFill>
                <a:latin typeface="Arial"/>
                <a:ea typeface="Arial"/>
                <a:cs typeface="Arial"/>
                <a:sym typeface="Arial"/>
              </a:rPr>
              <a:t>Arial Slide Title – 24</a:t>
            </a:r>
            <a:endParaRPr sz="1688"/>
          </a:p>
          <a:p>
            <a:pPr algn="r">
              <a:lnSpc>
                <a:spcPct val="119959"/>
              </a:lnSpc>
            </a:pPr>
            <a:r>
              <a:rPr lang="en-US" sz="1400">
                <a:solidFill>
                  <a:srgbClr val="000000"/>
                </a:solidFill>
                <a:latin typeface="Arial"/>
                <a:ea typeface="Arial"/>
                <a:cs typeface="Arial"/>
                <a:sym typeface="Arial"/>
              </a:rPr>
              <a:t>Content/Section Title Text – 14</a:t>
            </a:r>
            <a:endParaRPr sz="1688"/>
          </a:p>
          <a:p>
            <a:pPr algn="r">
              <a:lnSpc>
                <a:spcPct val="120015"/>
              </a:lnSpc>
            </a:pPr>
            <a:r>
              <a:rPr lang="en-US" sz="1199">
                <a:solidFill>
                  <a:srgbClr val="000000"/>
                </a:solidFill>
                <a:latin typeface="Arial"/>
                <a:ea typeface="Arial"/>
                <a:cs typeface="Arial"/>
                <a:sym typeface="Arial"/>
              </a:rPr>
              <a:t>Bullet and Subtitle Text – 12</a:t>
            </a:r>
            <a:endParaRPr sz="1688"/>
          </a:p>
          <a:p>
            <a:pPr algn="r">
              <a:lnSpc>
                <a:spcPct val="120075"/>
              </a:lnSpc>
            </a:pPr>
            <a:r>
              <a:rPr lang="en-US" sz="999">
                <a:solidFill>
                  <a:srgbClr val="000000"/>
                </a:solidFill>
                <a:latin typeface="Arial"/>
                <a:ea typeface="Arial"/>
                <a:cs typeface="Arial"/>
                <a:sym typeface="Arial"/>
              </a:rPr>
              <a:t>Chart, Profile, and Currency Text – 10</a:t>
            </a:r>
            <a:endParaRPr sz="1688"/>
          </a:p>
        </p:txBody>
      </p:sp>
      <p:grpSp>
        <p:nvGrpSpPr>
          <p:cNvPr id="619" name="Google Shape;619;p13"/>
          <p:cNvGrpSpPr/>
          <p:nvPr/>
        </p:nvGrpSpPr>
        <p:grpSpPr>
          <a:xfrm>
            <a:off x="-2192501" y="2633500"/>
            <a:ext cx="1970251" cy="496313"/>
            <a:chOff x="0" y="-28575"/>
            <a:chExt cx="2802135" cy="705866"/>
          </a:xfrm>
        </p:grpSpPr>
        <p:sp>
          <p:nvSpPr>
            <p:cNvPr id="620" name="Google Shape;620;p13"/>
            <p:cNvSpPr/>
            <p:nvPr/>
          </p:nvSpPr>
          <p:spPr>
            <a:xfrm>
              <a:off x="0" y="0"/>
              <a:ext cx="2802128" cy="677291"/>
            </a:xfrm>
            <a:custGeom>
              <a:avLst/>
              <a:gdLst/>
              <a:ahLst/>
              <a:cxnLst/>
              <a:rect l="l" t="t" r="r" b="b"/>
              <a:pathLst>
                <a:path w="2802128" h="677291" extrusionOk="0">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21" name="Google Shape;621;p13"/>
            <p:cNvSpPr txBox="1"/>
            <p:nvPr/>
          </p:nvSpPr>
          <p:spPr>
            <a:xfrm>
              <a:off x="0" y="-28575"/>
              <a:ext cx="2802135" cy="705837"/>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Outline: black, ½ pt.</a:t>
              </a:r>
              <a:endParaRPr sz="1688"/>
            </a:p>
          </p:txBody>
        </p:sp>
      </p:grpSp>
      <p:grpSp>
        <p:nvGrpSpPr>
          <p:cNvPr id="622" name="Google Shape;622;p13"/>
          <p:cNvGrpSpPr/>
          <p:nvPr/>
        </p:nvGrpSpPr>
        <p:grpSpPr>
          <a:xfrm>
            <a:off x="-2186151" y="3363382"/>
            <a:ext cx="1957566" cy="486436"/>
            <a:chOff x="0" y="-28575"/>
            <a:chExt cx="2784094" cy="691820"/>
          </a:xfrm>
        </p:grpSpPr>
        <p:sp>
          <p:nvSpPr>
            <p:cNvPr id="623" name="Google Shape;623;p13"/>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CCD1D7"/>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24" name="Google Shape;624;p13"/>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204 – 209 – 215</a:t>
              </a:r>
              <a:endParaRPr sz="1688"/>
            </a:p>
          </p:txBody>
        </p:sp>
      </p:grpSp>
      <p:grpSp>
        <p:nvGrpSpPr>
          <p:cNvPr id="625" name="Google Shape;625;p13"/>
          <p:cNvGrpSpPr/>
          <p:nvPr/>
        </p:nvGrpSpPr>
        <p:grpSpPr>
          <a:xfrm>
            <a:off x="-2186151" y="4089757"/>
            <a:ext cx="1957566" cy="486436"/>
            <a:chOff x="0" y="-28575"/>
            <a:chExt cx="2784094" cy="691820"/>
          </a:xfrm>
        </p:grpSpPr>
        <p:sp>
          <p:nvSpPr>
            <p:cNvPr id="626" name="Google Shape;626;p13"/>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485059"/>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27" name="Google Shape;627;p13"/>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72 – 80 – 89 </a:t>
              </a:r>
              <a:endParaRPr sz="1688"/>
            </a:p>
          </p:txBody>
        </p:sp>
      </p:grpSp>
      <p:grpSp>
        <p:nvGrpSpPr>
          <p:cNvPr id="628" name="Google Shape;628;p13"/>
          <p:cNvGrpSpPr/>
          <p:nvPr/>
        </p:nvGrpSpPr>
        <p:grpSpPr>
          <a:xfrm>
            <a:off x="-2186151" y="4816132"/>
            <a:ext cx="1957566" cy="486436"/>
            <a:chOff x="0" y="-28575"/>
            <a:chExt cx="2784094" cy="691820"/>
          </a:xfrm>
        </p:grpSpPr>
        <p:sp>
          <p:nvSpPr>
            <p:cNvPr id="629" name="Google Shape;629;p13"/>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5E7C9E"/>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30" name="Google Shape;630;p13"/>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94 – 124 – 158</a:t>
              </a:r>
              <a:endParaRPr sz="1688"/>
            </a:p>
          </p:txBody>
        </p:sp>
      </p:grpSp>
      <p:grpSp>
        <p:nvGrpSpPr>
          <p:cNvPr id="631" name="Google Shape;631;p13"/>
          <p:cNvGrpSpPr/>
          <p:nvPr/>
        </p:nvGrpSpPr>
        <p:grpSpPr>
          <a:xfrm>
            <a:off x="-2186151" y="5542509"/>
            <a:ext cx="1957566" cy="486436"/>
            <a:chOff x="0" y="-28575"/>
            <a:chExt cx="2784094" cy="691820"/>
          </a:xfrm>
        </p:grpSpPr>
        <p:sp>
          <p:nvSpPr>
            <p:cNvPr id="632" name="Google Shape;632;p13"/>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33" name="Google Shape;633;p13"/>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17 – 61 – 99</a:t>
              </a:r>
              <a:endParaRPr sz="1688"/>
            </a:p>
          </p:txBody>
        </p:sp>
      </p:grpSp>
      <p:grpSp>
        <p:nvGrpSpPr>
          <p:cNvPr id="634" name="Google Shape;634;p13"/>
          <p:cNvGrpSpPr/>
          <p:nvPr/>
        </p:nvGrpSpPr>
        <p:grpSpPr>
          <a:xfrm>
            <a:off x="-2186151" y="1916319"/>
            <a:ext cx="1957566" cy="483632"/>
            <a:chOff x="0" y="-28575"/>
            <a:chExt cx="2784094" cy="687832"/>
          </a:xfrm>
        </p:grpSpPr>
        <p:sp>
          <p:nvSpPr>
            <p:cNvPr id="635" name="Google Shape;635;p13"/>
            <p:cNvSpPr/>
            <p:nvPr/>
          </p:nvSpPr>
          <p:spPr>
            <a:xfrm>
              <a:off x="0" y="0"/>
              <a:ext cx="2784094" cy="659257"/>
            </a:xfrm>
            <a:custGeom>
              <a:avLst/>
              <a:gdLst/>
              <a:ahLst/>
              <a:cxnLst/>
              <a:rect l="l" t="t" r="r" b="b"/>
              <a:pathLst>
                <a:path w="2784094" h="659257" extrusionOk="0">
                  <a:moveTo>
                    <a:pt x="0" y="0"/>
                  </a:moveTo>
                  <a:lnTo>
                    <a:pt x="2784094" y="0"/>
                  </a:lnTo>
                  <a:lnTo>
                    <a:pt x="2784094" y="659257"/>
                  </a:lnTo>
                  <a:lnTo>
                    <a:pt x="0" y="659257"/>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36" name="Google Shape;636;p13"/>
            <p:cNvSpPr txBox="1"/>
            <p:nvPr/>
          </p:nvSpPr>
          <p:spPr>
            <a:xfrm>
              <a:off x="0" y="-28575"/>
              <a:ext cx="2784073" cy="687775"/>
            </a:xfrm>
            <a:prstGeom prst="rect">
              <a:avLst/>
            </a:prstGeom>
            <a:noFill/>
            <a:ln>
              <a:noFill/>
            </a:ln>
          </p:spPr>
          <p:txBody>
            <a:bodyPr spcFirstLastPara="1" wrap="square" lIns="47625" tIns="47625" rIns="47625" bIns="47625" anchor="ctr" anchorCtr="0">
              <a:noAutofit/>
            </a:bodyPr>
            <a:lstStyle/>
            <a:p>
              <a:pPr marL="154432" lvl="1" indent="-76140">
                <a:lnSpc>
                  <a:spcPct val="120015"/>
                </a:lnSpc>
                <a:buClr>
                  <a:srgbClr val="FFFFFF"/>
                </a:buClr>
                <a:buSzPts val="1279"/>
                <a:buFont typeface="Arial"/>
                <a:buChar char="•"/>
              </a:pPr>
              <a:r>
                <a:rPr lang="en-US" sz="1199">
                  <a:solidFill>
                    <a:srgbClr val="FFFFFF"/>
                  </a:solidFill>
                  <a:latin typeface="Arial"/>
                  <a:ea typeface="Arial"/>
                  <a:cs typeface="Arial"/>
                  <a:sym typeface="Arial"/>
                </a:rPr>
                <a:t>Normal shapes w/ text</a:t>
              </a:r>
              <a:endParaRPr sz="1688"/>
            </a:p>
          </p:txBody>
        </p:sp>
      </p:grpSp>
      <p:sp>
        <p:nvSpPr>
          <p:cNvPr id="637" name="Google Shape;637;p13"/>
          <p:cNvSpPr txBox="1"/>
          <p:nvPr/>
        </p:nvSpPr>
        <p:spPr>
          <a:xfrm>
            <a:off x="239485" y="6382553"/>
            <a:ext cx="3537857" cy="332399"/>
          </a:xfrm>
          <a:prstGeom prst="rect">
            <a:avLst/>
          </a:prstGeom>
          <a:noFill/>
          <a:ln>
            <a:noFill/>
          </a:ln>
        </p:spPr>
        <p:txBody>
          <a:bodyPr spcFirstLastPara="1" wrap="square" lIns="0" tIns="0" rIns="0" bIns="0" anchor="t" anchorCtr="0">
            <a:spAutoFit/>
          </a:bodyPr>
          <a:lstStyle/>
          <a:p>
            <a:pPr>
              <a:lnSpc>
                <a:spcPct val="120000"/>
              </a:lnSpc>
            </a:pPr>
            <a:r>
              <a:rPr lang="en-US">
                <a:solidFill>
                  <a:srgbClr val="2A90BC"/>
                </a:solidFill>
                <a:latin typeface="Arimo"/>
                <a:ea typeface="Arimo"/>
                <a:cs typeface="Arimo"/>
                <a:sym typeface="Arimo"/>
              </a:rPr>
              <a:t>ESSEC Capital Investments Club</a:t>
            </a:r>
            <a:endParaRPr sz="1688"/>
          </a:p>
        </p:txBody>
      </p:sp>
      <p:cxnSp>
        <p:nvCxnSpPr>
          <p:cNvPr id="638" name="Google Shape;638;p13"/>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639" name="Google Shape;639;p13"/>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cxnSp>
        <p:nvCxnSpPr>
          <p:cNvPr id="640" name="Google Shape;640;p13"/>
          <p:cNvCxnSpPr/>
          <p:nvPr/>
        </p:nvCxnSpPr>
        <p:spPr>
          <a:xfrm rot="8930">
            <a:off x="-11128" y="6240264"/>
            <a:ext cx="9166256" cy="0"/>
          </a:xfrm>
          <a:prstGeom prst="straightConnector1">
            <a:avLst/>
          </a:prstGeom>
          <a:noFill/>
          <a:ln w="19050" cap="rnd" cmpd="sng">
            <a:solidFill>
              <a:srgbClr val="39598F"/>
            </a:solidFill>
            <a:prstDash val="solid"/>
            <a:round/>
            <a:headEnd type="none" w="sm" len="sm"/>
            <a:tailEnd type="none" w="sm" len="sm"/>
          </a:ln>
        </p:spPr>
      </p:cxnSp>
      <p:sp>
        <p:nvSpPr>
          <p:cNvPr id="641" name="Google Shape;641;p13"/>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9" b="-138"/>
            </a:stretch>
          </a:blip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grpSp>
        <p:nvGrpSpPr>
          <p:cNvPr id="642" name="Google Shape;642;p13"/>
          <p:cNvGrpSpPr/>
          <p:nvPr/>
        </p:nvGrpSpPr>
        <p:grpSpPr>
          <a:xfrm>
            <a:off x="3246975" y="2981630"/>
            <a:ext cx="2647741" cy="2580970"/>
            <a:chOff x="3464687" y="2446304"/>
            <a:chExt cx="2824257" cy="2753035"/>
          </a:xfrm>
        </p:grpSpPr>
        <p:grpSp>
          <p:nvGrpSpPr>
            <p:cNvPr id="643" name="Google Shape;643;p13"/>
            <p:cNvGrpSpPr/>
            <p:nvPr/>
          </p:nvGrpSpPr>
          <p:grpSpPr>
            <a:xfrm>
              <a:off x="3464687" y="2448986"/>
              <a:ext cx="2824257" cy="339661"/>
              <a:chOff x="-1524" y="-1524"/>
              <a:chExt cx="3765677" cy="452882"/>
            </a:xfrm>
          </p:grpSpPr>
          <p:sp>
            <p:nvSpPr>
              <p:cNvPr id="644" name="Google Shape;644;p13"/>
              <p:cNvSpPr/>
              <p:nvPr/>
            </p:nvSpPr>
            <p:spPr>
              <a:xfrm>
                <a:off x="0" y="0"/>
                <a:ext cx="3762629" cy="449834"/>
              </a:xfrm>
              <a:custGeom>
                <a:avLst/>
                <a:gdLst/>
                <a:ahLst/>
                <a:cxnLst/>
                <a:rect l="l" t="t" r="r" b="b"/>
                <a:pathLst>
                  <a:path w="3762629" h="449834" extrusionOk="0">
                    <a:moveTo>
                      <a:pt x="0" y="0"/>
                    </a:moveTo>
                    <a:lnTo>
                      <a:pt x="3762629" y="0"/>
                    </a:lnTo>
                    <a:lnTo>
                      <a:pt x="3762629"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45" name="Google Shape;645;p13"/>
              <p:cNvSpPr/>
              <p:nvPr/>
            </p:nvSpPr>
            <p:spPr>
              <a:xfrm>
                <a:off x="-1524" y="-1524"/>
                <a:ext cx="3765677" cy="452882"/>
              </a:xfrm>
              <a:custGeom>
                <a:avLst/>
                <a:gdLst/>
                <a:ahLst/>
                <a:cxnLst/>
                <a:rect l="l" t="t" r="r" b="b"/>
                <a:pathLst>
                  <a:path w="3765677" h="452882" extrusionOk="0">
                    <a:moveTo>
                      <a:pt x="1524" y="0"/>
                    </a:moveTo>
                    <a:lnTo>
                      <a:pt x="3764153" y="0"/>
                    </a:lnTo>
                    <a:cubicBezTo>
                      <a:pt x="3765042" y="0"/>
                      <a:pt x="3765677" y="762"/>
                      <a:pt x="3765677" y="1524"/>
                    </a:cubicBezTo>
                    <a:lnTo>
                      <a:pt x="3765677" y="451358"/>
                    </a:lnTo>
                    <a:cubicBezTo>
                      <a:pt x="3765677" y="452247"/>
                      <a:pt x="3764915" y="452882"/>
                      <a:pt x="3764153"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764153" y="449834"/>
                    </a:lnTo>
                    <a:lnTo>
                      <a:pt x="3764153" y="451358"/>
                    </a:lnTo>
                    <a:lnTo>
                      <a:pt x="3762629" y="451358"/>
                    </a:lnTo>
                    <a:lnTo>
                      <a:pt x="3762629" y="1524"/>
                    </a:lnTo>
                    <a:lnTo>
                      <a:pt x="3764153" y="1524"/>
                    </a:lnTo>
                    <a:lnTo>
                      <a:pt x="3764153" y="3048"/>
                    </a:lnTo>
                    <a:lnTo>
                      <a:pt x="1524" y="3048"/>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grpSp>
        <p:sp>
          <p:nvSpPr>
            <p:cNvPr id="646" name="Google Shape;646;p13"/>
            <p:cNvSpPr txBox="1"/>
            <p:nvPr/>
          </p:nvSpPr>
          <p:spPr>
            <a:xfrm>
              <a:off x="3551406" y="2446304"/>
              <a:ext cx="115123" cy="295466"/>
            </a:xfrm>
            <a:prstGeom prst="rect">
              <a:avLst/>
            </a:prstGeom>
            <a:noFill/>
            <a:ln>
              <a:noFill/>
            </a:ln>
          </p:spPr>
          <p:txBody>
            <a:bodyPr spcFirstLastPara="1" wrap="square" lIns="0" tIns="0" rIns="0" bIns="0" anchor="t" anchorCtr="0">
              <a:spAutoFit/>
            </a:bodyPr>
            <a:lstStyle/>
            <a:p>
              <a:pPr algn="ctr">
                <a:lnSpc>
                  <a:spcPct val="120000"/>
                </a:lnSpc>
              </a:pPr>
              <a:r>
                <a:rPr lang="en-US" sz="1500" b="1">
                  <a:solidFill>
                    <a:srgbClr val="FFFFFF"/>
                  </a:solidFill>
                  <a:latin typeface="Arial"/>
                  <a:ea typeface="Arial"/>
                  <a:cs typeface="Arial"/>
                  <a:sym typeface="Arial"/>
                </a:rPr>
                <a:t>1</a:t>
              </a:r>
              <a:endParaRPr sz="1688"/>
            </a:p>
          </p:txBody>
        </p:sp>
        <p:grpSp>
          <p:nvGrpSpPr>
            <p:cNvPr id="647" name="Google Shape;647;p13"/>
            <p:cNvGrpSpPr/>
            <p:nvPr/>
          </p:nvGrpSpPr>
          <p:grpSpPr>
            <a:xfrm>
              <a:off x="3482837" y="3364869"/>
              <a:ext cx="339280" cy="365953"/>
              <a:chOff x="0" y="-38100"/>
              <a:chExt cx="452374" cy="487938"/>
            </a:xfrm>
          </p:grpSpPr>
          <p:sp>
            <p:nvSpPr>
              <p:cNvPr id="648" name="Google Shape;648;p13"/>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49" name="Google Shape;649;p13"/>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3</a:t>
                </a:r>
                <a:endParaRPr sz="1688"/>
              </a:p>
            </p:txBody>
          </p:sp>
        </p:grpSp>
        <p:grpSp>
          <p:nvGrpSpPr>
            <p:cNvPr id="650" name="Google Shape;650;p13"/>
            <p:cNvGrpSpPr/>
            <p:nvPr/>
          </p:nvGrpSpPr>
          <p:grpSpPr>
            <a:xfrm>
              <a:off x="3481694" y="3854375"/>
              <a:ext cx="341566" cy="367093"/>
              <a:chOff x="-1524" y="-38100"/>
              <a:chExt cx="455422" cy="489458"/>
            </a:xfrm>
          </p:grpSpPr>
          <p:sp>
            <p:nvSpPr>
              <p:cNvPr id="651" name="Google Shape;651;p13"/>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52" name="Google Shape;652;p13"/>
              <p:cNvSpPr/>
              <p:nvPr/>
            </p:nvSpPr>
            <p:spPr>
              <a:xfrm>
                <a:off x="-1524" y="-1524"/>
                <a:ext cx="455422" cy="452882"/>
              </a:xfrm>
              <a:custGeom>
                <a:avLst/>
                <a:gdLst/>
                <a:ahLst/>
                <a:cxnLst/>
                <a:rect l="l" t="t" r="r" b="b"/>
                <a:pathLst>
                  <a:path w="455422" h="452882" extrusionOk="0">
                    <a:moveTo>
                      <a:pt x="1524" y="0"/>
                    </a:moveTo>
                    <a:lnTo>
                      <a:pt x="453898" y="0"/>
                    </a:lnTo>
                    <a:cubicBezTo>
                      <a:pt x="454787" y="0"/>
                      <a:pt x="455422" y="762"/>
                      <a:pt x="455422" y="1524"/>
                    </a:cubicBezTo>
                    <a:lnTo>
                      <a:pt x="455422" y="451358"/>
                    </a:lnTo>
                    <a:cubicBezTo>
                      <a:pt x="455422" y="452247"/>
                      <a:pt x="454660" y="452882"/>
                      <a:pt x="453898"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453898" y="449834"/>
                    </a:lnTo>
                    <a:lnTo>
                      <a:pt x="453898" y="451358"/>
                    </a:lnTo>
                    <a:lnTo>
                      <a:pt x="452374" y="451358"/>
                    </a:lnTo>
                    <a:lnTo>
                      <a:pt x="452374" y="1524"/>
                    </a:lnTo>
                    <a:lnTo>
                      <a:pt x="453898" y="1524"/>
                    </a:lnTo>
                    <a:lnTo>
                      <a:pt x="453898" y="3048"/>
                    </a:lnTo>
                    <a:lnTo>
                      <a:pt x="1524" y="3048"/>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53" name="Google Shape;653;p13"/>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4</a:t>
                </a:r>
                <a:endParaRPr sz="1688"/>
              </a:p>
            </p:txBody>
          </p:sp>
        </p:grpSp>
        <p:grpSp>
          <p:nvGrpSpPr>
            <p:cNvPr id="654" name="Google Shape;654;p13"/>
            <p:cNvGrpSpPr/>
            <p:nvPr/>
          </p:nvGrpSpPr>
          <p:grpSpPr>
            <a:xfrm>
              <a:off x="3482836" y="4343880"/>
              <a:ext cx="402812" cy="365953"/>
              <a:chOff x="0" y="-38100"/>
              <a:chExt cx="537083" cy="487938"/>
            </a:xfrm>
          </p:grpSpPr>
          <p:sp>
            <p:nvSpPr>
              <p:cNvPr id="655" name="Google Shape;655;p13"/>
              <p:cNvSpPr/>
              <p:nvPr/>
            </p:nvSpPr>
            <p:spPr>
              <a:xfrm>
                <a:off x="0" y="0"/>
                <a:ext cx="537083" cy="449834"/>
              </a:xfrm>
              <a:custGeom>
                <a:avLst/>
                <a:gdLst/>
                <a:ahLst/>
                <a:cxnLst/>
                <a:rect l="l" t="t" r="r" b="b"/>
                <a:pathLst>
                  <a:path w="537083" h="449834" extrusionOk="0">
                    <a:moveTo>
                      <a:pt x="0" y="0"/>
                    </a:moveTo>
                    <a:lnTo>
                      <a:pt x="537083" y="0"/>
                    </a:lnTo>
                    <a:lnTo>
                      <a:pt x="537083"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56" name="Google Shape;656;p13"/>
              <p:cNvSpPr txBox="1"/>
              <p:nvPr/>
            </p:nvSpPr>
            <p:spPr>
              <a:xfrm>
                <a:off x="0" y="-38100"/>
                <a:ext cx="537027"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5</a:t>
                </a:r>
                <a:endParaRPr sz="1688"/>
              </a:p>
            </p:txBody>
          </p:sp>
        </p:grpSp>
        <p:sp>
          <p:nvSpPr>
            <p:cNvPr id="657" name="Google Shape;657;p13"/>
            <p:cNvSpPr txBox="1"/>
            <p:nvPr/>
          </p:nvSpPr>
          <p:spPr>
            <a:xfrm>
              <a:off x="3890662" y="2465354"/>
              <a:ext cx="2328540" cy="206826"/>
            </a:xfrm>
            <a:prstGeom prst="rect">
              <a:avLst/>
            </a:prstGeom>
            <a:noFill/>
            <a:ln>
              <a:noFill/>
            </a:ln>
          </p:spPr>
          <p:txBody>
            <a:bodyPr spcFirstLastPara="1" wrap="square" lIns="0" tIns="0" rIns="0" bIns="0" anchor="t" anchorCtr="0">
              <a:spAutoFit/>
            </a:bodyPr>
            <a:lstStyle/>
            <a:p>
              <a:pPr>
                <a:lnSpc>
                  <a:spcPct val="120000"/>
                </a:lnSpc>
              </a:pPr>
              <a:r>
                <a:rPr lang="en-US" sz="1050" dirty="0">
                  <a:solidFill>
                    <a:srgbClr val="FFFFFF"/>
                  </a:solidFill>
                  <a:latin typeface="Arial"/>
                  <a:ea typeface="Arial"/>
                  <a:cs typeface="Arial"/>
                  <a:sym typeface="Arial"/>
                </a:rPr>
                <a:t>Company Overview</a:t>
              </a:r>
              <a:endParaRPr sz="1688" dirty="0"/>
            </a:p>
          </p:txBody>
        </p:sp>
        <p:grpSp>
          <p:nvGrpSpPr>
            <p:cNvPr id="658" name="Google Shape;658;p13"/>
            <p:cNvGrpSpPr/>
            <p:nvPr/>
          </p:nvGrpSpPr>
          <p:grpSpPr>
            <a:xfrm>
              <a:off x="3822093" y="3379157"/>
              <a:ext cx="2465678" cy="351665"/>
              <a:chOff x="0" y="-19050"/>
              <a:chExt cx="3287570" cy="468888"/>
            </a:xfrm>
          </p:grpSpPr>
          <p:sp>
            <p:nvSpPr>
              <p:cNvPr id="659" name="Google Shape;659;p13"/>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60" name="Google Shape;660;p13"/>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Investment Thesis</a:t>
                </a:r>
                <a:endParaRPr sz="1688"/>
              </a:p>
            </p:txBody>
          </p:sp>
        </p:grpSp>
        <p:grpSp>
          <p:nvGrpSpPr>
            <p:cNvPr id="661" name="Google Shape;661;p13"/>
            <p:cNvGrpSpPr/>
            <p:nvPr/>
          </p:nvGrpSpPr>
          <p:grpSpPr>
            <a:xfrm>
              <a:off x="3820950" y="3868663"/>
              <a:ext cx="2467928" cy="352805"/>
              <a:chOff x="-1524" y="-19050"/>
              <a:chExt cx="3290570" cy="470408"/>
            </a:xfrm>
          </p:grpSpPr>
          <p:sp>
            <p:nvSpPr>
              <p:cNvPr id="662" name="Google Shape;662;p13"/>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63" name="Google Shape;663;p13"/>
              <p:cNvSpPr/>
              <p:nvPr/>
            </p:nvSpPr>
            <p:spPr>
              <a:xfrm>
                <a:off x="-1524" y="-1524"/>
                <a:ext cx="3290570" cy="452882"/>
              </a:xfrm>
              <a:custGeom>
                <a:avLst/>
                <a:gdLst/>
                <a:ahLst/>
                <a:cxnLst/>
                <a:rect l="l" t="t" r="r" b="b"/>
                <a:pathLst>
                  <a:path w="3290570" h="452882" extrusionOk="0">
                    <a:moveTo>
                      <a:pt x="1524" y="0"/>
                    </a:moveTo>
                    <a:lnTo>
                      <a:pt x="3289046" y="0"/>
                    </a:lnTo>
                    <a:cubicBezTo>
                      <a:pt x="3289935" y="0"/>
                      <a:pt x="3290570" y="762"/>
                      <a:pt x="3290570" y="1524"/>
                    </a:cubicBezTo>
                    <a:lnTo>
                      <a:pt x="3290570" y="451358"/>
                    </a:lnTo>
                    <a:cubicBezTo>
                      <a:pt x="3290570" y="452247"/>
                      <a:pt x="3289808" y="452882"/>
                      <a:pt x="3289046"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289046" y="449834"/>
                    </a:lnTo>
                    <a:lnTo>
                      <a:pt x="3289046" y="451358"/>
                    </a:lnTo>
                    <a:lnTo>
                      <a:pt x="3287522" y="451358"/>
                    </a:lnTo>
                    <a:lnTo>
                      <a:pt x="3287522" y="1524"/>
                    </a:lnTo>
                    <a:lnTo>
                      <a:pt x="3289046" y="1524"/>
                    </a:lnTo>
                    <a:lnTo>
                      <a:pt x="3289046" y="3048"/>
                    </a:lnTo>
                    <a:lnTo>
                      <a:pt x="1524" y="3048"/>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64" name="Google Shape;664;p13"/>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Valuation</a:t>
                </a:r>
                <a:endParaRPr sz="1688"/>
              </a:p>
            </p:txBody>
          </p:sp>
        </p:grpSp>
        <p:grpSp>
          <p:nvGrpSpPr>
            <p:cNvPr id="665" name="Google Shape;665;p13"/>
            <p:cNvGrpSpPr/>
            <p:nvPr/>
          </p:nvGrpSpPr>
          <p:grpSpPr>
            <a:xfrm>
              <a:off x="3822093" y="4358168"/>
              <a:ext cx="2465678" cy="351665"/>
              <a:chOff x="0" y="-19050"/>
              <a:chExt cx="3287570" cy="468888"/>
            </a:xfrm>
          </p:grpSpPr>
          <p:sp>
            <p:nvSpPr>
              <p:cNvPr id="666" name="Google Shape;666;p13"/>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67" name="Google Shape;667;p13"/>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Catalysts and Risks</a:t>
                </a:r>
                <a:endParaRPr sz="1688"/>
              </a:p>
            </p:txBody>
          </p:sp>
        </p:grpSp>
        <p:grpSp>
          <p:nvGrpSpPr>
            <p:cNvPr id="668" name="Google Shape;668;p13"/>
            <p:cNvGrpSpPr/>
            <p:nvPr/>
          </p:nvGrpSpPr>
          <p:grpSpPr>
            <a:xfrm>
              <a:off x="3482837" y="4833386"/>
              <a:ext cx="339280" cy="365953"/>
              <a:chOff x="0" y="-38100"/>
              <a:chExt cx="452374" cy="487938"/>
            </a:xfrm>
          </p:grpSpPr>
          <p:sp>
            <p:nvSpPr>
              <p:cNvPr id="669" name="Google Shape;669;p13"/>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70" name="Google Shape;670;p13"/>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6</a:t>
                </a:r>
                <a:endParaRPr sz="1688"/>
              </a:p>
            </p:txBody>
          </p:sp>
        </p:grpSp>
        <p:grpSp>
          <p:nvGrpSpPr>
            <p:cNvPr id="671" name="Google Shape;671;p13"/>
            <p:cNvGrpSpPr/>
            <p:nvPr/>
          </p:nvGrpSpPr>
          <p:grpSpPr>
            <a:xfrm>
              <a:off x="3822093" y="4847674"/>
              <a:ext cx="2465678" cy="351665"/>
              <a:chOff x="0" y="-19050"/>
              <a:chExt cx="3287570" cy="468888"/>
            </a:xfrm>
          </p:grpSpPr>
          <p:sp>
            <p:nvSpPr>
              <p:cNvPr id="672" name="Google Shape;672;p13"/>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73" name="Google Shape;673;p13"/>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Recommendation</a:t>
                </a:r>
                <a:endParaRPr sz="1688"/>
              </a:p>
            </p:txBody>
          </p:sp>
        </p:grpSp>
        <p:grpSp>
          <p:nvGrpSpPr>
            <p:cNvPr id="674" name="Google Shape;674;p13"/>
            <p:cNvGrpSpPr/>
            <p:nvPr/>
          </p:nvGrpSpPr>
          <p:grpSpPr>
            <a:xfrm>
              <a:off x="3465829" y="2893212"/>
              <a:ext cx="341596" cy="365953"/>
              <a:chOff x="0" y="-38100"/>
              <a:chExt cx="455461" cy="487938"/>
            </a:xfrm>
          </p:grpSpPr>
          <p:sp>
            <p:nvSpPr>
              <p:cNvPr id="675" name="Google Shape;675;p13"/>
              <p:cNvSpPr/>
              <p:nvPr/>
            </p:nvSpPr>
            <p:spPr>
              <a:xfrm>
                <a:off x="0" y="0"/>
                <a:ext cx="455422" cy="449834"/>
              </a:xfrm>
              <a:custGeom>
                <a:avLst/>
                <a:gdLst/>
                <a:ahLst/>
                <a:cxnLst/>
                <a:rect l="l" t="t" r="r" b="b"/>
                <a:pathLst>
                  <a:path w="455422" h="449834" extrusionOk="0">
                    <a:moveTo>
                      <a:pt x="0" y="0"/>
                    </a:moveTo>
                    <a:lnTo>
                      <a:pt x="455422" y="0"/>
                    </a:lnTo>
                    <a:lnTo>
                      <a:pt x="4554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76" name="Google Shape;676;p13"/>
              <p:cNvSpPr txBox="1"/>
              <p:nvPr/>
            </p:nvSpPr>
            <p:spPr>
              <a:xfrm>
                <a:off x="0" y="-38100"/>
                <a:ext cx="45546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2</a:t>
                </a:r>
                <a:endParaRPr sz="1688"/>
              </a:p>
            </p:txBody>
          </p:sp>
        </p:grpSp>
        <p:grpSp>
          <p:nvGrpSpPr>
            <p:cNvPr id="677" name="Google Shape;677;p13"/>
            <p:cNvGrpSpPr/>
            <p:nvPr/>
          </p:nvGrpSpPr>
          <p:grpSpPr>
            <a:xfrm>
              <a:off x="3805085" y="2907500"/>
              <a:ext cx="2482692" cy="351665"/>
              <a:chOff x="0" y="-19050"/>
              <a:chExt cx="3310255" cy="468888"/>
            </a:xfrm>
          </p:grpSpPr>
          <p:sp>
            <p:nvSpPr>
              <p:cNvPr id="678" name="Google Shape;678;p13"/>
              <p:cNvSpPr/>
              <p:nvPr/>
            </p:nvSpPr>
            <p:spPr>
              <a:xfrm>
                <a:off x="0" y="0"/>
                <a:ext cx="3310255" cy="449834"/>
              </a:xfrm>
              <a:custGeom>
                <a:avLst/>
                <a:gdLst/>
                <a:ahLst/>
                <a:cxnLst/>
                <a:rect l="l" t="t" r="r" b="b"/>
                <a:pathLst>
                  <a:path w="3310255" h="449834" extrusionOk="0">
                    <a:moveTo>
                      <a:pt x="0" y="0"/>
                    </a:moveTo>
                    <a:lnTo>
                      <a:pt x="3310255" y="0"/>
                    </a:lnTo>
                    <a:lnTo>
                      <a:pt x="3310255"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679" name="Google Shape;679;p13"/>
              <p:cNvSpPr txBox="1"/>
              <p:nvPr/>
            </p:nvSpPr>
            <p:spPr>
              <a:xfrm>
                <a:off x="0" y="-19050"/>
                <a:ext cx="3310246"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Industry overview</a:t>
                </a:r>
                <a:endParaRPr sz="1688"/>
              </a:p>
            </p:txBody>
          </p:sp>
        </p:grpSp>
      </p:grpSp>
      <p:cxnSp>
        <p:nvCxnSpPr>
          <p:cNvPr id="680" name="Google Shape;680;p13"/>
          <p:cNvCxnSpPr/>
          <p:nvPr/>
        </p:nvCxnSpPr>
        <p:spPr>
          <a:xfrm rot="39499">
            <a:off x="-9578" y="2182319"/>
            <a:ext cx="1658019" cy="0"/>
          </a:xfrm>
          <a:prstGeom prst="straightConnector1">
            <a:avLst/>
          </a:prstGeom>
          <a:noFill/>
          <a:ln w="19050" cap="rnd" cmpd="sng">
            <a:solidFill>
              <a:srgbClr val="39598F"/>
            </a:solidFill>
            <a:prstDash val="solid"/>
            <a:round/>
            <a:headEnd type="none" w="sm" len="sm"/>
            <a:tailEnd type="none" w="sm" len="sm"/>
          </a:ln>
        </p:spPr>
      </p:cxnSp>
      <p:sp>
        <p:nvSpPr>
          <p:cNvPr id="681" name="Google Shape;681;p13"/>
          <p:cNvSpPr txBox="1"/>
          <p:nvPr/>
        </p:nvSpPr>
        <p:spPr>
          <a:xfrm>
            <a:off x="529564" y="1678468"/>
            <a:ext cx="2328863" cy="398764"/>
          </a:xfrm>
          <a:prstGeom prst="rect">
            <a:avLst/>
          </a:prstGeom>
          <a:noFill/>
          <a:ln>
            <a:noFill/>
          </a:ln>
        </p:spPr>
        <p:txBody>
          <a:bodyPr spcFirstLastPara="1" wrap="square" lIns="0" tIns="0" rIns="0" bIns="0" anchor="t" anchorCtr="0">
            <a:spAutoFit/>
          </a:bodyPr>
          <a:lstStyle/>
          <a:p>
            <a:pPr>
              <a:lnSpc>
                <a:spcPct val="108010"/>
              </a:lnSpc>
            </a:pPr>
            <a:r>
              <a:rPr lang="en-US" sz="2399">
                <a:solidFill>
                  <a:srgbClr val="333F44"/>
                </a:solidFill>
                <a:latin typeface="Open Sans Light"/>
                <a:ea typeface="Open Sans Light"/>
                <a:cs typeface="Open Sans Light"/>
                <a:sym typeface="Open Sans Light"/>
              </a:rPr>
              <a:t>Agenda</a:t>
            </a:r>
            <a:endParaRPr sz="1688"/>
          </a:p>
        </p:txBody>
      </p:sp>
      <p:pic>
        <p:nvPicPr>
          <p:cNvPr id="3" name="Picture 2" descr="Air Liquide annonce une nouvelle identité visuelle - L'ADN">
            <a:extLst>
              <a:ext uri="{FF2B5EF4-FFF2-40B4-BE49-F238E27FC236}">
                <a16:creationId xmlns:a16="http://schemas.microsoft.com/office/drawing/2014/main" id="{6E4CDB02-5E2D-F17A-2DA6-53D1FDABC6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9164" y="1554637"/>
            <a:ext cx="4025671" cy="1230765"/>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48375021-7E51-F84F-A754-5A2642C87A7D}"/>
              </a:ext>
            </a:extLst>
          </p:cNvPr>
          <p:cNvSpPr txBox="1"/>
          <p:nvPr/>
        </p:nvSpPr>
        <p:spPr>
          <a:xfrm>
            <a:off x="2775098" y="444686"/>
            <a:ext cx="3593804" cy="369332"/>
          </a:xfrm>
          <a:prstGeom prst="rect">
            <a:avLst/>
          </a:prstGeom>
          <a:noFill/>
        </p:spPr>
        <p:txBody>
          <a:bodyPr wrap="square" rtlCol="0">
            <a:spAutoFit/>
          </a:bodyPr>
          <a:lstStyle/>
          <a:p>
            <a:r>
              <a:rPr lang="fr-FR" dirty="0">
                <a:solidFill>
                  <a:srgbClr val="FF0000"/>
                </a:solidFill>
              </a:rPr>
              <a:t>Marvin – </a:t>
            </a:r>
            <a:r>
              <a:rPr lang="fr-FR" dirty="0" err="1">
                <a:solidFill>
                  <a:srgbClr val="FF0000"/>
                </a:solidFill>
              </a:rPr>
              <a:t>done</a:t>
            </a:r>
            <a:r>
              <a:rPr lang="fr-FR" dirty="0">
                <a:solidFill>
                  <a:srgbClr val="FF0000"/>
                </a:solidFill>
              </a:rPr>
              <a:t> </a:t>
            </a:r>
            <a:r>
              <a:rPr lang="fr-FR" dirty="0" err="1">
                <a:solidFill>
                  <a:srgbClr val="FF0000"/>
                </a:solidFill>
              </a:rPr>
              <a:t>except</a:t>
            </a:r>
            <a:r>
              <a:rPr lang="fr-FR" dirty="0">
                <a:solidFill>
                  <a:srgbClr val="FF0000"/>
                </a:solidFill>
              </a:rPr>
              <a:t> brokers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15"/>
          <p:cNvSpPr txBox="1"/>
          <p:nvPr/>
        </p:nvSpPr>
        <p:spPr>
          <a:xfrm>
            <a:off x="-3429000" y="342186"/>
            <a:ext cx="3200400" cy="1107611"/>
          </a:xfrm>
          <a:prstGeom prst="rect">
            <a:avLst/>
          </a:prstGeom>
          <a:noFill/>
          <a:ln>
            <a:noFill/>
          </a:ln>
        </p:spPr>
        <p:txBody>
          <a:bodyPr spcFirstLastPara="1" wrap="square" lIns="0" tIns="0" rIns="0" bIns="0" anchor="t" anchorCtr="0">
            <a:spAutoFit/>
          </a:bodyPr>
          <a:lstStyle/>
          <a:p>
            <a:pPr algn="r">
              <a:lnSpc>
                <a:spcPct val="120007"/>
              </a:lnSpc>
            </a:pPr>
            <a:r>
              <a:rPr lang="en-US" sz="2399" b="1">
                <a:solidFill>
                  <a:srgbClr val="000000"/>
                </a:solidFill>
                <a:latin typeface="Arial"/>
                <a:ea typeface="Arial"/>
                <a:cs typeface="Arial"/>
                <a:sym typeface="Arial"/>
              </a:rPr>
              <a:t>Arial Slide Title – 24</a:t>
            </a:r>
            <a:endParaRPr sz="1688"/>
          </a:p>
          <a:p>
            <a:pPr algn="r">
              <a:lnSpc>
                <a:spcPct val="119959"/>
              </a:lnSpc>
            </a:pPr>
            <a:r>
              <a:rPr lang="en-US" sz="1400">
                <a:solidFill>
                  <a:srgbClr val="000000"/>
                </a:solidFill>
                <a:latin typeface="Arial"/>
                <a:ea typeface="Arial"/>
                <a:cs typeface="Arial"/>
                <a:sym typeface="Arial"/>
              </a:rPr>
              <a:t>Content/Section Title Text – 14</a:t>
            </a:r>
            <a:endParaRPr sz="1688"/>
          </a:p>
          <a:p>
            <a:pPr algn="r">
              <a:lnSpc>
                <a:spcPct val="120015"/>
              </a:lnSpc>
            </a:pPr>
            <a:r>
              <a:rPr lang="en-US" sz="1199">
                <a:solidFill>
                  <a:srgbClr val="000000"/>
                </a:solidFill>
                <a:latin typeface="Arial"/>
                <a:ea typeface="Arial"/>
                <a:cs typeface="Arial"/>
                <a:sym typeface="Arial"/>
              </a:rPr>
              <a:t>Bullet and Subtitle Text – 12</a:t>
            </a:r>
            <a:endParaRPr sz="1688"/>
          </a:p>
          <a:p>
            <a:pPr algn="r">
              <a:lnSpc>
                <a:spcPct val="120075"/>
              </a:lnSpc>
            </a:pPr>
            <a:r>
              <a:rPr lang="en-US" sz="999">
                <a:solidFill>
                  <a:srgbClr val="000000"/>
                </a:solidFill>
                <a:latin typeface="Arial"/>
                <a:ea typeface="Arial"/>
                <a:cs typeface="Arial"/>
                <a:sym typeface="Arial"/>
              </a:rPr>
              <a:t>Chart, Profile, and Currency Text – 10</a:t>
            </a:r>
            <a:endParaRPr sz="1688"/>
          </a:p>
        </p:txBody>
      </p:sp>
      <p:grpSp>
        <p:nvGrpSpPr>
          <p:cNvPr id="739" name="Google Shape;739;p15"/>
          <p:cNvGrpSpPr/>
          <p:nvPr/>
        </p:nvGrpSpPr>
        <p:grpSpPr>
          <a:xfrm>
            <a:off x="-2192501" y="2633500"/>
            <a:ext cx="1970251" cy="496313"/>
            <a:chOff x="0" y="-28575"/>
            <a:chExt cx="2802135" cy="705866"/>
          </a:xfrm>
        </p:grpSpPr>
        <p:sp>
          <p:nvSpPr>
            <p:cNvPr id="740" name="Google Shape;740;p15"/>
            <p:cNvSpPr/>
            <p:nvPr/>
          </p:nvSpPr>
          <p:spPr>
            <a:xfrm>
              <a:off x="0" y="0"/>
              <a:ext cx="2802128" cy="677291"/>
            </a:xfrm>
            <a:custGeom>
              <a:avLst/>
              <a:gdLst/>
              <a:ahLst/>
              <a:cxnLst/>
              <a:rect l="l" t="t" r="r" b="b"/>
              <a:pathLst>
                <a:path w="2802128" h="677291" extrusionOk="0">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741" name="Google Shape;741;p15"/>
            <p:cNvSpPr txBox="1"/>
            <p:nvPr/>
          </p:nvSpPr>
          <p:spPr>
            <a:xfrm>
              <a:off x="0" y="-28575"/>
              <a:ext cx="2802135" cy="705837"/>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Outline: black, ½ pt.</a:t>
              </a:r>
              <a:endParaRPr sz="1688"/>
            </a:p>
          </p:txBody>
        </p:sp>
      </p:grpSp>
      <p:grpSp>
        <p:nvGrpSpPr>
          <p:cNvPr id="742" name="Google Shape;742;p15"/>
          <p:cNvGrpSpPr/>
          <p:nvPr/>
        </p:nvGrpSpPr>
        <p:grpSpPr>
          <a:xfrm>
            <a:off x="-2186151" y="3363382"/>
            <a:ext cx="1957566" cy="486436"/>
            <a:chOff x="0" y="-28575"/>
            <a:chExt cx="2784094" cy="691820"/>
          </a:xfrm>
        </p:grpSpPr>
        <p:sp>
          <p:nvSpPr>
            <p:cNvPr id="743" name="Google Shape;743;p15"/>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CCD1D7"/>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744" name="Google Shape;744;p15"/>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204 – 209 – 215</a:t>
              </a:r>
              <a:endParaRPr sz="1688"/>
            </a:p>
          </p:txBody>
        </p:sp>
      </p:grpSp>
      <p:grpSp>
        <p:nvGrpSpPr>
          <p:cNvPr id="745" name="Google Shape;745;p15"/>
          <p:cNvGrpSpPr/>
          <p:nvPr/>
        </p:nvGrpSpPr>
        <p:grpSpPr>
          <a:xfrm>
            <a:off x="-2186151" y="4089757"/>
            <a:ext cx="1957566" cy="486436"/>
            <a:chOff x="0" y="-28575"/>
            <a:chExt cx="2784094" cy="691820"/>
          </a:xfrm>
        </p:grpSpPr>
        <p:sp>
          <p:nvSpPr>
            <p:cNvPr id="746" name="Google Shape;746;p15"/>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485059"/>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747" name="Google Shape;747;p15"/>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72 – 80 – 89 </a:t>
              </a:r>
              <a:endParaRPr sz="1688"/>
            </a:p>
          </p:txBody>
        </p:sp>
      </p:grpSp>
      <p:grpSp>
        <p:nvGrpSpPr>
          <p:cNvPr id="748" name="Google Shape;748;p15"/>
          <p:cNvGrpSpPr/>
          <p:nvPr/>
        </p:nvGrpSpPr>
        <p:grpSpPr>
          <a:xfrm>
            <a:off x="-2186151" y="4816132"/>
            <a:ext cx="1957566" cy="486436"/>
            <a:chOff x="0" y="-28575"/>
            <a:chExt cx="2784094" cy="691820"/>
          </a:xfrm>
        </p:grpSpPr>
        <p:sp>
          <p:nvSpPr>
            <p:cNvPr id="749" name="Google Shape;749;p15"/>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5E7C9E"/>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750" name="Google Shape;750;p15"/>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94 – 124 – 158</a:t>
              </a:r>
              <a:endParaRPr sz="1688"/>
            </a:p>
          </p:txBody>
        </p:sp>
      </p:grpSp>
      <p:grpSp>
        <p:nvGrpSpPr>
          <p:cNvPr id="751" name="Google Shape;751;p15"/>
          <p:cNvGrpSpPr/>
          <p:nvPr/>
        </p:nvGrpSpPr>
        <p:grpSpPr>
          <a:xfrm>
            <a:off x="-2186151" y="5542509"/>
            <a:ext cx="1957566" cy="486436"/>
            <a:chOff x="0" y="-28575"/>
            <a:chExt cx="2784094" cy="691820"/>
          </a:xfrm>
        </p:grpSpPr>
        <p:sp>
          <p:nvSpPr>
            <p:cNvPr id="752" name="Google Shape;752;p15"/>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753" name="Google Shape;753;p15"/>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17 – 61 – 99</a:t>
              </a:r>
              <a:endParaRPr sz="1688"/>
            </a:p>
          </p:txBody>
        </p:sp>
      </p:grpSp>
      <p:grpSp>
        <p:nvGrpSpPr>
          <p:cNvPr id="754" name="Google Shape;754;p15"/>
          <p:cNvGrpSpPr/>
          <p:nvPr/>
        </p:nvGrpSpPr>
        <p:grpSpPr>
          <a:xfrm>
            <a:off x="-2186151" y="1916319"/>
            <a:ext cx="1957566" cy="483632"/>
            <a:chOff x="0" y="-28575"/>
            <a:chExt cx="2784094" cy="687832"/>
          </a:xfrm>
        </p:grpSpPr>
        <p:sp>
          <p:nvSpPr>
            <p:cNvPr id="755" name="Google Shape;755;p15"/>
            <p:cNvSpPr/>
            <p:nvPr/>
          </p:nvSpPr>
          <p:spPr>
            <a:xfrm>
              <a:off x="0" y="0"/>
              <a:ext cx="2784094" cy="659257"/>
            </a:xfrm>
            <a:custGeom>
              <a:avLst/>
              <a:gdLst/>
              <a:ahLst/>
              <a:cxnLst/>
              <a:rect l="l" t="t" r="r" b="b"/>
              <a:pathLst>
                <a:path w="2784094" h="659257" extrusionOk="0">
                  <a:moveTo>
                    <a:pt x="0" y="0"/>
                  </a:moveTo>
                  <a:lnTo>
                    <a:pt x="2784094" y="0"/>
                  </a:lnTo>
                  <a:lnTo>
                    <a:pt x="2784094" y="659257"/>
                  </a:lnTo>
                  <a:lnTo>
                    <a:pt x="0" y="659257"/>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756" name="Google Shape;756;p15"/>
            <p:cNvSpPr txBox="1"/>
            <p:nvPr/>
          </p:nvSpPr>
          <p:spPr>
            <a:xfrm>
              <a:off x="0" y="-28575"/>
              <a:ext cx="2784073" cy="687775"/>
            </a:xfrm>
            <a:prstGeom prst="rect">
              <a:avLst/>
            </a:prstGeom>
            <a:noFill/>
            <a:ln>
              <a:noFill/>
            </a:ln>
          </p:spPr>
          <p:txBody>
            <a:bodyPr spcFirstLastPara="1" wrap="square" lIns="47625" tIns="47625" rIns="47625" bIns="47625" anchor="ctr" anchorCtr="0">
              <a:noAutofit/>
            </a:bodyPr>
            <a:lstStyle/>
            <a:p>
              <a:pPr marL="154432" lvl="1" indent="-76140">
                <a:lnSpc>
                  <a:spcPct val="120015"/>
                </a:lnSpc>
                <a:buClr>
                  <a:srgbClr val="FFFFFF"/>
                </a:buClr>
                <a:buSzPts val="1279"/>
                <a:buFont typeface="Arial"/>
                <a:buChar char="•"/>
              </a:pPr>
              <a:r>
                <a:rPr lang="en-US" sz="1199">
                  <a:solidFill>
                    <a:srgbClr val="FFFFFF"/>
                  </a:solidFill>
                  <a:latin typeface="Arial"/>
                  <a:ea typeface="Arial"/>
                  <a:cs typeface="Arial"/>
                  <a:sym typeface="Arial"/>
                </a:rPr>
                <a:t>Normal shapes w/ text</a:t>
              </a:r>
              <a:endParaRPr sz="1688"/>
            </a:p>
          </p:txBody>
        </p:sp>
      </p:grpSp>
      <p:sp>
        <p:nvSpPr>
          <p:cNvPr id="757" name="Google Shape;757;p15"/>
          <p:cNvSpPr txBox="1"/>
          <p:nvPr/>
        </p:nvSpPr>
        <p:spPr>
          <a:xfrm>
            <a:off x="239485" y="6382553"/>
            <a:ext cx="3537857" cy="332399"/>
          </a:xfrm>
          <a:prstGeom prst="rect">
            <a:avLst/>
          </a:prstGeom>
          <a:noFill/>
          <a:ln>
            <a:noFill/>
          </a:ln>
        </p:spPr>
        <p:txBody>
          <a:bodyPr spcFirstLastPara="1" wrap="square" lIns="0" tIns="0" rIns="0" bIns="0" anchor="t" anchorCtr="0">
            <a:spAutoFit/>
          </a:bodyPr>
          <a:lstStyle/>
          <a:p>
            <a:pPr>
              <a:lnSpc>
                <a:spcPct val="120000"/>
              </a:lnSpc>
            </a:pPr>
            <a:r>
              <a:rPr lang="en-US">
                <a:solidFill>
                  <a:srgbClr val="2A90BC"/>
                </a:solidFill>
                <a:latin typeface="Arimo"/>
                <a:ea typeface="Arimo"/>
                <a:cs typeface="Arimo"/>
                <a:sym typeface="Arimo"/>
              </a:rPr>
              <a:t>ESSEC Capital Investments Club</a:t>
            </a:r>
            <a:endParaRPr sz="1688"/>
          </a:p>
        </p:txBody>
      </p:sp>
      <p:cxnSp>
        <p:nvCxnSpPr>
          <p:cNvPr id="758" name="Google Shape;758;p15"/>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759" name="Google Shape;759;p15"/>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cxnSp>
        <p:nvCxnSpPr>
          <p:cNvPr id="760" name="Google Shape;760;p15"/>
          <p:cNvCxnSpPr/>
          <p:nvPr/>
        </p:nvCxnSpPr>
        <p:spPr>
          <a:xfrm rot="8930">
            <a:off x="-11128" y="6240264"/>
            <a:ext cx="9166256" cy="0"/>
          </a:xfrm>
          <a:prstGeom prst="straightConnector1">
            <a:avLst/>
          </a:prstGeom>
          <a:noFill/>
          <a:ln w="19050" cap="rnd" cmpd="sng">
            <a:solidFill>
              <a:srgbClr val="39598F"/>
            </a:solidFill>
            <a:prstDash val="solid"/>
            <a:round/>
            <a:headEnd type="none" w="sm" len="sm"/>
            <a:tailEnd type="none" w="sm" len="sm"/>
          </a:ln>
        </p:spPr>
      </p:cxnSp>
      <p:sp>
        <p:nvSpPr>
          <p:cNvPr id="761" name="Google Shape;761;p15"/>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9" b="-138"/>
            </a:stretch>
          </a:blip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762" name="Google Shape;762;p15"/>
          <p:cNvSpPr txBox="1"/>
          <p:nvPr/>
        </p:nvSpPr>
        <p:spPr>
          <a:xfrm>
            <a:off x="64294" y="444686"/>
            <a:ext cx="3985673" cy="398764"/>
          </a:xfrm>
          <a:prstGeom prst="rect">
            <a:avLst/>
          </a:prstGeom>
          <a:noFill/>
          <a:ln>
            <a:noFill/>
          </a:ln>
        </p:spPr>
        <p:txBody>
          <a:bodyPr spcFirstLastPara="1" wrap="square" lIns="0" tIns="0" rIns="0" bIns="0" anchor="t" anchorCtr="0">
            <a:spAutoFit/>
          </a:bodyPr>
          <a:lstStyle/>
          <a:p>
            <a:pPr>
              <a:lnSpc>
                <a:spcPct val="108010"/>
              </a:lnSpc>
            </a:pPr>
            <a:r>
              <a:rPr lang="en-US" sz="2399">
                <a:solidFill>
                  <a:srgbClr val="333F44"/>
                </a:solidFill>
                <a:latin typeface="Open Sans Light"/>
                <a:ea typeface="Open Sans Light"/>
                <a:cs typeface="Open Sans Light"/>
                <a:sym typeface="Open Sans Light"/>
              </a:rPr>
              <a:t>Broker estimates</a:t>
            </a:r>
            <a:endParaRPr sz="1688"/>
          </a:p>
        </p:txBody>
      </p:sp>
      <p:graphicFrame>
        <p:nvGraphicFramePr>
          <p:cNvPr id="763" name="Google Shape;763;p15"/>
          <p:cNvGraphicFramePr/>
          <p:nvPr/>
        </p:nvGraphicFramePr>
        <p:xfrm>
          <a:off x="209438" y="1340301"/>
          <a:ext cx="8725126" cy="4389727"/>
        </p:xfrm>
        <a:graphic>
          <a:graphicData uri="http://schemas.openxmlformats.org/drawingml/2006/table">
            <a:tbl>
              <a:tblPr>
                <a:noFill/>
              </a:tblPr>
              <a:tblGrid>
                <a:gridCol w="2596852">
                  <a:extLst>
                    <a:ext uri="{9D8B030D-6E8A-4147-A177-3AD203B41FA5}">
                      <a16:colId xmlns:a16="http://schemas.microsoft.com/office/drawing/2014/main" val="20000"/>
                    </a:ext>
                  </a:extLst>
                </a:gridCol>
                <a:gridCol w="2047805">
                  <a:extLst>
                    <a:ext uri="{9D8B030D-6E8A-4147-A177-3AD203B41FA5}">
                      <a16:colId xmlns:a16="http://schemas.microsoft.com/office/drawing/2014/main" val="20001"/>
                    </a:ext>
                  </a:extLst>
                </a:gridCol>
                <a:gridCol w="2112328">
                  <a:extLst>
                    <a:ext uri="{9D8B030D-6E8A-4147-A177-3AD203B41FA5}">
                      <a16:colId xmlns:a16="http://schemas.microsoft.com/office/drawing/2014/main" val="20002"/>
                    </a:ext>
                  </a:extLst>
                </a:gridCol>
                <a:gridCol w="1968141">
                  <a:extLst>
                    <a:ext uri="{9D8B030D-6E8A-4147-A177-3AD203B41FA5}">
                      <a16:colId xmlns:a16="http://schemas.microsoft.com/office/drawing/2014/main" val="20003"/>
                    </a:ext>
                  </a:extLst>
                </a:gridCol>
              </a:tblGrid>
              <a:tr h="509039">
                <a:tc>
                  <a:txBody>
                    <a:bodyPr/>
                    <a:lstStyle/>
                    <a:p>
                      <a:pPr marL="0" marR="0" lvl="0" indent="0" algn="l" rtl="0">
                        <a:lnSpc>
                          <a:spcPct val="120075"/>
                        </a:lnSpc>
                        <a:spcBef>
                          <a:spcPts val="0"/>
                        </a:spcBef>
                        <a:spcAft>
                          <a:spcPts val="0"/>
                        </a:spcAft>
                        <a:buNone/>
                      </a:pPr>
                      <a:r>
                        <a:rPr lang="en-US" sz="1000" b="1" u="none" strike="noStrike" cap="none">
                          <a:solidFill>
                            <a:srgbClr val="FFFFFF"/>
                          </a:solidFill>
                          <a:latin typeface="Arial"/>
                          <a:ea typeface="Arial"/>
                          <a:cs typeface="Arial"/>
                          <a:sym typeface="Arial"/>
                        </a:rPr>
                        <a:t>Broker Estimates</a:t>
                      </a:r>
                      <a:endParaRPr sz="1000" u="none" strike="noStrike" cap="none"/>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13D63"/>
                    </a:solidFill>
                  </a:tcPr>
                </a:tc>
                <a:tc>
                  <a:txBody>
                    <a:bodyPr/>
                    <a:lstStyle/>
                    <a:p>
                      <a:pPr marL="0" marR="0" lvl="0" indent="0" algn="ctr" rtl="0">
                        <a:lnSpc>
                          <a:spcPct val="120075"/>
                        </a:lnSpc>
                        <a:spcBef>
                          <a:spcPts val="0"/>
                        </a:spcBef>
                        <a:spcAft>
                          <a:spcPts val="0"/>
                        </a:spcAft>
                        <a:buNone/>
                      </a:pPr>
                      <a:r>
                        <a:rPr lang="en-US" sz="1000" b="1" u="none" strike="noStrike" cap="none">
                          <a:solidFill>
                            <a:srgbClr val="FFFFFF"/>
                          </a:solidFill>
                          <a:latin typeface="Arial"/>
                          <a:ea typeface="Arial"/>
                          <a:cs typeface="Arial"/>
                          <a:sym typeface="Arial"/>
                        </a:rPr>
                        <a:t>Target Prices </a:t>
                      </a:r>
                      <a:r>
                        <a:rPr lang="en-US" sz="1000" i="1" u="none" strike="noStrike" cap="none">
                          <a:solidFill>
                            <a:srgbClr val="FFFFFF"/>
                          </a:solidFill>
                          <a:latin typeface="Arial"/>
                          <a:ea typeface="Arial"/>
                          <a:cs typeface="Arial"/>
                          <a:sym typeface="Arial"/>
                        </a:rPr>
                        <a:t>($)</a:t>
                      </a:r>
                      <a:endParaRPr sz="1000" u="none" strike="noStrike" cap="none"/>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13D63"/>
                    </a:solidFill>
                  </a:tcPr>
                </a:tc>
                <a:tc>
                  <a:txBody>
                    <a:bodyPr/>
                    <a:lstStyle/>
                    <a:p>
                      <a:pPr marL="0" marR="0" lvl="0" indent="0" algn="ctr" rtl="0">
                        <a:lnSpc>
                          <a:spcPct val="120075"/>
                        </a:lnSpc>
                        <a:spcBef>
                          <a:spcPts val="0"/>
                        </a:spcBef>
                        <a:spcAft>
                          <a:spcPts val="0"/>
                        </a:spcAft>
                        <a:buNone/>
                      </a:pPr>
                      <a:r>
                        <a:rPr lang="en-US" sz="1000" b="1" u="none" strike="noStrike" cap="none">
                          <a:solidFill>
                            <a:srgbClr val="FFFFFF"/>
                          </a:solidFill>
                          <a:latin typeface="Arial"/>
                          <a:ea typeface="Arial"/>
                          <a:cs typeface="Arial"/>
                          <a:sym typeface="Arial"/>
                        </a:rPr>
                        <a:t>Upside </a:t>
                      </a:r>
                      <a:r>
                        <a:rPr lang="en-US" sz="1000" u="none" strike="noStrike" cap="none">
                          <a:solidFill>
                            <a:srgbClr val="FFFFFF"/>
                          </a:solidFill>
                          <a:latin typeface="Arial"/>
                          <a:ea typeface="Arial"/>
                          <a:cs typeface="Arial"/>
                          <a:sym typeface="Arial"/>
                        </a:rPr>
                        <a:t>(%)</a:t>
                      </a:r>
                      <a:endParaRPr sz="1000" u="none" strike="noStrike" cap="none"/>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13D63"/>
                    </a:solidFill>
                  </a:tcPr>
                </a:tc>
                <a:tc>
                  <a:txBody>
                    <a:bodyPr/>
                    <a:lstStyle/>
                    <a:p>
                      <a:pPr marL="0" marR="0" lvl="0" indent="0" algn="ctr" rtl="0">
                        <a:lnSpc>
                          <a:spcPct val="120075"/>
                        </a:lnSpc>
                        <a:spcBef>
                          <a:spcPts val="0"/>
                        </a:spcBef>
                        <a:spcAft>
                          <a:spcPts val="0"/>
                        </a:spcAft>
                        <a:buNone/>
                      </a:pPr>
                      <a:r>
                        <a:rPr lang="en-US" sz="1000" b="1" u="none" strike="noStrike" cap="none">
                          <a:solidFill>
                            <a:srgbClr val="FFFFFF"/>
                          </a:solidFill>
                          <a:latin typeface="Arial"/>
                          <a:ea typeface="Arial"/>
                          <a:cs typeface="Arial"/>
                          <a:sym typeface="Arial"/>
                        </a:rPr>
                        <a:t>Rating</a:t>
                      </a:r>
                      <a:endParaRPr sz="1000" u="none" strike="noStrike" cap="none"/>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13D63"/>
                    </a:solidFill>
                  </a:tcPr>
                </a:tc>
                <a:extLst>
                  <a:ext uri="{0D108BD9-81ED-4DB2-BD59-A6C34878D82A}">
                    <a16:rowId xmlns:a16="http://schemas.microsoft.com/office/drawing/2014/main" val="10000"/>
                  </a:ext>
                </a:extLst>
              </a:tr>
              <a:tr h="485086">
                <a:tc>
                  <a:txBody>
                    <a:bodyPr/>
                    <a:lstStyle/>
                    <a:p>
                      <a:pPr marL="0" marR="0" lvl="0" indent="0" algn="l" rtl="0">
                        <a:lnSpc>
                          <a:spcPct val="120075"/>
                        </a:lnSpc>
                        <a:spcBef>
                          <a:spcPts val="0"/>
                        </a:spcBef>
                        <a:spcAft>
                          <a:spcPts val="0"/>
                        </a:spcAft>
                        <a:buNone/>
                      </a:pPr>
                      <a:r>
                        <a:rPr lang="en-US" sz="1000" u="none" strike="noStrike" cap="none" dirty="0">
                          <a:solidFill>
                            <a:srgbClr val="000000"/>
                          </a:solidFill>
                          <a:latin typeface="Arial"/>
                          <a:ea typeface="Arial"/>
                          <a:cs typeface="Arial"/>
                          <a:sym typeface="Arial"/>
                        </a:rPr>
                        <a:t>Evercore (11/02/2026)</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808080"/>
                      </a:solidFill>
                      <a:prstDash val="solid"/>
                      <a:round/>
                      <a:headEnd type="none" w="sm" len="sm"/>
                      <a:tailEnd type="none" w="sm" len="sm"/>
                    </a:lnB>
                    <a:solidFill>
                      <a:srgbClr val="FFFFFF"/>
                    </a:solidFill>
                  </a:tcPr>
                </a:tc>
                <a:tc>
                  <a:txBody>
                    <a:bodyPr/>
                    <a:lstStyle/>
                    <a:p>
                      <a:pPr marL="0" marR="0" lvl="0" indent="0" algn="ctr" rtl="0">
                        <a:lnSpc>
                          <a:spcPct val="120075"/>
                        </a:lnSpc>
                        <a:spcBef>
                          <a:spcPts val="0"/>
                        </a:spcBef>
                        <a:spcAft>
                          <a:spcPts val="0"/>
                        </a:spcAft>
                        <a:buNone/>
                      </a:pPr>
                      <a:r>
                        <a:rPr lang="en-US" sz="1000" u="none" strike="noStrike" cap="none" dirty="0">
                          <a:solidFill>
                            <a:srgbClr val="000000"/>
                          </a:solidFill>
                          <a:latin typeface="Arial"/>
                          <a:cs typeface="Arial"/>
                          <a:sym typeface="Arial"/>
                        </a:rPr>
                        <a:t>$85.00</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808080"/>
                      </a:solidFill>
                      <a:prstDash val="solid"/>
                      <a:round/>
                      <a:headEnd type="none" w="sm" len="sm"/>
                      <a:tailEnd type="none" w="sm" len="sm"/>
                    </a:lnB>
                    <a:solidFill>
                      <a:srgbClr val="DBDBDB"/>
                    </a:solidFill>
                  </a:tcPr>
                </a:tc>
                <a:tc>
                  <a:txBody>
                    <a:bodyPr/>
                    <a:lstStyle/>
                    <a:p>
                      <a:pPr marL="0" marR="0" lvl="0" indent="0" algn="ctr" rtl="0">
                        <a:lnSpc>
                          <a:spcPct val="120075"/>
                        </a:lnSpc>
                        <a:spcBef>
                          <a:spcPts val="0"/>
                        </a:spcBef>
                        <a:spcAft>
                          <a:spcPts val="0"/>
                        </a:spcAft>
                        <a:buNone/>
                      </a:pPr>
                      <a:r>
                        <a:rPr lang="en-US" sz="1000" b="1" u="none" strike="noStrike" cap="none" dirty="0">
                          <a:solidFill>
                            <a:srgbClr val="00B050"/>
                          </a:solidFill>
                          <a:latin typeface="Arial"/>
                          <a:ea typeface="Arial"/>
                          <a:cs typeface="Arial"/>
                          <a:sym typeface="Arial"/>
                        </a:rPr>
                        <a:t>+10.7%</a:t>
                      </a:r>
                      <a:endParaRPr sz="1000" b="1" u="none" strike="noStrike" cap="none" dirty="0">
                        <a:solidFill>
                          <a:srgbClr val="00B050"/>
                        </a:solidFill>
                        <a:latin typeface="Arial"/>
                        <a:ea typeface="Arial"/>
                        <a:cs typeface="Arial"/>
                        <a:sym typeface="Arial"/>
                      </a:endParaRPr>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ctr" rtl="0">
                        <a:lnSpc>
                          <a:spcPct val="120075"/>
                        </a:lnSpc>
                        <a:spcBef>
                          <a:spcPts val="0"/>
                        </a:spcBef>
                        <a:spcAft>
                          <a:spcPts val="0"/>
                        </a:spcAft>
                        <a:buNone/>
                      </a:pPr>
                      <a:r>
                        <a:rPr lang="en-US" sz="1000" b="1" u="none" strike="noStrike" cap="none" dirty="0">
                          <a:solidFill>
                            <a:srgbClr val="111111"/>
                          </a:solidFill>
                          <a:latin typeface="Arial"/>
                          <a:ea typeface="Arial"/>
                          <a:cs typeface="Arial"/>
                          <a:sym typeface="Arial"/>
                        </a:rPr>
                        <a:t>Buy</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1"/>
                  </a:ext>
                </a:extLst>
              </a:tr>
              <a:tr h="485086">
                <a:tc>
                  <a:txBody>
                    <a:bodyPr/>
                    <a:lstStyle/>
                    <a:p>
                      <a:pPr marL="0" marR="0" lvl="0" indent="0" algn="l" rtl="0">
                        <a:lnSpc>
                          <a:spcPct val="120075"/>
                        </a:lnSpc>
                        <a:spcBef>
                          <a:spcPts val="0"/>
                        </a:spcBef>
                        <a:spcAft>
                          <a:spcPts val="0"/>
                        </a:spcAft>
                        <a:buNone/>
                      </a:pPr>
                      <a:r>
                        <a:rPr lang="en-US" sz="1000" u="none" strike="noStrike" cap="none" dirty="0">
                          <a:solidFill>
                            <a:srgbClr val="000000"/>
                          </a:solidFill>
                          <a:latin typeface="Arial"/>
                          <a:ea typeface="Arial"/>
                          <a:cs typeface="Arial"/>
                          <a:sym typeface="Arial"/>
                        </a:rPr>
                        <a:t>UBS (11/02/2026)</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FFFFFF"/>
                    </a:solidFill>
                  </a:tcPr>
                </a:tc>
                <a:tc>
                  <a:txBody>
                    <a:bodyPr/>
                    <a:lstStyle/>
                    <a:p>
                      <a:pPr marL="0" marR="0" lvl="0" indent="0" algn="ctr" rtl="0">
                        <a:lnSpc>
                          <a:spcPct val="120075"/>
                        </a:lnSpc>
                        <a:spcBef>
                          <a:spcPts val="0"/>
                        </a:spcBef>
                        <a:spcAft>
                          <a:spcPts val="0"/>
                        </a:spcAft>
                        <a:buNone/>
                      </a:pPr>
                      <a:r>
                        <a:rPr lang="en-US" sz="1000" u="none" strike="noStrike" cap="none" dirty="0">
                          <a:solidFill>
                            <a:srgbClr val="000000"/>
                          </a:solidFill>
                          <a:latin typeface="Arial"/>
                          <a:cs typeface="Arial"/>
                          <a:sym typeface="Arial"/>
                        </a:rPr>
                        <a:t>$87.00</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DBDBDB"/>
                    </a:solidFill>
                  </a:tcPr>
                </a:tc>
                <a:tc>
                  <a:txBody>
                    <a:bodyPr/>
                    <a:lstStyle/>
                    <a:p>
                      <a:pPr marL="0" marR="0" lvl="0" indent="0" algn="ctr" rtl="0">
                        <a:lnSpc>
                          <a:spcPct val="120075"/>
                        </a:lnSpc>
                        <a:spcBef>
                          <a:spcPts val="0"/>
                        </a:spcBef>
                        <a:spcAft>
                          <a:spcPts val="0"/>
                        </a:spcAft>
                        <a:buNone/>
                      </a:pPr>
                      <a:r>
                        <a:rPr lang="en-US" sz="1000" b="1" u="none" strike="noStrike" cap="none" dirty="0">
                          <a:solidFill>
                            <a:srgbClr val="00B050"/>
                          </a:solidFill>
                          <a:latin typeface="Arial"/>
                          <a:ea typeface="Arial"/>
                          <a:cs typeface="Arial"/>
                          <a:sym typeface="Arial"/>
                        </a:rPr>
                        <a:t>+13.3%</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ctr" rtl="0">
                        <a:lnSpc>
                          <a:spcPct val="120075"/>
                        </a:lnSpc>
                        <a:spcBef>
                          <a:spcPts val="0"/>
                        </a:spcBef>
                        <a:spcAft>
                          <a:spcPts val="0"/>
                        </a:spcAft>
                        <a:buNone/>
                      </a:pPr>
                      <a:r>
                        <a:rPr lang="en-US" sz="1000" b="1" u="none" strike="noStrike" cap="none" dirty="0">
                          <a:solidFill>
                            <a:srgbClr val="111111"/>
                          </a:solidFill>
                          <a:latin typeface="Arial"/>
                          <a:ea typeface="Arial"/>
                          <a:cs typeface="Arial"/>
                          <a:sym typeface="Arial"/>
                        </a:rPr>
                        <a:t>Strong Buy</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2"/>
                  </a:ext>
                </a:extLst>
              </a:tr>
              <a:tr h="485086">
                <a:tc>
                  <a:txBody>
                    <a:bodyPr/>
                    <a:lstStyle/>
                    <a:p>
                      <a:pPr marL="0" marR="0" lvl="0" indent="0" algn="l" rtl="0">
                        <a:lnSpc>
                          <a:spcPct val="120075"/>
                        </a:lnSpc>
                        <a:spcBef>
                          <a:spcPts val="0"/>
                        </a:spcBef>
                        <a:spcAft>
                          <a:spcPts val="0"/>
                        </a:spcAft>
                        <a:buNone/>
                      </a:pPr>
                      <a:r>
                        <a:rPr lang="en-US" sz="1000" u="none" strike="noStrike" cap="none" dirty="0">
                          <a:solidFill>
                            <a:srgbClr val="000000"/>
                          </a:solidFill>
                          <a:latin typeface="Arial"/>
                          <a:ea typeface="Arial"/>
                          <a:cs typeface="Arial"/>
                          <a:sym typeface="Arial"/>
                        </a:rPr>
                        <a:t>Jefferies (11/02/2026)</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FFFFFF"/>
                    </a:solidFill>
                  </a:tcPr>
                </a:tc>
                <a:tc>
                  <a:txBody>
                    <a:bodyPr/>
                    <a:lstStyle/>
                    <a:p>
                      <a:pPr marL="0" marR="0" lvl="0" indent="0" algn="ctr" rtl="0">
                        <a:lnSpc>
                          <a:spcPct val="120075"/>
                        </a:lnSpc>
                        <a:spcBef>
                          <a:spcPts val="0"/>
                        </a:spcBef>
                        <a:spcAft>
                          <a:spcPts val="0"/>
                        </a:spcAft>
                        <a:buNone/>
                      </a:pPr>
                      <a:r>
                        <a:rPr lang="en-US" sz="1000" u="none" strike="noStrike" cap="none" dirty="0">
                          <a:solidFill>
                            <a:srgbClr val="000000"/>
                          </a:solidFill>
                          <a:latin typeface="Arial"/>
                          <a:ea typeface="Arial"/>
                          <a:cs typeface="Arial"/>
                          <a:sym typeface="Arial"/>
                        </a:rPr>
                        <a:t>$87.00</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DBDBDB"/>
                    </a:solidFill>
                  </a:tcPr>
                </a:tc>
                <a:tc>
                  <a:txBody>
                    <a:bodyPr/>
                    <a:lstStyle/>
                    <a:p>
                      <a:pPr marL="0" marR="0" lvl="0" indent="0" algn="ctr" rtl="0">
                        <a:lnSpc>
                          <a:spcPct val="120075"/>
                        </a:lnSpc>
                        <a:spcBef>
                          <a:spcPts val="0"/>
                        </a:spcBef>
                        <a:spcAft>
                          <a:spcPts val="0"/>
                        </a:spcAft>
                        <a:buNone/>
                      </a:pPr>
                      <a:r>
                        <a:rPr lang="en-US" sz="1000" b="1" u="none" strike="noStrike" cap="none" dirty="0">
                          <a:solidFill>
                            <a:srgbClr val="00B050"/>
                          </a:solidFill>
                          <a:latin typeface="Arial"/>
                          <a:cs typeface="Arial"/>
                          <a:sym typeface="Arial"/>
                        </a:rPr>
                        <a:t>+13.3%</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ctr" rtl="0">
                        <a:lnSpc>
                          <a:spcPct val="120075"/>
                        </a:lnSpc>
                        <a:spcBef>
                          <a:spcPts val="0"/>
                        </a:spcBef>
                        <a:spcAft>
                          <a:spcPts val="0"/>
                        </a:spcAft>
                        <a:buNone/>
                      </a:pPr>
                      <a:r>
                        <a:rPr lang="en-US" sz="1000" b="1" u="none" strike="noStrike" cap="none" dirty="0">
                          <a:solidFill>
                            <a:srgbClr val="111111"/>
                          </a:solidFill>
                          <a:latin typeface="Arial"/>
                          <a:ea typeface="Arial"/>
                          <a:cs typeface="Arial"/>
                          <a:sym typeface="Arial"/>
                        </a:rPr>
                        <a:t>Strong Buy</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3"/>
                  </a:ext>
                </a:extLst>
              </a:tr>
              <a:tr h="485086">
                <a:tc>
                  <a:txBody>
                    <a:bodyPr/>
                    <a:lstStyle/>
                    <a:p>
                      <a:pPr marL="0" marR="0" lvl="0" indent="0" algn="l" rtl="0">
                        <a:lnSpc>
                          <a:spcPct val="120075"/>
                        </a:lnSpc>
                        <a:spcBef>
                          <a:spcPts val="0"/>
                        </a:spcBef>
                        <a:spcAft>
                          <a:spcPts val="0"/>
                        </a:spcAft>
                        <a:buNone/>
                      </a:pPr>
                      <a:r>
                        <a:rPr lang="en-US" sz="1000" u="none" strike="noStrike" cap="none" dirty="0">
                          <a:solidFill>
                            <a:srgbClr val="000000"/>
                          </a:solidFill>
                          <a:latin typeface="Arial"/>
                          <a:ea typeface="Arial"/>
                          <a:cs typeface="Arial"/>
                          <a:sym typeface="Arial"/>
                        </a:rPr>
                        <a:t>Wells Fargo (09/02/2026)</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FFFFFF"/>
                    </a:solidFill>
                  </a:tcPr>
                </a:tc>
                <a:tc>
                  <a:txBody>
                    <a:bodyPr/>
                    <a:lstStyle/>
                    <a:p>
                      <a:pPr marL="0" marR="0" lvl="0" indent="0" algn="ctr" rtl="0">
                        <a:lnSpc>
                          <a:spcPct val="120075"/>
                        </a:lnSpc>
                        <a:spcBef>
                          <a:spcPts val="0"/>
                        </a:spcBef>
                        <a:spcAft>
                          <a:spcPts val="0"/>
                        </a:spcAft>
                        <a:buNone/>
                      </a:pPr>
                      <a:r>
                        <a:rPr lang="en-US" sz="1000" u="none" strike="noStrike" cap="none" dirty="0">
                          <a:solidFill>
                            <a:srgbClr val="000000"/>
                          </a:solidFill>
                          <a:latin typeface="Arial"/>
                          <a:ea typeface="Arial"/>
                          <a:cs typeface="Arial"/>
                          <a:sym typeface="Arial"/>
                        </a:rPr>
                        <a:t>$87.00</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DBDBDB"/>
                    </a:solidFill>
                  </a:tcPr>
                </a:tc>
                <a:tc>
                  <a:txBody>
                    <a:bodyPr/>
                    <a:lstStyle/>
                    <a:p>
                      <a:pPr marL="0" marR="0" lvl="0" indent="0" algn="ctr" rtl="0">
                        <a:lnSpc>
                          <a:spcPct val="120075"/>
                        </a:lnSpc>
                        <a:spcBef>
                          <a:spcPts val="0"/>
                        </a:spcBef>
                        <a:spcAft>
                          <a:spcPts val="0"/>
                        </a:spcAft>
                        <a:buNone/>
                      </a:pPr>
                      <a:r>
                        <a:rPr lang="en-US" sz="1000" b="1" u="none" strike="noStrike" cap="none" dirty="0">
                          <a:solidFill>
                            <a:srgbClr val="00B050"/>
                          </a:solidFill>
                          <a:latin typeface="Arial"/>
                          <a:ea typeface="Arial"/>
                          <a:cs typeface="Arial"/>
                          <a:sym typeface="Arial"/>
                        </a:rPr>
                        <a:t>+13.3%</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ctr" rtl="0">
                        <a:lnSpc>
                          <a:spcPct val="120075"/>
                        </a:lnSpc>
                        <a:spcBef>
                          <a:spcPts val="0"/>
                        </a:spcBef>
                        <a:spcAft>
                          <a:spcPts val="0"/>
                        </a:spcAft>
                        <a:buNone/>
                      </a:pPr>
                      <a:r>
                        <a:rPr lang="en-US" sz="1000" b="1" u="none" strike="noStrike" cap="none" dirty="0">
                          <a:solidFill>
                            <a:srgbClr val="111111"/>
                          </a:solidFill>
                          <a:latin typeface="Arial"/>
                          <a:ea typeface="Arial"/>
                          <a:cs typeface="Arial"/>
                          <a:sym typeface="Arial"/>
                        </a:rPr>
                        <a:t>Buy</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4"/>
                  </a:ext>
                </a:extLst>
              </a:tr>
              <a:tr h="485086">
                <a:tc>
                  <a:txBody>
                    <a:bodyPr/>
                    <a:lstStyle/>
                    <a:p>
                      <a:pPr marL="0" marR="0" lvl="0" indent="0" algn="l" rtl="0">
                        <a:lnSpc>
                          <a:spcPct val="120075"/>
                        </a:lnSpc>
                        <a:spcBef>
                          <a:spcPts val="0"/>
                        </a:spcBef>
                        <a:spcAft>
                          <a:spcPts val="0"/>
                        </a:spcAft>
                        <a:buNone/>
                      </a:pPr>
                      <a:r>
                        <a:rPr lang="fr-FR" sz="1000" u="none" strike="noStrike" cap="none" dirty="0"/>
                        <a:t>Citigroup (11/02/2026)</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FFFFFF"/>
                    </a:solidFill>
                  </a:tcPr>
                </a:tc>
                <a:tc>
                  <a:txBody>
                    <a:bodyPr/>
                    <a:lstStyle/>
                    <a:p>
                      <a:pPr marL="0" marR="0" lvl="0" indent="0" algn="ctr" rtl="0">
                        <a:lnSpc>
                          <a:spcPct val="120075"/>
                        </a:lnSpc>
                        <a:spcBef>
                          <a:spcPts val="0"/>
                        </a:spcBef>
                        <a:spcAft>
                          <a:spcPts val="0"/>
                        </a:spcAft>
                        <a:buNone/>
                      </a:pPr>
                      <a:r>
                        <a:rPr lang="fr-FR" sz="1000" u="none" strike="noStrike" cap="none" dirty="0"/>
                        <a:t>$87.00</a:t>
                      </a:r>
                      <a:endParaRPr sz="1000" u="none" strike="noStrike" cap="none" dirty="0"/>
                    </a:p>
                  </a:txBody>
                  <a:tcPr marL="46805" marR="46805" marT="46805" marB="4680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DBDBDB"/>
                    </a:solidFill>
                  </a:tcPr>
                </a:tc>
                <a:tc>
                  <a:txBody>
                    <a:bodyPr/>
                    <a:lstStyle/>
                    <a:p>
                      <a:pPr marL="0" marR="0" lvl="0" indent="0" algn="ctr" defTabSz="914400" rtl="0" eaLnBrk="1" fontAlgn="auto" latinLnBrk="0" hangingPunct="1">
                        <a:lnSpc>
                          <a:spcPct val="120075"/>
                        </a:lnSpc>
                        <a:spcBef>
                          <a:spcPts val="0"/>
                        </a:spcBef>
                        <a:spcAft>
                          <a:spcPts val="0"/>
                        </a:spcAft>
                        <a:buClr>
                          <a:srgbClr val="000000"/>
                        </a:buClr>
                        <a:buSzTx/>
                        <a:buFont typeface="Arial"/>
                        <a:buNone/>
                        <a:tabLst/>
                        <a:defRPr/>
                      </a:pPr>
                      <a:r>
                        <a:rPr lang="en-US" sz="1000" b="1" u="none" strike="noStrike" cap="none" dirty="0">
                          <a:solidFill>
                            <a:srgbClr val="00B050"/>
                          </a:solidFill>
                          <a:latin typeface="Arial"/>
                          <a:ea typeface="Arial"/>
                          <a:cs typeface="Arial"/>
                          <a:sym typeface="Arial"/>
                        </a:rPr>
                        <a:t>+13.3%</a:t>
                      </a:r>
                      <a:endParaRPr lang="en-US" sz="1100" u="none" strike="noStrike" cap="none" dirty="0"/>
                    </a:p>
                  </a:txBody>
                  <a:tcPr marL="46805" marR="46805" marT="46805" marB="4680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ctr" rtl="0">
                        <a:lnSpc>
                          <a:spcPct val="120075"/>
                        </a:lnSpc>
                        <a:spcBef>
                          <a:spcPts val="0"/>
                        </a:spcBef>
                        <a:spcAft>
                          <a:spcPts val="0"/>
                        </a:spcAft>
                        <a:buNone/>
                      </a:pPr>
                      <a:r>
                        <a:rPr lang="fr-FR" sz="1000" b="1" i="0" u="none" strike="noStrike" cap="none" dirty="0">
                          <a:solidFill>
                            <a:srgbClr val="111111"/>
                          </a:solidFill>
                          <a:latin typeface="Arial"/>
                          <a:cs typeface="Arial"/>
                          <a:sym typeface="Arial"/>
                        </a:rPr>
                        <a:t>Strong </a:t>
                      </a:r>
                      <a:r>
                        <a:rPr lang="fr-FR" sz="1000" b="1" i="0" u="none" strike="noStrike" cap="none" dirty="0" err="1">
                          <a:solidFill>
                            <a:srgbClr val="111111"/>
                          </a:solidFill>
                          <a:latin typeface="Arial"/>
                          <a:cs typeface="Arial"/>
                          <a:sym typeface="Arial"/>
                        </a:rPr>
                        <a:t>Buy</a:t>
                      </a:r>
                      <a:endParaRPr sz="1000" b="1" i="0" u="none" strike="noStrike" cap="none" dirty="0">
                        <a:solidFill>
                          <a:srgbClr val="111111"/>
                        </a:solidFill>
                        <a:latin typeface="Arial"/>
                        <a:cs typeface="Arial"/>
                        <a:sym typeface="Arial"/>
                      </a:endParaRPr>
                    </a:p>
                  </a:txBody>
                  <a:tcPr marL="46805" marR="46805" marT="46805" marB="46805"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3770999143"/>
                  </a:ext>
                </a:extLst>
              </a:tr>
              <a:tr h="485086">
                <a:tc>
                  <a:txBody>
                    <a:bodyPr/>
                    <a:lstStyle/>
                    <a:p>
                      <a:pPr marL="0" marR="0" lvl="0" indent="0" algn="l" rtl="0">
                        <a:lnSpc>
                          <a:spcPct val="120075"/>
                        </a:lnSpc>
                        <a:spcBef>
                          <a:spcPts val="0"/>
                        </a:spcBef>
                        <a:spcAft>
                          <a:spcPts val="0"/>
                        </a:spcAft>
                        <a:buNone/>
                      </a:pPr>
                      <a:r>
                        <a:rPr lang="fr-FR" sz="1000" u="none" strike="noStrike" cap="none" dirty="0"/>
                        <a:t>JP Morgan(11/02/2026)</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FFFFFF"/>
                    </a:solidFill>
                  </a:tcPr>
                </a:tc>
                <a:tc>
                  <a:txBody>
                    <a:bodyPr/>
                    <a:lstStyle/>
                    <a:p>
                      <a:pPr marL="0" marR="0" lvl="0" indent="0" algn="ctr" rtl="0">
                        <a:lnSpc>
                          <a:spcPct val="120075"/>
                        </a:lnSpc>
                        <a:spcBef>
                          <a:spcPts val="0"/>
                        </a:spcBef>
                        <a:spcAft>
                          <a:spcPts val="0"/>
                        </a:spcAft>
                        <a:buNone/>
                      </a:pPr>
                      <a:r>
                        <a:rPr lang="fr-FR" sz="1000" u="none" strike="noStrike" cap="none" dirty="0"/>
                        <a:t>$83.00</a:t>
                      </a:r>
                      <a:endParaRPr sz="1000" u="none" strike="noStrike" cap="none" dirty="0"/>
                    </a:p>
                  </a:txBody>
                  <a:tcPr marL="46805" marR="46805" marT="46805" marB="4680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DBDBDB"/>
                    </a:solidFill>
                  </a:tcPr>
                </a:tc>
                <a:tc>
                  <a:txBody>
                    <a:bodyPr/>
                    <a:lstStyle/>
                    <a:p>
                      <a:pPr marL="0" marR="0" lvl="0" indent="0" algn="ctr" defTabSz="914400" rtl="0" eaLnBrk="1" fontAlgn="auto" latinLnBrk="0" hangingPunct="1">
                        <a:lnSpc>
                          <a:spcPct val="120075"/>
                        </a:lnSpc>
                        <a:spcBef>
                          <a:spcPts val="0"/>
                        </a:spcBef>
                        <a:spcAft>
                          <a:spcPts val="0"/>
                        </a:spcAft>
                        <a:buClr>
                          <a:srgbClr val="000000"/>
                        </a:buClr>
                        <a:buSzTx/>
                        <a:buFont typeface="Arial"/>
                        <a:buNone/>
                        <a:tabLst/>
                        <a:defRPr/>
                      </a:pPr>
                      <a:r>
                        <a:rPr lang="en-US" sz="1000" b="1" u="none" strike="noStrike" cap="none" dirty="0">
                          <a:solidFill>
                            <a:srgbClr val="00B050"/>
                          </a:solidFill>
                          <a:latin typeface="Arial"/>
                          <a:ea typeface="Arial"/>
                          <a:cs typeface="Arial"/>
                          <a:sym typeface="Arial"/>
                        </a:rPr>
                        <a:t>+8.06%</a:t>
                      </a:r>
                      <a:endParaRPr lang="en-US" sz="1100" u="none" strike="noStrike" cap="none" dirty="0"/>
                    </a:p>
                  </a:txBody>
                  <a:tcPr marL="46805" marR="46805" marT="46805" marB="4680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ctr" rtl="0">
                        <a:lnSpc>
                          <a:spcPct val="120075"/>
                        </a:lnSpc>
                        <a:spcBef>
                          <a:spcPts val="0"/>
                        </a:spcBef>
                        <a:spcAft>
                          <a:spcPts val="0"/>
                        </a:spcAft>
                        <a:buNone/>
                      </a:pPr>
                      <a:r>
                        <a:rPr lang="fr-FR" sz="1000" b="1" i="0" u="none" strike="noStrike" cap="none" dirty="0" err="1">
                          <a:solidFill>
                            <a:srgbClr val="111111"/>
                          </a:solidFill>
                          <a:latin typeface="Arial"/>
                          <a:cs typeface="Arial"/>
                          <a:sym typeface="Arial"/>
                        </a:rPr>
                        <a:t>Buy</a:t>
                      </a:r>
                      <a:endParaRPr sz="1000" b="1" i="0" u="none" strike="noStrike" cap="none" dirty="0">
                        <a:solidFill>
                          <a:srgbClr val="111111"/>
                        </a:solidFill>
                        <a:latin typeface="Arial"/>
                        <a:cs typeface="Arial"/>
                        <a:sym typeface="Arial"/>
                      </a:endParaRPr>
                    </a:p>
                  </a:txBody>
                  <a:tcPr marL="46805" marR="46805" marT="46805" marB="46805"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520286821"/>
                  </a:ext>
                </a:extLst>
              </a:tr>
              <a:tr h="485086">
                <a:tc>
                  <a:txBody>
                    <a:bodyPr/>
                    <a:lstStyle/>
                    <a:p>
                      <a:pPr marL="0" marR="0" lvl="0" indent="0" algn="l" rtl="0">
                        <a:lnSpc>
                          <a:spcPct val="120075"/>
                        </a:lnSpc>
                        <a:spcBef>
                          <a:spcPts val="0"/>
                        </a:spcBef>
                        <a:spcAft>
                          <a:spcPts val="0"/>
                        </a:spcAft>
                        <a:buNone/>
                      </a:pPr>
                      <a:r>
                        <a:rPr lang="fr-FR" sz="1000" u="none" strike="noStrike" cap="none" dirty="0"/>
                        <a:t>RBC Capital (11/02/2026)</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FFFFFF"/>
                    </a:solidFill>
                  </a:tcPr>
                </a:tc>
                <a:tc>
                  <a:txBody>
                    <a:bodyPr/>
                    <a:lstStyle/>
                    <a:p>
                      <a:pPr marL="0" marR="0" lvl="0" indent="0" algn="ctr" rtl="0">
                        <a:lnSpc>
                          <a:spcPct val="120075"/>
                        </a:lnSpc>
                        <a:spcBef>
                          <a:spcPts val="0"/>
                        </a:spcBef>
                        <a:spcAft>
                          <a:spcPts val="0"/>
                        </a:spcAft>
                        <a:buNone/>
                      </a:pPr>
                      <a:r>
                        <a:rPr lang="fr-FR" sz="1000" u="none" strike="noStrike" cap="none" dirty="0"/>
                        <a:t>$87.00</a:t>
                      </a:r>
                      <a:endParaRPr sz="1000" u="none" strike="noStrike" cap="none" dirty="0"/>
                    </a:p>
                  </a:txBody>
                  <a:tcPr marL="46805" marR="46805" marT="46805" marB="4680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DBDBDB"/>
                    </a:solidFill>
                  </a:tcPr>
                </a:tc>
                <a:tc>
                  <a:txBody>
                    <a:bodyPr/>
                    <a:lstStyle/>
                    <a:p>
                      <a:pPr marL="0" marR="0" lvl="0" indent="0" algn="ctr" defTabSz="914400" rtl="0" eaLnBrk="1" fontAlgn="auto" latinLnBrk="0" hangingPunct="1">
                        <a:lnSpc>
                          <a:spcPct val="120075"/>
                        </a:lnSpc>
                        <a:spcBef>
                          <a:spcPts val="0"/>
                        </a:spcBef>
                        <a:spcAft>
                          <a:spcPts val="0"/>
                        </a:spcAft>
                        <a:buClr>
                          <a:srgbClr val="000000"/>
                        </a:buClr>
                        <a:buSzTx/>
                        <a:buFont typeface="Arial"/>
                        <a:buNone/>
                        <a:tabLst/>
                        <a:defRPr/>
                      </a:pPr>
                      <a:r>
                        <a:rPr lang="en-US" sz="1000" b="1" u="none" strike="noStrike" cap="none" dirty="0">
                          <a:solidFill>
                            <a:srgbClr val="00B050"/>
                          </a:solidFill>
                          <a:latin typeface="Arial"/>
                          <a:ea typeface="Arial"/>
                          <a:cs typeface="Arial"/>
                          <a:sym typeface="Arial"/>
                        </a:rPr>
                        <a:t>+13.3%</a:t>
                      </a:r>
                      <a:endParaRPr lang="en-US" sz="1100" u="none" strike="noStrike" cap="none" dirty="0"/>
                    </a:p>
                  </a:txBody>
                  <a:tcPr marL="46805" marR="46805" marT="46805" marB="4680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ctr" rtl="0">
                        <a:lnSpc>
                          <a:spcPct val="120075"/>
                        </a:lnSpc>
                        <a:spcBef>
                          <a:spcPts val="0"/>
                        </a:spcBef>
                        <a:spcAft>
                          <a:spcPts val="0"/>
                        </a:spcAft>
                        <a:buNone/>
                      </a:pPr>
                      <a:r>
                        <a:rPr lang="fr-FR" sz="1000" b="1" i="0" u="none" strike="noStrike" cap="none" dirty="0" err="1">
                          <a:solidFill>
                            <a:srgbClr val="111111"/>
                          </a:solidFill>
                          <a:latin typeface="Arial"/>
                          <a:cs typeface="Arial"/>
                          <a:sym typeface="Arial"/>
                        </a:rPr>
                        <a:t>Buy</a:t>
                      </a:r>
                      <a:endParaRPr sz="1000" b="1" i="0" u="none" strike="noStrike" cap="none" dirty="0">
                        <a:solidFill>
                          <a:srgbClr val="111111"/>
                        </a:solidFill>
                        <a:latin typeface="Arial"/>
                        <a:cs typeface="Arial"/>
                        <a:sym typeface="Arial"/>
                      </a:endParaRPr>
                    </a:p>
                  </a:txBody>
                  <a:tcPr marL="46805" marR="46805" marT="46805" marB="46805"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152340591"/>
                  </a:ext>
                </a:extLst>
              </a:tr>
              <a:tr h="485086">
                <a:tc>
                  <a:txBody>
                    <a:bodyPr/>
                    <a:lstStyle/>
                    <a:p>
                      <a:pPr marL="0" marR="0" lvl="0" indent="0" algn="l" rtl="0">
                        <a:lnSpc>
                          <a:spcPct val="120075"/>
                        </a:lnSpc>
                        <a:spcBef>
                          <a:spcPts val="0"/>
                        </a:spcBef>
                        <a:spcAft>
                          <a:spcPts val="0"/>
                        </a:spcAft>
                        <a:buNone/>
                      </a:pPr>
                      <a:r>
                        <a:rPr lang="en-US" sz="1000" u="none" strike="noStrike" cap="none" dirty="0">
                          <a:solidFill>
                            <a:srgbClr val="000000"/>
                          </a:solidFill>
                          <a:latin typeface="Arial"/>
                          <a:ea typeface="Arial"/>
                          <a:cs typeface="Arial"/>
                          <a:sym typeface="Arial"/>
                        </a:rPr>
                        <a:t>Overall average (23 analysts)</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FFFFFF"/>
                    </a:solidFill>
                  </a:tcPr>
                </a:tc>
                <a:tc>
                  <a:txBody>
                    <a:bodyPr/>
                    <a:lstStyle/>
                    <a:p>
                      <a:pPr marL="0" marR="0" lvl="0" indent="0" algn="ctr" rtl="0">
                        <a:lnSpc>
                          <a:spcPct val="120075"/>
                        </a:lnSpc>
                        <a:spcBef>
                          <a:spcPts val="0"/>
                        </a:spcBef>
                        <a:spcAft>
                          <a:spcPts val="0"/>
                        </a:spcAft>
                        <a:buNone/>
                      </a:pPr>
                      <a:r>
                        <a:rPr lang="en-US" sz="1000" b="1" u="none" strike="noStrike" cap="none" dirty="0">
                          <a:solidFill>
                            <a:srgbClr val="00B050"/>
                          </a:solidFill>
                          <a:latin typeface="Arial"/>
                          <a:cs typeface="Arial"/>
                          <a:sym typeface="Arial"/>
                        </a:rPr>
                        <a:t>$81.93</a:t>
                      </a:r>
                      <a:endParaRPr sz="1000" u="none" strike="noStrike" cap="none" dirty="0">
                        <a:solidFill>
                          <a:srgbClr val="00B050"/>
                        </a:solidFill>
                      </a:endParaRPr>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DBDBDB"/>
                    </a:solidFill>
                  </a:tcPr>
                </a:tc>
                <a:tc>
                  <a:txBody>
                    <a:bodyPr/>
                    <a:lstStyle/>
                    <a:p>
                      <a:pPr marL="0" marR="0" lvl="0" indent="0" algn="ctr" rtl="0">
                        <a:lnSpc>
                          <a:spcPct val="120075"/>
                        </a:lnSpc>
                        <a:spcBef>
                          <a:spcPts val="0"/>
                        </a:spcBef>
                        <a:spcAft>
                          <a:spcPts val="0"/>
                        </a:spcAft>
                        <a:buNone/>
                      </a:pPr>
                      <a:r>
                        <a:rPr lang="en-US" sz="1000" b="1" u="none" strike="noStrike" cap="none" dirty="0">
                          <a:solidFill>
                            <a:srgbClr val="00B050"/>
                          </a:solidFill>
                          <a:latin typeface="Arial"/>
                          <a:ea typeface="Arial"/>
                          <a:cs typeface="Arial"/>
                          <a:sym typeface="Arial"/>
                        </a:rPr>
                        <a:t>+6.67%</a:t>
                      </a:r>
                      <a:endParaRPr sz="1000" u="none" strike="noStrike" cap="none"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ctr" rtl="0">
                        <a:lnSpc>
                          <a:spcPct val="120075"/>
                        </a:lnSpc>
                        <a:spcBef>
                          <a:spcPts val="0"/>
                        </a:spcBef>
                        <a:spcAft>
                          <a:spcPts val="0"/>
                        </a:spcAft>
                        <a:buNone/>
                      </a:pPr>
                      <a:r>
                        <a:rPr lang="en-US" sz="1000" b="1" u="none" strike="noStrike" cap="none" dirty="0">
                          <a:solidFill>
                            <a:srgbClr val="111111"/>
                          </a:solidFill>
                          <a:latin typeface="Arial"/>
                          <a:ea typeface="Arial"/>
                          <a:cs typeface="Arial"/>
                          <a:sym typeface="Arial"/>
                        </a:rPr>
                        <a:t>Outperform</a:t>
                      </a:r>
                      <a:endParaRPr sz="1300" dirty="0"/>
                    </a:p>
                  </a:txBody>
                  <a:tcPr marL="46805" marR="46805" marT="46805" marB="4680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8">
          <a:extLst>
            <a:ext uri="{FF2B5EF4-FFF2-40B4-BE49-F238E27FC236}">
              <a16:creationId xmlns:a16="http://schemas.microsoft.com/office/drawing/2014/main" id="{FCAD8000-531B-200D-3F79-63B06680DB88}"/>
            </a:ext>
          </a:extLst>
        </p:cNvPr>
        <p:cNvGrpSpPr/>
        <p:nvPr/>
      </p:nvGrpSpPr>
      <p:grpSpPr>
        <a:xfrm>
          <a:off x="0" y="0"/>
          <a:ext cx="0" cy="0"/>
          <a:chOff x="0" y="0"/>
          <a:chExt cx="0" cy="0"/>
        </a:xfrm>
      </p:grpSpPr>
      <p:grpSp>
        <p:nvGrpSpPr>
          <p:cNvPr id="809" name="Google Shape;809;p17">
            <a:extLst>
              <a:ext uri="{FF2B5EF4-FFF2-40B4-BE49-F238E27FC236}">
                <a16:creationId xmlns:a16="http://schemas.microsoft.com/office/drawing/2014/main" id="{000996D7-C173-3CF9-C8C2-7A80118298D3}"/>
              </a:ext>
            </a:extLst>
          </p:cNvPr>
          <p:cNvGrpSpPr/>
          <p:nvPr/>
        </p:nvGrpSpPr>
        <p:grpSpPr>
          <a:xfrm>
            <a:off x="-2186151" y="5542509"/>
            <a:ext cx="1957566" cy="486436"/>
            <a:chOff x="0" y="-28575"/>
            <a:chExt cx="2784094" cy="691820"/>
          </a:xfrm>
        </p:grpSpPr>
        <p:sp>
          <p:nvSpPr>
            <p:cNvPr id="810" name="Google Shape;810;p17">
              <a:extLst>
                <a:ext uri="{FF2B5EF4-FFF2-40B4-BE49-F238E27FC236}">
                  <a16:creationId xmlns:a16="http://schemas.microsoft.com/office/drawing/2014/main" id="{804048AC-B6FA-0483-BC0D-326F4FA36D25}"/>
                </a:ext>
              </a:extLst>
            </p:cNvPr>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113D63"/>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11" name="Google Shape;811;p17">
              <a:extLst>
                <a:ext uri="{FF2B5EF4-FFF2-40B4-BE49-F238E27FC236}">
                  <a16:creationId xmlns:a16="http://schemas.microsoft.com/office/drawing/2014/main" id="{929EBA86-B32D-E275-60C0-34807FBBEBA0}"/>
                </a:ext>
              </a:extLst>
            </p:cNvPr>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buClr>
                  <a:srgbClr val="000000"/>
                </a:buClr>
                <a:buSzPts val="1279"/>
              </a:pPr>
              <a:r>
                <a:rPr lang="en-US" sz="1199" noProof="1">
                  <a:solidFill>
                    <a:srgbClr val="FFFFFF"/>
                  </a:solidFill>
                  <a:latin typeface="Arial"/>
                  <a:ea typeface="Arial"/>
                  <a:cs typeface="Arial"/>
                  <a:sym typeface="Arial"/>
                </a:rPr>
                <a:t>17 – 61 – 99</a:t>
              </a:r>
              <a:endParaRPr lang="en-US" sz="1313" noProof="1">
                <a:solidFill>
                  <a:srgbClr val="000000"/>
                </a:solidFill>
                <a:latin typeface="Arial"/>
                <a:ea typeface="Arial"/>
                <a:cs typeface="Arial"/>
                <a:sym typeface="Arial"/>
              </a:endParaRPr>
            </a:p>
          </p:txBody>
        </p:sp>
      </p:grpSp>
      <p:sp>
        <p:nvSpPr>
          <p:cNvPr id="812" name="Google Shape;812;p17">
            <a:extLst>
              <a:ext uri="{FF2B5EF4-FFF2-40B4-BE49-F238E27FC236}">
                <a16:creationId xmlns:a16="http://schemas.microsoft.com/office/drawing/2014/main" id="{6606DBFC-D4AA-BE48-9504-AEC288EB5D0A}"/>
              </a:ext>
            </a:extLst>
          </p:cNvPr>
          <p:cNvSpPr txBox="1"/>
          <p:nvPr/>
        </p:nvSpPr>
        <p:spPr>
          <a:xfrm>
            <a:off x="239485" y="6382553"/>
            <a:ext cx="3537857" cy="332399"/>
          </a:xfrm>
          <a:prstGeom prst="rect">
            <a:avLst/>
          </a:prstGeom>
          <a:noFill/>
          <a:ln>
            <a:noFill/>
          </a:ln>
        </p:spPr>
        <p:txBody>
          <a:bodyPr spcFirstLastPara="1" wrap="square" lIns="0" tIns="0" rIns="0" bIns="0" anchor="t" anchorCtr="0">
            <a:spAutoFit/>
          </a:bodyPr>
          <a:lstStyle/>
          <a:p>
            <a:pPr>
              <a:lnSpc>
                <a:spcPct val="120000"/>
              </a:lnSpc>
              <a:buClr>
                <a:srgbClr val="000000"/>
              </a:buClr>
              <a:buSzPts val="1920"/>
            </a:pPr>
            <a:r>
              <a:rPr lang="en-US" noProof="1">
                <a:solidFill>
                  <a:srgbClr val="2A90BC"/>
                </a:solidFill>
                <a:latin typeface="Arimo"/>
                <a:ea typeface="Arimo"/>
                <a:cs typeface="Arimo"/>
                <a:sym typeface="Arimo"/>
              </a:rPr>
              <a:t>ESSEC Capital Investments Club</a:t>
            </a:r>
            <a:endParaRPr lang="en-US" sz="1313" noProof="1">
              <a:solidFill>
                <a:srgbClr val="000000"/>
              </a:solidFill>
              <a:latin typeface="Arial"/>
              <a:ea typeface="Arial"/>
              <a:cs typeface="Arial"/>
              <a:sym typeface="Arial"/>
            </a:endParaRPr>
          </a:p>
        </p:txBody>
      </p:sp>
      <p:cxnSp>
        <p:nvCxnSpPr>
          <p:cNvPr id="813" name="Google Shape;813;p17">
            <a:extLst>
              <a:ext uri="{FF2B5EF4-FFF2-40B4-BE49-F238E27FC236}">
                <a16:creationId xmlns:a16="http://schemas.microsoft.com/office/drawing/2014/main" id="{8B601E86-C658-1CFE-EEF5-1312CCCEEC34}"/>
              </a:ext>
            </a:extLst>
          </p:cNvPr>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814" name="Google Shape;814;p17">
            <a:extLst>
              <a:ext uri="{FF2B5EF4-FFF2-40B4-BE49-F238E27FC236}">
                <a16:creationId xmlns:a16="http://schemas.microsoft.com/office/drawing/2014/main" id="{23F3BE2A-A79D-6BC8-EC7C-4ED3DF9F8A20}"/>
              </a:ext>
            </a:extLst>
          </p:cNvPr>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cxnSp>
        <p:nvCxnSpPr>
          <p:cNvPr id="815" name="Google Shape;815;p17">
            <a:extLst>
              <a:ext uri="{FF2B5EF4-FFF2-40B4-BE49-F238E27FC236}">
                <a16:creationId xmlns:a16="http://schemas.microsoft.com/office/drawing/2014/main" id="{CCDFA841-587E-8101-D07F-22173F8B9BCC}"/>
              </a:ext>
            </a:extLst>
          </p:cNvPr>
          <p:cNvCxnSpPr/>
          <p:nvPr/>
        </p:nvCxnSpPr>
        <p:spPr>
          <a:xfrm rot="8930">
            <a:off x="-11128" y="6240264"/>
            <a:ext cx="9166256" cy="0"/>
          </a:xfrm>
          <a:prstGeom prst="straightConnector1">
            <a:avLst/>
          </a:prstGeom>
          <a:noFill/>
          <a:ln w="19050" cap="rnd" cmpd="sng">
            <a:solidFill>
              <a:srgbClr val="39598F"/>
            </a:solidFill>
            <a:prstDash val="solid"/>
            <a:round/>
            <a:headEnd type="none" w="sm" len="sm"/>
            <a:tailEnd type="none" w="sm" len="sm"/>
          </a:ln>
        </p:spPr>
      </p:cxnSp>
      <p:sp>
        <p:nvSpPr>
          <p:cNvPr id="816" name="Google Shape;816;p17">
            <a:extLst>
              <a:ext uri="{FF2B5EF4-FFF2-40B4-BE49-F238E27FC236}">
                <a16:creationId xmlns:a16="http://schemas.microsoft.com/office/drawing/2014/main" id="{FC5CAF8F-08D5-1556-7EAB-026457CB645D}"/>
              </a:ext>
            </a:extLst>
          </p:cNvPr>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7" b="-137"/>
            </a:stretch>
          </a:blip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17" name="Google Shape;817;p17">
            <a:extLst>
              <a:ext uri="{FF2B5EF4-FFF2-40B4-BE49-F238E27FC236}">
                <a16:creationId xmlns:a16="http://schemas.microsoft.com/office/drawing/2014/main" id="{A6D70B53-14E8-3F35-59F1-7D4F6F5D4B04}"/>
              </a:ext>
            </a:extLst>
          </p:cNvPr>
          <p:cNvSpPr txBox="1"/>
          <p:nvPr/>
        </p:nvSpPr>
        <p:spPr>
          <a:xfrm>
            <a:off x="64294" y="444686"/>
            <a:ext cx="3985673" cy="398764"/>
          </a:xfrm>
          <a:prstGeom prst="rect">
            <a:avLst/>
          </a:prstGeom>
          <a:noFill/>
          <a:ln>
            <a:noFill/>
          </a:ln>
        </p:spPr>
        <p:txBody>
          <a:bodyPr spcFirstLastPara="1" wrap="square" lIns="0" tIns="0" rIns="0" bIns="0" anchor="t" anchorCtr="0">
            <a:spAutoFit/>
          </a:bodyPr>
          <a:lstStyle/>
          <a:p>
            <a:pPr>
              <a:lnSpc>
                <a:spcPct val="108010"/>
              </a:lnSpc>
              <a:buClr>
                <a:srgbClr val="000000"/>
              </a:buClr>
              <a:buSzPts val="2559"/>
            </a:pPr>
            <a:r>
              <a:rPr lang="en-US" sz="2399" noProof="1">
                <a:solidFill>
                  <a:srgbClr val="333F44"/>
                </a:solidFill>
                <a:latin typeface="Open Sans Light"/>
                <a:ea typeface="Open Sans Light"/>
                <a:cs typeface="Open Sans Light"/>
                <a:sym typeface="Open Sans Light"/>
              </a:rPr>
              <a:t>DCF Model Output</a:t>
            </a:r>
            <a:endParaRPr lang="en-US" sz="1313" noProof="1">
              <a:solidFill>
                <a:srgbClr val="000000"/>
              </a:solidFill>
              <a:latin typeface="Arial"/>
              <a:ea typeface="Arial"/>
              <a:cs typeface="Arial"/>
              <a:sym typeface="Arial"/>
            </a:endParaRPr>
          </a:p>
        </p:txBody>
      </p:sp>
      <p:grpSp>
        <p:nvGrpSpPr>
          <p:cNvPr id="818" name="Google Shape;818;p17">
            <a:extLst>
              <a:ext uri="{FF2B5EF4-FFF2-40B4-BE49-F238E27FC236}">
                <a16:creationId xmlns:a16="http://schemas.microsoft.com/office/drawing/2014/main" id="{8B27DA76-F4B0-BEC0-B0AC-4F6E3164326E}"/>
              </a:ext>
            </a:extLst>
          </p:cNvPr>
          <p:cNvGrpSpPr/>
          <p:nvPr/>
        </p:nvGrpSpPr>
        <p:grpSpPr>
          <a:xfrm>
            <a:off x="239486" y="1206408"/>
            <a:ext cx="4766489" cy="291580"/>
            <a:chOff x="0" y="-9525"/>
            <a:chExt cx="6779006" cy="414692"/>
          </a:xfrm>
        </p:grpSpPr>
        <p:sp>
          <p:nvSpPr>
            <p:cNvPr id="819" name="Google Shape;819;p17">
              <a:extLst>
                <a:ext uri="{FF2B5EF4-FFF2-40B4-BE49-F238E27FC236}">
                  <a16:creationId xmlns:a16="http://schemas.microsoft.com/office/drawing/2014/main" id="{63F0F060-438C-D2F3-FC1A-CF9D69C94E29}"/>
                </a:ext>
              </a:extLst>
            </p:cNvPr>
            <p:cNvSpPr/>
            <p:nvPr/>
          </p:nvSpPr>
          <p:spPr>
            <a:xfrm>
              <a:off x="0" y="0"/>
              <a:ext cx="6779006" cy="405130"/>
            </a:xfrm>
            <a:custGeom>
              <a:avLst/>
              <a:gdLst/>
              <a:ahLst/>
              <a:cxnLst/>
              <a:rect l="l" t="t" r="r" b="b"/>
              <a:pathLst>
                <a:path w="6779006" h="405130" extrusionOk="0">
                  <a:moveTo>
                    <a:pt x="0" y="0"/>
                  </a:moveTo>
                  <a:lnTo>
                    <a:pt x="6779006" y="0"/>
                  </a:lnTo>
                  <a:lnTo>
                    <a:pt x="6779006" y="405130"/>
                  </a:lnTo>
                  <a:lnTo>
                    <a:pt x="0" y="405130"/>
                  </a:lnTo>
                  <a:close/>
                </a:path>
              </a:pathLst>
            </a:custGeom>
            <a:solidFill>
              <a:srgbClr val="113D63"/>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20" name="Google Shape;820;p17">
              <a:extLst>
                <a:ext uri="{FF2B5EF4-FFF2-40B4-BE49-F238E27FC236}">
                  <a16:creationId xmlns:a16="http://schemas.microsoft.com/office/drawing/2014/main" id="{D5C31A42-00E7-96D7-D46A-5A42A668D35A}"/>
                </a:ext>
              </a:extLst>
            </p:cNvPr>
            <p:cNvSpPr txBox="1"/>
            <p:nvPr/>
          </p:nvSpPr>
          <p:spPr>
            <a:xfrm>
              <a:off x="0" y="-9525"/>
              <a:ext cx="6778955" cy="414692"/>
            </a:xfrm>
            <a:prstGeom prst="rect">
              <a:avLst/>
            </a:prstGeom>
            <a:noFill/>
            <a:ln>
              <a:noFill/>
            </a:ln>
          </p:spPr>
          <p:txBody>
            <a:bodyPr spcFirstLastPara="1" wrap="square" lIns="47625" tIns="47625" rIns="47625" bIns="47625" anchor="ctr" anchorCtr="0">
              <a:noAutofit/>
            </a:bodyPr>
            <a:lstStyle/>
            <a:p>
              <a:pPr>
                <a:lnSpc>
                  <a:spcPct val="107946"/>
                </a:lnSpc>
                <a:buClr>
                  <a:srgbClr val="000000"/>
                </a:buClr>
                <a:buSzPts val="1120"/>
              </a:pPr>
              <a:r>
                <a:rPr lang="en-US" sz="1050" b="1" noProof="1">
                  <a:solidFill>
                    <a:srgbClr val="FFFFFF"/>
                  </a:solidFill>
                  <a:latin typeface="Arial"/>
                  <a:ea typeface="Arial"/>
                  <a:cs typeface="Arial"/>
                  <a:sym typeface="Arial"/>
                </a:rPr>
                <a:t>WACC Assumptions</a:t>
              </a:r>
              <a:endParaRPr lang="en-US" sz="1313" noProof="1">
                <a:solidFill>
                  <a:srgbClr val="000000"/>
                </a:solidFill>
                <a:latin typeface="Arial"/>
                <a:ea typeface="Arial"/>
                <a:cs typeface="Arial"/>
                <a:sym typeface="Arial"/>
              </a:endParaRPr>
            </a:p>
          </p:txBody>
        </p:sp>
      </p:grpSp>
      <p:grpSp>
        <p:nvGrpSpPr>
          <p:cNvPr id="821" name="Google Shape;821;p17">
            <a:extLst>
              <a:ext uri="{FF2B5EF4-FFF2-40B4-BE49-F238E27FC236}">
                <a16:creationId xmlns:a16="http://schemas.microsoft.com/office/drawing/2014/main" id="{D5E4006E-6785-CDCF-A577-C7A491B0B972}"/>
              </a:ext>
            </a:extLst>
          </p:cNvPr>
          <p:cNvGrpSpPr/>
          <p:nvPr/>
        </p:nvGrpSpPr>
        <p:grpSpPr>
          <a:xfrm>
            <a:off x="239486" y="5091880"/>
            <a:ext cx="1604487" cy="689462"/>
            <a:chOff x="0" y="-28575"/>
            <a:chExt cx="2281936" cy="980567"/>
          </a:xfrm>
        </p:grpSpPr>
        <p:sp>
          <p:nvSpPr>
            <p:cNvPr id="822" name="Google Shape;822;p17">
              <a:extLst>
                <a:ext uri="{FF2B5EF4-FFF2-40B4-BE49-F238E27FC236}">
                  <a16:creationId xmlns:a16="http://schemas.microsoft.com/office/drawing/2014/main" id="{31FC83B2-00BD-8348-7EB9-772C66553EBF}"/>
                </a:ext>
              </a:extLst>
            </p:cNvPr>
            <p:cNvSpPr/>
            <p:nvPr/>
          </p:nvSpPr>
          <p:spPr>
            <a:xfrm>
              <a:off x="4572" y="4572"/>
              <a:ext cx="2272792" cy="942848"/>
            </a:xfrm>
            <a:custGeom>
              <a:avLst/>
              <a:gdLst/>
              <a:ahLst/>
              <a:cxnLst/>
              <a:rect l="l" t="t" r="r" b="b"/>
              <a:pathLst>
                <a:path w="2272792" h="942848" extrusionOk="0">
                  <a:moveTo>
                    <a:pt x="0" y="0"/>
                  </a:moveTo>
                  <a:lnTo>
                    <a:pt x="2272792" y="0"/>
                  </a:lnTo>
                  <a:lnTo>
                    <a:pt x="2272792" y="942848"/>
                  </a:lnTo>
                  <a:lnTo>
                    <a:pt x="0" y="942848"/>
                  </a:lnTo>
                  <a:close/>
                </a:path>
              </a:pathLst>
            </a:custGeom>
            <a:solidFill>
              <a:srgbClr val="D9D9D9"/>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23" name="Google Shape;823;p17">
              <a:extLst>
                <a:ext uri="{FF2B5EF4-FFF2-40B4-BE49-F238E27FC236}">
                  <a16:creationId xmlns:a16="http://schemas.microsoft.com/office/drawing/2014/main" id="{63345E14-5905-00C9-3C70-B636C0841BB6}"/>
                </a:ext>
              </a:extLst>
            </p:cNvPr>
            <p:cNvSpPr/>
            <p:nvPr/>
          </p:nvSpPr>
          <p:spPr>
            <a:xfrm>
              <a:off x="0" y="0"/>
              <a:ext cx="2281936" cy="951992"/>
            </a:xfrm>
            <a:custGeom>
              <a:avLst/>
              <a:gdLst/>
              <a:ahLst/>
              <a:cxnLst/>
              <a:rect l="l" t="t" r="r" b="b"/>
              <a:pathLst>
                <a:path w="2281936" h="951992" extrusionOk="0">
                  <a:moveTo>
                    <a:pt x="4572" y="0"/>
                  </a:moveTo>
                  <a:lnTo>
                    <a:pt x="2277364" y="0"/>
                  </a:lnTo>
                  <a:cubicBezTo>
                    <a:pt x="2279904" y="0"/>
                    <a:pt x="2281936" y="2032"/>
                    <a:pt x="2281936" y="4572"/>
                  </a:cubicBezTo>
                  <a:lnTo>
                    <a:pt x="2281936" y="947420"/>
                  </a:lnTo>
                  <a:cubicBezTo>
                    <a:pt x="2281936" y="949960"/>
                    <a:pt x="2279904" y="951992"/>
                    <a:pt x="2277364" y="951992"/>
                  </a:cubicBezTo>
                  <a:lnTo>
                    <a:pt x="4572" y="951992"/>
                  </a:lnTo>
                  <a:cubicBezTo>
                    <a:pt x="2032" y="951992"/>
                    <a:pt x="0" y="949960"/>
                    <a:pt x="0" y="947420"/>
                  </a:cubicBezTo>
                  <a:lnTo>
                    <a:pt x="0" y="4572"/>
                  </a:lnTo>
                  <a:cubicBezTo>
                    <a:pt x="0" y="2032"/>
                    <a:pt x="2032" y="0"/>
                    <a:pt x="4572" y="0"/>
                  </a:cubicBezTo>
                  <a:moveTo>
                    <a:pt x="4572" y="9017"/>
                  </a:moveTo>
                  <a:lnTo>
                    <a:pt x="4572" y="4572"/>
                  </a:lnTo>
                  <a:lnTo>
                    <a:pt x="9017" y="4572"/>
                  </a:lnTo>
                  <a:lnTo>
                    <a:pt x="9017" y="947420"/>
                  </a:lnTo>
                  <a:lnTo>
                    <a:pt x="4572" y="947420"/>
                  </a:lnTo>
                  <a:lnTo>
                    <a:pt x="4572" y="942848"/>
                  </a:lnTo>
                  <a:lnTo>
                    <a:pt x="2277364" y="942848"/>
                  </a:lnTo>
                  <a:lnTo>
                    <a:pt x="2277364" y="947420"/>
                  </a:lnTo>
                  <a:lnTo>
                    <a:pt x="2272792" y="947420"/>
                  </a:lnTo>
                  <a:lnTo>
                    <a:pt x="2272792" y="4572"/>
                  </a:lnTo>
                  <a:lnTo>
                    <a:pt x="2277364" y="4572"/>
                  </a:lnTo>
                  <a:lnTo>
                    <a:pt x="2277364" y="9017"/>
                  </a:lnTo>
                  <a:lnTo>
                    <a:pt x="4572" y="9017"/>
                  </a:lnTo>
                  <a:close/>
                </a:path>
              </a:pathLst>
            </a:custGeom>
            <a:solidFill>
              <a:srgbClr val="FFFFFF"/>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24" name="Google Shape;824;p17">
              <a:extLst>
                <a:ext uri="{FF2B5EF4-FFF2-40B4-BE49-F238E27FC236}">
                  <a16:creationId xmlns:a16="http://schemas.microsoft.com/office/drawing/2014/main" id="{873771B2-9F53-4C86-3ADD-44EE9F22BA41}"/>
                </a:ext>
              </a:extLst>
            </p:cNvPr>
            <p:cNvSpPr txBox="1"/>
            <p:nvPr/>
          </p:nvSpPr>
          <p:spPr>
            <a:xfrm>
              <a:off x="0" y="-28575"/>
              <a:ext cx="2281867" cy="980505"/>
            </a:xfrm>
            <a:prstGeom prst="rect">
              <a:avLst/>
            </a:prstGeom>
            <a:noFill/>
            <a:ln>
              <a:noFill/>
            </a:ln>
          </p:spPr>
          <p:txBody>
            <a:bodyPr spcFirstLastPara="1" wrap="square" lIns="47625" tIns="47625" rIns="47625" bIns="47625" anchor="ctr" anchorCtr="0">
              <a:noAutofit/>
            </a:bodyPr>
            <a:lstStyle/>
            <a:p>
              <a:pPr algn="ctr">
                <a:lnSpc>
                  <a:spcPct val="120015"/>
                </a:lnSpc>
                <a:buClr>
                  <a:srgbClr val="000000"/>
                </a:buClr>
                <a:buSzPts val="1279"/>
              </a:pPr>
              <a:r>
                <a:rPr lang="en-US" sz="1199" b="1" noProof="1">
                  <a:solidFill>
                    <a:srgbClr val="FF0000"/>
                  </a:solidFill>
                  <a:latin typeface="Arial"/>
                  <a:ea typeface="Arial"/>
                  <a:cs typeface="Arial"/>
                  <a:sym typeface="Arial"/>
                </a:rPr>
                <a:t>WACC</a:t>
              </a:r>
              <a:endParaRPr lang="en-US" sz="1313" noProof="1">
                <a:solidFill>
                  <a:srgbClr val="000000"/>
                </a:solidFill>
                <a:latin typeface="Arial"/>
                <a:ea typeface="Arial"/>
                <a:cs typeface="Arial"/>
                <a:sym typeface="Arial"/>
              </a:endParaRPr>
            </a:p>
            <a:p>
              <a:pPr algn="ctr">
                <a:lnSpc>
                  <a:spcPct val="120015"/>
                </a:lnSpc>
                <a:buClr>
                  <a:srgbClr val="000000"/>
                </a:buClr>
                <a:buSzPts val="1279"/>
              </a:pPr>
              <a:r>
                <a:rPr lang="en-US" sz="1199" b="1" noProof="1">
                  <a:solidFill>
                    <a:srgbClr val="FF0000"/>
                  </a:solidFill>
                  <a:latin typeface="Arial"/>
                  <a:ea typeface="Arial"/>
                  <a:cs typeface="Arial"/>
                  <a:sym typeface="Arial"/>
                </a:rPr>
                <a:t>5.49%</a:t>
              </a:r>
              <a:endParaRPr lang="en-US" sz="1313" noProof="1">
                <a:solidFill>
                  <a:srgbClr val="000000"/>
                </a:solidFill>
                <a:latin typeface="Arial"/>
                <a:ea typeface="Arial"/>
                <a:cs typeface="Arial"/>
                <a:sym typeface="Arial"/>
              </a:endParaRPr>
            </a:p>
          </p:txBody>
        </p:sp>
      </p:grpSp>
      <p:grpSp>
        <p:nvGrpSpPr>
          <p:cNvPr id="825" name="Google Shape;825;p17">
            <a:extLst>
              <a:ext uri="{FF2B5EF4-FFF2-40B4-BE49-F238E27FC236}">
                <a16:creationId xmlns:a16="http://schemas.microsoft.com/office/drawing/2014/main" id="{C7BEE985-3139-2701-AF72-2FD55F3FBC23}"/>
              </a:ext>
            </a:extLst>
          </p:cNvPr>
          <p:cNvGrpSpPr/>
          <p:nvPr/>
        </p:nvGrpSpPr>
        <p:grpSpPr>
          <a:xfrm>
            <a:off x="239486" y="3431759"/>
            <a:ext cx="1604487" cy="689462"/>
            <a:chOff x="0" y="-28575"/>
            <a:chExt cx="2281936" cy="980567"/>
          </a:xfrm>
        </p:grpSpPr>
        <p:sp>
          <p:nvSpPr>
            <p:cNvPr id="826" name="Google Shape;826;p17">
              <a:extLst>
                <a:ext uri="{FF2B5EF4-FFF2-40B4-BE49-F238E27FC236}">
                  <a16:creationId xmlns:a16="http://schemas.microsoft.com/office/drawing/2014/main" id="{7AF6CAB3-3232-9565-C3EA-F64751DA5494}"/>
                </a:ext>
              </a:extLst>
            </p:cNvPr>
            <p:cNvSpPr/>
            <p:nvPr/>
          </p:nvSpPr>
          <p:spPr>
            <a:xfrm>
              <a:off x="4572" y="4572"/>
              <a:ext cx="2272792" cy="942848"/>
            </a:xfrm>
            <a:custGeom>
              <a:avLst/>
              <a:gdLst/>
              <a:ahLst/>
              <a:cxnLst/>
              <a:rect l="l" t="t" r="r" b="b"/>
              <a:pathLst>
                <a:path w="2272792" h="942848" extrusionOk="0">
                  <a:moveTo>
                    <a:pt x="0" y="0"/>
                  </a:moveTo>
                  <a:lnTo>
                    <a:pt x="2272792" y="0"/>
                  </a:lnTo>
                  <a:lnTo>
                    <a:pt x="2272792" y="942848"/>
                  </a:lnTo>
                  <a:lnTo>
                    <a:pt x="0" y="942848"/>
                  </a:lnTo>
                  <a:close/>
                </a:path>
              </a:pathLst>
            </a:custGeom>
            <a:solidFill>
              <a:srgbClr val="D9D9D9"/>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27" name="Google Shape;827;p17">
              <a:extLst>
                <a:ext uri="{FF2B5EF4-FFF2-40B4-BE49-F238E27FC236}">
                  <a16:creationId xmlns:a16="http://schemas.microsoft.com/office/drawing/2014/main" id="{5B052103-83C7-3FB8-DDFD-80325E01FEB9}"/>
                </a:ext>
              </a:extLst>
            </p:cNvPr>
            <p:cNvSpPr/>
            <p:nvPr/>
          </p:nvSpPr>
          <p:spPr>
            <a:xfrm>
              <a:off x="0" y="0"/>
              <a:ext cx="2281936" cy="951992"/>
            </a:xfrm>
            <a:custGeom>
              <a:avLst/>
              <a:gdLst/>
              <a:ahLst/>
              <a:cxnLst/>
              <a:rect l="l" t="t" r="r" b="b"/>
              <a:pathLst>
                <a:path w="2281936" h="951992" extrusionOk="0">
                  <a:moveTo>
                    <a:pt x="4572" y="0"/>
                  </a:moveTo>
                  <a:lnTo>
                    <a:pt x="2277364" y="0"/>
                  </a:lnTo>
                  <a:cubicBezTo>
                    <a:pt x="2279904" y="0"/>
                    <a:pt x="2281936" y="2032"/>
                    <a:pt x="2281936" y="4572"/>
                  </a:cubicBezTo>
                  <a:lnTo>
                    <a:pt x="2281936" y="947420"/>
                  </a:lnTo>
                  <a:cubicBezTo>
                    <a:pt x="2281936" y="949960"/>
                    <a:pt x="2279904" y="951992"/>
                    <a:pt x="2277364" y="951992"/>
                  </a:cubicBezTo>
                  <a:lnTo>
                    <a:pt x="4572" y="951992"/>
                  </a:lnTo>
                  <a:cubicBezTo>
                    <a:pt x="2032" y="951992"/>
                    <a:pt x="0" y="949960"/>
                    <a:pt x="0" y="947420"/>
                  </a:cubicBezTo>
                  <a:lnTo>
                    <a:pt x="0" y="4572"/>
                  </a:lnTo>
                  <a:cubicBezTo>
                    <a:pt x="0" y="2032"/>
                    <a:pt x="2032" y="0"/>
                    <a:pt x="4572" y="0"/>
                  </a:cubicBezTo>
                  <a:moveTo>
                    <a:pt x="4572" y="9017"/>
                  </a:moveTo>
                  <a:lnTo>
                    <a:pt x="4572" y="4572"/>
                  </a:lnTo>
                  <a:lnTo>
                    <a:pt x="9017" y="4572"/>
                  </a:lnTo>
                  <a:lnTo>
                    <a:pt x="9017" y="947420"/>
                  </a:lnTo>
                  <a:lnTo>
                    <a:pt x="4572" y="947420"/>
                  </a:lnTo>
                  <a:lnTo>
                    <a:pt x="4572" y="942848"/>
                  </a:lnTo>
                  <a:lnTo>
                    <a:pt x="2277364" y="942848"/>
                  </a:lnTo>
                  <a:lnTo>
                    <a:pt x="2277364" y="947420"/>
                  </a:lnTo>
                  <a:lnTo>
                    <a:pt x="2272792" y="947420"/>
                  </a:lnTo>
                  <a:lnTo>
                    <a:pt x="2272792" y="4572"/>
                  </a:lnTo>
                  <a:lnTo>
                    <a:pt x="2277364" y="4572"/>
                  </a:lnTo>
                  <a:lnTo>
                    <a:pt x="2277364" y="9017"/>
                  </a:lnTo>
                  <a:lnTo>
                    <a:pt x="4572" y="9017"/>
                  </a:lnTo>
                  <a:close/>
                </a:path>
              </a:pathLst>
            </a:custGeom>
            <a:solidFill>
              <a:srgbClr val="FFFFFF"/>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28" name="Google Shape;828;p17">
              <a:extLst>
                <a:ext uri="{FF2B5EF4-FFF2-40B4-BE49-F238E27FC236}">
                  <a16:creationId xmlns:a16="http://schemas.microsoft.com/office/drawing/2014/main" id="{60D1FD37-74D5-0D53-A918-5276185DF877}"/>
                </a:ext>
              </a:extLst>
            </p:cNvPr>
            <p:cNvSpPr txBox="1"/>
            <p:nvPr/>
          </p:nvSpPr>
          <p:spPr>
            <a:xfrm>
              <a:off x="0" y="-28575"/>
              <a:ext cx="2281867" cy="980505"/>
            </a:xfrm>
            <a:prstGeom prst="rect">
              <a:avLst/>
            </a:prstGeom>
            <a:noFill/>
            <a:ln>
              <a:noFill/>
            </a:ln>
          </p:spPr>
          <p:txBody>
            <a:bodyPr spcFirstLastPara="1" wrap="square" lIns="47625" tIns="47625" rIns="47625" bIns="47625" anchor="ctr" anchorCtr="0">
              <a:noAutofit/>
            </a:bodyPr>
            <a:lstStyle/>
            <a:p>
              <a:pPr algn="ctr">
                <a:lnSpc>
                  <a:spcPct val="120015"/>
                </a:lnSpc>
                <a:buClr>
                  <a:srgbClr val="000000"/>
                </a:buClr>
                <a:buSzPts val="1279"/>
              </a:pPr>
              <a:r>
                <a:rPr lang="en-US" sz="1199" b="1" noProof="1">
                  <a:solidFill>
                    <a:srgbClr val="000000"/>
                  </a:solidFill>
                  <a:latin typeface="Arial"/>
                  <a:ea typeface="Arial"/>
                  <a:cs typeface="Arial"/>
                  <a:sym typeface="Arial"/>
                </a:rPr>
                <a:t>Cost of Equity</a:t>
              </a:r>
              <a:endParaRPr lang="en-US" sz="1313" noProof="1">
                <a:solidFill>
                  <a:srgbClr val="000000"/>
                </a:solidFill>
                <a:latin typeface="Arial"/>
                <a:ea typeface="Arial"/>
                <a:cs typeface="Arial"/>
                <a:sym typeface="Arial"/>
              </a:endParaRPr>
            </a:p>
            <a:p>
              <a:pPr algn="ctr">
                <a:lnSpc>
                  <a:spcPct val="120015"/>
                </a:lnSpc>
                <a:buClr>
                  <a:srgbClr val="000000"/>
                </a:buClr>
                <a:buSzPts val="1279"/>
              </a:pPr>
              <a:r>
                <a:rPr lang="en-US" sz="1199" b="1" noProof="1">
                  <a:solidFill>
                    <a:srgbClr val="000000"/>
                  </a:solidFill>
                  <a:latin typeface="Arial"/>
                  <a:ea typeface="Arial"/>
                  <a:cs typeface="Arial"/>
                  <a:sym typeface="Arial"/>
                </a:rPr>
                <a:t>5.98%</a:t>
              </a:r>
              <a:endParaRPr lang="en-US" sz="1313" noProof="1">
                <a:solidFill>
                  <a:srgbClr val="000000"/>
                </a:solidFill>
                <a:latin typeface="Arial"/>
                <a:ea typeface="Arial"/>
                <a:cs typeface="Arial"/>
                <a:sym typeface="Arial"/>
              </a:endParaRPr>
            </a:p>
          </p:txBody>
        </p:sp>
      </p:grpSp>
      <p:grpSp>
        <p:nvGrpSpPr>
          <p:cNvPr id="829" name="Google Shape;829;p17">
            <a:extLst>
              <a:ext uri="{FF2B5EF4-FFF2-40B4-BE49-F238E27FC236}">
                <a16:creationId xmlns:a16="http://schemas.microsoft.com/office/drawing/2014/main" id="{DDED4492-D734-D93F-4943-B929E9CFA25E}"/>
              </a:ext>
            </a:extLst>
          </p:cNvPr>
          <p:cNvGrpSpPr/>
          <p:nvPr/>
        </p:nvGrpSpPr>
        <p:grpSpPr>
          <a:xfrm>
            <a:off x="239486" y="1772674"/>
            <a:ext cx="1604487" cy="689462"/>
            <a:chOff x="0" y="-28575"/>
            <a:chExt cx="2281936" cy="980567"/>
          </a:xfrm>
        </p:grpSpPr>
        <p:sp>
          <p:nvSpPr>
            <p:cNvPr id="830" name="Google Shape;830;p17">
              <a:extLst>
                <a:ext uri="{FF2B5EF4-FFF2-40B4-BE49-F238E27FC236}">
                  <a16:creationId xmlns:a16="http://schemas.microsoft.com/office/drawing/2014/main" id="{FB0B62AB-CB9B-3459-268F-ACBD0B002E57}"/>
                </a:ext>
              </a:extLst>
            </p:cNvPr>
            <p:cNvSpPr/>
            <p:nvPr/>
          </p:nvSpPr>
          <p:spPr>
            <a:xfrm>
              <a:off x="4572" y="4572"/>
              <a:ext cx="2272792" cy="942848"/>
            </a:xfrm>
            <a:custGeom>
              <a:avLst/>
              <a:gdLst/>
              <a:ahLst/>
              <a:cxnLst/>
              <a:rect l="l" t="t" r="r" b="b"/>
              <a:pathLst>
                <a:path w="2272792" h="942848" extrusionOk="0">
                  <a:moveTo>
                    <a:pt x="0" y="0"/>
                  </a:moveTo>
                  <a:lnTo>
                    <a:pt x="2272792" y="0"/>
                  </a:lnTo>
                  <a:lnTo>
                    <a:pt x="2272792" y="942848"/>
                  </a:lnTo>
                  <a:lnTo>
                    <a:pt x="0" y="942848"/>
                  </a:lnTo>
                  <a:close/>
                </a:path>
              </a:pathLst>
            </a:custGeom>
            <a:solidFill>
              <a:srgbClr val="D9D9D9"/>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31" name="Google Shape;831;p17">
              <a:extLst>
                <a:ext uri="{FF2B5EF4-FFF2-40B4-BE49-F238E27FC236}">
                  <a16:creationId xmlns:a16="http://schemas.microsoft.com/office/drawing/2014/main" id="{0CEBA309-57AA-E4CD-D4BF-A48E6F2031F2}"/>
                </a:ext>
              </a:extLst>
            </p:cNvPr>
            <p:cNvSpPr/>
            <p:nvPr/>
          </p:nvSpPr>
          <p:spPr>
            <a:xfrm>
              <a:off x="0" y="0"/>
              <a:ext cx="2281936" cy="951992"/>
            </a:xfrm>
            <a:custGeom>
              <a:avLst/>
              <a:gdLst/>
              <a:ahLst/>
              <a:cxnLst/>
              <a:rect l="l" t="t" r="r" b="b"/>
              <a:pathLst>
                <a:path w="2281936" h="951992" extrusionOk="0">
                  <a:moveTo>
                    <a:pt x="4572" y="0"/>
                  </a:moveTo>
                  <a:lnTo>
                    <a:pt x="2277364" y="0"/>
                  </a:lnTo>
                  <a:cubicBezTo>
                    <a:pt x="2279904" y="0"/>
                    <a:pt x="2281936" y="2032"/>
                    <a:pt x="2281936" y="4572"/>
                  </a:cubicBezTo>
                  <a:lnTo>
                    <a:pt x="2281936" y="947420"/>
                  </a:lnTo>
                  <a:cubicBezTo>
                    <a:pt x="2281936" y="949960"/>
                    <a:pt x="2279904" y="951992"/>
                    <a:pt x="2277364" y="951992"/>
                  </a:cubicBezTo>
                  <a:lnTo>
                    <a:pt x="4572" y="951992"/>
                  </a:lnTo>
                  <a:cubicBezTo>
                    <a:pt x="2032" y="951992"/>
                    <a:pt x="0" y="949960"/>
                    <a:pt x="0" y="947420"/>
                  </a:cubicBezTo>
                  <a:lnTo>
                    <a:pt x="0" y="4572"/>
                  </a:lnTo>
                  <a:cubicBezTo>
                    <a:pt x="0" y="2032"/>
                    <a:pt x="2032" y="0"/>
                    <a:pt x="4572" y="0"/>
                  </a:cubicBezTo>
                  <a:moveTo>
                    <a:pt x="4572" y="9017"/>
                  </a:moveTo>
                  <a:lnTo>
                    <a:pt x="4572" y="4572"/>
                  </a:lnTo>
                  <a:lnTo>
                    <a:pt x="9017" y="4572"/>
                  </a:lnTo>
                  <a:lnTo>
                    <a:pt x="9017" y="947420"/>
                  </a:lnTo>
                  <a:lnTo>
                    <a:pt x="4572" y="947420"/>
                  </a:lnTo>
                  <a:lnTo>
                    <a:pt x="4572" y="942848"/>
                  </a:lnTo>
                  <a:lnTo>
                    <a:pt x="2277364" y="942848"/>
                  </a:lnTo>
                  <a:lnTo>
                    <a:pt x="2277364" y="947420"/>
                  </a:lnTo>
                  <a:lnTo>
                    <a:pt x="2272792" y="947420"/>
                  </a:lnTo>
                  <a:lnTo>
                    <a:pt x="2272792" y="4572"/>
                  </a:lnTo>
                  <a:lnTo>
                    <a:pt x="2277364" y="4572"/>
                  </a:lnTo>
                  <a:lnTo>
                    <a:pt x="2277364" y="9017"/>
                  </a:lnTo>
                  <a:lnTo>
                    <a:pt x="4572" y="9017"/>
                  </a:lnTo>
                  <a:close/>
                </a:path>
              </a:pathLst>
            </a:custGeom>
            <a:solidFill>
              <a:srgbClr val="FFFFFF"/>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32" name="Google Shape;832;p17">
              <a:extLst>
                <a:ext uri="{FF2B5EF4-FFF2-40B4-BE49-F238E27FC236}">
                  <a16:creationId xmlns:a16="http://schemas.microsoft.com/office/drawing/2014/main" id="{C47A1909-3164-15E5-2F48-F74CC6C6B1B3}"/>
                </a:ext>
              </a:extLst>
            </p:cNvPr>
            <p:cNvSpPr txBox="1"/>
            <p:nvPr/>
          </p:nvSpPr>
          <p:spPr>
            <a:xfrm>
              <a:off x="0" y="-28575"/>
              <a:ext cx="2281867" cy="980505"/>
            </a:xfrm>
            <a:prstGeom prst="rect">
              <a:avLst/>
            </a:prstGeom>
            <a:noFill/>
            <a:ln>
              <a:noFill/>
            </a:ln>
          </p:spPr>
          <p:txBody>
            <a:bodyPr spcFirstLastPara="1" wrap="square" lIns="47625" tIns="47625" rIns="47625" bIns="47625" anchor="ctr" anchorCtr="0">
              <a:noAutofit/>
            </a:bodyPr>
            <a:lstStyle/>
            <a:p>
              <a:pPr algn="ctr">
                <a:lnSpc>
                  <a:spcPct val="120015"/>
                </a:lnSpc>
                <a:buClr>
                  <a:srgbClr val="000000"/>
                </a:buClr>
                <a:buSzPts val="1279"/>
              </a:pPr>
              <a:r>
                <a:rPr lang="en-US" sz="1199" b="1" noProof="1">
                  <a:solidFill>
                    <a:srgbClr val="000000"/>
                  </a:solidFill>
                  <a:latin typeface="Arial"/>
                  <a:ea typeface="Arial"/>
                  <a:cs typeface="Arial"/>
                  <a:sym typeface="Arial"/>
                </a:rPr>
                <a:t>Cost of Debt</a:t>
              </a:r>
              <a:endParaRPr lang="en-US" sz="1313" noProof="1">
                <a:solidFill>
                  <a:srgbClr val="000000"/>
                </a:solidFill>
                <a:latin typeface="Arial"/>
                <a:ea typeface="Arial"/>
                <a:cs typeface="Arial"/>
                <a:sym typeface="Arial"/>
              </a:endParaRPr>
            </a:p>
            <a:p>
              <a:pPr algn="ctr">
                <a:lnSpc>
                  <a:spcPct val="120015"/>
                </a:lnSpc>
                <a:buClr>
                  <a:srgbClr val="000000"/>
                </a:buClr>
                <a:buSzPts val="1279"/>
              </a:pPr>
              <a:r>
                <a:rPr lang="en-US" sz="1199" b="1" noProof="1">
                  <a:solidFill>
                    <a:srgbClr val="000000"/>
                  </a:solidFill>
                  <a:latin typeface="Arial"/>
                  <a:ea typeface="Arial"/>
                  <a:cs typeface="Arial"/>
                  <a:sym typeface="Arial"/>
                </a:rPr>
                <a:t>3.01%</a:t>
              </a:r>
              <a:endParaRPr lang="en-US" sz="1313" noProof="1">
                <a:solidFill>
                  <a:srgbClr val="000000"/>
                </a:solidFill>
                <a:latin typeface="Arial"/>
                <a:ea typeface="Arial"/>
                <a:cs typeface="Arial"/>
                <a:sym typeface="Arial"/>
              </a:endParaRPr>
            </a:p>
          </p:txBody>
        </p:sp>
      </p:grpSp>
      <p:grpSp>
        <p:nvGrpSpPr>
          <p:cNvPr id="833" name="Google Shape;833;p17">
            <a:extLst>
              <a:ext uri="{FF2B5EF4-FFF2-40B4-BE49-F238E27FC236}">
                <a16:creationId xmlns:a16="http://schemas.microsoft.com/office/drawing/2014/main" id="{43FADAB8-7F18-BD0F-22DC-6899DC64635C}"/>
              </a:ext>
            </a:extLst>
          </p:cNvPr>
          <p:cNvGrpSpPr/>
          <p:nvPr/>
        </p:nvGrpSpPr>
        <p:grpSpPr>
          <a:xfrm>
            <a:off x="239486" y="2631146"/>
            <a:ext cx="1604487" cy="689462"/>
            <a:chOff x="0" y="-28575"/>
            <a:chExt cx="2281936" cy="980567"/>
          </a:xfrm>
        </p:grpSpPr>
        <p:sp>
          <p:nvSpPr>
            <p:cNvPr id="834" name="Google Shape;834;p17">
              <a:extLst>
                <a:ext uri="{FF2B5EF4-FFF2-40B4-BE49-F238E27FC236}">
                  <a16:creationId xmlns:a16="http://schemas.microsoft.com/office/drawing/2014/main" id="{F3001DDD-B6AC-E5E6-2F34-D229BDB35EC7}"/>
                </a:ext>
              </a:extLst>
            </p:cNvPr>
            <p:cNvSpPr/>
            <p:nvPr/>
          </p:nvSpPr>
          <p:spPr>
            <a:xfrm>
              <a:off x="4572" y="4572"/>
              <a:ext cx="2272792" cy="942848"/>
            </a:xfrm>
            <a:custGeom>
              <a:avLst/>
              <a:gdLst/>
              <a:ahLst/>
              <a:cxnLst/>
              <a:rect l="l" t="t" r="r" b="b"/>
              <a:pathLst>
                <a:path w="2272792" h="942848" extrusionOk="0">
                  <a:moveTo>
                    <a:pt x="0" y="0"/>
                  </a:moveTo>
                  <a:lnTo>
                    <a:pt x="2272792" y="0"/>
                  </a:lnTo>
                  <a:lnTo>
                    <a:pt x="2272792" y="942848"/>
                  </a:lnTo>
                  <a:lnTo>
                    <a:pt x="0" y="942848"/>
                  </a:lnTo>
                  <a:close/>
                </a:path>
              </a:pathLst>
            </a:custGeom>
            <a:solidFill>
              <a:srgbClr val="D9D9D9"/>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35" name="Google Shape;835;p17">
              <a:extLst>
                <a:ext uri="{FF2B5EF4-FFF2-40B4-BE49-F238E27FC236}">
                  <a16:creationId xmlns:a16="http://schemas.microsoft.com/office/drawing/2014/main" id="{0DA550E2-A2EF-F403-2DF6-7CE3D92634BF}"/>
                </a:ext>
              </a:extLst>
            </p:cNvPr>
            <p:cNvSpPr/>
            <p:nvPr/>
          </p:nvSpPr>
          <p:spPr>
            <a:xfrm>
              <a:off x="0" y="0"/>
              <a:ext cx="2281936" cy="951992"/>
            </a:xfrm>
            <a:custGeom>
              <a:avLst/>
              <a:gdLst/>
              <a:ahLst/>
              <a:cxnLst/>
              <a:rect l="l" t="t" r="r" b="b"/>
              <a:pathLst>
                <a:path w="2281936" h="951992" extrusionOk="0">
                  <a:moveTo>
                    <a:pt x="4572" y="0"/>
                  </a:moveTo>
                  <a:lnTo>
                    <a:pt x="2277364" y="0"/>
                  </a:lnTo>
                  <a:cubicBezTo>
                    <a:pt x="2279904" y="0"/>
                    <a:pt x="2281936" y="2032"/>
                    <a:pt x="2281936" y="4572"/>
                  </a:cubicBezTo>
                  <a:lnTo>
                    <a:pt x="2281936" y="947420"/>
                  </a:lnTo>
                  <a:cubicBezTo>
                    <a:pt x="2281936" y="949960"/>
                    <a:pt x="2279904" y="951992"/>
                    <a:pt x="2277364" y="951992"/>
                  </a:cubicBezTo>
                  <a:lnTo>
                    <a:pt x="4572" y="951992"/>
                  </a:lnTo>
                  <a:cubicBezTo>
                    <a:pt x="2032" y="951992"/>
                    <a:pt x="0" y="949960"/>
                    <a:pt x="0" y="947420"/>
                  </a:cubicBezTo>
                  <a:lnTo>
                    <a:pt x="0" y="4572"/>
                  </a:lnTo>
                  <a:cubicBezTo>
                    <a:pt x="0" y="2032"/>
                    <a:pt x="2032" y="0"/>
                    <a:pt x="4572" y="0"/>
                  </a:cubicBezTo>
                  <a:moveTo>
                    <a:pt x="4572" y="9017"/>
                  </a:moveTo>
                  <a:lnTo>
                    <a:pt x="4572" y="4572"/>
                  </a:lnTo>
                  <a:lnTo>
                    <a:pt x="9017" y="4572"/>
                  </a:lnTo>
                  <a:lnTo>
                    <a:pt x="9017" y="947420"/>
                  </a:lnTo>
                  <a:lnTo>
                    <a:pt x="4572" y="947420"/>
                  </a:lnTo>
                  <a:lnTo>
                    <a:pt x="4572" y="942848"/>
                  </a:lnTo>
                  <a:lnTo>
                    <a:pt x="2277364" y="942848"/>
                  </a:lnTo>
                  <a:lnTo>
                    <a:pt x="2277364" y="947420"/>
                  </a:lnTo>
                  <a:lnTo>
                    <a:pt x="2272792" y="947420"/>
                  </a:lnTo>
                  <a:lnTo>
                    <a:pt x="2272792" y="4572"/>
                  </a:lnTo>
                  <a:lnTo>
                    <a:pt x="2277364" y="4572"/>
                  </a:lnTo>
                  <a:lnTo>
                    <a:pt x="2277364" y="9017"/>
                  </a:lnTo>
                  <a:lnTo>
                    <a:pt x="4572" y="9017"/>
                  </a:lnTo>
                  <a:close/>
                </a:path>
              </a:pathLst>
            </a:custGeom>
            <a:solidFill>
              <a:srgbClr val="FFFFFF"/>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36" name="Google Shape;836;p17">
              <a:extLst>
                <a:ext uri="{FF2B5EF4-FFF2-40B4-BE49-F238E27FC236}">
                  <a16:creationId xmlns:a16="http://schemas.microsoft.com/office/drawing/2014/main" id="{6129D59E-44C0-8CCA-1C77-DC44ED563F92}"/>
                </a:ext>
              </a:extLst>
            </p:cNvPr>
            <p:cNvSpPr txBox="1"/>
            <p:nvPr/>
          </p:nvSpPr>
          <p:spPr>
            <a:xfrm>
              <a:off x="0" y="-28575"/>
              <a:ext cx="2281867" cy="980505"/>
            </a:xfrm>
            <a:prstGeom prst="rect">
              <a:avLst/>
            </a:prstGeom>
            <a:noFill/>
            <a:ln>
              <a:noFill/>
            </a:ln>
          </p:spPr>
          <p:txBody>
            <a:bodyPr spcFirstLastPara="1" wrap="square" lIns="47625" tIns="47625" rIns="47625" bIns="47625" anchor="ctr" anchorCtr="0">
              <a:noAutofit/>
            </a:bodyPr>
            <a:lstStyle/>
            <a:p>
              <a:pPr algn="ctr">
                <a:lnSpc>
                  <a:spcPct val="120015"/>
                </a:lnSpc>
                <a:buClr>
                  <a:srgbClr val="000000"/>
                </a:buClr>
                <a:buSzPts val="1279"/>
              </a:pPr>
              <a:r>
                <a:rPr lang="en-US" sz="1199" b="1" noProof="1">
                  <a:solidFill>
                    <a:srgbClr val="000000"/>
                  </a:solidFill>
                  <a:latin typeface="Arial"/>
                  <a:ea typeface="Arial"/>
                  <a:cs typeface="Arial"/>
                  <a:sym typeface="Arial"/>
                </a:rPr>
                <a:t>Risk Free Rate</a:t>
              </a:r>
              <a:endParaRPr lang="en-US" sz="1313" noProof="1">
                <a:solidFill>
                  <a:srgbClr val="000000"/>
                </a:solidFill>
                <a:latin typeface="Arial"/>
                <a:ea typeface="Arial"/>
                <a:cs typeface="Arial"/>
                <a:sym typeface="Arial"/>
              </a:endParaRPr>
            </a:p>
            <a:p>
              <a:pPr algn="ctr">
                <a:lnSpc>
                  <a:spcPct val="120015"/>
                </a:lnSpc>
                <a:buClr>
                  <a:srgbClr val="000000"/>
                </a:buClr>
                <a:buSzPts val="1279"/>
              </a:pPr>
              <a:r>
                <a:rPr lang="en-US" sz="1199" b="1" noProof="1">
                  <a:solidFill>
                    <a:srgbClr val="000000"/>
                  </a:solidFill>
                  <a:latin typeface="Arial"/>
                  <a:ea typeface="Arial"/>
                  <a:cs typeface="Arial"/>
                  <a:sym typeface="Arial"/>
                </a:rPr>
                <a:t>3.75%</a:t>
              </a:r>
              <a:endParaRPr lang="en-US" sz="1313" noProof="1">
                <a:solidFill>
                  <a:srgbClr val="000000"/>
                </a:solidFill>
                <a:latin typeface="Arial"/>
                <a:ea typeface="Arial"/>
                <a:cs typeface="Arial"/>
                <a:sym typeface="Arial"/>
              </a:endParaRPr>
            </a:p>
          </p:txBody>
        </p:sp>
      </p:grpSp>
      <p:grpSp>
        <p:nvGrpSpPr>
          <p:cNvPr id="837" name="Google Shape;837;p17">
            <a:extLst>
              <a:ext uri="{FF2B5EF4-FFF2-40B4-BE49-F238E27FC236}">
                <a16:creationId xmlns:a16="http://schemas.microsoft.com/office/drawing/2014/main" id="{897900FF-FF03-8C51-7828-F869B1B0D083}"/>
              </a:ext>
            </a:extLst>
          </p:cNvPr>
          <p:cNvGrpSpPr/>
          <p:nvPr/>
        </p:nvGrpSpPr>
        <p:grpSpPr>
          <a:xfrm>
            <a:off x="239486" y="4261820"/>
            <a:ext cx="1604487" cy="689462"/>
            <a:chOff x="0" y="-28575"/>
            <a:chExt cx="2281936" cy="980567"/>
          </a:xfrm>
        </p:grpSpPr>
        <p:sp>
          <p:nvSpPr>
            <p:cNvPr id="838" name="Google Shape;838;p17">
              <a:extLst>
                <a:ext uri="{FF2B5EF4-FFF2-40B4-BE49-F238E27FC236}">
                  <a16:creationId xmlns:a16="http://schemas.microsoft.com/office/drawing/2014/main" id="{427A8E8F-9BBC-551A-A331-EE5A5DE3C435}"/>
                </a:ext>
              </a:extLst>
            </p:cNvPr>
            <p:cNvSpPr/>
            <p:nvPr/>
          </p:nvSpPr>
          <p:spPr>
            <a:xfrm>
              <a:off x="4572" y="4572"/>
              <a:ext cx="2272792" cy="942848"/>
            </a:xfrm>
            <a:custGeom>
              <a:avLst/>
              <a:gdLst/>
              <a:ahLst/>
              <a:cxnLst/>
              <a:rect l="l" t="t" r="r" b="b"/>
              <a:pathLst>
                <a:path w="2272792" h="942848" extrusionOk="0">
                  <a:moveTo>
                    <a:pt x="0" y="0"/>
                  </a:moveTo>
                  <a:lnTo>
                    <a:pt x="2272792" y="0"/>
                  </a:lnTo>
                  <a:lnTo>
                    <a:pt x="2272792" y="942848"/>
                  </a:lnTo>
                  <a:lnTo>
                    <a:pt x="0" y="942848"/>
                  </a:lnTo>
                  <a:close/>
                </a:path>
              </a:pathLst>
            </a:custGeom>
            <a:solidFill>
              <a:srgbClr val="D9D9D9"/>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39" name="Google Shape;839;p17">
              <a:extLst>
                <a:ext uri="{FF2B5EF4-FFF2-40B4-BE49-F238E27FC236}">
                  <a16:creationId xmlns:a16="http://schemas.microsoft.com/office/drawing/2014/main" id="{6368C631-C7FD-7FF0-56A4-03F09C69F77D}"/>
                </a:ext>
              </a:extLst>
            </p:cNvPr>
            <p:cNvSpPr/>
            <p:nvPr/>
          </p:nvSpPr>
          <p:spPr>
            <a:xfrm>
              <a:off x="0" y="0"/>
              <a:ext cx="2281936" cy="951992"/>
            </a:xfrm>
            <a:custGeom>
              <a:avLst/>
              <a:gdLst/>
              <a:ahLst/>
              <a:cxnLst/>
              <a:rect l="l" t="t" r="r" b="b"/>
              <a:pathLst>
                <a:path w="2281936" h="951992" extrusionOk="0">
                  <a:moveTo>
                    <a:pt x="4572" y="0"/>
                  </a:moveTo>
                  <a:lnTo>
                    <a:pt x="2277364" y="0"/>
                  </a:lnTo>
                  <a:cubicBezTo>
                    <a:pt x="2279904" y="0"/>
                    <a:pt x="2281936" y="2032"/>
                    <a:pt x="2281936" y="4572"/>
                  </a:cubicBezTo>
                  <a:lnTo>
                    <a:pt x="2281936" y="947420"/>
                  </a:lnTo>
                  <a:cubicBezTo>
                    <a:pt x="2281936" y="949960"/>
                    <a:pt x="2279904" y="951992"/>
                    <a:pt x="2277364" y="951992"/>
                  </a:cubicBezTo>
                  <a:lnTo>
                    <a:pt x="4572" y="951992"/>
                  </a:lnTo>
                  <a:cubicBezTo>
                    <a:pt x="2032" y="951992"/>
                    <a:pt x="0" y="949960"/>
                    <a:pt x="0" y="947420"/>
                  </a:cubicBezTo>
                  <a:lnTo>
                    <a:pt x="0" y="4572"/>
                  </a:lnTo>
                  <a:cubicBezTo>
                    <a:pt x="0" y="2032"/>
                    <a:pt x="2032" y="0"/>
                    <a:pt x="4572" y="0"/>
                  </a:cubicBezTo>
                  <a:moveTo>
                    <a:pt x="4572" y="9017"/>
                  </a:moveTo>
                  <a:lnTo>
                    <a:pt x="4572" y="4572"/>
                  </a:lnTo>
                  <a:lnTo>
                    <a:pt x="9017" y="4572"/>
                  </a:lnTo>
                  <a:lnTo>
                    <a:pt x="9017" y="947420"/>
                  </a:lnTo>
                  <a:lnTo>
                    <a:pt x="4572" y="947420"/>
                  </a:lnTo>
                  <a:lnTo>
                    <a:pt x="4572" y="942848"/>
                  </a:lnTo>
                  <a:lnTo>
                    <a:pt x="2277364" y="942848"/>
                  </a:lnTo>
                  <a:lnTo>
                    <a:pt x="2277364" y="947420"/>
                  </a:lnTo>
                  <a:lnTo>
                    <a:pt x="2272792" y="947420"/>
                  </a:lnTo>
                  <a:lnTo>
                    <a:pt x="2272792" y="4572"/>
                  </a:lnTo>
                  <a:lnTo>
                    <a:pt x="2277364" y="4572"/>
                  </a:lnTo>
                  <a:lnTo>
                    <a:pt x="2277364" y="9017"/>
                  </a:lnTo>
                  <a:lnTo>
                    <a:pt x="4572" y="9017"/>
                  </a:lnTo>
                  <a:close/>
                </a:path>
              </a:pathLst>
            </a:custGeom>
            <a:solidFill>
              <a:srgbClr val="FFFFFF"/>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40" name="Google Shape;840;p17">
              <a:extLst>
                <a:ext uri="{FF2B5EF4-FFF2-40B4-BE49-F238E27FC236}">
                  <a16:creationId xmlns:a16="http://schemas.microsoft.com/office/drawing/2014/main" id="{39891A7B-5E23-9097-6BE2-66151B43B42F}"/>
                </a:ext>
              </a:extLst>
            </p:cNvPr>
            <p:cNvSpPr txBox="1"/>
            <p:nvPr/>
          </p:nvSpPr>
          <p:spPr>
            <a:xfrm>
              <a:off x="0" y="-28575"/>
              <a:ext cx="2281867" cy="980505"/>
            </a:xfrm>
            <a:prstGeom prst="rect">
              <a:avLst/>
            </a:prstGeom>
            <a:noFill/>
            <a:ln>
              <a:noFill/>
            </a:ln>
          </p:spPr>
          <p:txBody>
            <a:bodyPr spcFirstLastPara="1" wrap="square" lIns="47625" tIns="47625" rIns="47625" bIns="47625" anchor="ctr" anchorCtr="0">
              <a:noAutofit/>
            </a:bodyPr>
            <a:lstStyle/>
            <a:p>
              <a:pPr algn="ctr">
                <a:lnSpc>
                  <a:spcPct val="120000"/>
                </a:lnSpc>
                <a:buClr>
                  <a:srgbClr val="000000"/>
                </a:buClr>
                <a:buSzPts val="1280"/>
              </a:pPr>
              <a:r>
                <a:rPr lang="en-US" sz="1200" b="1" noProof="1">
                  <a:solidFill>
                    <a:srgbClr val="000000"/>
                  </a:solidFill>
                  <a:latin typeface="Arial"/>
                  <a:ea typeface="Arial"/>
                  <a:cs typeface="Arial"/>
                  <a:sym typeface="Arial"/>
                </a:rPr>
                <a:t>Weight of debt</a:t>
              </a:r>
              <a:endParaRPr lang="en-US" sz="1313" noProof="1">
                <a:solidFill>
                  <a:srgbClr val="000000"/>
                </a:solidFill>
                <a:latin typeface="Arial"/>
                <a:ea typeface="Arial"/>
                <a:cs typeface="Arial"/>
                <a:sym typeface="Arial"/>
              </a:endParaRPr>
            </a:p>
            <a:p>
              <a:pPr algn="ctr">
                <a:lnSpc>
                  <a:spcPct val="120015"/>
                </a:lnSpc>
                <a:buClr>
                  <a:srgbClr val="000000"/>
                </a:buClr>
                <a:buSzPts val="1279"/>
              </a:pPr>
              <a:r>
                <a:rPr lang="en-US" sz="1199" b="1" noProof="1">
                  <a:solidFill>
                    <a:srgbClr val="000000"/>
                  </a:solidFill>
                  <a:latin typeface="Arial"/>
                  <a:cs typeface="Arial"/>
                </a:rPr>
                <a:t>13.14</a:t>
              </a:r>
              <a:r>
                <a:rPr lang="en-US" sz="1199" b="1" noProof="1">
                  <a:solidFill>
                    <a:srgbClr val="000000"/>
                  </a:solidFill>
                  <a:latin typeface="Arial"/>
                  <a:ea typeface="Arial"/>
                  <a:cs typeface="Arial"/>
                  <a:sym typeface="Arial"/>
                </a:rPr>
                <a:t>%</a:t>
              </a:r>
              <a:endParaRPr lang="en-US" sz="1313" noProof="1">
                <a:solidFill>
                  <a:srgbClr val="000000"/>
                </a:solidFill>
                <a:latin typeface="Arial"/>
                <a:ea typeface="Arial"/>
                <a:cs typeface="Arial"/>
                <a:sym typeface="Arial"/>
              </a:endParaRPr>
            </a:p>
          </p:txBody>
        </p:sp>
      </p:grpSp>
      <p:sp>
        <p:nvSpPr>
          <p:cNvPr id="841" name="Google Shape;841;p17">
            <a:extLst>
              <a:ext uri="{FF2B5EF4-FFF2-40B4-BE49-F238E27FC236}">
                <a16:creationId xmlns:a16="http://schemas.microsoft.com/office/drawing/2014/main" id="{7A1830E3-B600-BE71-7515-726603D43884}"/>
              </a:ext>
            </a:extLst>
          </p:cNvPr>
          <p:cNvSpPr txBox="1"/>
          <p:nvPr/>
        </p:nvSpPr>
        <p:spPr>
          <a:xfrm>
            <a:off x="2008414" y="1922046"/>
            <a:ext cx="7007906" cy="637097"/>
          </a:xfrm>
          <a:prstGeom prst="rect">
            <a:avLst/>
          </a:prstGeom>
          <a:noFill/>
          <a:ln>
            <a:noFill/>
          </a:ln>
        </p:spPr>
        <p:txBody>
          <a:bodyPr spcFirstLastPara="1" wrap="square" lIns="0" tIns="0" rIns="0" bIns="0" anchor="t" anchorCtr="0">
            <a:spAutoFit/>
          </a:bodyPr>
          <a:lstStyle/>
          <a:p>
            <a:pPr lvl="0" algn="ctr">
              <a:lnSpc>
                <a:spcPct val="120000"/>
              </a:lnSpc>
              <a:buSzPts val="1280"/>
            </a:pPr>
            <a:r>
              <a:rPr lang="en-US" sz="1125" noProof="1">
                <a:solidFill>
                  <a:srgbClr val="000000"/>
                </a:solidFill>
                <a:latin typeface="Arial"/>
                <a:ea typeface="Arial"/>
                <a:cs typeface="Arial"/>
                <a:sym typeface="Arial"/>
              </a:rPr>
              <a:t>As of December 2025, the cost of debt for AI was €291.4m, for a total book value of net debts of                   -€9.69bn</a:t>
            </a:r>
          </a:p>
          <a:p>
            <a:pPr algn="ctr">
              <a:lnSpc>
                <a:spcPct val="120000"/>
              </a:lnSpc>
              <a:buClr>
                <a:srgbClr val="000000"/>
              </a:buClr>
              <a:buSzPts val="1280"/>
            </a:pPr>
            <a:r>
              <a:rPr lang="en-US" sz="1200" noProof="1">
                <a:solidFill>
                  <a:srgbClr val="000000"/>
                </a:solidFill>
                <a:latin typeface="Arial"/>
                <a:ea typeface="Arial"/>
                <a:cs typeface="Arial"/>
                <a:sym typeface="Arial"/>
              </a:rPr>
              <a:t>=&gt; Cost of Debt = </a:t>
            </a:r>
            <a:r>
              <a:rPr lang="en-US" sz="1200" noProof="1">
                <a:solidFill>
                  <a:srgbClr val="000000"/>
                </a:solidFill>
                <a:latin typeface="Arial"/>
                <a:cs typeface="Arial"/>
              </a:rPr>
              <a:t>0.291</a:t>
            </a:r>
            <a:r>
              <a:rPr lang="en-US" sz="1200" noProof="1">
                <a:solidFill>
                  <a:srgbClr val="000000"/>
                </a:solidFill>
                <a:latin typeface="Arial"/>
                <a:ea typeface="Arial"/>
                <a:cs typeface="Arial"/>
                <a:sym typeface="Arial"/>
              </a:rPr>
              <a:t> / 9.69 = 3.01%.</a:t>
            </a:r>
            <a:endParaRPr lang="en-US" sz="1313" noProof="1">
              <a:solidFill>
                <a:srgbClr val="000000"/>
              </a:solidFill>
              <a:latin typeface="Arial"/>
              <a:ea typeface="Arial"/>
              <a:cs typeface="Arial"/>
              <a:sym typeface="Arial"/>
            </a:endParaRPr>
          </a:p>
        </p:txBody>
      </p:sp>
      <p:sp>
        <p:nvSpPr>
          <p:cNvPr id="842" name="Google Shape;842;p17">
            <a:extLst>
              <a:ext uri="{FF2B5EF4-FFF2-40B4-BE49-F238E27FC236}">
                <a16:creationId xmlns:a16="http://schemas.microsoft.com/office/drawing/2014/main" id="{87DDADE0-A913-9785-092D-5B8F51E24F95}"/>
              </a:ext>
            </a:extLst>
          </p:cNvPr>
          <p:cNvSpPr txBox="1"/>
          <p:nvPr/>
        </p:nvSpPr>
        <p:spPr>
          <a:xfrm>
            <a:off x="2008426" y="2872867"/>
            <a:ext cx="7007906" cy="221599"/>
          </a:xfrm>
          <a:prstGeom prst="rect">
            <a:avLst/>
          </a:prstGeom>
          <a:noFill/>
          <a:ln>
            <a:noFill/>
          </a:ln>
        </p:spPr>
        <p:txBody>
          <a:bodyPr spcFirstLastPara="1" wrap="square" lIns="0" tIns="0" rIns="0" bIns="0" anchor="t" anchorCtr="0">
            <a:spAutoFit/>
          </a:bodyPr>
          <a:lstStyle/>
          <a:p>
            <a:pPr algn="ctr">
              <a:lnSpc>
                <a:spcPct val="120000"/>
              </a:lnSpc>
              <a:buClr>
                <a:srgbClr val="000000"/>
              </a:buClr>
              <a:buSzPts val="1280"/>
            </a:pPr>
            <a:r>
              <a:rPr lang="en-US" sz="1200" noProof="1">
                <a:solidFill>
                  <a:srgbClr val="000000"/>
                </a:solidFill>
                <a:latin typeface="Arial"/>
                <a:ea typeface="Arial"/>
                <a:cs typeface="Arial"/>
                <a:sym typeface="Arial"/>
              </a:rPr>
              <a:t>We use here the French 10Y gov bond</a:t>
            </a:r>
            <a:endParaRPr lang="en-US" sz="1313" noProof="1">
              <a:solidFill>
                <a:srgbClr val="000000"/>
              </a:solidFill>
              <a:latin typeface="Arial"/>
              <a:ea typeface="Arial"/>
              <a:cs typeface="Arial"/>
              <a:sym typeface="Arial"/>
            </a:endParaRPr>
          </a:p>
        </p:txBody>
      </p:sp>
      <p:sp>
        <p:nvSpPr>
          <p:cNvPr id="843" name="Google Shape;843;p17">
            <a:extLst>
              <a:ext uri="{FF2B5EF4-FFF2-40B4-BE49-F238E27FC236}">
                <a16:creationId xmlns:a16="http://schemas.microsoft.com/office/drawing/2014/main" id="{B872AAE4-3A29-3757-EF1F-7A512AE15A91}"/>
              </a:ext>
            </a:extLst>
          </p:cNvPr>
          <p:cNvSpPr txBox="1"/>
          <p:nvPr/>
        </p:nvSpPr>
        <p:spPr>
          <a:xfrm>
            <a:off x="2008414" y="3490693"/>
            <a:ext cx="7007906" cy="664797"/>
          </a:xfrm>
          <a:prstGeom prst="rect">
            <a:avLst/>
          </a:prstGeom>
          <a:noFill/>
          <a:ln>
            <a:noFill/>
          </a:ln>
        </p:spPr>
        <p:txBody>
          <a:bodyPr spcFirstLastPara="1" wrap="square" lIns="0" tIns="0" rIns="0" bIns="0" anchor="t" anchorCtr="0">
            <a:spAutoFit/>
          </a:bodyPr>
          <a:lstStyle/>
          <a:p>
            <a:pPr algn="ctr">
              <a:lnSpc>
                <a:spcPct val="120000"/>
              </a:lnSpc>
              <a:buClr>
                <a:srgbClr val="000000"/>
              </a:buClr>
              <a:buSzPts val="1280"/>
            </a:pPr>
            <a:r>
              <a:rPr lang="en-US" sz="1200" noProof="1">
                <a:solidFill>
                  <a:srgbClr val="000000"/>
                </a:solidFill>
                <a:latin typeface="Arial" panose="020B0604020202020204" pitchFamily="34" charset="0"/>
                <a:ea typeface="Arial"/>
                <a:cs typeface="Arial" panose="020B0604020202020204" pitchFamily="34" charset="0"/>
                <a:sym typeface="Arial"/>
              </a:rPr>
              <a:t>We use here a 2</a:t>
            </a:r>
            <a:r>
              <a:rPr lang="en-US" sz="1200" noProof="1">
                <a:latin typeface="Arial" panose="020B0604020202020204" pitchFamily="34" charset="0"/>
                <a:cs typeface="Arial" panose="020B0604020202020204" pitchFamily="34" charset="0"/>
              </a:rPr>
              <a:t>.90</a:t>
            </a:r>
            <a:r>
              <a:rPr lang="en-US" sz="1200" noProof="1">
                <a:solidFill>
                  <a:srgbClr val="000000"/>
                </a:solidFill>
                <a:latin typeface="Arial" panose="020B0604020202020204" pitchFamily="34" charset="0"/>
                <a:ea typeface="Arial"/>
                <a:cs typeface="Arial" panose="020B0604020202020204" pitchFamily="34" charset="0"/>
                <a:sym typeface="Arial"/>
              </a:rPr>
              <a:t>% market premium, the difference between the risk-free rate and the 10Y return average of the CAC40 Index and the CAPM model then:</a:t>
            </a:r>
          </a:p>
          <a:p>
            <a:pPr lvl="0" algn="ctr">
              <a:lnSpc>
                <a:spcPct val="120000"/>
              </a:lnSpc>
              <a:buSzPts val="1280"/>
            </a:pPr>
            <a:r>
              <a:rPr lang="en-US" sz="1200" noProof="1">
                <a:latin typeface="Arial" panose="020B0604020202020204" pitchFamily="34" charset="0"/>
                <a:cs typeface="Arial" panose="020B0604020202020204" pitchFamily="34" charset="0"/>
              </a:rPr>
              <a:t>Ke = Rf + β * (Rm - Rf) with an adjusted </a:t>
            </a:r>
            <a:r>
              <a:rPr lang="en-US" sz="1200" noProof="1">
                <a:solidFill>
                  <a:schemeClr val="dk1"/>
                </a:solidFill>
                <a:latin typeface="Arial" panose="020B0604020202020204" pitchFamily="34" charset="0"/>
                <a:cs typeface="Arial" panose="020B0604020202020204" pitchFamily="34" charset="0"/>
              </a:rPr>
              <a:t>β= 0.65*0.67+0.33*1=0.77</a:t>
            </a:r>
            <a:endParaRPr lang="en-US" sz="1200" noProof="1">
              <a:latin typeface="Arial" panose="020B0604020202020204" pitchFamily="34" charset="0"/>
              <a:cs typeface="Arial" panose="020B0604020202020204" pitchFamily="34" charset="0"/>
            </a:endParaRPr>
          </a:p>
        </p:txBody>
      </p:sp>
      <p:sp>
        <p:nvSpPr>
          <p:cNvPr id="844" name="Google Shape;844;p17">
            <a:extLst>
              <a:ext uri="{FF2B5EF4-FFF2-40B4-BE49-F238E27FC236}">
                <a16:creationId xmlns:a16="http://schemas.microsoft.com/office/drawing/2014/main" id="{A89EE569-A81D-1BFA-65E1-A10E6AFE996A}"/>
              </a:ext>
            </a:extLst>
          </p:cNvPr>
          <p:cNvSpPr txBox="1"/>
          <p:nvPr/>
        </p:nvSpPr>
        <p:spPr>
          <a:xfrm>
            <a:off x="2008414" y="4358415"/>
            <a:ext cx="7007906" cy="443198"/>
          </a:xfrm>
          <a:prstGeom prst="rect">
            <a:avLst/>
          </a:prstGeom>
          <a:noFill/>
          <a:ln>
            <a:noFill/>
          </a:ln>
        </p:spPr>
        <p:txBody>
          <a:bodyPr spcFirstLastPara="1" wrap="square" lIns="0" tIns="0" rIns="0" bIns="0" anchor="t" anchorCtr="0">
            <a:spAutoFit/>
          </a:bodyPr>
          <a:lstStyle/>
          <a:p>
            <a:pPr algn="ctr">
              <a:lnSpc>
                <a:spcPct val="120000"/>
              </a:lnSpc>
              <a:buClr>
                <a:srgbClr val="000000"/>
              </a:buClr>
              <a:buSzPts val="1280"/>
            </a:pPr>
            <a:r>
              <a:rPr lang="en-US" sz="1200" noProof="1">
                <a:solidFill>
                  <a:srgbClr val="000000"/>
                </a:solidFill>
                <a:latin typeface="Arial" panose="020B0604020202020204" pitchFamily="34" charset="0"/>
                <a:ea typeface="Arial"/>
                <a:cs typeface="Arial" panose="020B0604020202020204" pitchFamily="34" charset="0"/>
                <a:sym typeface="Arial"/>
              </a:rPr>
              <a:t>Market cap : €103.86bn</a:t>
            </a:r>
            <a:r>
              <a:rPr lang="en-US" sz="1200" noProof="1">
                <a:latin typeface="Arial" panose="020B0604020202020204" pitchFamily="34" charset="0"/>
                <a:cs typeface="Arial" panose="020B0604020202020204" pitchFamily="34" charset="0"/>
              </a:rPr>
              <a:t> /</a:t>
            </a:r>
            <a:r>
              <a:rPr lang="en-US" sz="1200" noProof="1">
                <a:solidFill>
                  <a:srgbClr val="000000"/>
                </a:solidFill>
                <a:latin typeface="Arial" panose="020B0604020202020204" pitchFamily="34" charset="0"/>
                <a:ea typeface="Arial"/>
                <a:cs typeface="Arial" panose="020B0604020202020204" pitchFamily="34" charset="0"/>
                <a:sym typeface="Arial"/>
              </a:rPr>
              <a:t> Total debts : €13.65bn</a:t>
            </a:r>
            <a:r>
              <a:rPr lang="en-US" sz="1200" noProof="1">
                <a:latin typeface="Arial" panose="020B0604020202020204" pitchFamily="34" charset="0"/>
                <a:cs typeface="Arial" panose="020B0604020202020204" pitchFamily="34" charset="0"/>
              </a:rPr>
              <a:t> </a:t>
            </a:r>
          </a:p>
          <a:p>
            <a:pPr algn="ctr">
              <a:lnSpc>
                <a:spcPct val="120000"/>
              </a:lnSpc>
              <a:buClr>
                <a:srgbClr val="000000"/>
              </a:buClr>
              <a:buSzPts val="1280"/>
            </a:pPr>
            <a:r>
              <a:rPr lang="en-US" sz="1200" noProof="1">
                <a:solidFill>
                  <a:srgbClr val="000000"/>
                </a:solidFill>
                <a:latin typeface="Arial" panose="020B0604020202020204" pitchFamily="34" charset="0"/>
                <a:ea typeface="Arial"/>
                <a:cs typeface="Arial" panose="020B0604020202020204" pitchFamily="34" charset="0"/>
                <a:sym typeface="Arial"/>
              </a:rPr>
              <a:t>Weight of debt = 13.65 / </a:t>
            </a:r>
            <a:r>
              <a:rPr lang="en-US" sz="1200" noProof="1">
                <a:solidFill>
                  <a:srgbClr val="000000"/>
                </a:solidFill>
                <a:latin typeface="Arial" panose="020B0604020202020204" pitchFamily="34" charset="0"/>
                <a:cs typeface="Arial" panose="020B0604020202020204" pitchFamily="34" charset="0"/>
                <a:sym typeface="Arial"/>
              </a:rPr>
              <a:t>103</a:t>
            </a:r>
            <a:r>
              <a:rPr lang="en-US" sz="1200" noProof="1">
                <a:solidFill>
                  <a:srgbClr val="000000"/>
                </a:solidFill>
                <a:latin typeface="Arial" panose="020B0604020202020204" pitchFamily="34" charset="0"/>
                <a:cs typeface="Arial" panose="020B0604020202020204" pitchFamily="34" charset="0"/>
              </a:rPr>
              <a:t>.86</a:t>
            </a:r>
            <a:r>
              <a:rPr lang="en-US" sz="1200" noProof="1">
                <a:solidFill>
                  <a:srgbClr val="000000"/>
                </a:solidFill>
                <a:latin typeface="Arial" panose="020B0604020202020204" pitchFamily="34" charset="0"/>
                <a:ea typeface="Arial"/>
                <a:cs typeface="Arial" panose="020B0604020202020204" pitchFamily="34" charset="0"/>
                <a:sym typeface="Arial"/>
              </a:rPr>
              <a:t> = 13.14%</a:t>
            </a:r>
            <a:endParaRPr lang="en-US" sz="1313" noProof="1">
              <a:solidFill>
                <a:srgbClr val="000000"/>
              </a:solidFill>
              <a:latin typeface="Arial" panose="020B0604020202020204" pitchFamily="34" charset="0"/>
              <a:ea typeface="Arial"/>
              <a:cs typeface="Arial" panose="020B0604020202020204" pitchFamily="34" charset="0"/>
              <a:sym typeface="Arial"/>
            </a:endParaRPr>
          </a:p>
        </p:txBody>
      </p:sp>
      <p:sp>
        <p:nvSpPr>
          <p:cNvPr id="845" name="Google Shape;845;p17">
            <a:extLst>
              <a:ext uri="{FF2B5EF4-FFF2-40B4-BE49-F238E27FC236}">
                <a16:creationId xmlns:a16="http://schemas.microsoft.com/office/drawing/2014/main" id="{0F5B5A16-843D-8309-7356-D6E91EDC3E33}"/>
              </a:ext>
            </a:extLst>
          </p:cNvPr>
          <p:cNvSpPr txBox="1"/>
          <p:nvPr/>
        </p:nvSpPr>
        <p:spPr>
          <a:xfrm>
            <a:off x="2513410" y="5085183"/>
            <a:ext cx="6502781" cy="886397"/>
          </a:xfrm>
          <a:prstGeom prst="rect">
            <a:avLst/>
          </a:prstGeom>
          <a:noFill/>
          <a:ln>
            <a:noFill/>
          </a:ln>
        </p:spPr>
        <p:txBody>
          <a:bodyPr spcFirstLastPara="1" wrap="square" lIns="0" tIns="0" rIns="0" bIns="0" anchor="t" anchorCtr="0">
            <a:spAutoFit/>
          </a:bodyPr>
          <a:lstStyle/>
          <a:p>
            <a:pPr>
              <a:lnSpc>
                <a:spcPct val="120000"/>
              </a:lnSpc>
              <a:buClr>
                <a:srgbClr val="000000"/>
              </a:buClr>
              <a:buSzPts val="1280"/>
            </a:pPr>
            <a:r>
              <a:rPr lang="en-US" sz="1200" noProof="1">
                <a:solidFill>
                  <a:srgbClr val="000000"/>
                </a:solidFill>
                <a:latin typeface="Arial"/>
                <a:ea typeface="Arial"/>
                <a:cs typeface="Arial"/>
                <a:sym typeface="Arial"/>
              </a:rPr>
              <a:t>WACC = (1- weight of debt) * Cost of Equity + weight of debt * Cost of Debt * (1 - Tax Rate) </a:t>
            </a:r>
            <a:endParaRPr lang="en-US" sz="1313" noProof="1">
              <a:solidFill>
                <a:srgbClr val="000000"/>
              </a:solidFill>
              <a:latin typeface="Arial"/>
              <a:ea typeface="Arial"/>
              <a:cs typeface="Arial"/>
              <a:sym typeface="Arial"/>
            </a:endParaRPr>
          </a:p>
          <a:p>
            <a:pPr>
              <a:lnSpc>
                <a:spcPct val="120000"/>
              </a:lnSpc>
              <a:buClr>
                <a:srgbClr val="000000"/>
              </a:buClr>
              <a:buSzPts val="1280"/>
            </a:pPr>
            <a:r>
              <a:rPr lang="en-US" sz="1200" noProof="1">
                <a:solidFill>
                  <a:srgbClr val="000000"/>
                </a:solidFill>
                <a:latin typeface="Arial"/>
                <a:ea typeface="Arial"/>
                <a:cs typeface="Arial"/>
                <a:sym typeface="Arial"/>
              </a:rPr>
              <a:t>= (1 – 13.14%) * 5.98% + 13.14% * 3.01% * (1 – 24.73%)</a:t>
            </a:r>
            <a:endParaRPr lang="en-US" sz="1313" noProof="1">
              <a:solidFill>
                <a:srgbClr val="000000"/>
              </a:solidFill>
              <a:latin typeface="Arial"/>
              <a:ea typeface="Arial"/>
              <a:cs typeface="Arial"/>
              <a:sym typeface="Arial"/>
            </a:endParaRPr>
          </a:p>
          <a:p>
            <a:pPr>
              <a:lnSpc>
                <a:spcPct val="120000"/>
              </a:lnSpc>
              <a:buClr>
                <a:srgbClr val="000000"/>
              </a:buClr>
              <a:buSzPts val="1280"/>
            </a:pPr>
            <a:r>
              <a:rPr lang="en-US" sz="1200" noProof="1">
                <a:solidFill>
                  <a:srgbClr val="000000"/>
                </a:solidFill>
                <a:latin typeface="Arial"/>
                <a:ea typeface="Arial"/>
                <a:cs typeface="Arial"/>
                <a:sym typeface="Arial"/>
              </a:rPr>
              <a:t>= 5.49%</a:t>
            </a:r>
            <a:endParaRPr lang="en-US" sz="1313" noProof="1">
              <a:solidFill>
                <a:srgbClr val="000000"/>
              </a:solidFill>
              <a:latin typeface="Arial"/>
              <a:ea typeface="Arial"/>
              <a:cs typeface="Arial"/>
              <a:sym typeface="Arial"/>
            </a:endParaRPr>
          </a:p>
          <a:p>
            <a:pPr>
              <a:lnSpc>
                <a:spcPct val="120000"/>
              </a:lnSpc>
              <a:buClr>
                <a:srgbClr val="000000"/>
              </a:buClr>
              <a:buSzPts val="1280"/>
            </a:pPr>
            <a:endParaRPr lang="en-US" sz="1200" noProof="1">
              <a:solidFill>
                <a:srgbClr val="000000"/>
              </a:solidFill>
              <a:latin typeface="Arial"/>
              <a:ea typeface="Arial"/>
              <a:cs typeface="Arial"/>
              <a:sym typeface="Arial"/>
            </a:endParaRPr>
          </a:p>
        </p:txBody>
      </p:sp>
    </p:spTree>
    <p:extLst>
      <p:ext uri="{BB962C8B-B14F-4D97-AF65-F5344CB8AC3E}">
        <p14:creationId xmlns:p14="http://schemas.microsoft.com/office/powerpoint/2010/main" val="1446208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grpSp>
        <p:nvGrpSpPr>
          <p:cNvPr id="881" name="Google Shape;881;p18"/>
          <p:cNvGrpSpPr/>
          <p:nvPr/>
        </p:nvGrpSpPr>
        <p:grpSpPr>
          <a:xfrm>
            <a:off x="-2192501" y="2633500"/>
            <a:ext cx="1970251" cy="496313"/>
            <a:chOff x="0" y="-28575"/>
            <a:chExt cx="2802135" cy="705866"/>
          </a:xfrm>
        </p:grpSpPr>
        <p:sp>
          <p:nvSpPr>
            <p:cNvPr id="882" name="Google Shape;882;p18"/>
            <p:cNvSpPr/>
            <p:nvPr/>
          </p:nvSpPr>
          <p:spPr>
            <a:xfrm>
              <a:off x="0" y="0"/>
              <a:ext cx="2802128" cy="677291"/>
            </a:xfrm>
            <a:custGeom>
              <a:avLst/>
              <a:gdLst/>
              <a:ahLst/>
              <a:cxnLst/>
              <a:rect l="l" t="t" r="r" b="b"/>
              <a:pathLst>
                <a:path w="2802128" h="677291" extrusionOk="0">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883" name="Google Shape;883;p18"/>
            <p:cNvSpPr txBox="1"/>
            <p:nvPr/>
          </p:nvSpPr>
          <p:spPr>
            <a:xfrm>
              <a:off x="0" y="-28575"/>
              <a:ext cx="2802135" cy="705837"/>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Outline: black, ½ pt.</a:t>
              </a:r>
              <a:endParaRPr sz="1688"/>
            </a:p>
          </p:txBody>
        </p:sp>
      </p:grpSp>
      <p:grpSp>
        <p:nvGrpSpPr>
          <p:cNvPr id="884" name="Google Shape;884;p18"/>
          <p:cNvGrpSpPr/>
          <p:nvPr/>
        </p:nvGrpSpPr>
        <p:grpSpPr>
          <a:xfrm>
            <a:off x="-2186151" y="3363382"/>
            <a:ext cx="1957566" cy="486436"/>
            <a:chOff x="0" y="-28575"/>
            <a:chExt cx="2784094" cy="691820"/>
          </a:xfrm>
        </p:grpSpPr>
        <p:sp>
          <p:nvSpPr>
            <p:cNvPr id="885" name="Google Shape;885;p18"/>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CCD1D7"/>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886" name="Google Shape;886;p18"/>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204 – 209 – 215</a:t>
              </a:r>
              <a:endParaRPr sz="1688"/>
            </a:p>
          </p:txBody>
        </p:sp>
      </p:grpSp>
      <p:grpSp>
        <p:nvGrpSpPr>
          <p:cNvPr id="887" name="Google Shape;887;p18"/>
          <p:cNvGrpSpPr/>
          <p:nvPr/>
        </p:nvGrpSpPr>
        <p:grpSpPr>
          <a:xfrm>
            <a:off x="-2186151" y="4089757"/>
            <a:ext cx="1957566" cy="486436"/>
            <a:chOff x="0" y="-28575"/>
            <a:chExt cx="2784094" cy="691820"/>
          </a:xfrm>
        </p:grpSpPr>
        <p:sp>
          <p:nvSpPr>
            <p:cNvPr id="888" name="Google Shape;888;p18"/>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485059"/>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889" name="Google Shape;889;p18"/>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72 – 80 – 89 </a:t>
              </a:r>
              <a:endParaRPr sz="1688"/>
            </a:p>
          </p:txBody>
        </p:sp>
      </p:grpSp>
      <p:grpSp>
        <p:nvGrpSpPr>
          <p:cNvPr id="890" name="Google Shape;890;p18"/>
          <p:cNvGrpSpPr/>
          <p:nvPr/>
        </p:nvGrpSpPr>
        <p:grpSpPr>
          <a:xfrm>
            <a:off x="-2186151" y="4816132"/>
            <a:ext cx="1957566" cy="486436"/>
            <a:chOff x="0" y="-28575"/>
            <a:chExt cx="2784094" cy="691820"/>
          </a:xfrm>
        </p:grpSpPr>
        <p:sp>
          <p:nvSpPr>
            <p:cNvPr id="891" name="Google Shape;891;p18"/>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5E7C9E"/>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892" name="Google Shape;892;p18"/>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94 – 124 – 158</a:t>
              </a:r>
              <a:endParaRPr sz="1688"/>
            </a:p>
          </p:txBody>
        </p:sp>
      </p:grpSp>
      <p:grpSp>
        <p:nvGrpSpPr>
          <p:cNvPr id="893" name="Google Shape;893;p18"/>
          <p:cNvGrpSpPr/>
          <p:nvPr/>
        </p:nvGrpSpPr>
        <p:grpSpPr>
          <a:xfrm>
            <a:off x="-2186151" y="5542509"/>
            <a:ext cx="1957566" cy="486436"/>
            <a:chOff x="0" y="-28575"/>
            <a:chExt cx="2784094" cy="691820"/>
          </a:xfrm>
        </p:grpSpPr>
        <p:sp>
          <p:nvSpPr>
            <p:cNvPr id="894" name="Google Shape;894;p18"/>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895" name="Google Shape;895;p18"/>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17 – 61 – 99</a:t>
              </a:r>
              <a:endParaRPr sz="1688"/>
            </a:p>
          </p:txBody>
        </p:sp>
      </p:grpSp>
      <p:grpSp>
        <p:nvGrpSpPr>
          <p:cNvPr id="896" name="Google Shape;896;p18"/>
          <p:cNvGrpSpPr/>
          <p:nvPr/>
        </p:nvGrpSpPr>
        <p:grpSpPr>
          <a:xfrm>
            <a:off x="-2186151" y="1916319"/>
            <a:ext cx="1957566" cy="483632"/>
            <a:chOff x="0" y="-28575"/>
            <a:chExt cx="2784094" cy="687832"/>
          </a:xfrm>
        </p:grpSpPr>
        <p:sp>
          <p:nvSpPr>
            <p:cNvPr id="897" name="Google Shape;897;p18"/>
            <p:cNvSpPr/>
            <p:nvPr/>
          </p:nvSpPr>
          <p:spPr>
            <a:xfrm>
              <a:off x="0" y="0"/>
              <a:ext cx="2784094" cy="659257"/>
            </a:xfrm>
            <a:custGeom>
              <a:avLst/>
              <a:gdLst/>
              <a:ahLst/>
              <a:cxnLst/>
              <a:rect l="l" t="t" r="r" b="b"/>
              <a:pathLst>
                <a:path w="2784094" h="659257" extrusionOk="0">
                  <a:moveTo>
                    <a:pt x="0" y="0"/>
                  </a:moveTo>
                  <a:lnTo>
                    <a:pt x="2784094" y="0"/>
                  </a:lnTo>
                  <a:lnTo>
                    <a:pt x="2784094" y="659257"/>
                  </a:lnTo>
                  <a:lnTo>
                    <a:pt x="0" y="659257"/>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898" name="Google Shape;898;p18"/>
            <p:cNvSpPr txBox="1"/>
            <p:nvPr/>
          </p:nvSpPr>
          <p:spPr>
            <a:xfrm>
              <a:off x="0" y="-28575"/>
              <a:ext cx="2784073" cy="687775"/>
            </a:xfrm>
            <a:prstGeom prst="rect">
              <a:avLst/>
            </a:prstGeom>
            <a:noFill/>
            <a:ln>
              <a:noFill/>
            </a:ln>
          </p:spPr>
          <p:txBody>
            <a:bodyPr spcFirstLastPara="1" wrap="square" lIns="47625" tIns="47625" rIns="47625" bIns="47625" anchor="ctr" anchorCtr="0">
              <a:noAutofit/>
            </a:bodyPr>
            <a:lstStyle/>
            <a:p>
              <a:pPr marL="154432" lvl="1" indent="-76140">
                <a:lnSpc>
                  <a:spcPct val="120015"/>
                </a:lnSpc>
                <a:buClr>
                  <a:srgbClr val="FFFFFF"/>
                </a:buClr>
                <a:buSzPts val="1279"/>
                <a:buFont typeface="Arial"/>
                <a:buChar char="•"/>
              </a:pPr>
              <a:r>
                <a:rPr lang="en-US" sz="1199">
                  <a:solidFill>
                    <a:srgbClr val="FFFFFF"/>
                  </a:solidFill>
                  <a:latin typeface="Arial"/>
                  <a:ea typeface="Arial"/>
                  <a:cs typeface="Arial"/>
                  <a:sym typeface="Arial"/>
                </a:rPr>
                <a:t>Normal shapes w/ text</a:t>
              </a:r>
              <a:endParaRPr sz="1688"/>
            </a:p>
          </p:txBody>
        </p:sp>
      </p:grpSp>
      <p:cxnSp>
        <p:nvCxnSpPr>
          <p:cNvPr id="899" name="Google Shape;899;p18"/>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900" name="Google Shape;900;p18"/>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cxnSp>
        <p:nvCxnSpPr>
          <p:cNvPr id="901" name="Google Shape;901;p18"/>
          <p:cNvCxnSpPr/>
          <p:nvPr/>
        </p:nvCxnSpPr>
        <p:spPr>
          <a:xfrm rot="8930">
            <a:off x="-11128" y="6240264"/>
            <a:ext cx="9166256" cy="0"/>
          </a:xfrm>
          <a:prstGeom prst="straightConnector1">
            <a:avLst/>
          </a:prstGeom>
          <a:noFill/>
          <a:ln w="19050" cap="rnd" cmpd="sng">
            <a:solidFill>
              <a:srgbClr val="39598F"/>
            </a:solidFill>
            <a:prstDash val="solid"/>
            <a:round/>
            <a:headEnd type="none" w="sm" len="sm"/>
            <a:tailEnd type="none" w="sm" len="sm"/>
          </a:ln>
        </p:spPr>
      </p:cxnSp>
      <p:sp>
        <p:nvSpPr>
          <p:cNvPr id="902" name="Google Shape;902;p18"/>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9" b="-138"/>
            </a:stretch>
          </a:blip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903" name="Google Shape;903;p18"/>
          <p:cNvSpPr txBox="1"/>
          <p:nvPr/>
        </p:nvSpPr>
        <p:spPr>
          <a:xfrm>
            <a:off x="64294" y="455032"/>
            <a:ext cx="3985673" cy="398764"/>
          </a:xfrm>
          <a:prstGeom prst="rect">
            <a:avLst/>
          </a:prstGeom>
          <a:noFill/>
          <a:ln>
            <a:noFill/>
          </a:ln>
        </p:spPr>
        <p:txBody>
          <a:bodyPr spcFirstLastPara="1" wrap="square" lIns="0" tIns="0" rIns="0" bIns="0" anchor="t" anchorCtr="0">
            <a:spAutoFit/>
          </a:bodyPr>
          <a:lstStyle/>
          <a:p>
            <a:pPr>
              <a:lnSpc>
                <a:spcPct val="108010"/>
              </a:lnSpc>
            </a:pPr>
            <a:r>
              <a:rPr lang="en-US" sz="2399">
                <a:solidFill>
                  <a:srgbClr val="333F44"/>
                </a:solidFill>
                <a:latin typeface="Open Sans Light"/>
                <a:ea typeface="Open Sans Light"/>
                <a:cs typeface="Open Sans Light"/>
                <a:sym typeface="Open Sans Light"/>
              </a:rPr>
              <a:t>DCF Model Output</a:t>
            </a:r>
            <a:endParaRPr sz="1688"/>
          </a:p>
        </p:txBody>
      </p:sp>
      <p:grpSp>
        <p:nvGrpSpPr>
          <p:cNvPr id="904" name="Google Shape;904;p18"/>
          <p:cNvGrpSpPr/>
          <p:nvPr/>
        </p:nvGrpSpPr>
        <p:grpSpPr>
          <a:xfrm>
            <a:off x="1467896" y="4032620"/>
            <a:ext cx="3947769" cy="291580"/>
            <a:chOff x="0" y="-9525"/>
            <a:chExt cx="5614605" cy="414692"/>
          </a:xfrm>
        </p:grpSpPr>
        <p:sp>
          <p:nvSpPr>
            <p:cNvPr id="905" name="Google Shape;905;p18"/>
            <p:cNvSpPr/>
            <p:nvPr/>
          </p:nvSpPr>
          <p:spPr>
            <a:xfrm>
              <a:off x="0" y="0"/>
              <a:ext cx="5614543" cy="405130"/>
            </a:xfrm>
            <a:custGeom>
              <a:avLst/>
              <a:gdLst/>
              <a:ahLst/>
              <a:cxnLst/>
              <a:rect l="l" t="t" r="r" b="b"/>
              <a:pathLst>
                <a:path w="5614543" h="405130" extrusionOk="0">
                  <a:moveTo>
                    <a:pt x="0" y="0"/>
                  </a:moveTo>
                  <a:lnTo>
                    <a:pt x="5614543" y="0"/>
                  </a:lnTo>
                  <a:lnTo>
                    <a:pt x="5614543" y="405130"/>
                  </a:lnTo>
                  <a:lnTo>
                    <a:pt x="0" y="405130"/>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906" name="Google Shape;906;p18"/>
            <p:cNvSpPr txBox="1"/>
            <p:nvPr/>
          </p:nvSpPr>
          <p:spPr>
            <a:xfrm>
              <a:off x="0" y="-9525"/>
              <a:ext cx="5614605" cy="414692"/>
            </a:xfrm>
            <a:prstGeom prst="rect">
              <a:avLst/>
            </a:prstGeom>
            <a:noFill/>
            <a:ln>
              <a:noFill/>
            </a:ln>
          </p:spPr>
          <p:txBody>
            <a:bodyPr spcFirstLastPara="1" wrap="square" lIns="47625" tIns="47625" rIns="47625" bIns="47625" anchor="ctr" anchorCtr="0">
              <a:noAutofit/>
            </a:bodyPr>
            <a:lstStyle/>
            <a:p>
              <a:pPr>
                <a:lnSpc>
                  <a:spcPct val="107946"/>
                </a:lnSpc>
              </a:pPr>
              <a:r>
                <a:rPr lang="en-US" sz="1050" b="1">
                  <a:solidFill>
                    <a:srgbClr val="FFFFFF"/>
                  </a:solidFill>
                  <a:latin typeface="Arial"/>
                  <a:ea typeface="Arial"/>
                  <a:cs typeface="Arial"/>
                  <a:sym typeface="Arial"/>
                </a:rPr>
                <a:t>Sensitivity</a:t>
              </a:r>
              <a:r>
                <a:rPr lang="en-US" sz="1050" b="1">
                  <a:solidFill>
                    <a:srgbClr val="000000"/>
                  </a:solidFill>
                  <a:latin typeface="Arial"/>
                  <a:ea typeface="Arial"/>
                  <a:cs typeface="Arial"/>
                  <a:sym typeface="Arial"/>
                </a:rPr>
                <a:t> </a:t>
              </a:r>
              <a:r>
                <a:rPr lang="en-US" sz="1050" b="1">
                  <a:solidFill>
                    <a:srgbClr val="FFFFFF"/>
                  </a:solidFill>
                  <a:latin typeface="Arial"/>
                  <a:ea typeface="Arial"/>
                  <a:cs typeface="Arial"/>
                  <a:sym typeface="Arial"/>
                </a:rPr>
                <a:t>Analysis</a:t>
              </a:r>
              <a:endParaRPr sz="1688"/>
            </a:p>
          </p:txBody>
        </p:sp>
      </p:grpSp>
      <p:sp>
        <p:nvSpPr>
          <p:cNvPr id="907" name="Google Shape;907;p18"/>
          <p:cNvSpPr/>
          <p:nvPr/>
        </p:nvSpPr>
        <p:spPr>
          <a:xfrm>
            <a:off x="1474833" y="3234420"/>
            <a:ext cx="4766489" cy="541853"/>
          </a:xfrm>
          <a:custGeom>
            <a:avLst/>
            <a:gdLst/>
            <a:ahLst/>
            <a:cxnLst/>
            <a:rect l="l" t="t" r="r" b="b"/>
            <a:pathLst>
              <a:path w="6779006" h="770636" extrusionOk="0">
                <a:moveTo>
                  <a:pt x="0" y="0"/>
                </a:moveTo>
                <a:lnTo>
                  <a:pt x="6779006" y="0"/>
                </a:lnTo>
                <a:lnTo>
                  <a:pt x="6779006" y="770636"/>
                </a:lnTo>
                <a:lnTo>
                  <a:pt x="0" y="770636"/>
                </a:lnTo>
                <a:close/>
              </a:path>
            </a:pathLst>
          </a:custGeom>
          <a:solidFill>
            <a:srgbClr val="17375E"/>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cxnSp>
        <p:nvCxnSpPr>
          <p:cNvPr id="908" name="Google Shape;908;p18"/>
          <p:cNvCxnSpPr/>
          <p:nvPr/>
        </p:nvCxnSpPr>
        <p:spPr>
          <a:xfrm>
            <a:off x="3858060" y="3234420"/>
            <a:ext cx="0" cy="541853"/>
          </a:xfrm>
          <a:prstGeom prst="straightConnector1">
            <a:avLst/>
          </a:prstGeom>
          <a:noFill/>
          <a:ln w="9525" cap="rnd" cmpd="sng">
            <a:solidFill>
              <a:srgbClr val="FFFFFF"/>
            </a:solidFill>
            <a:prstDash val="solid"/>
            <a:round/>
            <a:headEnd type="none" w="sm" len="sm"/>
            <a:tailEnd type="none" w="sm" len="sm"/>
          </a:ln>
        </p:spPr>
      </p:cxnSp>
      <p:cxnSp>
        <p:nvCxnSpPr>
          <p:cNvPr id="909" name="Google Shape;909;p18"/>
          <p:cNvCxnSpPr/>
          <p:nvPr/>
        </p:nvCxnSpPr>
        <p:spPr>
          <a:xfrm>
            <a:off x="2768115" y="3167127"/>
            <a:ext cx="9525" cy="693189"/>
          </a:xfrm>
          <a:prstGeom prst="straightConnector1">
            <a:avLst/>
          </a:prstGeom>
          <a:noFill/>
          <a:ln w="9525" cap="rnd" cmpd="sng">
            <a:solidFill>
              <a:srgbClr val="FFFFFF"/>
            </a:solidFill>
            <a:prstDash val="solid"/>
            <a:round/>
            <a:headEnd type="none" w="sm" len="sm"/>
            <a:tailEnd type="none" w="sm" len="sm"/>
          </a:ln>
        </p:spPr>
      </p:cxnSp>
      <p:cxnSp>
        <p:nvCxnSpPr>
          <p:cNvPr id="910" name="Google Shape;910;p18"/>
          <p:cNvCxnSpPr/>
          <p:nvPr/>
        </p:nvCxnSpPr>
        <p:spPr>
          <a:xfrm>
            <a:off x="5187366" y="3167127"/>
            <a:ext cx="9525" cy="693189"/>
          </a:xfrm>
          <a:prstGeom prst="straightConnector1">
            <a:avLst/>
          </a:prstGeom>
          <a:noFill/>
          <a:ln w="9525" cap="rnd" cmpd="sng">
            <a:solidFill>
              <a:srgbClr val="FFFFFF"/>
            </a:solidFill>
            <a:prstDash val="solid"/>
            <a:round/>
            <a:headEnd type="none" w="sm" len="sm"/>
            <a:tailEnd type="none" w="sm" len="sm"/>
          </a:ln>
        </p:spPr>
      </p:cxnSp>
      <p:grpSp>
        <p:nvGrpSpPr>
          <p:cNvPr id="911" name="Google Shape;911;p18"/>
          <p:cNvGrpSpPr/>
          <p:nvPr/>
        </p:nvGrpSpPr>
        <p:grpSpPr>
          <a:xfrm>
            <a:off x="1467896" y="1206408"/>
            <a:ext cx="3947769" cy="291580"/>
            <a:chOff x="0" y="-9525"/>
            <a:chExt cx="5614605" cy="414692"/>
          </a:xfrm>
        </p:grpSpPr>
        <p:sp>
          <p:nvSpPr>
            <p:cNvPr id="912" name="Google Shape;912;p18"/>
            <p:cNvSpPr/>
            <p:nvPr/>
          </p:nvSpPr>
          <p:spPr>
            <a:xfrm>
              <a:off x="0" y="0"/>
              <a:ext cx="5614543" cy="405130"/>
            </a:xfrm>
            <a:custGeom>
              <a:avLst/>
              <a:gdLst/>
              <a:ahLst/>
              <a:cxnLst/>
              <a:rect l="l" t="t" r="r" b="b"/>
              <a:pathLst>
                <a:path w="5614543" h="405130" extrusionOk="0">
                  <a:moveTo>
                    <a:pt x="0" y="0"/>
                  </a:moveTo>
                  <a:lnTo>
                    <a:pt x="5614543" y="0"/>
                  </a:lnTo>
                  <a:lnTo>
                    <a:pt x="5614543" y="405130"/>
                  </a:lnTo>
                  <a:lnTo>
                    <a:pt x="0" y="405130"/>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913" name="Google Shape;913;p18"/>
            <p:cNvSpPr txBox="1"/>
            <p:nvPr/>
          </p:nvSpPr>
          <p:spPr>
            <a:xfrm>
              <a:off x="0" y="-9525"/>
              <a:ext cx="5614605" cy="414692"/>
            </a:xfrm>
            <a:prstGeom prst="rect">
              <a:avLst/>
            </a:prstGeom>
            <a:noFill/>
            <a:ln>
              <a:noFill/>
            </a:ln>
          </p:spPr>
          <p:txBody>
            <a:bodyPr spcFirstLastPara="1" wrap="square" lIns="47625" tIns="47625" rIns="47625" bIns="47625" anchor="ctr" anchorCtr="0">
              <a:noAutofit/>
            </a:bodyPr>
            <a:lstStyle/>
            <a:p>
              <a:pPr>
                <a:lnSpc>
                  <a:spcPct val="107946"/>
                </a:lnSpc>
              </a:pPr>
              <a:r>
                <a:rPr lang="en-US" sz="1050" b="1">
                  <a:solidFill>
                    <a:srgbClr val="FFFFFF"/>
                  </a:solidFill>
                  <a:latin typeface="Arial"/>
                  <a:ea typeface="Arial"/>
                  <a:cs typeface="Arial"/>
                  <a:sym typeface="Arial"/>
                </a:rPr>
                <a:t>Terminal Value – Perpetuity Growth Method</a:t>
              </a:r>
              <a:endParaRPr sz="1688"/>
            </a:p>
          </p:txBody>
        </p:sp>
      </p:grpSp>
      <p:sp>
        <p:nvSpPr>
          <p:cNvPr id="914" name="Google Shape;914;p18"/>
          <p:cNvSpPr txBox="1"/>
          <p:nvPr/>
        </p:nvSpPr>
        <p:spPr>
          <a:xfrm>
            <a:off x="-3429000" y="342186"/>
            <a:ext cx="3200400" cy="1107611"/>
          </a:xfrm>
          <a:prstGeom prst="rect">
            <a:avLst/>
          </a:prstGeom>
          <a:noFill/>
          <a:ln>
            <a:noFill/>
          </a:ln>
        </p:spPr>
        <p:txBody>
          <a:bodyPr spcFirstLastPara="1" wrap="square" lIns="0" tIns="0" rIns="0" bIns="0" anchor="t" anchorCtr="0">
            <a:spAutoFit/>
          </a:bodyPr>
          <a:lstStyle/>
          <a:p>
            <a:pPr algn="r">
              <a:lnSpc>
                <a:spcPct val="120007"/>
              </a:lnSpc>
            </a:pPr>
            <a:r>
              <a:rPr lang="en-US" sz="2399" b="1">
                <a:solidFill>
                  <a:srgbClr val="000000"/>
                </a:solidFill>
                <a:latin typeface="Arial"/>
                <a:ea typeface="Arial"/>
                <a:cs typeface="Arial"/>
                <a:sym typeface="Arial"/>
              </a:rPr>
              <a:t>Arial Slide Title – 24</a:t>
            </a:r>
            <a:endParaRPr sz="1688"/>
          </a:p>
          <a:p>
            <a:pPr algn="r">
              <a:lnSpc>
                <a:spcPct val="119959"/>
              </a:lnSpc>
            </a:pPr>
            <a:r>
              <a:rPr lang="en-US" sz="1400">
                <a:solidFill>
                  <a:srgbClr val="000000"/>
                </a:solidFill>
                <a:latin typeface="Arial"/>
                <a:ea typeface="Arial"/>
                <a:cs typeface="Arial"/>
                <a:sym typeface="Arial"/>
              </a:rPr>
              <a:t>Content/Section Title Text – 14</a:t>
            </a:r>
            <a:endParaRPr sz="1688"/>
          </a:p>
          <a:p>
            <a:pPr algn="r">
              <a:lnSpc>
                <a:spcPct val="120015"/>
              </a:lnSpc>
            </a:pPr>
            <a:r>
              <a:rPr lang="en-US" sz="1199">
                <a:solidFill>
                  <a:srgbClr val="000000"/>
                </a:solidFill>
                <a:latin typeface="Arial"/>
                <a:ea typeface="Arial"/>
                <a:cs typeface="Arial"/>
                <a:sym typeface="Arial"/>
              </a:rPr>
              <a:t>Bullet and Subtitle Text – 12</a:t>
            </a:r>
            <a:endParaRPr sz="1688"/>
          </a:p>
          <a:p>
            <a:pPr algn="r">
              <a:lnSpc>
                <a:spcPct val="120075"/>
              </a:lnSpc>
            </a:pPr>
            <a:r>
              <a:rPr lang="en-US" sz="999">
                <a:solidFill>
                  <a:srgbClr val="000000"/>
                </a:solidFill>
                <a:latin typeface="Arial"/>
                <a:ea typeface="Arial"/>
                <a:cs typeface="Arial"/>
                <a:sym typeface="Arial"/>
              </a:rPr>
              <a:t>Chart, Profile, and Currency Text – 10</a:t>
            </a:r>
            <a:endParaRPr sz="1688"/>
          </a:p>
        </p:txBody>
      </p:sp>
      <p:sp>
        <p:nvSpPr>
          <p:cNvPr id="915" name="Google Shape;915;p18"/>
          <p:cNvSpPr txBox="1"/>
          <p:nvPr/>
        </p:nvSpPr>
        <p:spPr>
          <a:xfrm>
            <a:off x="239485" y="6382553"/>
            <a:ext cx="3537857" cy="332399"/>
          </a:xfrm>
          <a:prstGeom prst="rect">
            <a:avLst/>
          </a:prstGeom>
          <a:noFill/>
          <a:ln>
            <a:noFill/>
          </a:ln>
        </p:spPr>
        <p:txBody>
          <a:bodyPr spcFirstLastPara="1" wrap="square" lIns="0" tIns="0" rIns="0" bIns="0" anchor="t" anchorCtr="0">
            <a:spAutoFit/>
          </a:bodyPr>
          <a:lstStyle/>
          <a:p>
            <a:pPr>
              <a:lnSpc>
                <a:spcPct val="120000"/>
              </a:lnSpc>
            </a:pPr>
            <a:r>
              <a:rPr lang="en-US">
                <a:solidFill>
                  <a:srgbClr val="2A90BC"/>
                </a:solidFill>
                <a:latin typeface="Arimo"/>
                <a:ea typeface="Arimo"/>
                <a:cs typeface="Arimo"/>
                <a:sym typeface="Arimo"/>
              </a:rPr>
              <a:t>ESSEC Capital Investments Club</a:t>
            </a:r>
            <a:endParaRPr sz="1688"/>
          </a:p>
        </p:txBody>
      </p:sp>
      <p:sp>
        <p:nvSpPr>
          <p:cNvPr id="916" name="Google Shape;916;p18"/>
          <p:cNvSpPr txBox="1"/>
          <p:nvPr/>
        </p:nvSpPr>
        <p:spPr>
          <a:xfrm>
            <a:off x="1615344" y="3324541"/>
            <a:ext cx="998557" cy="332399"/>
          </a:xfrm>
          <a:prstGeom prst="rect">
            <a:avLst/>
          </a:prstGeom>
          <a:noFill/>
          <a:ln>
            <a:noFill/>
          </a:ln>
        </p:spPr>
        <p:txBody>
          <a:bodyPr spcFirstLastPara="1" wrap="square" lIns="0" tIns="0" rIns="0" bIns="0" anchor="t" anchorCtr="0">
            <a:spAutoFit/>
          </a:bodyPr>
          <a:lstStyle/>
          <a:p>
            <a:pPr algn="ctr">
              <a:lnSpc>
                <a:spcPct val="120000"/>
              </a:lnSpc>
            </a:pPr>
            <a:r>
              <a:rPr lang="en-US" sz="900" b="1">
                <a:solidFill>
                  <a:srgbClr val="FFFFFF"/>
                </a:solidFill>
                <a:latin typeface="Arial"/>
                <a:ea typeface="Arial"/>
                <a:cs typeface="Arial"/>
                <a:sym typeface="Arial"/>
              </a:rPr>
              <a:t>Implied Share Price from DCF</a:t>
            </a:r>
            <a:endParaRPr sz="1688"/>
          </a:p>
        </p:txBody>
      </p:sp>
      <p:sp>
        <p:nvSpPr>
          <p:cNvPr id="917" name="Google Shape;917;p18"/>
          <p:cNvSpPr txBox="1"/>
          <p:nvPr/>
        </p:nvSpPr>
        <p:spPr>
          <a:xfrm>
            <a:off x="3978386" y="3324541"/>
            <a:ext cx="1088656" cy="332399"/>
          </a:xfrm>
          <a:prstGeom prst="rect">
            <a:avLst/>
          </a:prstGeom>
          <a:noFill/>
          <a:ln>
            <a:noFill/>
          </a:ln>
        </p:spPr>
        <p:txBody>
          <a:bodyPr spcFirstLastPara="1" wrap="square" lIns="0" tIns="0" rIns="0" bIns="0" anchor="t" anchorCtr="0">
            <a:spAutoFit/>
          </a:bodyPr>
          <a:lstStyle/>
          <a:p>
            <a:pPr algn="ctr">
              <a:lnSpc>
                <a:spcPct val="120000"/>
              </a:lnSpc>
            </a:pPr>
            <a:r>
              <a:rPr lang="en-US" sz="900" b="1">
                <a:solidFill>
                  <a:srgbClr val="FFFFFF"/>
                </a:solidFill>
                <a:latin typeface="Arial"/>
                <a:ea typeface="Arial"/>
                <a:cs typeface="Arial"/>
                <a:sym typeface="Arial"/>
              </a:rPr>
              <a:t>Premium to Current Share Price</a:t>
            </a:r>
            <a:endParaRPr sz="1688"/>
          </a:p>
        </p:txBody>
      </p:sp>
      <p:sp>
        <p:nvSpPr>
          <p:cNvPr id="918" name="Google Shape;918;p18"/>
          <p:cNvSpPr txBox="1"/>
          <p:nvPr/>
        </p:nvSpPr>
        <p:spPr>
          <a:xfrm>
            <a:off x="2839843" y="3393199"/>
            <a:ext cx="976442" cy="193899"/>
          </a:xfrm>
          <a:prstGeom prst="rect">
            <a:avLst/>
          </a:prstGeom>
          <a:noFill/>
          <a:ln>
            <a:noFill/>
          </a:ln>
        </p:spPr>
        <p:txBody>
          <a:bodyPr spcFirstLastPara="1" wrap="square" lIns="0" tIns="0" rIns="0" bIns="0" anchor="t" anchorCtr="0">
            <a:spAutoFit/>
          </a:bodyPr>
          <a:lstStyle/>
          <a:p>
            <a:pPr algn="ctr">
              <a:lnSpc>
                <a:spcPct val="120000"/>
              </a:lnSpc>
            </a:pPr>
            <a:r>
              <a:rPr lang="en-US" sz="1050" dirty="0">
                <a:solidFill>
                  <a:srgbClr val="FFFFFF"/>
                </a:solidFill>
              </a:rPr>
              <a:t>€209.93</a:t>
            </a:r>
            <a:endParaRPr sz="1688" dirty="0"/>
          </a:p>
        </p:txBody>
      </p:sp>
      <p:sp>
        <p:nvSpPr>
          <p:cNvPr id="919" name="Google Shape;919;p18"/>
          <p:cNvSpPr txBox="1"/>
          <p:nvPr/>
        </p:nvSpPr>
        <p:spPr>
          <a:xfrm>
            <a:off x="5233904" y="3402722"/>
            <a:ext cx="976442" cy="193899"/>
          </a:xfrm>
          <a:prstGeom prst="rect">
            <a:avLst/>
          </a:prstGeom>
          <a:noFill/>
          <a:ln>
            <a:noFill/>
          </a:ln>
        </p:spPr>
        <p:txBody>
          <a:bodyPr spcFirstLastPara="1" wrap="square" lIns="0" tIns="0" rIns="0" bIns="0" anchor="t" anchorCtr="0">
            <a:spAutoFit/>
          </a:bodyPr>
          <a:lstStyle/>
          <a:p>
            <a:pPr algn="ctr">
              <a:lnSpc>
                <a:spcPct val="120000"/>
              </a:lnSpc>
            </a:pPr>
            <a:r>
              <a:rPr lang="en-US" sz="1050" dirty="0">
                <a:solidFill>
                  <a:srgbClr val="FFFFFF"/>
                </a:solidFill>
                <a:latin typeface="Arial"/>
                <a:ea typeface="Arial"/>
                <a:cs typeface="Arial"/>
                <a:sym typeface="Arial"/>
              </a:rPr>
              <a:t>+%</a:t>
            </a:r>
            <a:endParaRPr sz="1688" dirty="0"/>
          </a:p>
        </p:txBody>
      </p:sp>
      <p:sp>
        <p:nvSpPr>
          <p:cNvPr id="920" name="Google Shape;920;p18"/>
          <p:cNvSpPr txBox="1"/>
          <p:nvPr/>
        </p:nvSpPr>
        <p:spPr>
          <a:xfrm>
            <a:off x="1480046" y="2269273"/>
            <a:ext cx="4576763" cy="207749"/>
          </a:xfrm>
          <a:prstGeom prst="rect">
            <a:avLst/>
          </a:prstGeom>
          <a:noFill/>
          <a:ln>
            <a:noFill/>
          </a:ln>
        </p:spPr>
        <p:txBody>
          <a:bodyPr spcFirstLastPara="1" wrap="square" lIns="0" tIns="0" rIns="0" bIns="0" anchor="t" anchorCtr="0">
            <a:spAutoFit/>
          </a:bodyPr>
          <a:lstStyle/>
          <a:p>
            <a:pPr>
              <a:lnSpc>
                <a:spcPct val="119916"/>
              </a:lnSpc>
            </a:pPr>
            <a:r>
              <a:rPr lang="en-US" sz="1125" b="1" dirty="0">
                <a:solidFill>
                  <a:srgbClr val="000000"/>
                </a:solidFill>
                <a:latin typeface="Arial"/>
                <a:ea typeface="Arial"/>
                <a:cs typeface="Arial"/>
                <a:sym typeface="Arial"/>
              </a:rPr>
              <a:t>Baseline Terminal Value : EUR 106.31B</a:t>
            </a:r>
            <a:endParaRPr sz="1688" dirty="0"/>
          </a:p>
        </p:txBody>
      </p:sp>
      <p:sp>
        <p:nvSpPr>
          <p:cNvPr id="921" name="Google Shape;921;p18"/>
          <p:cNvSpPr txBox="1"/>
          <p:nvPr/>
        </p:nvSpPr>
        <p:spPr>
          <a:xfrm>
            <a:off x="1474833" y="1592923"/>
            <a:ext cx="2239169" cy="207749"/>
          </a:xfrm>
          <a:prstGeom prst="rect">
            <a:avLst/>
          </a:prstGeom>
          <a:noFill/>
          <a:ln>
            <a:noFill/>
          </a:ln>
        </p:spPr>
        <p:txBody>
          <a:bodyPr spcFirstLastPara="1" wrap="square" lIns="0" tIns="0" rIns="0" bIns="0" anchor="t" anchorCtr="0">
            <a:spAutoFit/>
          </a:bodyPr>
          <a:lstStyle/>
          <a:p>
            <a:pPr>
              <a:lnSpc>
                <a:spcPct val="119916"/>
              </a:lnSpc>
            </a:pPr>
            <a:r>
              <a:rPr lang="en-US" sz="1125" b="1" dirty="0">
                <a:solidFill>
                  <a:srgbClr val="000000"/>
                </a:solidFill>
                <a:latin typeface="Arial"/>
                <a:ea typeface="Arial"/>
                <a:cs typeface="Arial"/>
                <a:sym typeface="Arial"/>
              </a:rPr>
              <a:t>2025 FCF : EUR 3.46B</a:t>
            </a:r>
            <a:endParaRPr sz="1688" dirty="0"/>
          </a:p>
        </p:txBody>
      </p:sp>
      <p:sp>
        <p:nvSpPr>
          <p:cNvPr id="922" name="Google Shape;922;p18"/>
          <p:cNvSpPr txBox="1"/>
          <p:nvPr/>
        </p:nvSpPr>
        <p:spPr>
          <a:xfrm>
            <a:off x="1467897" y="1834024"/>
            <a:ext cx="2763861" cy="207749"/>
          </a:xfrm>
          <a:prstGeom prst="rect">
            <a:avLst/>
          </a:prstGeom>
          <a:noFill/>
          <a:ln>
            <a:noFill/>
          </a:ln>
        </p:spPr>
        <p:txBody>
          <a:bodyPr spcFirstLastPara="1" wrap="square" lIns="0" tIns="0" rIns="0" bIns="0" anchor="t" anchorCtr="0">
            <a:spAutoFit/>
          </a:bodyPr>
          <a:lstStyle/>
          <a:p>
            <a:pPr>
              <a:lnSpc>
                <a:spcPct val="119916"/>
              </a:lnSpc>
            </a:pPr>
            <a:r>
              <a:rPr lang="en-US" sz="1125" b="1" dirty="0">
                <a:solidFill>
                  <a:srgbClr val="000000"/>
                </a:solidFill>
                <a:latin typeface="Arial"/>
                <a:ea typeface="Arial"/>
                <a:cs typeface="Arial"/>
                <a:sym typeface="Arial"/>
              </a:rPr>
              <a:t>FCF growth for the next 10Y : 3.5%</a:t>
            </a:r>
            <a:endParaRPr sz="1688" dirty="0"/>
          </a:p>
        </p:txBody>
      </p:sp>
      <p:sp>
        <p:nvSpPr>
          <p:cNvPr id="923" name="Google Shape;923;p18"/>
          <p:cNvSpPr txBox="1"/>
          <p:nvPr/>
        </p:nvSpPr>
        <p:spPr>
          <a:xfrm>
            <a:off x="1467897" y="2056541"/>
            <a:ext cx="4387748" cy="207749"/>
          </a:xfrm>
          <a:prstGeom prst="rect">
            <a:avLst/>
          </a:prstGeom>
          <a:noFill/>
          <a:ln>
            <a:noFill/>
          </a:ln>
        </p:spPr>
        <p:txBody>
          <a:bodyPr spcFirstLastPara="1" wrap="square" lIns="0" tIns="0" rIns="0" bIns="0" anchor="t" anchorCtr="0">
            <a:spAutoFit/>
          </a:bodyPr>
          <a:lstStyle/>
          <a:p>
            <a:pPr>
              <a:lnSpc>
                <a:spcPct val="119916"/>
              </a:lnSpc>
            </a:pPr>
            <a:r>
              <a:rPr lang="en-US" sz="1125" b="1" dirty="0">
                <a:solidFill>
                  <a:srgbClr val="000000"/>
                </a:solidFill>
                <a:latin typeface="Arial"/>
                <a:ea typeface="Arial"/>
                <a:cs typeface="Arial"/>
                <a:sym typeface="Arial"/>
              </a:rPr>
              <a:t>Baseline Terminal FCF Growth Rate: 3%</a:t>
            </a:r>
            <a:endParaRPr sz="1688" dirty="0"/>
          </a:p>
        </p:txBody>
      </p:sp>
      <p:sp>
        <p:nvSpPr>
          <p:cNvPr id="924" name="Google Shape;924;p18"/>
          <p:cNvSpPr txBox="1"/>
          <p:nvPr/>
        </p:nvSpPr>
        <p:spPr>
          <a:xfrm>
            <a:off x="1467896" y="2492516"/>
            <a:ext cx="3168150" cy="207749"/>
          </a:xfrm>
          <a:prstGeom prst="rect">
            <a:avLst/>
          </a:prstGeom>
          <a:noFill/>
          <a:ln>
            <a:noFill/>
          </a:ln>
        </p:spPr>
        <p:txBody>
          <a:bodyPr spcFirstLastPara="1" wrap="square" lIns="0" tIns="0" rIns="0" bIns="0" anchor="t" anchorCtr="0">
            <a:spAutoFit/>
          </a:bodyPr>
          <a:lstStyle/>
          <a:p>
            <a:pPr>
              <a:lnSpc>
                <a:spcPct val="119916"/>
              </a:lnSpc>
            </a:pPr>
            <a:r>
              <a:rPr lang="en-US" sz="1125" b="1" dirty="0">
                <a:solidFill>
                  <a:srgbClr val="000000"/>
                </a:solidFill>
                <a:latin typeface="Arial"/>
                <a:ea typeface="Arial"/>
                <a:cs typeface="Arial"/>
                <a:sym typeface="Arial"/>
              </a:rPr>
              <a:t>Diluted shares outstanding : 578m</a:t>
            </a:r>
            <a:endParaRPr sz="1688" dirty="0"/>
          </a:p>
        </p:txBody>
      </p:sp>
      <p:sp>
        <p:nvSpPr>
          <p:cNvPr id="925" name="Google Shape;925;p18"/>
          <p:cNvSpPr txBox="1"/>
          <p:nvPr/>
        </p:nvSpPr>
        <p:spPr>
          <a:xfrm>
            <a:off x="1460565" y="2715758"/>
            <a:ext cx="2267708" cy="207749"/>
          </a:xfrm>
          <a:prstGeom prst="rect">
            <a:avLst/>
          </a:prstGeom>
          <a:noFill/>
          <a:ln>
            <a:noFill/>
          </a:ln>
        </p:spPr>
        <p:txBody>
          <a:bodyPr spcFirstLastPara="1" wrap="square" lIns="0" tIns="0" rIns="0" bIns="0" anchor="t" anchorCtr="0">
            <a:spAutoFit/>
          </a:bodyPr>
          <a:lstStyle/>
          <a:p>
            <a:pPr>
              <a:lnSpc>
                <a:spcPct val="119916"/>
              </a:lnSpc>
            </a:pPr>
            <a:r>
              <a:rPr lang="en-US" sz="1125" b="1" dirty="0">
                <a:solidFill>
                  <a:srgbClr val="000000"/>
                </a:solidFill>
                <a:latin typeface="Arial"/>
                <a:ea typeface="Arial"/>
                <a:cs typeface="Arial"/>
                <a:sym typeface="Arial"/>
              </a:rPr>
              <a:t>Net debt : EUR 9.69B</a:t>
            </a:r>
            <a:endParaRPr sz="1688" dirty="0"/>
          </a:p>
        </p:txBody>
      </p:sp>
      <p:sp>
        <p:nvSpPr>
          <p:cNvPr id="926" name="Google Shape;926;p18"/>
          <p:cNvSpPr txBox="1"/>
          <p:nvPr/>
        </p:nvSpPr>
        <p:spPr>
          <a:xfrm>
            <a:off x="1467897" y="2930070"/>
            <a:ext cx="2267708" cy="207749"/>
          </a:xfrm>
          <a:prstGeom prst="rect">
            <a:avLst/>
          </a:prstGeom>
          <a:noFill/>
          <a:ln>
            <a:noFill/>
          </a:ln>
        </p:spPr>
        <p:txBody>
          <a:bodyPr spcFirstLastPara="1" wrap="square" lIns="0" tIns="0" rIns="0" bIns="0" anchor="t" anchorCtr="0">
            <a:spAutoFit/>
          </a:bodyPr>
          <a:lstStyle/>
          <a:p>
            <a:pPr>
              <a:lnSpc>
                <a:spcPct val="119916"/>
              </a:lnSpc>
            </a:pPr>
            <a:r>
              <a:rPr lang="en-US" sz="1125" b="1" dirty="0">
                <a:solidFill>
                  <a:srgbClr val="000000"/>
                </a:solidFill>
                <a:latin typeface="Arial"/>
                <a:ea typeface="Arial"/>
                <a:cs typeface="Arial"/>
                <a:sym typeface="Arial"/>
              </a:rPr>
              <a:t>Baseline EV : EUR 131.02B</a:t>
            </a:r>
            <a:endParaRPr sz="1688" dirty="0"/>
          </a:p>
        </p:txBody>
      </p:sp>
      <p:pic>
        <p:nvPicPr>
          <p:cNvPr id="4" name="Image 3">
            <a:extLst>
              <a:ext uri="{FF2B5EF4-FFF2-40B4-BE49-F238E27FC236}">
                <a16:creationId xmlns:a16="http://schemas.microsoft.com/office/drawing/2014/main" id="{820299E5-7968-5207-8355-DD2088A5F9D7}"/>
              </a:ext>
            </a:extLst>
          </p:cNvPr>
          <p:cNvPicPr>
            <a:picLocks noChangeAspect="1"/>
          </p:cNvPicPr>
          <p:nvPr/>
        </p:nvPicPr>
        <p:blipFill>
          <a:blip r:embed="rId4"/>
          <a:stretch>
            <a:fillRect/>
          </a:stretch>
        </p:blipFill>
        <p:spPr>
          <a:xfrm>
            <a:off x="1474832" y="4454557"/>
            <a:ext cx="6472537" cy="14145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3">
          <a:extLst>
            <a:ext uri="{FF2B5EF4-FFF2-40B4-BE49-F238E27FC236}">
              <a16:creationId xmlns:a16="http://schemas.microsoft.com/office/drawing/2014/main" id="{A1552A08-69B2-9FC4-ADD9-1EC75FD34F82}"/>
            </a:ext>
          </a:extLst>
        </p:cNvPr>
        <p:cNvGrpSpPr/>
        <p:nvPr/>
      </p:nvGrpSpPr>
      <p:grpSpPr>
        <a:xfrm>
          <a:off x="0" y="0"/>
          <a:ext cx="0" cy="0"/>
          <a:chOff x="0" y="0"/>
          <a:chExt cx="0" cy="0"/>
        </a:xfrm>
      </p:grpSpPr>
      <p:grpSp>
        <p:nvGrpSpPr>
          <p:cNvPr id="854" name="Google Shape;854;p18">
            <a:extLst>
              <a:ext uri="{FF2B5EF4-FFF2-40B4-BE49-F238E27FC236}">
                <a16:creationId xmlns:a16="http://schemas.microsoft.com/office/drawing/2014/main" id="{06D50E80-1C14-D4BB-7139-CA4C8D4B408E}"/>
              </a:ext>
            </a:extLst>
          </p:cNvPr>
          <p:cNvGrpSpPr/>
          <p:nvPr/>
        </p:nvGrpSpPr>
        <p:grpSpPr>
          <a:xfrm>
            <a:off x="-2192501" y="2633500"/>
            <a:ext cx="1970251" cy="496313"/>
            <a:chOff x="0" y="-28575"/>
            <a:chExt cx="2802135" cy="705866"/>
          </a:xfrm>
        </p:grpSpPr>
        <p:sp>
          <p:nvSpPr>
            <p:cNvPr id="855" name="Google Shape;855;p18">
              <a:extLst>
                <a:ext uri="{FF2B5EF4-FFF2-40B4-BE49-F238E27FC236}">
                  <a16:creationId xmlns:a16="http://schemas.microsoft.com/office/drawing/2014/main" id="{8A6C77B8-7B34-7179-50F7-5529B3AEE82F}"/>
                </a:ext>
              </a:extLst>
            </p:cNvPr>
            <p:cNvSpPr/>
            <p:nvPr/>
          </p:nvSpPr>
          <p:spPr>
            <a:xfrm>
              <a:off x="0" y="0"/>
              <a:ext cx="2802128" cy="677291"/>
            </a:xfrm>
            <a:custGeom>
              <a:avLst/>
              <a:gdLst/>
              <a:ahLst/>
              <a:cxnLst/>
              <a:rect l="l" t="t" r="r" b="b"/>
              <a:pathLst>
                <a:path w="2802128" h="677291" extrusionOk="0">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56" name="Google Shape;856;p18">
              <a:extLst>
                <a:ext uri="{FF2B5EF4-FFF2-40B4-BE49-F238E27FC236}">
                  <a16:creationId xmlns:a16="http://schemas.microsoft.com/office/drawing/2014/main" id="{C3E5272F-77BB-C4AB-BA63-F65503DEF9DD}"/>
                </a:ext>
              </a:extLst>
            </p:cNvPr>
            <p:cNvSpPr txBox="1"/>
            <p:nvPr/>
          </p:nvSpPr>
          <p:spPr>
            <a:xfrm>
              <a:off x="0" y="-28575"/>
              <a:ext cx="2802135" cy="705837"/>
            </a:xfrm>
            <a:prstGeom prst="rect">
              <a:avLst/>
            </a:prstGeom>
            <a:noFill/>
            <a:ln>
              <a:noFill/>
            </a:ln>
          </p:spPr>
          <p:txBody>
            <a:bodyPr spcFirstLastPara="1" wrap="square" lIns="47625" tIns="47625" rIns="47625" bIns="47625" anchor="ctr" anchorCtr="0">
              <a:noAutofit/>
            </a:bodyPr>
            <a:lstStyle/>
            <a:p>
              <a:pPr algn="ctr">
                <a:lnSpc>
                  <a:spcPct val="120015"/>
                </a:lnSpc>
                <a:buClr>
                  <a:srgbClr val="000000"/>
                </a:buClr>
                <a:buSzPts val="1279"/>
              </a:pPr>
              <a:r>
                <a:rPr lang="en-US" sz="1199" noProof="1">
                  <a:solidFill>
                    <a:srgbClr val="000000"/>
                  </a:solidFill>
                  <a:latin typeface="Arial"/>
                  <a:ea typeface="Arial"/>
                  <a:cs typeface="Arial"/>
                  <a:sym typeface="Arial"/>
                </a:rPr>
                <a:t>Outline: black, ½ pt.</a:t>
              </a:r>
              <a:endParaRPr lang="en-US" sz="1313" noProof="1">
                <a:solidFill>
                  <a:srgbClr val="000000"/>
                </a:solidFill>
                <a:latin typeface="Arial"/>
                <a:ea typeface="Arial"/>
                <a:cs typeface="Arial"/>
                <a:sym typeface="Arial"/>
              </a:endParaRPr>
            </a:p>
          </p:txBody>
        </p:sp>
      </p:grpSp>
      <p:grpSp>
        <p:nvGrpSpPr>
          <p:cNvPr id="857" name="Google Shape;857;p18">
            <a:extLst>
              <a:ext uri="{FF2B5EF4-FFF2-40B4-BE49-F238E27FC236}">
                <a16:creationId xmlns:a16="http://schemas.microsoft.com/office/drawing/2014/main" id="{05BD7CE1-C6EB-A609-D56E-16732CCECB5B}"/>
              </a:ext>
            </a:extLst>
          </p:cNvPr>
          <p:cNvGrpSpPr/>
          <p:nvPr/>
        </p:nvGrpSpPr>
        <p:grpSpPr>
          <a:xfrm>
            <a:off x="-2186151" y="3363382"/>
            <a:ext cx="1957566" cy="486436"/>
            <a:chOff x="0" y="-28575"/>
            <a:chExt cx="2784094" cy="691820"/>
          </a:xfrm>
        </p:grpSpPr>
        <p:sp>
          <p:nvSpPr>
            <p:cNvPr id="858" name="Google Shape;858;p18">
              <a:extLst>
                <a:ext uri="{FF2B5EF4-FFF2-40B4-BE49-F238E27FC236}">
                  <a16:creationId xmlns:a16="http://schemas.microsoft.com/office/drawing/2014/main" id="{7DADD071-FBD0-2E00-5781-ABB5840807C7}"/>
                </a:ext>
              </a:extLst>
            </p:cNvPr>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CCD1D7"/>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59" name="Google Shape;859;p18">
              <a:extLst>
                <a:ext uri="{FF2B5EF4-FFF2-40B4-BE49-F238E27FC236}">
                  <a16:creationId xmlns:a16="http://schemas.microsoft.com/office/drawing/2014/main" id="{80FF78AC-E38D-13BE-9786-8C0043B4FAA6}"/>
                </a:ext>
              </a:extLst>
            </p:cNvPr>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buClr>
                  <a:srgbClr val="000000"/>
                </a:buClr>
                <a:buSzPts val="1279"/>
              </a:pPr>
              <a:r>
                <a:rPr lang="en-US" sz="1199" noProof="1">
                  <a:solidFill>
                    <a:srgbClr val="000000"/>
                  </a:solidFill>
                  <a:latin typeface="Arial"/>
                  <a:ea typeface="Arial"/>
                  <a:cs typeface="Arial"/>
                  <a:sym typeface="Arial"/>
                </a:rPr>
                <a:t>204 – 209 – 215</a:t>
              </a:r>
              <a:endParaRPr lang="en-US" sz="1313" noProof="1">
                <a:solidFill>
                  <a:srgbClr val="000000"/>
                </a:solidFill>
                <a:latin typeface="Arial"/>
                <a:ea typeface="Arial"/>
                <a:cs typeface="Arial"/>
                <a:sym typeface="Arial"/>
              </a:endParaRPr>
            </a:p>
          </p:txBody>
        </p:sp>
      </p:grpSp>
      <p:grpSp>
        <p:nvGrpSpPr>
          <p:cNvPr id="860" name="Google Shape;860;p18">
            <a:extLst>
              <a:ext uri="{FF2B5EF4-FFF2-40B4-BE49-F238E27FC236}">
                <a16:creationId xmlns:a16="http://schemas.microsoft.com/office/drawing/2014/main" id="{4473B511-D15F-84A3-42BA-3E20368CBFCF}"/>
              </a:ext>
            </a:extLst>
          </p:cNvPr>
          <p:cNvGrpSpPr/>
          <p:nvPr/>
        </p:nvGrpSpPr>
        <p:grpSpPr>
          <a:xfrm>
            <a:off x="-2186151" y="4089757"/>
            <a:ext cx="1957566" cy="486436"/>
            <a:chOff x="0" y="-28575"/>
            <a:chExt cx="2784094" cy="691820"/>
          </a:xfrm>
        </p:grpSpPr>
        <p:sp>
          <p:nvSpPr>
            <p:cNvPr id="861" name="Google Shape;861;p18">
              <a:extLst>
                <a:ext uri="{FF2B5EF4-FFF2-40B4-BE49-F238E27FC236}">
                  <a16:creationId xmlns:a16="http://schemas.microsoft.com/office/drawing/2014/main" id="{1AD886FE-FE94-A7A2-A5DB-13114B2AEC69}"/>
                </a:ext>
              </a:extLst>
            </p:cNvPr>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485059"/>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62" name="Google Shape;862;p18">
              <a:extLst>
                <a:ext uri="{FF2B5EF4-FFF2-40B4-BE49-F238E27FC236}">
                  <a16:creationId xmlns:a16="http://schemas.microsoft.com/office/drawing/2014/main" id="{8186A446-B444-83DA-146D-EA61FD1BF525}"/>
                </a:ext>
              </a:extLst>
            </p:cNvPr>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buClr>
                  <a:srgbClr val="000000"/>
                </a:buClr>
                <a:buSzPts val="1279"/>
              </a:pPr>
              <a:r>
                <a:rPr lang="en-US" sz="1199" noProof="1">
                  <a:solidFill>
                    <a:srgbClr val="FFFFFF"/>
                  </a:solidFill>
                  <a:latin typeface="Arial"/>
                  <a:ea typeface="Arial"/>
                  <a:cs typeface="Arial"/>
                  <a:sym typeface="Arial"/>
                </a:rPr>
                <a:t>72 – 80 – 89 </a:t>
              </a:r>
              <a:endParaRPr lang="en-US" sz="1313" noProof="1">
                <a:solidFill>
                  <a:srgbClr val="000000"/>
                </a:solidFill>
                <a:latin typeface="Arial"/>
                <a:ea typeface="Arial"/>
                <a:cs typeface="Arial"/>
                <a:sym typeface="Arial"/>
              </a:endParaRPr>
            </a:p>
          </p:txBody>
        </p:sp>
      </p:grpSp>
      <p:grpSp>
        <p:nvGrpSpPr>
          <p:cNvPr id="863" name="Google Shape;863;p18">
            <a:extLst>
              <a:ext uri="{FF2B5EF4-FFF2-40B4-BE49-F238E27FC236}">
                <a16:creationId xmlns:a16="http://schemas.microsoft.com/office/drawing/2014/main" id="{4F6CF908-F27E-7D34-56ED-5B978B94F624}"/>
              </a:ext>
            </a:extLst>
          </p:cNvPr>
          <p:cNvGrpSpPr/>
          <p:nvPr/>
        </p:nvGrpSpPr>
        <p:grpSpPr>
          <a:xfrm>
            <a:off x="-2186151" y="4816132"/>
            <a:ext cx="1957566" cy="486436"/>
            <a:chOff x="0" y="-28575"/>
            <a:chExt cx="2784094" cy="691820"/>
          </a:xfrm>
        </p:grpSpPr>
        <p:sp>
          <p:nvSpPr>
            <p:cNvPr id="864" name="Google Shape;864;p18">
              <a:extLst>
                <a:ext uri="{FF2B5EF4-FFF2-40B4-BE49-F238E27FC236}">
                  <a16:creationId xmlns:a16="http://schemas.microsoft.com/office/drawing/2014/main" id="{A7CF42A0-D2C9-D5AA-E7E9-3130E1A78435}"/>
                </a:ext>
              </a:extLst>
            </p:cNvPr>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5E7C9E"/>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65" name="Google Shape;865;p18">
              <a:extLst>
                <a:ext uri="{FF2B5EF4-FFF2-40B4-BE49-F238E27FC236}">
                  <a16:creationId xmlns:a16="http://schemas.microsoft.com/office/drawing/2014/main" id="{1651E3B0-D796-85EA-8721-150A12F045CE}"/>
                </a:ext>
              </a:extLst>
            </p:cNvPr>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buClr>
                  <a:srgbClr val="000000"/>
                </a:buClr>
                <a:buSzPts val="1279"/>
              </a:pPr>
              <a:r>
                <a:rPr lang="en-US" sz="1199" noProof="1">
                  <a:solidFill>
                    <a:srgbClr val="FFFFFF"/>
                  </a:solidFill>
                  <a:latin typeface="Arial"/>
                  <a:ea typeface="Arial"/>
                  <a:cs typeface="Arial"/>
                  <a:sym typeface="Arial"/>
                </a:rPr>
                <a:t>94 – 124 – 158</a:t>
              </a:r>
              <a:endParaRPr lang="en-US" sz="1313" noProof="1">
                <a:solidFill>
                  <a:srgbClr val="000000"/>
                </a:solidFill>
                <a:latin typeface="Arial"/>
                <a:ea typeface="Arial"/>
                <a:cs typeface="Arial"/>
                <a:sym typeface="Arial"/>
              </a:endParaRPr>
            </a:p>
          </p:txBody>
        </p:sp>
      </p:grpSp>
      <p:grpSp>
        <p:nvGrpSpPr>
          <p:cNvPr id="866" name="Google Shape;866;p18">
            <a:extLst>
              <a:ext uri="{FF2B5EF4-FFF2-40B4-BE49-F238E27FC236}">
                <a16:creationId xmlns:a16="http://schemas.microsoft.com/office/drawing/2014/main" id="{52B4808A-78A2-0BCF-F10A-2AD1AC80EB88}"/>
              </a:ext>
            </a:extLst>
          </p:cNvPr>
          <p:cNvGrpSpPr/>
          <p:nvPr/>
        </p:nvGrpSpPr>
        <p:grpSpPr>
          <a:xfrm>
            <a:off x="-2186151" y="5542509"/>
            <a:ext cx="1957566" cy="486436"/>
            <a:chOff x="0" y="-28575"/>
            <a:chExt cx="2784094" cy="691820"/>
          </a:xfrm>
        </p:grpSpPr>
        <p:sp>
          <p:nvSpPr>
            <p:cNvPr id="867" name="Google Shape;867;p18">
              <a:extLst>
                <a:ext uri="{FF2B5EF4-FFF2-40B4-BE49-F238E27FC236}">
                  <a16:creationId xmlns:a16="http://schemas.microsoft.com/office/drawing/2014/main" id="{1A572422-3B32-2836-9740-8C2F2027FA44}"/>
                </a:ext>
              </a:extLst>
            </p:cNvPr>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113D63"/>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68" name="Google Shape;868;p18">
              <a:extLst>
                <a:ext uri="{FF2B5EF4-FFF2-40B4-BE49-F238E27FC236}">
                  <a16:creationId xmlns:a16="http://schemas.microsoft.com/office/drawing/2014/main" id="{E8C92049-644F-FFD9-5A02-51315429EFF0}"/>
                </a:ext>
              </a:extLst>
            </p:cNvPr>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buClr>
                  <a:srgbClr val="000000"/>
                </a:buClr>
                <a:buSzPts val="1279"/>
              </a:pPr>
              <a:r>
                <a:rPr lang="en-US" sz="1199" noProof="1">
                  <a:solidFill>
                    <a:srgbClr val="FFFFFF"/>
                  </a:solidFill>
                  <a:latin typeface="Arial"/>
                  <a:ea typeface="Arial"/>
                  <a:cs typeface="Arial"/>
                  <a:sym typeface="Arial"/>
                </a:rPr>
                <a:t>17 – 61 – 99</a:t>
              </a:r>
              <a:endParaRPr lang="en-US" sz="1313" noProof="1">
                <a:solidFill>
                  <a:srgbClr val="000000"/>
                </a:solidFill>
                <a:latin typeface="Arial"/>
                <a:ea typeface="Arial"/>
                <a:cs typeface="Arial"/>
                <a:sym typeface="Arial"/>
              </a:endParaRPr>
            </a:p>
          </p:txBody>
        </p:sp>
      </p:grpSp>
      <p:grpSp>
        <p:nvGrpSpPr>
          <p:cNvPr id="869" name="Google Shape;869;p18">
            <a:extLst>
              <a:ext uri="{FF2B5EF4-FFF2-40B4-BE49-F238E27FC236}">
                <a16:creationId xmlns:a16="http://schemas.microsoft.com/office/drawing/2014/main" id="{216970D0-52F7-74FD-F52F-03EC36BBFEF1}"/>
              </a:ext>
            </a:extLst>
          </p:cNvPr>
          <p:cNvGrpSpPr/>
          <p:nvPr/>
        </p:nvGrpSpPr>
        <p:grpSpPr>
          <a:xfrm>
            <a:off x="-2186151" y="1916319"/>
            <a:ext cx="1957566" cy="483632"/>
            <a:chOff x="0" y="-28575"/>
            <a:chExt cx="2784094" cy="687832"/>
          </a:xfrm>
        </p:grpSpPr>
        <p:sp>
          <p:nvSpPr>
            <p:cNvPr id="870" name="Google Shape;870;p18">
              <a:extLst>
                <a:ext uri="{FF2B5EF4-FFF2-40B4-BE49-F238E27FC236}">
                  <a16:creationId xmlns:a16="http://schemas.microsoft.com/office/drawing/2014/main" id="{9A1E7C9A-0466-22C7-829A-8B7AD45CB2FF}"/>
                </a:ext>
              </a:extLst>
            </p:cNvPr>
            <p:cNvSpPr/>
            <p:nvPr/>
          </p:nvSpPr>
          <p:spPr>
            <a:xfrm>
              <a:off x="0" y="0"/>
              <a:ext cx="2784094" cy="659257"/>
            </a:xfrm>
            <a:custGeom>
              <a:avLst/>
              <a:gdLst/>
              <a:ahLst/>
              <a:cxnLst/>
              <a:rect l="l" t="t" r="r" b="b"/>
              <a:pathLst>
                <a:path w="2784094" h="659257" extrusionOk="0">
                  <a:moveTo>
                    <a:pt x="0" y="0"/>
                  </a:moveTo>
                  <a:lnTo>
                    <a:pt x="2784094" y="0"/>
                  </a:lnTo>
                  <a:lnTo>
                    <a:pt x="2784094" y="659257"/>
                  </a:lnTo>
                  <a:lnTo>
                    <a:pt x="0" y="659257"/>
                  </a:lnTo>
                  <a:close/>
                </a:path>
              </a:pathLst>
            </a:custGeom>
            <a:solidFill>
              <a:srgbClr val="113D63"/>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71" name="Google Shape;871;p18">
              <a:extLst>
                <a:ext uri="{FF2B5EF4-FFF2-40B4-BE49-F238E27FC236}">
                  <a16:creationId xmlns:a16="http://schemas.microsoft.com/office/drawing/2014/main" id="{4839B358-EB8B-F8F3-478F-E85F9E1360B2}"/>
                </a:ext>
              </a:extLst>
            </p:cNvPr>
            <p:cNvSpPr txBox="1"/>
            <p:nvPr/>
          </p:nvSpPr>
          <p:spPr>
            <a:xfrm>
              <a:off x="0" y="-28575"/>
              <a:ext cx="2784073" cy="687775"/>
            </a:xfrm>
            <a:prstGeom prst="rect">
              <a:avLst/>
            </a:prstGeom>
            <a:noFill/>
            <a:ln>
              <a:noFill/>
            </a:ln>
          </p:spPr>
          <p:txBody>
            <a:bodyPr spcFirstLastPara="1" wrap="square" lIns="47625" tIns="47625" rIns="47625" bIns="47625" anchor="ctr" anchorCtr="0">
              <a:noAutofit/>
            </a:bodyPr>
            <a:lstStyle/>
            <a:p>
              <a:pPr marL="154432" lvl="1" indent="-76140">
                <a:lnSpc>
                  <a:spcPct val="120015"/>
                </a:lnSpc>
                <a:buClr>
                  <a:srgbClr val="FFFFFF"/>
                </a:buClr>
                <a:buSzPts val="1279"/>
                <a:buFont typeface="Arial"/>
                <a:buChar char="•"/>
              </a:pPr>
              <a:r>
                <a:rPr lang="en-US" sz="1199" noProof="1">
                  <a:solidFill>
                    <a:srgbClr val="FFFFFF"/>
                  </a:solidFill>
                  <a:latin typeface="Arial"/>
                  <a:ea typeface="Arial"/>
                  <a:cs typeface="Arial"/>
                  <a:sym typeface="Arial"/>
                </a:rPr>
                <a:t>Normal shapes w/ text</a:t>
              </a:r>
              <a:endParaRPr lang="en-US" sz="1313" noProof="1">
                <a:solidFill>
                  <a:srgbClr val="000000"/>
                </a:solidFill>
                <a:latin typeface="Arial"/>
                <a:ea typeface="Arial"/>
                <a:cs typeface="Arial"/>
                <a:sym typeface="Arial"/>
              </a:endParaRPr>
            </a:p>
          </p:txBody>
        </p:sp>
      </p:grpSp>
      <p:cxnSp>
        <p:nvCxnSpPr>
          <p:cNvPr id="872" name="Google Shape;872;p18">
            <a:extLst>
              <a:ext uri="{FF2B5EF4-FFF2-40B4-BE49-F238E27FC236}">
                <a16:creationId xmlns:a16="http://schemas.microsoft.com/office/drawing/2014/main" id="{64D3835F-DFC5-DF01-2482-1CA31A2F962E}"/>
              </a:ext>
            </a:extLst>
          </p:cNvPr>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873" name="Google Shape;873;p18">
            <a:extLst>
              <a:ext uri="{FF2B5EF4-FFF2-40B4-BE49-F238E27FC236}">
                <a16:creationId xmlns:a16="http://schemas.microsoft.com/office/drawing/2014/main" id="{35C3D776-137F-EB49-6B21-75373D440D04}"/>
              </a:ext>
            </a:extLst>
          </p:cNvPr>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cxnSp>
        <p:nvCxnSpPr>
          <p:cNvPr id="874" name="Google Shape;874;p18">
            <a:extLst>
              <a:ext uri="{FF2B5EF4-FFF2-40B4-BE49-F238E27FC236}">
                <a16:creationId xmlns:a16="http://schemas.microsoft.com/office/drawing/2014/main" id="{2020614B-92D6-0584-4477-1535EDFD45F4}"/>
              </a:ext>
            </a:extLst>
          </p:cNvPr>
          <p:cNvCxnSpPr/>
          <p:nvPr/>
        </p:nvCxnSpPr>
        <p:spPr>
          <a:xfrm rot="8930">
            <a:off x="-11128" y="6240264"/>
            <a:ext cx="9166256" cy="0"/>
          </a:xfrm>
          <a:prstGeom prst="straightConnector1">
            <a:avLst/>
          </a:prstGeom>
          <a:noFill/>
          <a:ln w="19050" cap="rnd" cmpd="sng">
            <a:solidFill>
              <a:srgbClr val="39598F"/>
            </a:solidFill>
            <a:prstDash val="solid"/>
            <a:round/>
            <a:headEnd type="none" w="sm" len="sm"/>
            <a:tailEnd type="none" w="sm" len="sm"/>
          </a:ln>
        </p:spPr>
      </p:cxnSp>
      <p:sp>
        <p:nvSpPr>
          <p:cNvPr id="875" name="Google Shape;875;p18">
            <a:extLst>
              <a:ext uri="{FF2B5EF4-FFF2-40B4-BE49-F238E27FC236}">
                <a16:creationId xmlns:a16="http://schemas.microsoft.com/office/drawing/2014/main" id="{423D17CA-E2D8-B9C6-0631-DF923FEBF6BD}"/>
              </a:ext>
            </a:extLst>
          </p:cNvPr>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7" b="-137"/>
            </a:stretch>
          </a:blip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76" name="Google Shape;876;p18">
            <a:extLst>
              <a:ext uri="{FF2B5EF4-FFF2-40B4-BE49-F238E27FC236}">
                <a16:creationId xmlns:a16="http://schemas.microsoft.com/office/drawing/2014/main" id="{6782F03D-AFEA-A84F-143C-802DCEC55BE9}"/>
              </a:ext>
            </a:extLst>
          </p:cNvPr>
          <p:cNvSpPr txBox="1"/>
          <p:nvPr/>
        </p:nvSpPr>
        <p:spPr>
          <a:xfrm>
            <a:off x="64294" y="455032"/>
            <a:ext cx="3985673" cy="398764"/>
          </a:xfrm>
          <a:prstGeom prst="rect">
            <a:avLst/>
          </a:prstGeom>
          <a:noFill/>
          <a:ln>
            <a:noFill/>
          </a:ln>
        </p:spPr>
        <p:txBody>
          <a:bodyPr spcFirstLastPara="1" wrap="square" lIns="0" tIns="0" rIns="0" bIns="0" anchor="t" anchorCtr="0">
            <a:spAutoFit/>
          </a:bodyPr>
          <a:lstStyle/>
          <a:p>
            <a:pPr>
              <a:lnSpc>
                <a:spcPct val="108010"/>
              </a:lnSpc>
              <a:buClr>
                <a:srgbClr val="000000"/>
              </a:buClr>
              <a:buSzPts val="2559"/>
            </a:pPr>
            <a:r>
              <a:rPr lang="en-US" sz="2399" noProof="1">
                <a:solidFill>
                  <a:srgbClr val="333F44"/>
                </a:solidFill>
                <a:latin typeface="Open Sans Light"/>
                <a:ea typeface="Open Sans Light"/>
                <a:cs typeface="Open Sans Light"/>
                <a:sym typeface="Open Sans Light"/>
              </a:rPr>
              <a:t>DDM Model Output</a:t>
            </a:r>
            <a:endParaRPr lang="en-US" sz="1313" noProof="1">
              <a:solidFill>
                <a:srgbClr val="000000"/>
              </a:solidFill>
              <a:latin typeface="Arial"/>
              <a:ea typeface="Arial"/>
              <a:cs typeface="Arial"/>
              <a:sym typeface="Arial"/>
            </a:endParaRPr>
          </a:p>
        </p:txBody>
      </p:sp>
      <p:grpSp>
        <p:nvGrpSpPr>
          <p:cNvPr id="877" name="Google Shape;877;p18">
            <a:extLst>
              <a:ext uri="{FF2B5EF4-FFF2-40B4-BE49-F238E27FC236}">
                <a16:creationId xmlns:a16="http://schemas.microsoft.com/office/drawing/2014/main" id="{57EB786E-1CDC-6F2D-EACF-C571DC62D6D4}"/>
              </a:ext>
            </a:extLst>
          </p:cNvPr>
          <p:cNvGrpSpPr/>
          <p:nvPr/>
        </p:nvGrpSpPr>
        <p:grpSpPr>
          <a:xfrm>
            <a:off x="1467896" y="4471217"/>
            <a:ext cx="3947769" cy="291580"/>
            <a:chOff x="0" y="-9525"/>
            <a:chExt cx="5614605" cy="414692"/>
          </a:xfrm>
        </p:grpSpPr>
        <p:sp>
          <p:nvSpPr>
            <p:cNvPr id="878" name="Google Shape;878;p18">
              <a:extLst>
                <a:ext uri="{FF2B5EF4-FFF2-40B4-BE49-F238E27FC236}">
                  <a16:creationId xmlns:a16="http://schemas.microsoft.com/office/drawing/2014/main" id="{19C00B29-FF91-2624-0570-3AD106410AD6}"/>
                </a:ext>
              </a:extLst>
            </p:cNvPr>
            <p:cNvSpPr/>
            <p:nvPr/>
          </p:nvSpPr>
          <p:spPr>
            <a:xfrm>
              <a:off x="0" y="0"/>
              <a:ext cx="5614543" cy="405130"/>
            </a:xfrm>
            <a:custGeom>
              <a:avLst/>
              <a:gdLst/>
              <a:ahLst/>
              <a:cxnLst/>
              <a:rect l="l" t="t" r="r" b="b"/>
              <a:pathLst>
                <a:path w="5614543" h="405130" extrusionOk="0">
                  <a:moveTo>
                    <a:pt x="0" y="0"/>
                  </a:moveTo>
                  <a:lnTo>
                    <a:pt x="5614543" y="0"/>
                  </a:lnTo>
                  <a:lnTo>
                    <a:pt x="5614543" y="405130"/>
                  </a:lnTo>
                  <a:lnTo>
                    <a:pt x="0" y="405130"/>
                  </a:lnTo>
                  <a:close/>
                </a:path>
              </a:pathLst>
            </a:custGeom>
            <a:solidFill>
              <a:srgbClr val="113D63"/>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79" name="Google Shape;879;p18">
              <a:extLst>
                <a:ext uri="{FF2B5EF4-FFF2-40B4-BE49-F238E27FC236}">
                  <a16:creationId xmlns:a16="http://schemas.microsoft.com/office/drawing/2014/main" id="{B5F05E49-0A98-E738-028D-5A9CC700B080}"/>
                </a:ext>
              </a:extLst>
            </p:cNvPr>
            <p:cNvSpPr txBox="1"/>
            <p:nvPr/>
          </p:nvSpPr>
          <p:spPr>
            <a:xfrm>
              <a:off x="0" y="-9525"/>
              <a:ext cx="5614605" cy="414692"/>
            </a:xfrm>
            <a:prstGeom prst="rect">
              <a:avLst/>
            </a:prstGeom>
            <a:noFill/>
            <a:ln>
              <a:noFill/>
            </a:ln>
          </p:spPr>
          <p:txBody>
            <a:bodyPr spcFirstLastPara="1" wrap="square" lIns="47625" tIns="47625" rIns="47625" bIns="47625" anchor="ctr" anchorCtr="0">
              <a:noAutofit/>
            </a:bodyPr>
            <a:lstStyle/>
            <a:p>
              <a:pPr>
                <a:lnSpc>
                  <a:spcPct val="107946"/>
                </a:lnSpc>
                <a:buClr>
                  <a:srgbClr val="000000"/>
                </a:buClr>
                <a:buSzPts val="1120"/>
              </a:pPr>
              <a:r>
                <a:rPr lang="en-US" sz="1050" b="1" noProof="1">
                  <a:solidFill>
                    <a:srgbClr val="FFFFFF"/>
                  </a:solidFill>
                  <a:latin typeface="Arial"/>
                  <a:ea typeface="Arial"/>
                  <a:cs typeface="Arial"/>
                  <a:sym typeface="Arial"/>
                </a:rPr>
                <a:t>Sensitivity</a:t>
              </a:r>
              <a:r>
                <a:rPr lang="en-US" sz="1050" b="1" noProof="1">
                  <a:solidFill>
                    <a:srgbClr val="000000"/>
                  </a:solidFill>
                  <a:latin typeface="Arial"/>
                  <a:ea typeface="Arial"/>
                  <a:cs typeface="Arial"/>
                  <a:sym typeface="Arial"/>
                </a:rPr>
                <a:t> </a:t>
              </a:r>
              <a:r>
                <a:rPr lang="en-US" sz="1050" b="1" noProof="1">
                  <a:solidFill>
                    <a:srgbClr val="FFFFFF"/>
                  </a:solidFill>
                  <a:latin typeface="Arial"/>
                  <a:ea typeface="Arial"/>
                  <a:cs typeface="Arial"/>
                  <a:sym typeface="Arial"/>
                </a:rPr>
                <a:t>Analysis</a:t>
              </a:r>
              <a:endParaRPr lang="en-US" sz="1313" noProof="1">
                <a:solidFill>
                  <a:srgbClr val="000000"/>
                </a:solidFill>
                <a:latin typeface="Arial"/>
                <a:ea typeface="Arial"/>
                <a:cs typeface="Arial"/>
                <a:sym typeface="Arial"/>
              </a:endParaRPr>
            </a:p>
          </p:txBody>
        </p:sp>
      </p:grpSp>
      <p:sp>
        <p:nvSpPr>
          <p:cNvPr id="880" name="Google Shape;880;p18">
            <a:extLst>
              <a:ext uri="{FF2B5EF4-FFF2-40B4-BE49-F238E27FC236}">
                <a16:creationId xmlns:a16="http://schemas.microsoft.com/office/drawing/2014/main" id="{24A9ADE7-A453-C18A-99E1-8DD45AD651AF}"/>
              </a:ext>
            </a:extLst>
          </p:cNvPr>
          <p:cNvSpPr/>
          <p:nvPr/>
        </p:nvSpPr>
        <p:spPr>
          <a:xfrm>
            <a:off x="1474833" y="3673016"/>
            <a:ext cx="4766489" cy="541853"/>
          </a:xfrm>
          <a:custGeom>
            <a:avLst/>
            <a:gdLst/>
            <a:ahLst/>
            <a:cxnLst/>
            <a:rect l="l" t="t" r="r" b="b"/>
            <a:pathLst>
              <a:path w="6779006" h="770636" extrusionOk="0">
                <a:moveTo>
                  <a:pt x="0" y="0"/>
                </a:moveTo>
                <a:lnTo>
                  <a:pt x="6779006" y="0"/>
                </a:lnTo>
                <a:lnTo>
                  <a:pt x="6779006" y="770636"/>
                </a:lnTo>
                <a:lnTo>
                  <a:pt x="0" y="770636"/>
                </a:lnTo>
                <a:close/>
              </a:path>
            </a:pathLst>
          </a:custGeom>
          <a:solidFill>
            <a:srgbClr val="17375E"/>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cxnSp>
        <p:nvCxnSpPr>
          <p:cNvPr id="881" name="Google Shape;881;p18">
            <a:extLst>
              <a:ext uri="{FF2B5EF4-FFF2-40B4-BE49-F238E27FC236}">
                <a16:creationId xmlns:a16="http://schemas.microsoft.com/office/drawing/2014/main" id="{1F5D4A4C-2292-A3B3-26D5-E013618048B6}"/>
              </a:ext>
            </a:extLst>
          </p:cNvPr>
          <p:cNvCxnSpPr/>
          <p:nvPr/>
        </p:nvCxnSpPr>
        <p:spPr>
          <a:xfrm>
            <a:off x="3858060" y="3673016"/>
            <a:ext cx="0" cy="541853"/>
          </a:xfrm>
          <a:prstGeom prst="straightConnector1">
            <a:avLst/>
          </a:prstGeom>
          <a:noFill/>
          <a:ln w="9525" cap="rnd" cmpd="sng">
            <a:solidFill>
              <a:srgbClr val="FFFFFF"/>
            </a:solidFill>
            <a:prstDash val="solid"/>
            <a:round/>
            <a:headEnd type="none" w="sm" len="sm"/>
            <a:tailEnd type="none" w="sm" len="sm"/>
          </a:ln>
        </p:spPr>
      </p:cxnSp>
      <p:cxnSp>
        <p:nvCxnSpPr>
          <p:cNvPr id="882" name="Google Shape;882;p18">
            <a:extLst>
              <a:ext uri="{FF2B5EF4-FFF2-40B4-BE49-F238E27FC236}">
                <a16:creationId xmlns:a16="http://schemas.microsoft.com/office/drawing/2014/main" id="{55AFA734-C334-414A-D7E8-1379AC16EB9F}"/>
              </a:ext>
            </a:extLst>
          </p:cNvPr>
          <p:cNvCxnSpPr/>
          <p:nvPr/>
        </p:nvCxnSpPr>
        <p:spPr>
          <a:xfrm>
            <a:off x="2768115" y="3605724"/>
            <a:ext cx="9525" cy="693189"/>
          </a:xfrm>
          <a:prstGeom prst="straightConnector1">
            <a:avLst/>
          </a:prstGeom>
          <a:noFill/>
          <a:ln w="9525" cap="rnd" cmpd="sng">
            <a:solidFill>
              <a:srgbClr val="FFFFFF"/>
            </a:solidFill>
            <a:prstDash val="solid"/>
            <a:round/>
            <a:headEnd type="none" w="sm" len="sm"/>
            <a:tailEnd type="none" w="sm" len="sm"/>
          </a:ln>
        </p:spPr>
      </p:cxnSp>
      <p:cxnSp>
        <p:nvCxnSpPr>
          <p:cNvPr id="883" name="Google Shape;883;p18">
            <a:extLst>
              <a:ext uri="{FF2B5EF4-FFF2-40B4-BE49-F238E27FC236}">
                <a16:creationId xmlns:a16="http://schemas.microsoft.com/office/drawing/2014/main" id="{5C179516-8441-CD65-25BB-958EC20A3958}"/>
              </a:ext>
            </a:extLst>
          </p:cNvPr>
          <p:cNvCxnSpPr/>
          <p:nvPr/>
        </p:nvCxnSpPr>
        <p:spPr>
          <a:xfrm>
            <a:off x="5187366" y="3605724"/>
            <a:ext cx="9525" cy="693189"/>
          </a:xfrm>
          <a:prstGeom prst="straightConnector1">
            <a:avLst/>
          </a:prstGeom>
          <a:noFill/>
          <a:ln w="9525" cap="rnd" cmpd="sng">
            <a:solidFill>
              <a:srgbClr val="FFFFFF"/>
            </a:solidFill>
            <a:prstDash val="solid"/>
            <a:round/>
            <a:headEnd type="none" w="sm" len="sm"/>
            <a:tailEnd type="none" w="sm" len="sm"/>
          </a:ln>
        </p:spPr>
      </p:cxnSp>
      <p:grpSp>
        <p:nvGrpSpPr>
          <p:cNvPr id="884" name="Google Shape;884;p18">
            <a:extLst>
              <a:ext uri="{FF2B5EF4-FFF2-40B4-BE49-F238E27FC236}">
                <a16:creationId xmlns:a16="http://schemas.microsoft.com/office/drawing/2014/main" id="{4FC55B36-8928-D80C-F59A-02BB1E0CB750}"/>
              </a:ext>
            </a:extLst>
          </p:cNvPr>
          <p:cNvGrpSpPr/>
          <p:nvPr/>
        </p:nvGrpSpPr>
        <p:grpSpPr>
          <a:xfrm>
            <a:off x="1467896" y="1206408"/>
            <a:ext cx="3947769" cy="291580"/>
            <a:chOff x="0" y="-9525"/>
            <a:chExt cx="5614605" cy="414692"/>
          </a:xfrm>
        </p:grpSpPr>
        <p:sp>
          <p:nvSpPr>
            <p:cNvPr id="885" name="Google Shape;885;p18">
              <a:extLst>
                <a:ext uri="{FF2B5EF4-FFF2-40B4-BE49-F238E27FC236}">
                  <a16:creationId xmlns:a16="http://schemas.microsoft.com/office/drawing/2014/main" id="{8F60266D-1835-F9ED-8A86-0CAD69B7854D}"/>
                </a:ext>
              </a:extLst>
            </p:cNvPr>
            <p:cNvSpPr/>
            <p:nvPr/>
          </p:nvSpPr>
          <p:spPr>
            <a:xfrm>
              <a:off x="0" y="0"/>
              <a:ext cx="5614543" cy="405130"/>
            </a:xfrm>
            <a:custGeom>
              <a:avLst/>
              <a:gdLst/>
              <a:ahLst/>
              <a:cxnLst/>
              <a:rect l="l" t="t" r="r" b="b"/>
              <a:pathLst>
                <a:path w="5614543" h="405130" extrusionOk="0">
                  <a:moveTo>
                    <a:pt x="0" y="0"/>
                  </a:moveTo>
                  <a:lnTo>
                    <a:pt x="5614543" y="0"/>
                  </a:lnTo>
                  <a:lnTo>
                    <a:pt x="5614543" y="405130"/>
                  </a:lnTo>
                  <a:lnTo>
                    <a:pt x="0" y="405130"/>
                  </a:lnTo>
                  <a:close/>
                </a:path>
              </a:pathLst>
            </a:custGeom>
            <a:solidFill>
              <a:srgbClr val="113D63"/>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886" name="Google Shape;886;p18">
              <a:extLst>
                <a:ext uri="{FF2B5EF4-FFF2-40B4-BE49-F238E27FC236}">
                  <a16:creationId xmlns:a16="http://schemas.microsoft.com/office/drawing/2014/main" id="{12314D47-F099-BD65-7743-BA439BC567CD}"/>
                </a:ext>
              </a:extLst>
            </p:cNvPr>
            <p:cNvSpPr txBox="1"/>
            <p:nvPr/>
          </p:nvSpPr>
          <p:spPr>
            <a:xfrm>
              <a:off x="0" y="-9525"/>
              <a:ext cx="5614605" cy="414692"/>
            </a:xfrm>
            <a:prstGeom prst="rect">
              <a:avLst/>
            </a:prstGeom>
            <a:noFill/>
            <a:ln>
              <a:noFill/>
            </a:ln>
          </p:spPr>
          <p:txBody>
            <a:bodyPr spcFirstLastPara="1" wrap="square" lIns="47625" tIns="47625" rIns="47625" bIns="47625" anchor="ctr" anchorCtr="0">
              <a:noAutofit/>
            </a:bodyPr>
            <a:lstStyle/>
            <a:p>
              <a:pPr>
                <a:lnSpc>
                  <a:spcPct val="107946"/>
                </a:lnSpc>
                <a:buClr>
                  <a:srgbClr val="000000"/>
                </a:buClr>
                <a:buSzPts val="1120"/>
              </a:pPr>
              <a:r>
                <a:rPr lang="en-US" sz="1050" b="1" noProof="1">
                  <a:solidFill>
                    <a:srgbClr val="FFFFFF"/>
                  </a:solidFill>
                  <a:latin typeface="Arial"/>
                  <a:ea typeface="Arial"/>
                  <a:cs typeface="Arial"/>
                  <a:sym typeface="Arial"/>
                </a:rPr>
                <a:t>Terminal Value – Gordon Growth Model</a:t>
              </a:r>
              <a:endParaRPr lang="en-US" sz="1313" noProof="1">
                <a:solidFill>
                  <a:srgbClr val="000000"/>
                </a:solidFill>
                <a:latin typeface="Arial"/>
                <a:ea typeface="Arial"/>
                <a:cs typeface="Arial"/>
                <a:sym typeface="Arial"/>
              </a:endParaRPr>
            </a:p>
          </p:txBody>
        </p:sp>
      </p:grpSp>
      <p:sp>
        <p:nvSpPr>
          <p:cNvPr id="887" name="Google Shape;887;p18">
            <a:extLst>
              <a:ext uri="{FF2B5EF4-FFF2-40B4-BE49-F238E27FC236}">
                <a16:creationId xmlns:a16="http://schemas.microsoft.com/office/drawing/2014/main" id="{7CED0CA2-A888-3C53-08A9-BBB5DE773E2D}"/>
              </a:ext>
            </a:extLst>
          </p:cNvPr>
          <p:cNvSpPr txBox="1"/>
          <p:nvPr/>
        </p:nvSpPr>
        <p:spPr>
          <a:xfrm>
            <a:off x="-3429000" y="342186"/>
            <a:ext cx="3200400" cy="1107611"/>
          </a:xfrm>
          <a:prstGeom prst="rect">
            <a:avLst/>
          </a:prstGeom>
          <a:noFill/>
          <a:ln>
            <a:noFill/>
          </a:ln>
        </p:spPr>
        <p:txBody>
          <a:bodyPr spcFirstLastPara="1" wrap="square" lIns="0" tIns="0" rIns="0" bIns="0" anchor="t" anchorCtr="0">
            <a:spAutoFit/>
          </a:bodyPr>
          <a:lstStyle/>
          <a:p>
            <a:pPr algn="r">
              <a:lnSpc>
                <a:spcPct val="120007"/>
              </a:lnSpc>
              <a:buClr>
                <a:srgbClr val="000000"/>
              </a:buClr>
              <a:buSzPts val="2559"/>
            </a:pPr>
            <a:r>
              <a:rPr lang="en-US" sz="2399" b="1" noProof="1">
                <a:solidFill>
                  <a:srgbClr val="000000"/>
                </a:solidFill>
                <a:latin typeface="Arial"/>
                <a:ea typeface="Arial"/>
                <a:cs typeface="Arial"/>
                <a:sym typeface="Arial"/>
              </a:rPr>
              <a:t>Arial Slide Title – 24</a:t>
            </a:r>
            <a:endParaRPr lang="en-US" sz="1313" noProof="1">
              <a:solidFill>
                <a:srgbClr val="000000"/>
              </a:solidFill>
              <a:latin typeface="Arial"/>
              <a:ea typeface="Arial"/>
              <a:cs typeface="Arial"/>
              <a:sym typeface="Arial"/>
            </a:endParaRPr>
          </a:p>
          <a:p>
            <a:pPr algn="r">
              <a:lnSpc>
                <a:spcPct val="119959"/>
              </a:lnSpc>
              <a:buClr>
                <a:srgbClr val="000000"/>
              </a:buClr>
              <a:buSzPts val="1493"/>
            </a:pPr>
            <a:r>
              <a:rPr lang="en-US" sz="1400" noProof="1">
                <a:solidFill>
                  <a:srgbClr val="000000"/>
                </a:solidFill>
                <a:latin typeface="Arial"/>
                <a:ea typeface="Arial"/>
                <a:cs typeface="Arial"/>
                <a:sym typeface="Arial"/>
              </a:rPr>
              <a:t>Content/Section Title Text – 14</a:t>
            </a:r>
            <a:endParaRPr lang="en-US" sz="1313" noProof="1">
              <a:solidFill>
                <a:srgbClr val="000000"/>
              </a:solidFill>
              <a:latin typeface="Arial"/>
              <a:ea typeface="Arial"/>
              <a:cs typeface="Arial"/>
              <a:sym typeface="Arial"/>
            </a:endParaRPr>
          </a:p>
          <a:p>
            <a:pPr algn="r">
              <a:lnSpc>
                <a:spcPct val="120015"/>
              </a:lnSpc>
              <a:buClr>
                <a:srgbClr val="000000"/>
              </a:buClr>
              <a:buSzPts val="1279"/>
            </a:pPr>
            <a:r>
              <a:rPr lang="en-US" sz="1199" noProof="1">
                <a:solidFill>
                  <a:srgbClr val="000000"/>
                </a:solidFill>
                <a:latin typeface="Arial"/>
                <a:ea typeface="Arial"/>
                <a:cs typeface="Arial"/>
                <a:sym typeface="Arial"/>
              </a:rPr>
              <a:t>Bullet and Subtitle Text – 12</a:t>
            </a:r>
            <a:endParaRPr lang="en-US" sz="1313" noProof="1">
              <a:solidFill>
                <a:srgbClr val="000000"/>
              </a:solidFill>
              <a:latin typeface="Arial"/>
              <a:ea typeface="Arial"/>
              <a:cs typeface="Arial"/>
              <a:sym typeface="Arial"/>
            </a:endParaRPr>
          </a:p>
          <a:p>
            <a:pPr algn="r">
              <a:lnSpc>
                <a:spcPct val="120075"/>
              </a:lnSpc>
              <a:buClr>
                <a:srgbClr val="000000"/>
              </a:buClr>
              <a:buSzPts val="1066"/>
            </a:pPr>
            <a:r>
              <a:rPr lang="en-US" sz="999" noProof="1">
                <a:solidFill>
                  <a:srgbClr val="000000"/>
                </a:solidFill>
                <a:latin typeface="Arial"/>
                <a:ea typeface="Arial"/>
                <a:cs typeface="Arial"/>
                <a:sym typeface="Arial"/>
              </a:rPr>
              <a:t>Chart, Profile, and Currency Text – 10</a:t>
            </a:r>
            <a:endParaRPr lang="en-US" sz="1313" noProof="1">
              <a:solidFill>
                <a:srgbClr val="000000"/>
              </a:solidFill>
              <a:latin typeface="Arial"/>
              <a:ea typeface="Arial"/>
              <a:cs typeface="Arial"/>
              <a:sym typeface="Arial"/>
            </a:endParaRPr>
          </a:p>
        </p:txBody>
      </p:sp>
      <p:sp>
        <p:nvSpPr>
          <p:cNvPr id="888" name="Google Shape;888;p18">
            <a:extLst>
              <a:ext uri="{FF2B5EF4-FFF2-40B4-BE49-F238E27FC236}">
                <a16:creationId xmlns:a16="http://schemas.microsoft.com/office/drawing/2014/main" id="{A05E597B-6AB2-D882-2C80-F8AE6263329D}"/>
              </a:ext>
            </a:extLst>
          </p:cNvPr>
          <p:cNvSpPr txBox="1"/>
          <p:nvPr/>
        </p:nvSpPr>
        <p:spPr>
          <a:xfrm>
            <a:off x="239485" y="6382553"/>
            <a:ext cx="3537857" cy="332399"/>
          </a:xfrm>
          <a:prstGeom prst="rect">
            <a:avLst/>
          </a:prstGeom>
          <a:noFill/>
          <a:ln>
            <a:noFill/>
          </a:ln>
        </p:spPr>
        <p:txBody>
          <a:bodyPr spcFirstLastPara="1" wrap="square" lIns="0" tIns="0" rIns="0" bIns="0" anchor="t" anchorCtr="0">
            <a:spAutoFit/>
          </a:bodyPr>
          <a:lstStyle/>
          <a:p>
            <a:pPr>
              <a:lnSpc>
                <a:spcPct val="120000"/>
              </a:lnSpc>
              <a:buClr>
                <a:srgbClr val="000000"/>
              </a:buClr>
              <a:buSzPts val="1920"/>
            </a:pPr>
            <a:r>
              <a:rPr lang="en-US" noProof="1">
                <a:solidFill>
                  <a:srgbClr val="2A90BC"/>
                </a:solidFill>
                <a:latin typeface="Arimo"/>
                <a:ea typeface="Arimo"/>
                <a:cs typeface="Arimo"/>
                <a:sym typeface="Arimo"/>
              </a:rPr>
              <a:t>ESSEC Capital Investments Club</a:t>
            </a:r>
            <a:endParaRPr lang="en-US" sz="1313" noProof="1">
              <a:solidFill>
                <a:srgbClr val="000000"/>
              </a:solidFill>
              <a:latin typeface="Arial"/>
              <a:ea typeface="Arial"/>
              <a:cs typeface="Arial"/>
              <a:sym typeface="Arial"/>
            </a:endParaRPr>
          </a:p>
        </p:txBody>
      </p:sp>
      <p:sp>
        <p:nvSpPr>
          <p:cNvPr id="889" name="Google Shape;889;p18">
            <a:extLst>
              <a:ext uri="{FF2B5EF4-FFF2-40B4-BE49-F238E27FC236}">
                <a16:creationId xmlns:a16="http://schemas.microsoft.com/office/drawing/2014/main" id="{D0AEC0D0-B3E5-052A-A403-5AB2BEF375D5}"/>
              </a:ext>
            </a:extLst>
          </p:cNvPr>
          <p:cNvSpPr txBox="1"/>
          <p:nvPr/>
        </p:nvSpPr>
        <p:spPr>
          <a:xfrm>
            <a:off x="1615344" y="3763138"/>
            <a:ext cx="998557" cy="332399"/>
          </a:xfrm>
          <a:prstGeom prst="rect">
            <a:avLst/>
          </a:prstGeom>
          <a:noFill/>
          <a:ln>
            <a:noFill/>
          </a:ln>
        </p:spPr>
        <p:txBody>
          <a:bodyPr spcFirstLastPara="1" wrap="square" lIns="0" tIns="0" rIns="0" bIns="0" anchor="t" anchorCtr="0">
            <a:spAutoFit/>
          </a:bodyPr>
          <a:lstStyle/>
          <a:p>
            <a:pPr algn="ctr">
              <a:lnSpc>
                <a:spcPct val="120000"/>
              </a:lnSpc>
              <a:buClr>
                <a:srgbClr val="000000"/>
              </a:buClr>
              <a:buSzPts val="960"/>
            </a:pPr>
            <a:r>
              <a:rPr lang="en-US" sz="900" b="1" noProof="1">
                <a:solidFill>
                  <a:srgbClr val="FFFFFF"/>
                </a:solidFill>
                <a:latin typeface="Arial"/>
                <a:ea typeface="Arial"/>
                <a:cs typeface="Arial"/>
                <a:sym typeface="Arial"/>
              </a:rPr>
              <a:t>Implied Share Price from DDM</a:t>
            </a:r>
            <a:endParaRPr lang="en-US" sz="1313" noProof="1">
              <a:solidFill>
                <a:srgbClr val="000000"/>
              </a:solidFill>
              <a:latin typeface="Arial"/>
              <a:ea typeface="Arial"/>
              <a:cs typeface="Arial"/>
              <a:sym typeface="Arial"/>
            </a:endParaRPr>
          </a:p>
        </p:txBody>
      </p:sp>
      <p:sp>
        <p:nvSpPr>
          <p:cNvPr id="890" name="Google Shape;890;p18">
            <a:extLst>
              <a:ext uri="{FF2B5EF4-FFF2-40B4-BE49-F238E27FC236}">
                <a16:creationId xmlns:a16="http://schemas.microsoft.com/office/drawing/2014/main" id="{2F0CEB9A-AEDD-CBB8-8926-FBB6AF96D3D0}"/>
              </a:ext>
            </a:extLst>
          </p:cNvPr>
          <p:cNvSpPr txBox="1"/>
          <p:nvPr/>
        </p:nvSpPr>
        <p:spPr>
          <a:xfrm>
            <a:off x="3978386" y="3763138"/>
            <a:ext cx="1088656" cy="332399"/>
          </a:xfrm>
          <a:prstGeom prst="rect">
            <a:avLst/>
          </a:prstGeom>
          <a:noFill/>
          <a:ln>
            <a:noFill/>
          </a:ln>
        </p:spPr>
        <p:txBody>
          <a:bodyPr spcFirstLastPara="1" wrap="square" lIns="0" tIns="0" rIns="0" bIns="0" anchor="t" anchorCtr="0">
            <a:spAutoFit/>
          </a:bodyPr>
          <a:lstStyle/>
          <a:p>
            <a:pPr algn="ctr">
              <a:lnSpc>
                <a:spcPct val="120000"/>
              </a:lnSpc>
              <a:buClr>
                <a:srgbClr val="000000"/>
              </a:buClr>
              <a:buSzPts val="960"/>
            </a:pPr>
            <a:r>
              <a:rPr lang="en-US" sz="900" b="1" noProof="1">
                <a:solidFill>
                  <a:srgbClr val="FFFFFF"/>
                </a:solidFill>
                <a:latin typeface="Arial"/>
                <a:ea typeface="Arial"/>
                <a:cs typeface="Arial"/>
                <a:sym typeface="Arial"/>
              </a:rPr>
              <a:t>Premium to Current Share Price</a:t>
            </a:r>
            <a:endParaRPr lang="en-US" sz="1313" noProof="1">
              <a:solidFill>
                <a:srgbClr val="000000"/>
              </a:solidFill>
              <a:latin typeface="Arial"/>
              <a:ea typeface="Arial"/>
              <a:cs typeface="Arial"/>
              <a:sym typeface="Arial"/>
            </a:endParaRPr>
          </a:p>
        </p:txBody>
      </p:sp>
      <p:sp>
        <p:nvSpPr>
          <p:cNvPr id="891" name="Google Shape;891;p18">
            <a:extLst>
              <a:ext uri="{FF2B5EF4-FFF2-40B4-BE49-F238E27FC236}">
                <a16:creationId xmlns:a16="http://schemas.microsoft.com/office/drawing/2014/main" id="{7961F5D5-A1A2-ED6A-81B7-6FAE6DB9B58C}"/>
              </a:ext>
            </a:extLst>
          </p:cNvPr>
          <p:cNvSpPr txBox="1"/>
          <p:nvPr/>
        </p:nvSpPr>
        <p:spPr>
          <a:xfrm>
            <a:off x="2839843" y="3831796"/>
            <a:ext cx="976500" cy="193899"/>
          </a:xfrm>
          <a:prstGeom prst="rect">
            <a:avLst/>
          </a:prstGeom>
          <a:noFill/>
          <a:ln>
            <a:noFill/>
          </a:ln>
        </p:spPr>
        <p:txBody>
          <a:bodyPr spcFirstLastPara="1" wrap="square" lIns="0" tIns="0" rIns="0" bIns="0" anchor="t" anchorCtr="0">
            <a:spAutoFit/>
          </a:bodyPr>
          <a:lstStyle/>
          <a:p>
            <a:pPr algn="ctr">
              <a:lnSpc>
                <a:spcPct val="120000"/>
              </a:lnSpc>
              <a:buClr>
                <a:srgbClr val="000000"/>
              </a:buClr>
              <a:buSzPts val="1120"/>
            </a:pPr>
            <a:r>
              <a:rPr lang="en-US" sz="1050" noProof="1">
                <a:solidFill>
                  <a:srgbClr val="FFFFFF"/>
                </a:solidFill>
              </a:rPr>
              <a:t> €337.48</a:t>
            </a:r>
            <a:endParaRPr lang="en-US" sz="1313" noProof="1">
              <a:solidFill>
                <a:srgbClr val="000000"/>
              </a:solidFill>
              <a:latin typeface="Arial"/>
              <a:ea typeface="Arial"/>
              <a:cs typeface="Arial"/>
              <a:sym typeface="Arial"/>
            </a:endParaRPr>
          </a:p>
        </p:txBody>
      </p:sp>
      <p:sp>
        <p:nvSpPr>
          <p:cNvPr id="892" name="Google Shape;892;p18">
            <a:extLst>
              <a:ext uri="{FF2B5EF4-FFF2-40B4-BE49-F238E27FC236}">
                <a16:creationId xmlns:a16="http://schemas.microsoft.com/office/drawing/2014/main" id="{45032F68-8644-B578-B068-CE6C28726359}"/>
              </a:ext>
            </a:extLst>
          </p:cNvPr>
          <p:cNvSpPr txBox="1"/>
          <p:nvPr/>
        </p:nvSpPr>
        <p:spPr>
          <a:xfrm>
            <a:off x="5233904" y="3841318"/>
            <a:ext cx="976500" cy="193899"/>
          </a:xfrm>
          <a:prstGeom prst="rect">
            <a:avLst/>
          </a:prstGeom>
          <a:noFill/>
          <a:ln>
            <a:noFill/>
          </a:ln>
        </p:spPr>
        <p:txBody>
          <a:bodyPr spcFirstLastPara="1" wrap="square" lIns="0" tIns="0" rIns="0" bIns="0" anchor="t" anchorCtr="0">
            <a:spAutoFit/>
          </a:bodyPr>
          <a:lstStyle/>
          <a:p>
            <a:pPr algn="ctr">
              <a:lnSpc>
                <a:spcPct val="120000"/>
              </a:lnSpc>
              <a:buClr>
                <a:srgbClr val="000000"/>
              </a:buClr>
              <a:buSzPts val="1120"/>
            </a:pPr>
            <a:r>
              <a:rPr lang="en-US" sz="1050" noProof="1">
                <a:solidFill>
                  <a:srgbClr val="FFFFFF"/>
                </a:solidFill>
              </a:rPr>
              <a:t>+%</a:t>
            </a:r>
            <a:endParaRPr lang="en-US" sz="1313" noProof="1">
              <a:solidFill>
                <a:srgbClr val="000000"/>
              </a:solidFill>
              <a:latin typeface="Arial"/>
              <a:ea typeface="Arial"/>
              <a:cs typeface="Arial"/>
              <a:sym typeface="Arial"/>
            </a:endParaRPr>
          </a:p>
        </p:txBody>
      </p:sp>
      <p:sp>
        <p:nvSpPr>
          <p:cNvPr id="894" name="Google Shape;894;p18">
            <a:extLst>
              <a:ext uri="{FF2B5EF4-FFF2-40B4-BE49-F238E27FC236}">
                <a16:creationId xmlns:a16="http://schemas.microsoft.com/office/drawing/2014/main" id="{4012473F-91C5-8377-E6F7-17004994B1EB}"/>
              </a:ext>
            </a:extLst>
          </p:cNvPr>
          <p:cNvSpPr txBox="1"/>
          <p:nvPr/>
        </p:nvSpPr>
        <p:spPr>
          <a:xfrm>
            <a:off x="1467896" y="1864290"/>
            <a:ext cx="2239031" cy="207749"/>
          </a:xfrm>
          <a:prstGeom prst="rect">
            <a:avLst/>
          </a:prstGeom>
          <a:noFill/>
          <a:ln>
            <a:noFill/>
          </a:ln>
        </p:spPr>
        <p:txBody>
          <a:bodyPr spcFirstLastPara="1" wrap="square" lIns="0" tIns="0" rIns="0" bIns="0" anchor="t" anchorCtr="0">
            <a:spAutoFit/>
          </a:bodyPr>
          <a:lstStyle/>
          <a:p>
            <a:pPr>
              <a:lnSpc>
                <a:spcPct val="119916"/>
              </a:lnSpc>
              <a:buClr>
                <a:srgbClr val="000000"/>
              </a:buClr>
              <a:buSzPts val="1200"/>
            </a:pPr>
            <a:r>
              <a:rPr lang="en-US" sz="1125" b="1" noProof="1">
                <a:solidFill>
                  <a:srgbClr val="000000"/>
                </a:solidFill>
                <a:latin typeface="Arial"/>
                <a:ea typeface="Arial"/>
                <a:cs typeface="Arial"/>
                <a:sym typeface="Arial"/>
              </a:rPr>
              <a:t>Dividends 2024  : €2.91  </a:t>
            </a:r>
            <a:endParaRPr lang="en-US" sz="1313" noProof="1">
              <a:solidFill>
                <a:srgbClr val="000000"/>
              </a:solidFill>
              <a:latin typeface="Arial"/>
              <a:ea typeface="Arial"/>
              <a:cs typeface="Arial"/>
              <a:sym typeface="Arial"/>
            </a:endParaRPr>
          </a:p>
        </p:txBody>
      </p:sp>
      <p:sp>
        <p:nvSpPr>
          <p:cNvPr id="2" name="Google Shape;894;p18">
            <a:extLst>
              <a:ext uri="{FF2B5EF4-FFF2-40B4-BE49-F238E27FC236}">
                <a16:creationId xmlns:a16="http://schemas.microsoft.com/office/drawing/2014/main" id="{E2185589-0BAC-2411-7194-28120B35A174}"/>
              </a:ext>
            </a:extLst>
          </p:cNvPr>
          <p:cNvSpPr txBox="1"/>
          <p:nvPr/>
        </p:nvSpPr>
        <p:spPr>
          <a:xfrm>
            <a:off x="1474833" y="2105685"/>
            <a:ext cx="4130513" cy="207749"/>
          </a:xfrm>
          <a:prstGeom prst="rect">
            <a:avLst/>
          </a:prstGeom>
          <a:noFill/>
          <a:ln>
            <a:noFill/>
          </a:ln>
        </p:spPr>
        <p:txBody>
          <a:bodyPr spcFirstLastPara="1" wrap="square" lIns="0" tIns="0" rIns="0" bIns="0" anchor="t" anchorCtr="0">
            <a:spAutoFit/>
          </a:bodyPr>
          <a:lstStyle/>
          <a:p>
            <a:pPr>
              <a:lnSpc>
                <a:spcPct val="119916"/>
              </a:lnSpc>
              <a:buClr>
                <a:srgbClr val="000000"/>
              </a:buClr>
              <a:buSzPts val="1200"/>
            </a:pPr>
            <a:r>
              <a:rPr lang="en-US" sz="1125" b="1" noProof="1"/>
              <a:t>Estimated dividends :</a:t>
            </a:r>
            <a:endParaRPr lang="en-US" sz="1313" noProof="1">
              <a:solidFill>
                <a:srgbClr val="000000"/>
              </a:solidFill>
              <a:latin typeface="Arial"/>
              <a:ea typeface="Arial"/>
              <a:cs typeface="Arial"/>
              <a:sym typeface="Arial"/>
            </a:endParaRPr>
          </a:p>
        </p:txBody>
      </p:sp>
      <p:sp>
        <p:nvSpPr>
          <p:cNvPr id="4" name="Google Shape;894;p18">
            <a:extLst>
              <a:ext uri="{FF2B5EF4-FFF2-40B4-BE49-F238E27FC236}">
                <a16:creationId xmlns:a16="http://schemas.microsoft.com/office/drawing/2014/main" id="{E1A2F563-ED5D-44E4-91A0-372C3A9F6FA9}"/>
              </a:ext>
            </a:extLst>
          </p:cNvPr>
          <p:cNvSpPr txBox="1"/>
          <p:nvPr/>
        </p:nvSpPr>
        <p:spPr>
          <a:xfrm>
            <a:off x="1467896" y="3380308"/>
            <a:ext cx="4130513" cy="207749"/>
          </a:xfrm>
          <a:prstGeom prst="rect">
            <a:avLst/>
          </a:prstGeom>
          <a:noFill/>
          <a:ln>
            <a:noFill/>
          </a:ln>
        </p:spPr>
        <p:txBody>
          <a:bodyPr spcFirstLastPara="1" wrap="square" lIns="0" tIns="0" rIns="0" bIns="0" anchor="t" anchorCtr="0">
            <a:spAutoFit/>
          </a:bodyPr>
          <a:lstStyle/>
          <a:p>
            <a:pPr>
              <a:lnSpc>
                <a:spcPct val="119916"/>
              </a:lnSpc>
              <a:buClr>
                <a:srgbClr val="000000"/>
              </a:buClr>
              <a:buSzPts val="1200"/>
            </a:pPr>
            <a:r>
              <a:rPr lang="en-US" sz="1125" b="1" noProof="1"/>
              <a:t>Cost of Equity</a:t>
            </a:r>
            <a:r>
              <a:rPr lang="en-US" sz="1125" b="1" noProof="1">
                <a:solidFill>
                  <a:srgbClr val="000000"/>
                </a:solidFill>
                <a:latin typeface="Arial"/>
                <a:ea typeface="Arial"/>
                <a:cs typeface="Arial"/>
                <a:sym typeface="Arial"/>
              </a:rPr>
              <a:t>: 5.98%</a:t>
            </a:r>
            <a:endParaRPr lang="en-US" sz="1313" noProof="1">
              <a:solidFill>
                <a:srgbClr val="000000"/>
              </a:solidFill>
              <a:latin typeface="Arial"/>
              <a:ea typeface="Arial"/>
              <a:cs typeface="Arial"/>
              <a:sym typeface="Arial"/>
            </a:endParaRPr>
          </a:p>
        </p:txBody>
      </p:sp>
      <p:sp>
        <p:nvSpPr>
          <p:cNvPr id="3" name="Google Shape;894;p18">
            <a:extLst>
              <a:ext uri="{FF2B5EF4-FFF2-40B4-BE49-F238E27FC236}">
                <a16:creationId xmlns:a16="http://schemas.microsoft.com/office/drawing/2014/main" id="{38EFEBA8-8EA0-DE3D-2729-6CA22B363538}"/>
              </a:ext>
            </a:extLst>
          </p:cNvPr>
          <p:cNvSpPr txBox="1"/>
          <p:nvPr/>
        </p:nvSpPr>
        <p:spPr>
          <a:xfrm>
            <a:off x="1467896" y="3154893"/>
            <a:ext cx="4130513" cy="207749"/>
          </a:xfrm>
          <a:prstGeom prst="rect">
            <a:avLst/>
          </a:prstGeom>
          <a:noFill/>
          <a:ln>
            <a:noFill/>
          </a:ln>
        </p:spPr>
        <p:txBody>
          <a:bodyPr spcFirstLastPara="1" wrap="square" lIns="0" tIns="0" rIns="0" bIns="0" anchor="t" anchorCtr="0">
            <a:spAutoFit/>
          </a:bodyPr>
          <a:lstStyle/>
          <a:p>
            <a:pPr>
              <a:lnSpc>
                <a:spcPct val="119916"/>
              </a:lnSpc>
              <a:buClr>
                <a:srgbClr val="000000"/>
              </a:buClr>
              <a:buSzPts val="1200"/>
            </a:pPr>
            <a:r>
              <a:rPr lang="en-US" sz="1125" b="1" noProof="1"/>
              <a:t>D</a:t>
            </a:r>
            <a:r>
              <a:rPr lang="en-US" sz="1125" b="1" noProof="1">
                <a:solidFill>
                  <a:srgbClr val="000000"/>
                </a:solidFill>
                <a:latin typeface="Arial"/>
                <a:ea typeface="Arial"/>
                <a:cs typeface="Arial"/>
                <a:sym typeface="Arial"/>
              </a:rPr>
              <a:t>ividend growth rate perpetual : 4.00%</a:t>
            </a:r>
            <a:endParaRPr lang="en-US" sz="1313" noProof="1">
              <a:solidFill>
                <a:srgbClr val="000000"/>
              </a:solidFill>
              <a:latin typeface="Arial"/>
              <a:ea typeface="Arial"/>
              <a:cs typeface="Arial"/>
              <a:sym typeface="Arial"/>
            </a:endParaRPr>
          </a:p>
        </p:txBody>
      </p:sp>
      <p:sp>
        <p:nvSpPr>
          <p:cNvPr id="5" name="Google Shape;894;p18">
            <a:extLst>
              <a:ext uri="{FF2B5EF4-FFF2-40B4-BE49-F238E27FC236}">
                <a16:creationId xmlns:a16="http://schemas.microsoft.com/office/drawing/2014/main" id="{721C7DE7-DE88-EF29-C7A0-956D8CDCFF0B}"/>
              </a:ext>
            </a:extLst>
          </p:cNvPr>
          <p:cNvSpPr txBox="1"/>
          <p:nvPr/>
        </p:nvSpPr>
        <p:spPr>
          <a:xfrm>
            <a:off x="1467896" y="1621254"/>
            <a:ext cx="2239031" cy="207749"/>
          </a:xfrm>
          <a:prstGeom prst="rect">
            <a:avLst/>
          </a:prstGeom>
          <a:noFill/>
          <a:ln>
            <a:noFill/>
          </a:ln>
        </p:spPr>
        <p:txBody>
          <a:bodyPr spcFirstLastPara="1" wrap="square" lIns="0" tIns="0" rIns="0" bIns="0" anchor="t" anchorCtr="0">
            <a:spAutoFit/>
          </a:bodyPr>
          <a:lstStyle/>
          <a:p>
            <a:pPr>
              <a:lnSpc>
                <a:spcPct val="119916"/>
              </a:lnSpc>
              <a:buClr>
                <a:srgbClr val="000000"/>
              </a:buClr>
              <a:buSzPts val="1200"/>
            </a:pPr>
            <a:r>
              <a:rPr lang="en-US" sz="1125" b="1" noProof="1">
                <a:solidFill>
                  <a:srgbClr val="000000"/>
                </a:solidFill>
                <a:latin typeface="Arial"/>
                <a:ea typeface="Arial"/>
                <a:cs typeface="Arial"/>
                <a:sym typeface="Arial"/>
              </a:rPr>
              <a:t>Dividend yield  : 2.05%</a:t>
            </a:r>
            <a:endParaRPr lang="en-US" sz="1313" noProof="1">
              <a:solidFill>
                <a:srgbClr val="000000"/>
              </a:solidFill>
              <a:latin typeface="Arial"/>
              <a:ea typeface="Arial"/>
              <a:cs typeface="Arial"/>
              <a:sym typeface="Arial"/>
            </a:endParaRPr>
          </a:p>
        </p:txBody>
      </p:sp>
      <p:graphicFrame>
        <p:nvGraphicFramePr>
          <p:cNvPr id="6" name="Tableau 5">
            <a:extLst>
              <a:ext uri="{FF2B5EF4-FFF2-40B4-BE49-F238E27FC236}">
                <a16:creationId xmlns:a16="http://schemas.microsoft.com/office/drawing/2014/main" id="{C4A67E29-AAF2-2275-4C3C-8E980A683285}"/>
              </a:ext>
            </a:extLst>
          </p:cNvPr>
          <p:cNvGraphicFramePr>
            <a:graphicFrameLocks noGrp="1"/>
          </p:cNvGraphicFramePr>
          <p:nvPr>
            <p:extLst>
              <p:ext uri="{D42A27DB-BD31-4B8C-83A1-F6EECF244321}">
                <p14:modId xmlns:p14="http://schemas.microsoft.com/office/powerpoint/2010/main" val="742616932"/>
              </p:ext>
            </p:extLst>
          </p:nvPr>
        </p:nvGraphicFramePr>
        <p:xfrm>
          <a:off x="1743738" y="2305749"/>
          <a:ext cx="6517760" cy="818212"/>
        </p:xfrm>
        <a:graphic>
          <a:graphicData uri="http://schemas.openxmlformats.org/drawingml/2006/table">
            <a:tbl>
              <a:tblPr>
                <a:tableStyleId>{2D5ABB26-0587-4C30-8999-92F81FD0307C}</a:tableStyleId>
              </a:tblPr>
              <a:tblGrid>
                <a:gridCol w="814720">
                  <a:extLst>
                    <a:ext uri="{9D8B030D-6E8A-4147-A177-3AD203B41FA5}">
                      <a16:colId xmlns:a16="http://schemas.microsoft.com/office/drawing/2014/main" val="864011369"/>
                    </a:ext>
                  </a:extLst>
                </a:gridCol>
                <a:gridCol w="814720">
                  <a:extLst>
                    <a:ext uri="{9D8B030D-6E8A-4147-A177-3AD203B41FA5}">
                      <a16:colId xmlns:a16="http://schemas.microsoft.com/office/drawing/2014/main" val="3918197575"/>
                    </a:ext>
                  </a:extLst>
                </a:gridCol>
                <a:gridCol w="814720">
                  <a:extLst>
                    <a:ext uri="{9D8B030D-6E8A-4147-A177-3AD203B41FA5}">
                      <a16:colId xmlns:a16="http://schemas.microsoft.com/office/drawing/2014/main" val="1388292874"/>
                    </a:ext>
                  </a:extLst>
                </a:gridCol>
                <a:gridCol w="814720">
                  <a:extLst>
                    <a:ext uri="{9D8B030D-6E8A-4147-A177-3AD203B41FA5}">
                      <a16:colId xmlns:a16="http://schemas.microsoft.com/office/drawing/2014/main" val="3921278667"/>
                    </a:ext>
                  </a:extLst>
                </a:gridCol>
                <a:gridCol w="814720">
                  <a:extLst>
                    <a:ext uri="{9D8B030D-6E8A-4147-A177-3AD203B41FA5}">
                      <a16:colId xmlns:a16="http://schemas.microsoft.com/office/drawing/2014/main" val="1341202076"/>
                    </a:ext>
                  </a:extLst>
                </a:gridCol>
                <a:gridCol w="814720">
                  <a:extLst>
                    <a:ext uri="{9D8B030D-6E8A-4147-A177-3AD203B41FA5}">
                      <a16:colId xmlns:a16="http://schemas.microsoft.com/office/drawing/2014/main" val="3771751580"/>
                    </a:ext>
                  </a:extLst>
                </a:gridCol>
                <a:gridCol w="814720">
                  <a:extLst>
                    <a:ext uri="{9D8B030D-6E8A-4147-A177-3AD203B41FA5}">
                      <a16:colId xmlns:a16="http://schemas.microsoft.com/office/drawing/2014/main" val="1317092994"/>
                    </a:ext>
                  </a:extLst>
                </a:gridCol>
                <a:gridCol w="814720">
                  <a:extLst>
                    <a:ext uri="{9D8B030D-6E8A-4147-A177-3AD203B41FA5}">
                      <a16:colId xmlns:a16="http://schemas.microsoft.com/office/drawing/2014/main" val="3359010574"/>
                    </a:ext>
                  </a:extLst>
                </a:gridCol>
              </a:tblGrid>
              <a:tr h="229652">
                <a:tc>
                  <a:txBody>
                    <a:bodyPr/>
                    <a:lstStyle/>
                    <a:p>
                      <a:pPr algn="l" fontAlgn="b">
                        <a:buNone/>
                      </a:pP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fr-FR" sz="1200" u="none" strike="noStrike">
                          <a:effectLst/>
                        </a:rPr>
                        <a:t>2025</a:t>
                      </a:r>
                      <a:endParaRPr lang="fr-FR" sz="12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fr-FR" sz="1200" u="none" strike="noStrike" dirty="0">
                          <a:effectLst/>
                        </a:rPr>
                        <a:t>2026</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fr-FR" sz="1200" u="none" strike="noStrike">
                          <a:effectLst/>
                        </a:rPr>
                        <a:t>2027</a:t>
                      </a:r>
                      <a:endParaRPr lang="fr-FR" sz="12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fr-FR" sz="1200" u="none" strike="noStrike">
                          <a:effectLst/>
                        </a:rPr>
                        <a:t>2028</a:t>
                      </a:r>
                      <a:endParaRPr lang="fr-FR" sz="12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fr-FR" sz="1200" u="none" strike="noStrike">
                          <a:effectLst/>
                        </a:rPr>
                        <a:t>2029</a:t>
                      </a:r>
                      <a:endParaRPr lang="fr-FR" sz="12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fr-FR" sz="1200" u="none" strike="noStrike">
                          <a:effectLst/>
                        </a:rPr>
                        <a:t>2030</a:t>
                      </a:r>
                      <a:endParaRPr lang="fr-FR" sz="12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fr-FR" sz="1200" u="none" strike="noStrike">
                          <a:effectLst/>
                        </a:rPr>
                        <a:t>2031</a:t>
                      </a:r>
                      <a:endParaRPr lang="fr-FR" sz="12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3793024"/>
                  </a:ext>
                </a:extLst>
              </a:tr>
              <a:tr h="294280">
                <a:tc>
                  <a:txBody>
                    <a:bodyPr/>
                    <a:lstStyle/>
                    <a:p>
                      <a:pPr algn="l" fontAlgn="b">
                        <a:buNone/>
                      </a:pPr>
                      <a:r>
                        <a:rPr lang="fr-FR" sz="1200" u="none" strike="noStrike" dirty="0" err="1">
                          <a:effectLst/>
                        </a:rPr>
                        <a:t>dividends</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fr-FR" sz="1200" u="none" strike="noStrike" dirty="0">
                          <a:effectLst/>
                        </a:rPr>
                        <a:t>               3,38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fr-FR" sz="1200" u="none" strike="noStrike" dirty="0">
                          <a:effectLst/>
                        </a:rPr>
                        <a:t>              3,72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fr-FR" sz="1200" u="none" strike="noStrike" dirty="0">
                          <a:effectLst/>
                        </a:rPr>
                        <a:t>              4,09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fr-FR" sz="1200" u="none" strike="noStrike" dirty="0">
                          <a:effectLst/>
                        </a:rPr>
                        <a:t>              4,50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fr-FR" sz="1200" u="none" strike="noStrike" dirty="0">
                          <a:effectLst/>
                        </a:rPr>
                        <a:t>              4,95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fr-FR" sz="1200" u="none" strike="noStrike" dirty="0">
                          <a:effectLst/>
                        </a:rPr>
                        <a:t>               5,45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fr-FR" sz="1200" u="none" strike="noStrike" dirty="0">
                          <a:effectLst/>
                        </a:rPr>
                        <a:t>               5,99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9731223"/>
                  </a:ext>
                </a:extLst>
              </a:tr>
              <a:tr h="294280">
                <a:tc>
                  <a:txBody>
                    <a:bodyPr/>
                    <a:lstStyle/>
                    <a:p>
                      <a:pPr algn="l" fontAlgn="b">
                        <a:buNone/>
                      </a:pPr>
                      <a:r>
                        <a:rPr lang="fr-FR" sz="1200" u="none" strike="noStrike">
                          <a:effectLst/>
                        </a:rPr>
                        <a:t>PV</a:t>
                      </a:r>
                      <a:endParaRPr lang="fr-FR" sz="12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fr-FR" sz="1200" u="none" strike="noStrike">
                          <a:effectLst/>
                        </a:rPr>
                        <a:t> </a:t>
                      </a:r>
                      <a:endParaRPr lang="fr-FR" sz="12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fr-FR" sz="1200" u="none" strike="noStrike" dirty="0">
                          <a:effectLst/>
                        </a:rPr>
                        <a:t>              3,51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fr-FR" sz="1200" u="none" strike="noStrike" dirty="0">
                          <a:effectLst/>
                        </a:rPr>
                        <a:t>               3,64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fr-FR" sz="1200" u="none" strike="noStrike" dirty="0">
                          <a:effectLst/>
                        </a:rPr>
                        <a:t>               3,78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fr-FR" sz="1200" u="none" strike="noStrike" dirty="0">
                          <a:effectLst/>
                        </a:rPr>
                        <a:t>              3,93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fr-FR" sz="1200" u="none" strike="noStrike" dirty="0">
                          <a:effectLst/>
                        </a:rPr>
                        <a:t>            4,07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buNone/>
                      </a:pPr>
                      <a:r>
                        <a:rPr lang="fr-FR" sz="1200" u="none" strike="noStrike" dirty="0">
                          <a:effectLst/>
                        </a:rPr>
                        <a:t>               4,23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3851421"/>
                  </a:ext>
                </a:extLst>
              </a:tr>
            </a:tbl>
          </a:graphicData>
        </a:graphic>
      </p:graphicFrame>
      <p:pic>
        <p:nvPicPr>
          <p:cNvPr id="9" name="Image 8">
            <a:extLst>
              <a:ext uri="{FF2B5EF4-FFF2-40B4-BE49-F238E27FC236}">
                <a16:creationId xmlns:a16="http://schemas.microsoft.com/office/drawing/2014/main" id="{2FB01CBA-0197-A4D1-A591-FD9E09A8BFFA}"/>
              </a:ext>
            </a:extLst>
          </p:cNvPr>
          <p:cNvPicPr>
            <a:picLocks noChangeAspect="1"/>
          </p:cNvPicPr>
          <p:nvPr/>
        </p:nvPicPr>
        <p:blipFill>
          <a:blip r:embed="rId4"/>
          <a:srcRect l="125" r="-1"/>
          <a:stretch>
            <a:fillRect/>
          </a:stretch>
        </p:blipFill>
        <p:spPr>
          <a:xfrm>
            <a:off x="1467896" y="4828203"/>
            <a:ext cx="5542656" cy="1307759"/>
          </a:xfrm>
          <a:prstGeom prst="rect">
            <a:avLst/>
          </a:prstGeom>
        </p:spPr>
      </p:pic>
    </p:spTree>
    <p:extLst>
      <p:ext uri="{BB962C8B-B14F-4D97-AF65-F5344CB8AC3E}">
        <p14:creationId xmlns:p14="http://schemas.microsoft.com/office/powerpoint/2010/main" val="501960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grpSp>
        <p:nvGrpSpPr>
          <p:cNvPr id="772" name="Google Shape;772;p16"/>
          <p:cNvGrpSpPr/>
          <p:nvPr/>
        </p:nvGrpSpPr>
        <p:grpSpPr>
          <a:xfrm>
            <a:off x="-2192501" y="2633500"/>
            <a:ext cx="1970251" cy="496313"/>
            <a:chOff x="0" y="-28575"/>
            <a:chExt cx="2802135" cy="705866"/>
          </a:xfrm>
        </p:grpSpPr>
        <p:sp>
          <p:nvSpPr>
            <p:cNvPr id="773" name="Google Shape;773;p16"/>
            <p:cNvSpPr/>
            <p:nvPr/>
          </p:nvSpPr>
          <p:spPr>
            <a:xfrm>
              <a:off x="0" y="0"/>
              <a:ext cx="2802128" cy="677291"/>
            </a:xfrm>
            <a:custGeom>
              <a:avLst/>
              <a:gdLst/>
              <a:ahLst/>
              <a:cxnLst/>
              <a:rect l="l" t="t" r="r" b="b"/>
              <a:pathLst>
                <a:path w="2802128" h="677291" extrusionOk="0">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774" name="Google Shape;774;p16"/>
            <p:cNvSpPr txBox="1"/>
            <p:nvPr/>
          </p:nvSpPr>
          <p:spPr>
            <a:xfrm>
              <a:off x="0" y="-28575"/>
              <a:ext cx="2802135" cy="705837"/>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Outline: black, ½ pt.</a:t>
              </a:r>
              <a:endParaRPr sz="1688"/>
            </a:p>
          </p:txBody>
        </p:sp>
      </p:grpSp>
      <p:grpSp>
        <p:nvGrpSpPr>
          <p:cNvPr id="775" name="Google Shape;775;p16"/>
          <p:cNvGrpSpPr/>
          <p:nvPr/>
        </p:nvGrpSpPr>
        <p:grpSpPr>
          <a:xfrm>
            <a:off x="-2186151" y="4816132"/>
            <a:ext cx="1957566" cy="486436"/>
            <a:chOff x="0" y="-28575"/>
            <a:chExt cx="2784094" cy="691820"/>
          </a:xfrm>
        </p:grpSpPr>
        <p:sp>
          <p:nvSpPr>
            <p:cNvPr id="776" name="Google Shape;776;p16"/>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5E7C9E"/>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777" name="Google Shape;777;p16"/>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94 – 124 – 158</a:t>
              </a:r>
              <a:endParaRPr sz="1688"/>
            </a:p>
          </p:txBody>
        </p:sp>
      </p:grpSp>
      <p:grpSp>
        <p:nvGrpSpPr>
          <p:cNvPr id="778" name="Google Shape;778;p16"/>
          <p:cNvGrpSpPr/>
          <p:nvPr/>
        </p:nvGrpSpPr>
        <p:grpSpPr>
          <a:xfrm>
            <a:off x="-2186151" y="5542509"/>
            <a:ext cx="1957566" cy="486436"/>
            <a:chOff x="0" y="-28575"/>
            <a:chExt cx="2784094" cy="691820"/>
          </a:xfrm>
        </p:grpSpPr>
        <p:sp>
          <p:nvSpPr>
            <p:cNvPr id="779" name="Google Shape;779;p16"/>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780" name="Google Shape;780;p16"/>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17 – 61 – 99</a:t>
              </a:r>
              <a:endParaRPr sz="1688"/>
            </a:p>
          </p:txBody>
        </p:sp>
      </p:grpSp>
      <p:grpSp>
        <p:nvGrpSpPr>
          <p:cNvPr id="781" name="Google Shape;781;p16"/>
          <p:cNvGrpSpPr/>
          <p:nvPr/>
        </p:nvGrpSpPr>
        <p:grpSpPr>
          <a:xfrm>
            <a:off x="-2186151" y="1916319"/>
            <a:ext cx="1957566" cy="483632"/>
            <a:chOff x="0" y="-28575"/>
            <a:chExt cx="2784094" cy="687832"/>
          </a:xfrm>
        </p:grpSpPr>
        <p:sp>
          <p:nvSpPr>
            <p:cNvPr id="782" name="Google Shape;782;p16"/>
            <p:cNvSpPr/>
            <p:nvPr/>
          </p:nvSpPr>
          <p:spPr>
            <a:xfrm>
              <a:off x="0" y="0"/>
              <a:ext cx="2784094" cy="659257"/>
            </a:xfrm>
            <a:custGeom>
              <a:avLst/>
              <a:gdLst/>
              <a:ahLst/>
              <a:cxnLst/>
              <a:rect l="l" t="t" r="r" b="b"/>
              <a:pathLst>
                <a:path w="2784094" h="659257" extrusionOk="0">
                  <a:moveTo>
                    <a:pt x="0" y="0"/>
                  </a:moveTo>
                  <a:lnTo>
                    <a:pt x="2784094" y="0"/>
                  </a:lnTo>
                  <a:lnTo>
                    <a:pt x="2784094" y="659257"/>
                  </a:lnTo>
                  <a:lnTo>
                    <a:pt x="0" y="659257"/>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783" name="Google Shape;783;p16"/>
            <p:cNvSpPr txBox="1"/>
            <p:nvPr/>
          </p:nvSpPr>
          <p:spPr>
            <a:xfrm>
              <a:off x="0" y="-28575"/>
              <a:ext cx="2784073" cy="687775"/>
            </a:xfrm>
            <a:prstGeom prst="rect">
              <a:avLst/>
            </a:prstGeom>
            <a:noFill/>
            <a:ln>
              <a:noFill/>
            </a:ln>
          </p:spPr>
          <p:txBody>
            <a:bodyPr spcFirstLastPara="1" wrap="square" lIns="47625" tIns="47625" rIns="47625" bIns="47625" anchor="ctr" anchorCtr="0">
              <a:noAutofit/>
            </a:bodyPr>
            <a:lstStyle/>
            <a:p>
              <a:pPr marL="154432" lvl="1" indent="-76140">
                <a:lnSpc>
                  <a:spcPct val="120015"/>
                </a:lnSpc>
                <a:buClr>
                  <a:srgbClr val="FFFFFF"/>
                </a:buClr>
                <a:buSzPts val="1279"/>
                <a:buFont typeface="Arial"/>
                <a:buChar char="•"/>
              </a:pPr>
              <a:r>
                <a:rPr lang="en-US" sz="1199">
                  <a:solidFill>
                    <a:srgbClr val="FFFFFF"/>
                  </a:solidFill>
                  <a:latin typeface="Arial"/>
                  <a:ea typeface="Arial"/>
                  <a:cs typeface="Arial"/>
                  <a:sym typeface="Arial"/>
                </a:rPr>
                <a:t>Normal shapes w/ text</a:t>
              </a:r>
              <a:endParaRPr sz="1688"/>
            </a:p>
          </p:txBody>
        </p:sp>
      </p:grpSp>
      <p:cxnSp>
        <p:nvCxnSpPr>
          <p:cNvPr id="784" name="Google Shape;784;p16"/>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785" name="Google Shape;785;p16"/>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cxnSp>
        <p:nvCxnSpPr>
          <p:cNvPr id="786" name="Google Shape;786;p16"/>
          <p:cNvCxnSpPr/>
          <p:nvPr/>
        </p:nvCxnSpPr>
        <p:spPr>
          <a:xfrm rot="8930">
            <a:off x="-11128" y="6240264"/>
            <a:ext cx="9166256" cy="0"/>
          </a:xfrm>
          <a:prstGeom prst="straightConnector1">
            <a:avLst/>
          </a:prstGeom>
          <a:noFill/>
          <a:ln w="19050" cap="rnd" cmpd="sng">
            <a:solidFill>
              <a:srgbClr val="39598F"/>
            </a:solidFill>
            <a:prstDash val="solid"/>
            <a:round/>
            <a:headEnd type="none" w="sm" len="sm"/>
            <a:tailEnd type="none" w="sm" len="sm"/>
          </a:ln>
        </p:spPr>
      </p:cxnSp>
      <p:sp>
        <p:nvSpPr>
          <p:cNvPr id="787" name="Google Shape;787;p16"/>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9" b="-138"/>
            </a:stretch>
          </a:blip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791" name="Google Shape;791;p16"/>
          <p:cNvSpPr txBox="1"/>
          <p:nvPr/>
        </p:nvSpPr>
        <p:spPr>
          <a:xfrm>
            <a:off x="-3429000" y="342186"/>
            <a:ext cx="3200400" cy="1107611"/>
          </a:xfrm>
          <a:prstGeom prst="rect">
            <a:avLst/>
          </a:prstGeom>
          <a:noFill/>
          <a:ln>
            <a:noFill/>
          </a:ln>
        </p:spPr>
        <p:txBody>
          <a:bodyPr spcFirstLastPara="1" wrap="square" lIns="0" tIns="0" rIns="0" bIns="0" anchor="t" anchorCtr="0">
            <a:spAutoFit/>
          </a:bodyPr>
          <a:lstStyle/>
          <a:p>
            <a:pPr algn="r">
              <a:lnSpc>
                <a:spcPct val="120007"/>
              </a:lnSpc>
            </a:pPr>
            <a:r>
              <a:rPr lang="en-US" sz="2399" b="1">
                <a:solidFill>
                  <a:srgbClr val="000000"/>
                </a:solidFill>
                <a:latin typeface="Arial"/>
                <a:ea typeface="Arial"/>
                <a:cs typeface="Arial"/>
                <a:sym typeface="Arial"/>
              </a:rPr>
              <a:t>Arial Slide Title – 24</a:t>
            </a:r>
            <a:endParaRPr sz="1688"/>
          </a:p>
          <a:p>
            <a:pPr algn="r">
              <a:lnSpc>
                <a:spcPct val="119959"/>
              </a:lnSpc>
            </a:pPr>
            <a:r>
              <a:rPr lang="en-US" sz="1400">
                <a:solidFill>
                  <a:srgbClr val="000000"/>
                </a:solidFill>
                <a:latin typeface="Arial"/>
                <a:ea typeface="Arial"/>
                <a:cs typeface="Arial"/>
                <a:sym typeface="Arial"/>
              </a:rPr>
              <a:t>Content/Section Title Text – 14</a:t>
            </a:r>
            <a:endParaRPr sz="1688"/>
          </a:p>
          <a:p>
            <a:pPr algn="r">
              <a:lnSpc>
                <a:spcPct val="120015"/>
              </a:lnSpc>
            </a:pPr>
            <a:r>
              <a:rPr lang="en-US" sz="1199">
                <a:solidFill>
                  <a:srgbClr val="000000"/>
                </a:solidFill>
                <a:latin typeface="Arial"/>
                <a:ea typeface="Arial"/>
                <a:cs typeface="Arial"/>
                <a:sym typeface="Arial"/>
              </a:rPr>
              <a:t>Bullet and Subtitle Text – 12</a:t>
            </a:r>
            <a:endParaRPr sz="1688"/>
          </a:p>
          <a:p>
            <a:pPr algn="r">
              <a:lnSpc>
                <a:spcPct val="120075"/>
              </a:lnSpc>
            </a:pPr>
            <a:r>
              <a:rPr lang="en-US" sz="999">
                <a:solidFill>
                  <a:srgbClr val="000000"/>
                </a:solidFill>
                <a:latin typeface="Arial"/>
                <a:ea typeface="Arial"/>
                <a:cs typeface="Arial"/>
                <a:sym typeface="Arial"/>
              </a:rPr>
              <a:t>Chart, Profile, and Currency Text – 10</a:t>
            </a:r>
            <a:endParaRPr sz="1688"/>
          </a:p>
        </p:txBody>
      </p:sp>
      <p:sp>
        <p:nvSpPr>
          <p:cNvPr id="792" name="Google Shape;792;p16"/>
          <p:cNvSpPr txBox="1"/>
          <p:nvPr/>
        </p:nvSpPr>
        <p:spPr>
          <a:xfrm>
            <a:off x="239485" y="6382553"/>
            <a:ext cx="3537857" cy="332399"/>
          </a:xfrm>
          <a:prstGeom prst="rect">
            <a:avLst/>
          </a:prstGeom>
          <a:noFill/>
          <a:ln>
            <a:noFill/>
          </a:ln>
        </p:spPr>
        <p:txBody>
          <a:bodyPr spcFirstLastPara="1" wrap="square" lIns="0" tIns="0" rIns="0" bIns="0" anchor="t" anchorCtr="0">
            <a:spAutoFit/>
          </a:bodyPr>
          <a:lstStyle/>
          <a:p>
            <a:pPr>
              <a:lnSpc>
                <a:spcPct val="120000"/>
              </a:lnSpc>
            </a:pPr>
            <a:r>
              <a:rPr lang="en-US">
                <a:solidFill>
                  <a:srgbClr val="2A90BC"/>
                </a:solidFill>
                <a:latin typeface="Arimo"/>
                <a:ea typeface="Arimo"/>
                <a:cs typeface="Arimo"/>
                <a:sym typeface="Arimo"/>
              </a:rPr>
              <a:t>ESSEC Capital Investments Club</a:t>
            </a:r>
            <a:endParaRPr sz="1688"/>
          </a:p>
        </p:txBody>
      </p:sp>
      <p:sp>
        <p:nvSpPr>
          <p:cNvPr id="793" name="Google Shape;793;p16"/>
          <p:cNvSpPr txBox="1"/>
          <p:nvPr/>
        </p:nvSpPr>
        <p:spPr>
          <a:xfrm>
            <a:off x="64294" y="455032"/>
            <a:ext cx="3985673" cy="398764"/>
          </a:xfrm>
          <a:prstGeom prst="rect">
            <a:avLst/>
          </a:prstGeom>
          <a:noFill/>
          <a:ln>
            <a:noFill/>
          </a:ln>
        </p:spPr>
        <p:txBody>
          <a:bodyPr spcFirstLastPara="1" wrap="square" lIns="0" tIns="0" rIns="0" bIns="0" anchor="t" anchorCtr="0">
            <a:spAutoFit/>
          </a:bodyPr>
          <a:lstStyle/>
          <a:p>
            <a:pPr>
              <a:lnSpc>
                <a:spcPct val="108010"/>
              </a:lnSpc>
            </a:pPr>
            <a:r>
              <a:rPr lang="en-US" sz="2399">
                <a:solidFill>
                  <a:srgbClr val="333F44"/>
                </a:solidFill>
                <a:latin typeface="Open Sans Light"/>
                <a:ea typeface="Open Sans Light"/>
                <a:cs typeface="Open Sans Light"/>
                <a:sym typeface="Open Sans Light"/>
              </a:rPr>
              <a:t>Comparables Analysis</a:t>
            </a:r>
            <a:endParaRPr sz="1688"/>
          </a:p>
        </p:txBody>
      </p:sp>
      <p:sp>
        <p:nvSpPr>
          <p:cNvPr id="794" name="Google Shape;794;p16"/>
          <p:cNvSpPr txBox="1"/>
          <p:nvPr/>
        </p:nvSpPr>
        <p:spPr>
          <a:xfrm>
            <a:off x="239485" y="1213069"/>
            <a:ext cx="3439380" cy="1714637"/>
          </a:xfrm>
          <a:prstGeom prst="rect">
            <a:avLst/>
          </a:prstGeom>
          <a:noFill/>
          <a:ln>
            <a:noFill/>
          </a:ln>
        </p:spPr>
        <p:txBody>
          <a:bodyPr spcFirstLastPara="1" wrap="square" lIns="0" tIns="0" rIns="0" bIns="0" anchor="t" anchorCtr="0">
            <a:spAutoFit/>
          </a:bodyPr>
          <a:lstStyle/>
          <a:p>
            <a:pPr algn="just">
              <a:lnSpc>
                <a:spcPct val="119981"/>
              </a:lnSpc>
            </a:pPr>
            <a:r>
              <a:rPr lang="en-US" sz="844" b="1" dirty="0">
                <a:solidFill>
                  <a:srgbClr val="000000"/>
                </a:solidFill>
                <a:latin typeface="Arial"/>
                <a:ea typeface="Arial"/>
                <a:cs typeface="Arial"/>
                <a:sym typeface="Arial"/>
              </a:rPr>
              <a:t>Key similarities: </a:t>
            </a:r>
            <a:r>
              <a:rPr lang="en-US" sz="844" dirty="0">
                <a:solidFill>
                  <a:srgbClr val="000000"/>
                </a:solidFill>
                <a:latin typeface="Arial"/>
                <a:ea typeface="Arial"/>
                <a:cs typeface="Arial"/>
                <a:sym typeface="Arial"/>
              </a:rPr>
              <a:t>These firms manage mission-critical industrial gas portfolios spanning large-scale manufacturing, electronics, and increasingly, massive low-carbon hydrogen projects. Air Liquide can remain competitive by accelerating its transition toward the "hydrogen economy" while maintaining best-in-class margins in its traditional Industrial Merchant and Healthcare operations. Like Linde and Air Products, it invests heavily in high-purity gases for the semiconductor industry and carbon capture technologies, but its balanced strategy between long-term infrastructure assets and high-margin specialty gases helps it sustain strong returns while leading the global industrial decarbonization movement.</a:t>
            </a:r>
            <a:endParaRPr sz="844" dirty="0"/>
          </a:p>
        </p:txBody>
      </p:sp>
      <p:pic>
        <p:nvPicPr>
          <p:cNvPr id="4" name="Image 3">
            <a:extLst>
              <a:ext uri="{FF2B5EF4-FFF2-40B4-BE49-F238E27FC236}">
                <a16:creationId xmlns:a16="http://schemas.microsoft.com/office/drawing/2014/main" id="{2F9E4E99-2A82-30CB-7FD9-6A96B56C5F8F}"/>
              </a:ext>
            </a:extLst>
          </p:cNvPr>
          <p:cNvPicPr>
            <a:picLocks noChangeAspect="1"/>
          </p:cNvPicPr>
          <p:nvPr/>
        </p:nvPicPr>
        <p:blipFill>
          <a:blip r:embed="rId4"/>
          <a:stretch>
            <a:fillRect/>
          </a:stretch>
        </p:blipFill>
        <p:spPr>
          <a:xfrm>
            <a:off x="417798" y="3057348"/>
            <a:ext cx="8301611" cy="3109634"/>
          </a:xfrm>
          <a:prstGeom prst="rect">
            <a:avLst/>
          </a:prstGeom>
        </p:spPr>
      </p:pic>
      <p:pic>
        <p:nvPicPr>
          <p:cNvPr id="7" name="Image 6">
            <a:extLst>
              <a:ext uri="{FF2B5EF4-FFF2-40B4-BE49-F238E27FC236}">
                <a16:creationId xmlns:a16="http://schemas.microsoft.com/office/drawing/2014/main" id="{348C5EB3-8677-E30B-B318-96D0C83722E9}"/>
              </a:ext>
            </a:extLst>
          </p:cNvPr>
          <p:cNvPicPr>
            <a:picLocks noChangeAspect="1"/>
          </p:cNvPicPr>
          <p:nvPr/>
        </p:nvPicPr>
        <p:blipFill>
          <a:blip r:embed="rId5"/>
          <a:stretch>
            <a:fillRect/>
          </a:stretch>
        </p:blipFill>
        <p:spPr>
          <a:xfrm>
            <a:off x="3956598" y="861496"/>
            <a:ext cx="4854548" cy="217632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76">
          <a:extLst>
            <a:ext uri="{FF2B5EF4-FFF2-40B4-BE49-F238E27FC236}">
              <a16:creationId xmlns:a16="http://schemas.microsoft.com/office/drawing/2014/main" id="{BE6BC760-5266-45C8-5359-BB701E4DED4B}"/>
            </a:ext>
          </a:extLst>
        </p:cNvPr>
        <p:cNvGrpSpPr/>
        <p:nvPr/>
      </p:nvGrpSpPr>
      <p:grpSpPr>
        <a:xfrm>
          <a:off x="0" y="0"/>
          <a:ext cx="0" cy="0"/>
          <a:chOff x="0" y="0"/>
          <a:chExt cx="0" cy="0"/>
        </a:xfrm>
      </p:grpSpPr>
      <p:grpSp>
        <p:nvGrpSpPr>
          <p:cNvPr id="777" name="Google Shape;777;p16">
            <a:extLst>
              <a:ext uri="{FF2B5EF4-FFF2-40B4-BE49-F238E27FC236}">
                <a16:creationId xmlns:a16="http://schemas.microsoft.com/office/drawing/2014/main" id="{6813F270-11D9-4759-EA93-E9741CAC31ED}"/>
              </a:ext>
            </a:extLst>
          </p:cNvPr>
          <p:cNvGrpSpPr/>
          <p:nvPr/>
        </p:nvGrpSpPr>
        <p:grpSpPr>
          <a:xfrm>
            <a:off x="-2192501" y="2633500"/>
            <a:ext cx="1970251" cy="496313"/>
            <a:chOff x="0" y="-28575"/>
            <a:chExt cx="2802135" cy="705866"/>
          </a:xfrm>
        </p:grpSpPr>
        <p:sp>
          <p:nvSpPr>
            <p:cNvPr id="778" name="Google Shape;778;p16">
              <a:extLst>
                <a:ext uri="{FF2B5EF4-FFF2-40B4-BE49-F238E27FC236}">
                  <a16:creationId xmlns:a16="http://schemas.microsoft.com/office/drawing/2014/main" id="{26107EB1-3285-620C-C936-132EDA9E2666}"/>
                </a:ext>
              </a:extLst>
            </p:cNvPr>
            <p:cNvSpPr/>
            <p:nvPr/>
          </p:nvSpPr>
          <p:spPr>
            <a:xfrm>
              <a:off x="0" y="0"/>
              <a:ext cx="2802128" cy="677291"/>
            </a:xfrm>
            <a:custGeom>
              <a:avLst/>
              <a:gdLst/>
              <a:ahLst/>
              <a:cxnLst/>
              <a:rect l="l" t="t" r="r" b="b"/>
              <a:pathLst>
                <a:path w="2802128" h="677291" extrusionOk="0">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779" name="Google Shape;779;p16">
              <a:extLst>
                <a:ext uri="{FF2B5EF4-FFF2-40B4-BE49-F238E27FC236}">
                  <a16:creationId xmlns:a16="http://schemas.microsoft.com/office/drawing/2014/main" id="{E234B165-1AEA-CC12-C03A-EB7CFA933AD1}"/>
                </a:ext>
              </a:extLst>
            </p:cNvPr>
            <p:cNvSpPr txBox="1"/>
            <p:nvPr/>
          </p:nvSpPr>
          <p:spPr>
            <a:xfrm>
              <a:off x="0" y="-28575"/>
              <a:ext cx="2802135" cy="705837"/>
            </a:xfrm>
            <a:prstGeom prst="rect">
              <a:avLst/>
            </a:prstGeom>
            <a:noFill/>
            <a:ln>
              <a:noFill/>
            </a:ln>
          </p:spPr>
          <p:txBody>
            <a:bodyPr spcFirstLastPara="1" wrap="square" lIns="47625" tIns="47625" rIns="47625" bIns="47625" anchor="ctr" anchorCtr="0">
              <a:noAutofit/>
            </a:bodyPr>
            <a:lstStyle/>
            <a:p>
              <a:pPr algn="ctr">
                <a:lnSpc>
                  <a:spcPct val="120015"/>
                </a:lnSpc>
                <a:buClr>
                  <a:srgbClr val="000000"/>
                </a:buClr>
                <a:buSzPts val="1279"/>
              </a:pPr>
              <a:r>
                <a:rPr lang="en-US" sz="1199" noProof="1">
                  <a:solidFill>
                    <a:srgbClr val="000000"/>
                  </a:solidFill>
                  <a:latin typeface="Arial"/>
                  <a:ea typeface="Arial"/>
                  <a:cs typeface="Arial"/>
                  <a:sym typeface="Arial"/>
                </a:rPr>
                <a:t>Outline: black, ½ pt.</a:t>
              </a:r>
              <a:endParaRPr lang="en-US" sz="1313" noProof="1">
                <a:solidFill>
                  <a:srgbClr val="000000"/>
                </a:solidFill>
                <a:latin typeface="Arial"/>
                <a:ea typeface="Arial"/>
                <a:cs typeface="Arial"/>
                <a:sym typeface="Arial"/>
              </a:endParaRPr>
            </a:p>
          </p:txBody>
        </p:sp>
      </p:grpSp>
      <p:grpSp>
        <p:nvGrpSpPr>
          <p:cNvPr id="780" name="Google Shape;780;p16">
            <a:extLst>
              <a:ext uri="{FF2B5EF4-FFF2-40B4-BE49-F238E27FC236}">
                <a16:creationId xmlns:a16="http://schemas.microsoft.com/office/drawing/2014/main" id="{E514FC21-434C-8D74-FCFC-48C9FD592ACC}"/>
              </a:ext>
            </a:extLst>
          </p:cNvPr>
          <p:cNvGrpSpPr/>
          <p:nvPr/>
        </p:nvGrpSpPr>
        <p:grpSpPr>
          <a:xfrm>
            <a:off x="-2186151" y="4816132"/>
            <a:ext cx="1957566" cy="486436"/>
            <a:chOff x="0" y="-28575"/>
            <a:chExt cx="2784094" cy="691820"/>
          </a:xfrm>
        </p:grpSpPr>
        <p:sp>
          <p:nvSpPr>
            <p:cNvPr id="781" name="Google Shape;781;p16">
              <a:extLst>
                <a:ext uri="{FF2B5EF4-FFF2-40B4-BE49-F238E27FC236}">
                  <a16:creationId xmlns:a16="http://schemas.microsoft.com/office/drawing/2014/main" id="{9862B7B3-9CDE-AB7C-1E40-1264CA4009F1}"/>
                </a:ext>
              </a:extLst>
            </p:cNvPr>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5E7C9E"/>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782" name="Google Shape;782;p16">
              <a:extLst>
                <a:ext uri="{FF2B5EF4-FFF2-40B4-BE49-F238E27FC236}">
                  <a16:creationId xmlns:a16="http://schemas.microsoft.com/office/drawing/2014/main" id="{EDF1D40D-2AC6-3201-3C23-FDCEED56F77D}"/>
                </a:ext>
              </a:extLst>
            </p:cNvPr>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buClr>
                  <a:srgbClr val="000000"/>
                </a:buClr>
                <a:buSzPts val="1279"/>
              </a:pPr>
              <a:r>
                <a:rPr lang="en-US" sz="1199" noProof="1">
                  <a:solidFill>
                    <a:srgbClr val="FFFFFF"/>
                  </a:solidFill>
                  <a:latin typeface="Arial"/>
                  <a:ea typeface="Arial"/>
                  <a:cs typeface="Arial"/>
                  <a:sym typeface="Arial"/>
                </a:rPr>
                <a:t>94 – 124 – 158</a:t>
              </a:r>
              <a:endParaRPr lang="en-US" sz="1313" noProof="1">
                <a:solidFill>
                  <a:srgbClr val="000000"/>
                </a:solidFill>
                <a:latin typeface="Arial"/>
                <a:ea typeface="Arial"/>
                <a:cs typeface="Arial"/>
                <a:sym typeface="Arial"/>
              </a:endParaRPr>
            </a:p>
          </p:txBody>
        </p:sp>
      </p:grpSp>
      <p:grpSp>
        <p:nvGrpSpPr>
          <p:cNvPr id="783" name="Google Shape;783;p16">
            <a:extLst>
              <a:ext uri="{FF2B5EF4-FFF2-40B4-BE49-F238E27FC236}">
                <a16:creationId xmlns:a16="http://schemas.microsoft.com/office/drawing/2014/main" id="{86EB1000-6E54-6370-8558-7755634378A6}"/>
              </a:ext>
            </a:extLst>
          </p:cNvPr>
          <p:cNvGrpSpPr/>
          <p:nvPr/>
        </p:nvGrpSpPr>
        <p:grpSpPr>
          <a:xfrm>
            <a:off x="-2186151" y="5542509"/>
            <a:ext cx="1957566" cy="486436"/>
            <a:chOff x="0" y="-28575"/>
            <a:chExt cx="2784094" cy="691820"/>
          </a:xfrm>
        </p:grpSpPr>
        <p:sp>
          <p:nvSpPr>
            <p:cNvPr id="784" name="Google Shape;784;p16">
              <a:extLst>
                <a:ext uri="{FF2B5EF4-FFF2-40B4-BE49-F238E27FC236}">
                  <a16:creationId xmlns:a16="http://schemas.microsoft.com/office/drawing/2014/main" id="{53F9C9C9-263B-350A-5617-CF8655F93513}"/>
                </a:ext>
              </a:extLst>
            </p:cNvPr>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113D63"/>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785" name="Google Shape;785;p16">
              <a:extLst>
                <a:ext uri="{FF2B5EF4-FFF2-40B4-BE49-F238E27FC236}">
                  <a16:creationId xmlns:a16="http://schemas.microsoft.com/office/drawing/2014/main" id="{07B00F2A-1EB9-B395-4BF4-CDBBE96723A6}"/>
                </a:ext>
              </a:extLst>
            </p:cNvPr>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buClr>
                  <a:srgbClr val="000000"/>
                </a:buClr>
                <a:buSzPts val="1279"/>
              </a:pPr>
              <a:r>
                <a:rPr lang="en-US" sz="1199" noProof="1">
                  <a:solidFill>
                    <a:srgbClr val="FFFFFF"/>
                  </a:solidFill>
                  <a:latin typeface="Arial"/>
                  <a:ea typeface="Arial"/>
                  <a:cs typeface="Arial"/>
                  <a:sym typeface="Arial"/>
                </a:rPr>
                <a:t>17 – 61 – 99</a:t>
              </a:r>
              <a:endParaRPr lang="en-US" sz="1313" noProof="1">
                <a:solidFill>
                  <a:srgbClr val="000000"/>
                </a:solidFill>
                <a:latin typeface="Arial"/>
                <a:ea typeface="Arial"/>
                <a:cs typeface="Arial"/>
                <a:sym typeface="Arial"/>
              </a:endParaRPr>
            </a:p>
          </p:txBody>
        </p:sp>
      </p:grpSp>
      <p:grpSp>
        <p:nvGrpSpPr>
          <p:cNvPr id="786" name="Google Shape;786;p16">
            <a:extLst>
              <a:ext uri="{FF2B5EF4-FFF2-40B4-BE49-F238E27FC236}">
                <a16:creationId xmlns:a16="http://schemas.microsoft.com/office/drawing/2014/main" id="{68DCE311-CD4B-2BE0-3EA3-8BD093E247F2}"/>
              </a:ext>
            </a:extLst>
          </p:cNvPr>
          <p:cNvGrpSpPr/>
          <p:nvPr/>
        </p:nvGrpSpPr>
        <p:grpSpPr>
          <a:xfrm>
            <a:off x="-2186151" y="1916319"/>
            <a:ext cx="1957566" cy="483632"/>
            <a:chOff x="0" y="-28575"/>
            <a:chExt cx="2784094" cy="687832"/>
          </a:xfrm>
        </p:grpSpPr>
        <p:sp>
          <p:nvSpPr>
            <p:cNvPr id="787" name="Google Shape;787;p16">
              <a:extLst>
                <a:ext uri="{FF2B5EF4-FFF2-40B4-BE49-F238E27FC236}">
                  <a16:creationId xmlns:a16="http://schemas.microsoft.com/office/drawing/2014/main" id="{797BE5A6-378A-C1B2-B144-4F6567A9655A}"/>
                </a:ext>
              </a:extLst>
            </p:cNvPr>
            <p:cNvSpPr/>
            <p:nvPr/>
          </p:nvSpPr>
          <p:spPr>
            <a:xfrm>
              <a:off x="0" y="0"/>
              <a:ext cx="2784094" cy="659257"/>
            </a:xfrm>
            <a:custGeom>
              <a:avLst/>
              <a:gdLst/>
              <a:ahLst/>
              <a:cxnLst/>
              <a:rect l="l" t="t" r="r" b="b"/>
              <a:pathLst>
                <a:path w="2784094" h="659257" extrusionOk="0">
                  <a:moveTo>
                    <a:pt x="0" y="0"/>
                  </a:moveTo>
                  <a:lnTo>
                    <a:pt x="2784094" y="0"/>
                  </a:lnTo>
                  <a:lnTo>
                    <a:pt x="2784094" y="659257"/>
                  </a:lnTo>
                  <a:lnTo>
                    <a:pt x="0" y="659257"/>
                  </a:lnTo>
                  <a:close/>
                </a:path>
              </a:pathLst>
            </a:custGeom>
            <a:solidFill>
              <a:srgbClr val="113D63"/>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788" name="Google Shape;788;p16">
              <a:extLst>
                <a:ext uri="{FF2B5EF4-FFF2-40B4-BE49-F238E27FC236}">
                  <a16:creationId xmlns:a16="http://schemas.microsoft.com/office/drawing/2014/main" id="{F2EBFEB9-3F9E-B47F-590A-CE4A0FBDB747}"/>
                </a:ext>
              </a:extLst>
            </p:cNvPr>
            <p:cNvSpPr txBox="1"/>
            <p:nvPr/>
          </p:nvSpPr>
          <p:spPr>
            <a:xfrm>
              <a:off x="0" y="-28575"/>
              <a:ext cx="2784073" cy="687775"/>
            </a:xfrm>
            <a:prstGeom prst="rect">
              <a:avLst/>
            </a:prstGeom>
            <a:noFill/>
            <a:ln>
              <a:noFill/>
            </a:ln>
          </p:spPr>
          <p:txBody>
            <a:bodyPr spcFirstLastPara="1" wrap="square" lIns="47625" tIns="47625" rIns="47625" bIns="47625" anchor="ctr" anchorCtr="0">
              <a:noAutofit/>
            </a:bodyPr>
            <a:lstStyle/>
            <a:p>
              <a:pPr marL="154432" lvl="1" indent="-76140">
                <a:lnSpc>
                  <a:spcPct val="120015"/>
                </a:lnSpc>
                <a:buClr>
                  <a:srgbClr val="FFFFFF"/>
                </a:buClr>
                <a:buSzPts val="1279"/>
                <a:buFont typeface="Arial"/>
                <a:buChar char="•"/>
              </a:pPr>
              <a:r>
                <a:rPr lang="en-US" sz="1199" noProof="1">
                  <a:solidFill>
                    <a:srgbClr val="FFFFFF"/>
                  </a:solidFill>
                  <a:latin typeface="Arial"/>
                  <a:ea typeface="Arial"/>
                  <a:cs typeface="Arial"/>
                  <a:sym typeface="Arial"/>
                </a:rPr>
                <a:t>Normal shapes w/ text</a:t>
              </a:r>
              <a:endParaRPr lang="en-US" sz="1313" noProof="1">
                <a:solidFill>
                  <a:srgbClr val="000000"/>
                </a:solidFill>
                <a:latin typeface="Arial"/>
                <a:ea typeface="Arial"/>
                <a:cs typeface="Arial"/>
                <a:sym typeface="Arial"/>
              </a:endParaRPr>
            </a:p>
          </p:txBody>
        </p:sp>
      </p:grpSp>
      <p:cxnSp>
        <p:nvCxnSpPr>
          <p:cNvPr id="789" name="Google Shape;789;p16">
            <a:extLst>
              <a:ext uri="{FF2B5EF4-FFF2-40B4-BE49-F238E27FC236}">
                <a16:creationId xmlns:a16="http://schemas.microsoft.com/office/drawing/2014/main" id="{85641964-41CE-A7A0-537D-D74D8A07C1A1}"/>
              </a:ext>
            </a:extLst>
          </p:cNvPr>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790" name="Google Shape;790;p16">
            <a:extLst>
              <a:ext uri="{FF2B5EF4-FFF2-40B4-BE49-F238E27FC236}">
                <a16:creationId xmlns:a16="http://schemas.microsoft.com/office/drawing/2014/main" id="{BBD8EA73-6D9B-125F-0B6D-510858BAF7A9}"/>
              </a:ext>
            </a:extLst>
          </p:cNvPr>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791" name="Google Shape;791;p16">
            <a:extLst>
              <a:ext uri="{FF2B5EF4-FFF2-40B4-BE49-F238E27FC236}">
                <a16:creationId xmlns:a16="http://schemas.microsoft.com/office/drawing/2014/main" id="{A7049A44-BADF-990E-D63A-D42156AD1EB7}"/>
              </a:ext>
            </a:extLst>
          </p:cNvPr>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7" b="-137"/>
            </a:stretch>
          </a:blipFill>
          <a:ln>
            <a:noFill/>
          </a:ln>
        </p:spPr>
        <p:txBody>
          <a:bodyPr spcFirstLastPara="1" wrap="square" lIns="85711" tIns="42844" rIns="85711" bIns="42844" anchor="t" anchorCtr="0">
            <a:noAutofit/>
          </a:bodyPr>
          <a:lstStyle/>
          <a:p>
            <a:pPr>
              <a:buClr>
                <a:srgbClr val="000000"/>
              </a:buClr>
              <a:buSzPts val="1800"/>
            </a:pPr>
            <a:endParaRPr lang="en-US" sz="1688" noProof="1">
              <a:solidFill>
                <a:schemeClr val="dk1"/>
              </a:solidFill>
              <a:latin typeface="Calibri"/>
              <a:ea typeface="Calibri"/>
              <a:cs typeface="Calibri"/>
              <a:sym typeface="Calibri"/>
            </a:endParaRPr>
          </a:p>
        </p:txBody>
      </p:sp>
      <p:sp>
        <p:nvSpPr>
          <p:cNvPr id="795" name="Google Shape;795;p16">
            <a:extLst>
              <a:ext uri="{FF2B5EF4-FFF2-40B4-BE49-F238E27FC236}">
                <a16:creationId xmlns:a16="http://schemas.microsoft.com/office/drawing/2014/main" id="{0B8C77E2-D6FC-3195-3DB4-8DBB5F506480}"/>
              </a:ext>
            </a:extLst>
          </p:cNvPr>
          <p:cNvSpPr txBox="1"/>
          <p:nvPr/>
        </p:nvSpPr>
        <p:spPr>
          <a:xfrm>
            <a:off x="-3429000" y="342186"/>
            <a:ext cx="3200400" cy="1107611"/>
          </a:xfrm>
          <a:prstGeom prst="rect">
            <a:avLst/>
          </a:prstGeom>
          <a:noFill/>
          <a:ln>
            <a:noFill/>
          </a:ln>
        </p:spPr>
        <p:txBody>
          <a:bodyPr spcFirstLastPara="1" wrap="square" lIns="0" tIns="0" rIns="0" bIns="0" anchor="t" anchorCtr="0">
            <a:spAutoFit/>
          </a:bodyPr>
          <a:lstStyle/>
          <a:p>
            <a:pPr algn="r">
              <a:lnSpc>
                <a:spcPct val="120007"/>
              </a:lnSpc>
              <a:buClr>
                <a:srgbClr val="000000"/>
              </a:buClr>
              <a:buSzPts val="2559"/>
            </a:pPr>
            <a:r>
              <a:rPr lang="en-US" sz="2399" b="1" noProof="1">
                <a:solidFill>
                  <a:srgbClr val="000000"/>
                </a:solidFill>
                <a:latin typeface="Arial"/>
                <a:ea typeface="Arial"/>
                <a:cs typeface="Arial"/>
                <a:sym typeface="Arial"/>
              </a:rPr>
              <a:t>Arial Slide Title – 24</a:t>
            </a:r>
            <a:endParaRPr lang="en-US" sz="1313" noProof="1">
              <a:solidFill>
                <a:srgbClr val="000000"/>
              </a:solidFill>
              <a:latin typeface="Arial"/>
              <a:ea typeface="Arial"/>
              <a:cs typeface="Arial"/>
              <a:sym typeface="Arial"/>
            </a:endParaRPr>
          </a:p>
          <a:p>
            <a:pPr algn="r">
              <a:lnSpc>
                <a:spcPct val="119959"/>
              </a:lnSpc>
              <a:buClr>
                <a:srgbClr val="000000"/>
              </a:buClr>
              <a:buSzPts val="1493"/>
            </a:pPr>
            <a:r>
              <a:rPr lang="en-US" sz="1400" noProof="1">
                <a:solidFill>
                  <a:srgbClr val="000000"/>
                </a:solidFill>
                <a:latin typeface="Arial"/>
                <a:ea typeface="Arial"/>
                <a:cs typeface="Arial"/>
                <a:sym typeface="Arial"/>
              </a:rPr>
              <a:t>Content/Section Title Text – 14</a:t>
            </a:r>
            <a:endParaRPr lang="en-US" sz="1313" noProof="1">
              <a:solidFill>
                <a:srgbClr val="000000"/>
              </a:solidFill>
              <a:latin typeface="Arial"/>
              <a:ea typeface="Arial"/>
              <a:cs typeface="Arial"/>
              <a:sym typeface="Arial"/>
            </a:endParaRPr>
          </a:p>
          <a:p>
            <a:pPr algn="r">
              <a:lnSpc>
                <a:spcPct val="120015"/>
              </a:lnSpc>
              <a:buClr>
                <a:srgbClr val="000000"/>
              </a:buClr>
              <a:buSzPts val="1279"/>
            </a:pPr>
            <a:r>
              <a:rPr lang="en-US" sz="1199" noProof="1">
                <a:solidFill>
                  <a:srgbClr val="000000"/>
                </a:solidFill>
                <a:latin typeface="Arial"/>
                <a:ea typeface="Arial"/>
                <a:cs typeface="Arial"/>
                <a:sym typeface="Arial"/>
              </a:rPr>
              <a:t>Bullet and Subtitle Text – 12</a:t>
            </a:r>
            <a:endParaRPr lang="en-US" sz="1313" noProof="1">
              <a:solidFill>
                <a:srgbClr val="000000"/>
              </a:solidFill>
              <a:latin typeface="Arial"/>
              <a:ea typeface="Arial"/>
              <a:cs typeface="Arial"/>
              <a:sym typeface="Arial"/>
            </a:endParaRPr>
          </a:p>
          <a:p>
            <a:pPr algn="r">
              <a:lnSpc>
                <a:spcPct val="120075"/>
              </a:lnSpc>
              <a:buClr>
                <a:srgbClr val="000000"/>
              </a:buClr>
              <a:buSzPts val="1066"/>
            </a:pPr>
            <a:r>
              <a:rPr lang="en-US" sz="999" noProof="1">
                <a:solidFill>
                  <a:srgbClr val="000000"/>
                </a:solidFill>
                <a:latin typeface="Arial"/>
                <a:ea typeface="Arial"/>
                <a:cs typeface="Arial"/>
                <a:sym typeface="Arial"/>
              </a:rPr>
              <a:t>Chart, Profile, and Currency Text – 10</a:t>
            </a:r>
            <a:endParaRPr lang="en-US" sz="1313" noProof="1">
              <a:solidFill>
                <a:srgbClr val="000000"/>
              </a:solidFill>
              <a:latin typeface="Arial"/>
              <a:ea typeface="Arial"/>
              <a:cs typeface="Arial"/>
              <a:sym typeface="Arial"/>
            </a:endParaRPr>
          </a:p>
        </p:txBody>
      </p:sp>
      <p:sp>
        <p:nvSpPr>
          <p:cNvPr id="796" name="Google Shape;796;p16">
            <a:extLst>
              <a:ext uri="{FF2B5EF4-FFF2-40B4-BE49-F238E27FC236}">
                <a16:creationId xmlns:a16="http://schemas.microsoft.com/office/drawing/2014/main" id="{C1EACD0C-C99A-1133-B814-CC29BE03B413}"/>
              </a:ext>
            </a:extLst>
          </p:cNvPr>
          <p:cNvSpPr txBox="1"/>
          <p:nvPr/>
        </p:nvSpPr>
        <p:spPr>
          <a:xfrm>
            <a:off x="239485" y="6382553"/>
            <a:ext cx="3537857" cy="332399"/>
          </a:xfrm>
          <a:prstGeom prst="rect">
            <a:avLst/>
          </a:prstGeom>
          <a:noFill/>
          <a:ln>
            <a:noFill/>
          </a:ln>
        </p:spPr>
        <p:txBody>
          <a:bodyPr spcFirstLastPara="1" wrap="square" lIns="0" tIns="0" rIns="0" bIns="0" anchor="t" anchorCtr="0">
            <a:spAutoFit/>
          </a:bodyPr>
          <a:lstStyle/>
          <a:p>
            <a:pPr>
              <a:lnSpc>
                <a:spcPct val="120000"/>
              </a:lnSpc>
              <a:buClr>
                <a:srgbClr val="000000"/>
              </a:buClr>
              <a:buSzPts val="1920"/>
            </a:pPr>
            <a:r>
              <a:rPr lang="en-US" noProof="1">
                <a:solidFill>
                  <a:srgbClr val="2A90BC"/>
                </a:solidFill>
                <a:latin typeface="Arimo"/>
                <a:ea typeface="Arimo"/>
                <a:cs typeface="Arimo"/>
                <a:sym typeface="Arimo"/>
              </a:rPr>
              <a:t>ESSEC Capital Investments Club</a:t>
            </a:r>
            <a:endParaRPr lang="en-US" sz="1313" noProof="1">
              <a:solidFill>
                <a:srgbClr val="000000"/>
              </a:solidFill>
              <a:latin typeface="Arial"/>
              <a:ea typeface="Arial"/>
              <a:cs typeface="Arial"/>
              <a:sym typeface="Arial"/>
            </a:endParaRPr>
          </a:p>
        </p:txBody>
      </p:sp>
      <p:sp>
        <p:nvSpPr>
          <p:cNvPr id="797" name="Google Shape;797;p16">
            <a:extLst>
              <a:ext uri="{FF2B5EF4-FFF2-40B4-BE49-F238E27FC236}">
                <a16:creationId xmlns:a16="http://schemas.microsoft.com/office/drawing/2014/main" id="{18E60976-F610-D5FF-309D-CD4B99573C4A}"/>
              </a:ext>
            </a:extLst>
          </p:cNvPr>
          <p:cNvSpPr txBox="1"/>
          <p:nvPr/>
        </p:nvSpPr>
        <p:spPr>
          <a:xfrm>
            <a:off x="64294" y="455032"/>
            <a:ext cx="6585186" cy="398764"/>
          </a:xfrm>
          <a:prstGeom prst="rect">
            <a:avLst/>
          </a:prstGeom>
          <a:noFill/>
          <a:ln>
            <a:noFill/>
          </a:ln>
        </p:spPr>
        <p:txBody>
          <a:bodyPr spcFirstLastPara="1" wrap="square" lIns="0" tIns="0" rIns="0" bIns="0" anchor="t" anchorCtr="0">
            <a:spAutoFit/>
          </a:bodyPr>
          <a:lstStyle/>
          <a:p>
            <a:pPr>
              <a:lnSpc>
                <a:spcPct val="108010"/>
              </a:lnSpc>
              <a:buClr>
                <a:srgbClr val="000000"/>
              </a:buClr>
              <a:buSzPts val="2559"/>
            </a:pPr>
            <a:r>
              <a:rPr lang="en-US" sz="2399" noProof="1">
                <a:solidFill>
                  <a:srgbClr val="333F44"/>
                </a:solidFill>
                <a:latin typeface="Open Sans Light"/>
                <a:ea typeface="Open Sans Light"/>
                <a:cs typeface="Open Sans Light"/>
                <a:sym typeface="Open Sans Light"/>
              </a:rPr>
              <a:t>Comparables Analysis: Multiples Valuation</a:t>
            </a:r>
            <a:endParaRPr lang="en-US" sz="1313" noProof="1">
              <a:solidFill>
                <a:srgbClr val="000000"/>
              </a:solidFill>
              <a:latin typeface="Arial"/>
              <a:ea typeface="Arial"/>
              <a:cs typeface="Arial"/>
              <a:sym typeface="Arial"/>
            </a:endParaRPr>
          </a:p>
        </p:txBody>
      </p:sp>
      <p:graphicFrame>
        <p:nvGraphicFramePr>
          <p:cNvPr id="3" name="Tableau 2">
            <a:extLst>
              <a:ext uri="{FF2B5EF4-FFF2-40B4-BE49-F238E27FC236}">
                <a16:creationId xmlns:a16="http://schemas.microsoft.com/office/drawing/2014/main" id="{F7A2818C-A6FF-9B68-E711-7095F5F2C6DE}"/>
              </a:ext>
            </a:extLst>
          </p:cNvPr>
          <p:cNvGraphicFramePr>
            <a:graphicFrameLocks noGrp="1"/>
          </p:cNvGraphicFramePr>
          <p:nvPr>
            <p:extLst>
              <p:ext uri="{D42A27DB-BD31-4B8C-83A1-F6EECF244321}">
                <p14:modId xmlns:p14="http://schemas.microsoft.com/office/powerpoint/2010/main" val="3869242978"/>
              </p:ext>
            </p:extLst>
          </p:nvPr>
        </p:nvGraphicFramePr>
        <p:xfrm>
          <a:off x="1424762" y="2158115"/>
          <a:ext cx="5986129" cy="2787611"/>
        </p:xfrm>
        <a:graphic>
          <a:graphicData uri="http://schemas.openxmlformats.org/drawingml/2006/table">
            <a:tbl>
              <a:tblPr>
                <a:tableStyleId>{2D5ABB26-0587-4C30-8999-92F81FD0307C}</a:tableStyleId>
              </a:tblPr>
              <a:tblGrid>
                <a:gridCol w="1343477">
                  <a:extLst>
                    <a:ext uri="{9D8B030D-6E8A-4147-A177-3AD203B41FA5}">
                      <a16:colId xmlns:a16="http://schemas.microsoft.com/office/drawing/2014/main" val="941481125"/>
                    </a:ext>
                  </a:extLst>
                </a:gridCol>
                <a:gridCol w="1160663">
                  <a:extLst>
                    <a:ext uri="{9D8B030D-6E8A-4147-A177-3AD203B41FA5}">
                      <a16:colId xmlns:a16="http://schemas.microsoft.com/office/drawing/2014/main" val="1957243229"/>
                    </a:ext>
                  </a:extLst>
                </a:gridCol>
                <a:gridCol w="1160663">
                  <a:extLst>
                    <a:ext uri="{9D8B030D-6E8A-4147-A177-3AD203B41FA5}">
                      <a16:colId xmlns:a16="http://schemas.microsoft.com/office/drawing/2014/main" val="1007460984"/>
                    </a:ext>
                  </a:extLst>
                </a:gridCol>
                <a:gridCol w="1160663">
                  <a:extLst>
                    <a:ext uri="{9D8B030D-6E8A-4147-A177-3AD203B41FA5}">
                      <a16:colId xmlns:a16="http://schemas.microsoft.com/office/drawing/2014/main" val="2109925527"/>
                    </a:ext>
                  </a:extLst>
                </a:gridCol>
                <a:gridCol w="1160663">
                  <a:extLst>
                    <a:ext uri="{9D8B030D-6E8A-4147-A177-3AD203B41FA5}">
                      <a16:colId xmlns:a16="http://schemas.microsoft.com/office/drawing/2014/main" val="2305736518"/>
                    </a:ext>
                  </a:extLst>
                </a:gridCol>
              </a:tblGrid>
              <a:tr h="604783">
                <a:tc>
                  <a:txBody>
                    <a:bodyPr/>
                    <a:lstStyle/>
                    <a:p>
                      <a:pPr algn="l" fontAlgn="b">
                        <a:buNone/>
                      </a:pPr>
                      <a:r>
                        <a:rPr lang="fr-FR" sz="1200" u="none" strike="noStrike" dirty="0">
                          <a:effectLst/>
                        </a:rPr>
                        <a:t> </a:t>
                      </a:r>
                      <a:endParaRPr lang="fr-FR" sz="1200" b="0" i="0" u="none" strike="noStrike" dirty="0">
                        <a:solidFill>
                          <a:srgbClr val="000000"/>
                        </a:solidFill>
                        <a:effectLst/>
                        <a:latin typeface="Aptos Narrow" panose="020B00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fr-FR" sz="1200" u="none" strike="noStrike" dirty="0">
                          <a:effectLst/>
                        </a:rPr>
                        <a:t>PE Ratio</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fr-FR" sz="1200" u="none" strike="noStrike">
                          <a:effectLst/>
                        </a:rPr>
                        <a:t>Forward PE</a:t>
                      </a:r>
                      <a:endParaRPr lang="fr-FR" sz="12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fr-FR" sz="1200" u="none" strike="noStrike">
                          <a:effectLst/>
                        </a:rPr>
                        <a:t>EV/EBITDA</a:t>
                      </a:r>
                      <a:endParaRPr lang="fr-FR" sz="12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fr-FR" sz="1200" u="none" strike="noStrike">
                          <a:effectLst/>
                        </a:rPr>
                        <a:t>Price/Sales</a:t>
                      </a:r>
                      <a:endParaRPr lang="fr-FR" sz="12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4175198"/>
                  </a:ext>
                </a:extLst>
              </a:tr>
              <a:tr h="433261">
                <a:tc>
                  <a:txBody>
                    <a:bodyPr/>
                    <a:lstStyle/>
                    <a:p>
                      <a:pPr algn="l" fontAlgn="b">
                        <a:buNone/>
                      </a:pPr>
                      <a:r>
                        <a:rPr lang="fr-FR" sz="1200" u="none" strike="noStrike" dirty="0">
                          <a:effectLst/>
                        </a:rPr>
                        <a:t>Air Liquide</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fr-FR" sz="1200" u="none" strike="noStrike" dirty="0">
                          <a:effectLst/>
                        </a:rPr>
                        <a:t>29,5x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fr-FR" sz="1200" u="none" strike="noStrike" dirty="0">
                          <a:effectLst/>
                        </a:rPr>
                        <a:t>25,3x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fr-FR" sz="1200" u="none" strike="noStrike" dirty="0">
                          <a:effectLst/>
                        </a:rPr>
                        <a:t>14,8x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fr-FR" sz="1200" u="none" strike="noStrike" dirty="0">
                          <a:effectLst/>
                        </a:rPr>
                        <a:t>3,9x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1939663"/>
                  </a:ext>
                </a:extLst>
              </a:tr>
              <a:tr h="433261">
                <a:tc>
                  <a:txBody>
                    <a:bodyPr/>
                    <a:lstStyle/>
                    <a:p>
                      <a:pPr algn="l" fontAlgn="b">
                        <a:buNone/>
                      </a:pPr>
                      <a:r>
                        <a:rPr lang="fr-FR" sz="1200" u="none" strike="noStrike" dirty="0" err="1">
                          <a:effectLst/>
                        </a:rPr>
                        <a:t>Mean</a:t>
                      </a:r>
                      <a:r>
                        <a:rPr lang="fr-FR" sz="1200" u="none" strike="noStrike" dirty="0">
                          <a:effectLst/>
                        </a:rPr>
                        <a:t> </a:t>
                      </a:r>
                      <a:r>
                        <a:rPr lang="fr-FR" sz="1200" u="none" strike="noStrike" dirty="0" err="1">
                          <a:effectLst/>
                        </a:rPr>
                        <a:t>peers</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fr-FR" sz="1200" u="none" strike="noStrike">
                          <a:effectLst/>
                        </a:rPr>
                        <a:t>58,0x</a:t>
                      </a:r>
                      <a:endParaRPr lang="fr-FR" sz="12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fr-FR" sz="1200" u="none" strike="noStrike">
                          <a:effectLst/>
                        </a:rPr>
                        <a:t>16,8x</a:t>
                      </a:r>
                      <a:endParaRPr lang="fr-FR" sz="12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fr-FR" sz="1200" u="none" strike="noStrike">
                          <a:effectLst/>
                        </a:rPr>
                        <a:t>20,1x</a:t>
                      </a:r>
                      <a:endParaRPr lang="fr-FR" sz="12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fr-FR" sz="1200" u="none" strike="noStrike">
                          <a:effectLst/>
                        </a:rPr>
                        <a:t>3,0x</a:t>
                      </a:r>
                      <a:endParaRPr lang="fr-FR" sz="12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7809624"/>
                  </a:ext>
                </a:extLst>
              </a:tr>
              <a:tr h="675199">
                <a:tc>
                  <a:txBody>
                    <a:bodyPr/>
                    <a:lstStyle/>
                    <a:p>
                      <a:pPr algn="l" fontAlgn="b">
                        <a:buNone/>
                      </a:pPr>
                      <a:r>
                        <a:rPr lang="fr-FR" sz="1200" u="none" strike="noStrike">
                          <a:effectLst/>
                        </a:rPr>
                        <a:t>xValuation (bn)</a:t>
                      </a:r>
                      <a:endParaRPr lang="fr-FR" sz="12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fr-FR" sz="1200" u="none" strike="noStrike" dirty="0">
                          <a:effectLst/>
                        </a:rPr>
                        <a:t>204,15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fr-FR" sz="1200" u="none" strike="noStrike" dirty="0">
                          <a:effectLst/>
                        </a:rPr>
                        <a:t>144,65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fr-FR" sz="1200" u="none" strike="noStrike" dirty="0">
                          <a:effectLst/>
                        </a:rPr>
                        <a:t>151,06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fr-FR" sz="1200" u="none" strike="noStrike" dirty="0">
                          <a:effectLst/>
                        </a:rPr>
                        <a:t>81,69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0987773"/>
                  </a:ext>
                </a:extLst>
              </a:tr>
              <a:tr h="641107">
                <a:tc>
                  <a:txBody>
                    <a:bodyPr/>
                    <a:lstStyle/>
                    <a:p>
                      <a:pPr algn="l" fontAlgn="b">
                        <a:buNone/>
                      </a:pPr>
                      <a:r>
                        <a:rPr lang="fr-FR" sz="1200" u="none" strike="noStrike">
                          <a:effectLst/>
                        </a:rPr>
                        <a:t>price / shares</a:t>
                      </a:r>
                      <a:endParaRPr lang="fr-FR" sz="12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fr-FR" sz="1200" u="none" strike="noStrike" dirty="0">
                          <a:effectLst/>
                        </a:rPr>
                        <a:t>353,24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fr-FR" sz="1200" u="none" strike="noStrike" dirty="0">
                          <a:effectLst/>
                        </a:rPr>
                        <a:t>250,28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fr-FR" sz="1200" u="none" strike="noStrike" dirty="0">
                          <a:effectLst/>
                        </a:rPr>
                        <a:t>261,38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fr-FR" sz="1200" u="none" strike="noStrike" dirty="0">
                          <a:effectLst/>
                        </a:rPr>
                        <a:t>141,36 </a:t>
                      </a:r>
                      <a:endParaRPr lang="fr-FR" sz="1200" b="0" i="0" u="none" strike="noStrike" dirty="0">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3991664"/>
                  </a:ext>
                </a:extLst>
              </a:tr>
            </a:tbl>
          </a:graphicData>
        </a:graphic>
      </p:graphicFrame>
    </p:spTree>
    <p:extLst>
      <p:ext uri="{BB962C8B-B14F-4D97-AF65-F5344CB8AC3E}">
        <p14:creationId xmlns:p14="http://schemas.microsoft.com/office/powerpoint/2010/main" val="3944912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20"/>
          <p:cNvSpPr txBox="1"/>
          <p:nvPr/>
        </p:nvSpPr>
        <p:spPr>
          <a:xfrm>
            <a:off x="-3429000" y="342186"/>
            <a:ext cx="3200400" cy="1107611"/>
          </a:xfrm>
          <a:prstGeom prst="rect">
            <a:avLst/>
          </a:prstGeom>
          <a:noFill/>
          <a:ln>
            <a:noFill/>
          </a:ln>
        </p:spPr>
        <p:txBody>
          <a:bodyPr spcFirstLastPara="1" wrap="square" lIns="0" tIns="0" rIns="0" bIns="0" anchor="t" anchorCtr="0">
            <a:spAutoFit/>
          </a:bodyPr>
          <a:lstStyle/>
          <a:p>
            <a:pPr algn="r">
              <a:lnSpc>
                <a:spcPct val="120007"/>
              </a:lnSpc>
            </a:pPr>
            <a:r>
              <a:rPr lang="en-US" sz="2399" b="1">
                <a:solidFill>
                  <a:srgbClr val="000000"/>
                </a:solidFill>
                <a:latin typeface="Arial"/>
                <a:ea typeface="Arial"/>
                <a:cs typeface="Arial"/>
                <a:sym typeface="Arial"/>
              </a:rPr>
              <a:t>Arial Slide Title – 24</a:t>
            </a:r>
            <a:endParaRPr sz="1688"/>
          </a:p>
          <a:p>
            <a:pPr algn="r">
              <a:lnSpc>
                <a:spcPct val="119959"/>
              </a:lnSpc>
            </a:pPr>
            <a:r>
              <a:rPr lang="en-US" sz="1400">
                <a:solidFill>
                  <a:srgbClr val="000000"/>
                </a:solidFill>
                <a:latin typeface="Arial"/>
                <a:ea typeface="Arial"/>
                <a:cs typeface="Arial"/>
                <a:sym typeface="Arial"/>
              </a:rPr>
              <a:t>Content/Section Title Text – 14</a:t>
            </a:r>
            <a:endParaRPr sz="1688"/>
          </a:p>
          <a:p>
            <a:pPr algn="r">
              <a:lnSpc>
                <a:spcPct val="120015"/>
              </a:lnSpc>
            </a:pPr>
            <a:r>
              <a:rPr lang="en-US" sz="1199">
                <a:solidFill>
                  <a:srgbClr val="000000"/>
                </a:solidFill>
                <a:latin typeface="Arial"/>
                <a:ea typeface="Arial"/>
                <a:cs typeface="Arial"/>
                <a:sym typeface="Arial"/>
              </a:rPr>
              <a:t>Bullet and Subtitle Text – 12</a:t>
            </a:r>
            <a:endParaRPr sz="1688"/>
          </a:p>
          <a:p>
            <a:pPr algn="r">
              <a:lnSpc>
                <a:spcPct val="120075"/>
              </a:lnSpc>
            </a:pPr>
            <a:r>
              <a:rPr lang="en-US" sz="999">
                <a:solidFill>
                  <a:srgbClr val="000000"/>
                </a:solidFill>
                <a:latin typeface="Arial"/>
                <a:ea typeface="Arial"/>
                <a:cs typeface="Arial"/>
                <a:sym typeface="Arial"/>
              </a:rPr>
              <a:t>Chart, Profile, and Currency Text – 10</a:t>
            </a:r>
            <a:endParaRPr sz="1688"/>
          </a:p>
        </p:txBody>
      </p:sp>
      <p:grpSp>
        <p:nvGrpSpPr>
          <p:cNvPr id="979" name="Google Shape;979;p20"/>
          <p:cNvGrpSpPr/>
          <p:nvPr/>
        </p:nvGrpSpPr>
        <p:grpSpPr>
          <a:xfrm>
            <a:off x="-2192501" y="2633500"/>
            <a:ext cx="1970251" cy="496313"/>
            <a:chOff x="0" y="-28575"/>
            <a:chExt cx="2802135" cy="705866"/>
          </a:xfrm>
        </p:grpSpPr>
        <p:sp>
          <p:nvSpPr>
            <p:cNvPr id="980" name="Google Shape;980;p20"/>
            <p:cNvSpPr/>
            <p:nvPr/>
          </p:nvSpPr>
          <p:spPr>
            <a:xfrm>
              <a:off x="0" y="0"/>
              <a:ext cx="2802128" cy="677291"/>
            </a:xfrm>
            <a:custGeom>
              <a:avLst/>
              <a:gdLst/>
              <a:ahLst/>
              <a:cxnLst/>
              <a:rect l="l" t="t" r="r" b="b"/>
              <a:pathLst>
                <a:path w="2802128" h="677291" extrusionOk="0">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981" name="Google Shape;981;p20"/>
            <p:cNvSpPr txBox="1"/>
            <p:nvPr/>
          </p:nvSpPr>
          <p:spPr>
            <a:xfrm>
              <a:off x="0" y="-28575"/>
              <a:ext cx="2802135" cy="705837"/>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Outline: black, ½ pt.</a:t>
              </a:r>
              <a:endParaRPr sz="1688"/>
            </a:p>
          </p:txBody>
        </p:sp>
      </p:grpSp>
      <p:grpSp>
        <p:nvGrpSpPr>
          <p:cNvPr id="982" name="Google Shape;982;p20"/>
          <p:cNvGrpSpPr/>
          <p:nvPr/>
        </p:nvGrpSpPr>
        <p:grpSpPr>
          <a:xfrm>
            <a:off x="-2186151" y="3363382"/>
            <a:ext cx="1957566" cy="486436"/>
            <a:chOff x="0" y="-28575"/>
            <a:chExt cx="2784094" cy="691820"/>
          </a:xfrm>
        </p:grpSpPr>
        <p:sp>
          <p:nvSpPr>
            <p:cNvPr id="983" name="Google Shape;983;p20"/>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CCD1D7"/>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984" name="Google Shape;984;p20"/>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204 – 209 – 215</a:t>
              </a:r>
              <a:endParaRPr sz="1688"/>
            </a:p>
          </p:txBody>
        </p:sp>
      </p:grpSp>
      <p:grpSp>
        <p:nvGrpSpPr>
          <p:cNvPr id="985" name="Google Shape;985;p20"/>
          <p:cNvGrpSpPr/>
          <p:nvPr/>
        </p:nvGrpSpPr>
        <p:grpSpPr>
          <a:xfrm>
            <a:off x="-2186151" y="4089757"/>
            <a:ext cx="1957566" cy="486436"/>
            <a:chOff x="0" y="-28575"/>
            <a:chExt cx="2784094" cy="691820"/>
          </a:xfrm>
        </p:grpSpPr>
        <p:sp>
          <p:nvSpPr>
            <p:cNvPr id="986" name="Google Shape;986;p20"/>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485059"/>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987" name="Google Shape;987;p20"/>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72 – 80 – 89 </a:t>
              </a:r>
              <a:endParaRPr sz="1688"/>
            </a:p>
          </p:txBody>
        </p:sp>
      </p:grpSp>
      <p:grpSp>
        <p:nvGrpSpPr>
          <p:cNvPr id="988" name="Google Shape;988;p20"/>
          <p:cNvGrpSpPr/>
          <p:nvPr/>
        </p:nvGrpSpPr>
        <p:grpSpPr>
          <a:xfrm>
            <a:off x="-2186151" y="4816132"/>
            <a:ext cx="1957566" cy="486436"/>
            <a:chOff x="0" y="-28575"/>
            <a:chExt cx="2784094" cy="691820"/>
          </a:xfrm>
        </p:grpSpPr>
        <p:sp>
          <p:nvSpPr>
            <p:cNvPr id="989" name="Google Shape;989;p20"/>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5E7C9E"/>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990" name="Google Shape;990;p20"/>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94 – 124 – 158</a:t>
              </a:r>
              <a:endParaRPr sz="1688"/>
            </a:p>
          </p:txBody>
        </p:sp>
      </p:grpSp>
      <p:grpSp>
        <p:nvGrpSpPr>
          <p:cNvPr id="991" name="Google Shape;991;p20"/>
          <p:cNvGrpSpPr/>
          <p:nvPr/>
        </p:nvGrpSpPr>
        <p:grpSpPr>
          <a:xfrm>
            <a:off x="-2186151" y="5542509"/>
            <a:ext cx="1957566" cy="486436"/>
            <a:chOff x="0" y="-28575"/>
            <a:chExt cx="2784094" cy="691820"/>
          </a:xfrm>
        </p:grpSpPr>
        <p:sp>
          <p:nvSpPr>
            <p:cNvPr id="992" name="Google Shape;992;p20"/>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993" name="Google Shape;993;p20"/>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17 – 61 – 99</a:t>
              </a:r>
              <a:endParaRPr sz="1688"/>
            </a:p>
          </p:txBody>
        </p:sp>
      </p:grpSp>
      <p:grpSp>
        <p:nvGrpSpPr>
          <p:cNvPr id="994" name="Google Shape;994;p20"/>
          <p:cNvGrpSpPr/>
          <p:nvPr/>
        </p:nvGrpSpPr>
        <p:grpSpPr>
          <a:xfrm>
            <a:off x="-2186151" y="1916319"/>
            <a:ext cx="1957566" cy="483632"/>
            <a:chOff x="0" y="-28575"/>
            <a:chExt cx="2784094" cy="687832"/>
          </a:xfrm>
        </p:grpSpPr>
        <p:sp>
          <p:nvSpPr>
            <p:cNvPr id="995" name="Google Shape;995;p20"/>
            <p:cNvSpPr/>
            <p:nvPr/>
          </p:nvSpPr>
          <p:spPr>
            <a:xfrm>
              <a:off x="0" y="0"/>
              <a:ext cx="2784094" cy="659257"/>
            </a:xfrm>
            <a:custGeom>
              <a:avLst/>
              <a:gdLst/>
              <a:ahLst/>
              <a:cxnLst/>
              <a:rect l="l" t="t" r="r" b="b"/>
              <a:pathLst>
                <a:path w="2784094" h="659257" extrusionOk="0">
                  <a:moveTo>
                    <a:pt x="0" y="0"/>
                  </a:moveTo>
                  <a:lnTo>
                    <a:pt x="2784094" y="0"/>
                  </a:lnTo>
                  <a:lnTo>
                    <a:pt x="2784094" y="659257"/>
                  </a:lnTo>
                  <a:lnTo>
                    <a:pt x="0" y="659257"/>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996" name="Google Shape;996;p20"/>
            <p:cNvSpPr txBox="1"/>
            <p:nvPr/>
          </p:nvSpPr>
          <p:spPr>
            <a:xfrm>
              <a:off x="0" y="-28575"/>
              <a:ext cx="2784073" cy="687775"/>
            </a:xfrm>
            <a:prstGeom prst="rect">
              <a:avLst/>
            </a:prstGeom>
            <a:noFill/>
            <a:ln>
              <a:noFill/>
            </a:ln>
          </p:spPr>
          <p:txBody>
            <a:bodyPr spcFirstLastPara="1" wrap="square" lIns="47625" tIns="47625" rIns="47625" bIns="47625" anchor="ctr" anchorCtr="0">
              <a:noAutofit/>
            </a:bodyPr>
            <a:lstStyle/>
            <a:p>
              <a:pPr marL="154432" lvl="1" indent="-76140">
                <a:lnSpc>
                  <a:spcPct val="120015"/>
                </a:lnSpc>
                <a:buClr>
                  <a:srgbClr val="FFFFFF"/>
                </a:buClr>
                <a:buSzPts val="1279"/>
                <a:buFont typeface="Arial"/>
                <a:buChar char="•"/>
              </a:pPr>
              <a:r>
                <a:rPr lang="en-US" sz="1199">
                  <a:solidFill>
                    <a:srgbClr val="FFFFFF"/>
                  </a:solidFill>
                  <a:latin typeface="Arial"/>
                  <a:ea typeface="Arial"/>
                  <a:cs typeface="Arial"/>
                  <a:sym typeface="Arial"/>
                </a:rPr>
                <a:t>Normal shapes w/ text</a:t>
              </a:r>
              <a:endParaRPr sz="1688"/>
            </a:p>
          </p:txBody>
        </p:sp>
      </p:grpSp>
      <p:sp>
        <p:nvSpPr>
          <p:cNvPr id="997" name="Google Shape;997;p20"/>
          <p:cNvSpPr txBox="1"/>
          <p:nvPr/>
        </p:nvSpPr>
        <p:spPr>
          <a:xfrm>
            <a:off x="239485" y="6382553"/>
            <a:ext cx="3537857" cy="332399"/>
          </a:xfrm>
          <a:prstGeom prst="rect">
            <a:avLst/>
          </a:prstGeom>
          <a:noFill/>
          <a:ln>
            <a:noFill/>
          </a:ln>
        </p:spPr>
        <p:txBody>
          <a:bodyPr spcFirstLastPara="1" wrap="square" lIns="0" tIns="0" rIns="0" bIns="0" anchor="t" anchorCtr="0">
            <a:spAutoFit/>
          </a:bodyPr>
          <a:lstStyle/>
          <a:p>
            <a:pPr>
              <a:lnSpc>
                <a:spcPct val="120000"/>
              </a:lnSpc>
            </a:pPr>
            <a:r>
              <a:rPr lang="en-US">
                <a:solidFill>
                  <a:srgbClr val="2A90BC"/>
                </a:solidFill>
                <a:latin typeface="Arimo"/>
                <a:ea typeface="Arimo"/>
                <a:cs typeface="Arimo"/>
                <a:sym typeface="Arimo"/>
              </a:rPr>
              <a:t>ESSEC Capital Investments Club</a:t>
            </a:r>
            <a:endParaRPr sz="1688"/>
          </a:p>
        </p:txBody>
      </p:sp>
      <p:cxnSp>
        <p:nvCxnSpPr>
          <p:cNvPr id="998" name="Google Shape;998;p20"/>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999" name="Google Shape;999;p20"/>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cxnSp>
        <p:nvCxnSpPr>
          <p:cNvPr id="1000" name="Google Shape;1000;p20"/>
          <p:cNvCxnSpPr/>
          <p:nvPr/>
        </p:nvCxnSpPr>
        <p:spPr>
          <a:xfrm rot="8930">
            <a:off x="-11128" y="6240264"/>
            <a:ext cx="9166256" cy="0"/>
          </a:xfrm>
          <a:prstGeom prst="straightConnector1">
            <a:avLst/>
          </a:prstGeom>
          <a:noFill/>
          <a:ln w="19050" cap="rnd" cmpd="sng">
            <a:solidFill>
              <a:srgbClr val="39598F"/>
            </a:solidFill>
            <a:prstDash val="solid"/>
            <a:round/>
            <a:headEnd type="none" w="sm" len="sm"/>
            <a:tailEnd type="none" w="sm" len="sm"/>
          </a:ln>
        </p:spPr>
      </p:cxnSp>
      <p:sp>
        <p:nvSpPr>
          <p:cNvPr id="1001" name="Google Shape;1001;p20"/>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9" b="-138"/>
            </a:stretch>
          </a:blip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grpSp>
        <p:nvGrpSpPr>
          <p:cNvPr id="1002" name="Google Shape;1002;p20"/>
          <p:cNvGrpSpPr/>
          <p:nvPr/>
        </p:nvGrpSpPr>
        <p:grpSpPr>
          <a:xfrm>
            <a:off x="3270788" y="2902126"/>
            <a:ext cx="2647741" cy="2580970"/>
            <a:chOff x="3464687" y="2446304"/>
            <a:chExt cx="2824257" cy="2753035"/>
          </a:xfrm>
        </p:grpSpPr>
        <p:grpSp>
          <p:nvGrpSpPr>
            <p:cNvPr id="1003" name="Google Shape;1003;p20"/>
            <p:cNvGrpSpPr/>
            <p:nvPr/>
          </p:nvGrpSpPr>
          <p:grpSpPr>
            <a:xfrm>
              <a:off x="3464687" y="2448986"/>
              <a:ext cx="2824257" cy="339661"/>
              <a:chOff x="-1524" y="-1524"/>
              <a:chExt cx="3765677" cy="452882"/>
            </a:xfrm>
          </p:grpSpPr>
          <p:sp>
            <p:nvSpPr>
              <p:cNvPr id="1004" name="Google Shape;1004;p20"/>
              <p:cNvSpPr/>
              <p:nvPr/>
            </p:nvSpPr>
            <p:spPr>
              <a:xfrm>
                <a:off x="0" y="0"/>
                <a:ext cx="3762629" cy="449834"/>
              </a:xfrm>
              <a:custGeom>
                <a:avLst/>
                <a:gdLst/>
                <a:ahLst/>
                <a:cxnLst/>
                <a:rect l="l" t="t" r="r" b="b"/>
                <a:pathLst>
                  <a:path w="3762629" h="449834" extrusionOk="0">
                    <a:moveTo>
                      <a:pt x="0" y="0"/>
                    </a:moveTo>
                    <a:lnTo>
                      <a:pt x="3762629" y="0"/>
                    </a:lnTo>
                    <a:lnTo>
                      <a:pt x="3762629"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005" name="Google Shape;1005;p20"/>
              <p:cNvSpPr/>
              <p:nvPr/>
            </p:nvSpPr>
            <p:spPr>
              <a:xfrm>
                <a:off x="-1524" y="-1524"/>
                <a:ext cx="3765677" cy="452882"/>
              </a:xfrm>
              <a:custGeom>
                <a:avLst/>
                <a:gdLst/>
                <a:ahLst/>
                <a:cxnLst/>
                <a:rect l="l" t="t" r="r" b="b"/>
                <a:pathLst>
                  <a:path w="3765677" h="452882" extrusionOk="0">
                    <a:moveTo>
                      <a:pt x="1524" y="0"/>
                    </a:moveTo>
                    <a:lnTo>
                      <a:pt x="3764153" y="0"/>
                    </a:lnTo>
                    <a:cubicBezTo>
                      <a:pt x="3765042" y="0"/>
                      <a:pt x="3765677" y="762"/>
                      <a:pt x="3765677" y="1524"/>
                    </a:cubicBezTo>
                    <a:lnTo>
                      <a:pt x="3765677" y="451358"/>
                    </a:lnTo>
                    <a:cubicBezTo>
                      <a:pt x="3765677" y="452247"/>
                      <a:pt x="3764915" y="452882"/>
                      <a:pt x="3764153"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764153" y="449834"/>
                    </a:lnTo>
                    <a:lnTo>
                      <a:pt x="3764153" y="451358"/>
                    </a:lnTo>
                    <a:lnTo>
                      <a:pt x="3762629" y="451358"/>
                    </a:lnTo>
                    <a:lnTo>
                      <a:pt x="3762629" y="1524"/>
                    </a:lnTo>
                    <a:lnTo>
                      <a:pt x="3764153" y="1524"/>
                    </a:lnTo>
                    <a:lnTo>
                      <a:pt x="3764153" y="3048"/>
                    </a:lnTo>
                    <a:lnTo>
                      <a:pt x="1524" y="3048"/>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grpSp>
        <p:sp>
          <p:nvSpPr>
            <p:cNvPr id="1006" name="Google Shape;1006;p20"/>
            <p:cNvSpPr txBox="1"/>
            <p:nvPr/>
          </p:nvSpPr>
          <p:spPr>
            <a:xfrm>
              <a:off x="3551406" y="2446304"/>
              <a:ext cx="115123" cy="295466"/>
            </a:xfrm>
            <a:prstGeom prst="rect">
              <a:avLst/>
            </a:prstGeom>
            <a:noFill/>
            <a:ln>
              <a:noFill/>
            </a:ln>
          </p:spPr>
          <p:txBody>
            <a:bodyPr spcFirstLastPara="1" wrap="square" lIns="0" tIns="0" rIns="0" bIns="0" anchor="t" anchorCtr="0">
              <a:spAutoFit/>
            </a:bodyPr>
            <a:lstStyle/>
            <a:p>
              <a:pPr algn="ctr">
                <a:lnSpc>
                  <a:spcPct val="120000"/>
                </a:lnSpc>
              </a:pPr>
              <a:r>
                <a:rPr lang="en-US" sz="1500" b="1">
                  <a:solidFill>
                    <a:srgbClr val="FFFFFF"/>
                  </a:solidFill>
                  <a:latin typeface="Arial"/>
                  <a:ea typeface="Arial"/>
                  <a:cs typeface="Arial"/>
                  <a:sym typeface="Arial"/>
                </a:rPr>
                <a:t>1</a:t>
              </a:r>
              <a:endParaRPr sz="1688"/>
            </a:p>
          </p:txBody>
        </p:sp>
        <p:grpSp>
          <p:nvGrpSpPr>
            <p:cNvPr id="1007" name="Google Shape;1007;p20"/>
            <p:cNvGrpSpPr/>
            <p:nvPr/>
          </p:nvGrpSpPr>
          <p:grpSpPr>
            <a:xfrm>
              <a:off x="3482837" y="3364869"/>
              <a:ext cx="339280" cy="365953"/>
              <a:chOff x="0" y="-38100"/>
              <a:chExt cx="452374" cy="487938"/>
            </a:xfrm>
          </p:grpSpPr>
          <p:sp>
            <p:nvSpPr>
              <p:cNvPr id="1008" name="Google Shape;1008;p20"/>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009" name="Google Shape;1009;p20"/>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3</a:t>
                </a:r>
                <a:endParaRPr sz="1688"/>
              </a:p>
            </p:txBody>
          </p:sp>
        </p:grpSp>
        <p:grpSp>
          <p:nvGrpSpPr>
            <p:cNvPr id="1010" name="Google Shape;1010;p20"/>
            <p:cNvGrpSpPr/>
            <p:nvPr/>
          </p:nvGrpSpPr>
          <p:grpSpPr>
            <a:xfrm>
              <a:off x="3482837" y="3854375"/>
              <a:ext cx="339280" cy="365953"/>
              <a:chOff x="0" y="-38100"/>
              <a:chExt cx="452374" cy="487938"/>
            </a:xfrm>
          </p:grpSpPr>
          <p:sp>
            <p:nvSpPr>
              <p:cNvPr id="1011" name="Google Shape;1011;p20"/>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012" name="Google Shape;1012;p20"/>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4</a:t>
                </a:r>
                <a:endParaRPr sz="1688"/>
              </a:p>
            </p:txBody>
          </p:sp>
        </p:grpSp>
        <p:grpSp>
          <p:nvGrpSpPr>
            <p:cNvPr id="1013" name="Google Shape;1013;p20"/>
            <p:cNvGrpSpPr/>
            <p:nvPr/>
          </p:nvGrpSpPr>
          <p:grpSpPr>
            <a:xfrm>
              <a:off x="3481693" y="4343880"/>
              <a:ext cx="405098" cy="367093"/>
              <a:chOff x="-1524" y="-38100"/>
              <a:chExt cx="540131" cy="489458"/>
            </a:xfrm>
          </p:grpSpPr>
          <p:sp>
            <p:nvSpPr>
              <p:cNvPr id="1014" name="Google Shape;1014;p20"/>
              <p:cNvSpPr/>
              <p:nvPr/>
            </p:nvSpPr>
            <p:spPr>
              <a:xfrm>
                <a:off x="0" y="0"/>
                <a:ext cx="537083" cy="449834"/>
              </a:xfrm>
              <a:custGeom>
                <a:avLst/>
                <a:gdLst/>
                <a:ahLst/>
                <a:cxnLst/>
                <a:rect l="l" t="t" r="r" b="b"/>
                <a:pathLst>
                  <a:path w="537083" h="449834" extrusionOk="0">
                    <a:moveTo>
                      <a:pt x="0" y="0"/>
                    </a:moveTo>
                    <a:lnTo>
                      <a:pt x="537083" y="0"/>
                    </a:lnTo>
                    <a:lnTo>
                      <a:pt x="537083" y="449834"/>
                    </a:lnTo>
                    <a:lnTo>
                      <a:pt x="0" y="449834"/>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015" name="Google Shape;1015;p20"/>
              <p:cNvSpPr/>
              <p:nvPr/>
            </p:nvSpPr>
            <p:spPr>
              <a:xfrm>
                <a:off x="-1524" y="-1524"/>
                <a:ext cx="540131" cy="452882"/>
              </a:xfrm>
              <a:custGeom>
                <a:avLst/>
                <a:gdLst/>
                <a:ahLst/>
                <a:cxnLst/>
                <a:rect l="l" t="t" r="r" b="b"/>
                <a:pathLst>
                  <a:path w="540131" h="452882" extrusionOk="0">
                    <a:moveTo>
                      <a:pt x="1524" y="0"/>
                    </a:moveTo>
                    <a:lnTo>
                      <a:pt x="538607" y="0"/>
                    </a:lnTo>
                    <a:cubicBezTo>
                      <a:pt x="539496" y="0"/>
                      <a:pt x="540131" y="762"/>
                      <a:pt x="540131" y="1524"/>
                    </a:cubicBezTo>
                    <a:lnTo>
                      <a:pt x="540131" y="451358"/>
                    </a:lnTo>
                    <a:cubicBezTo>
                      <a:pt x="540131" y="452247"/>
                      <a:pt x="539369" y="452882"/>
                      <a:pt x="538607"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538607" y="449834"/>
                    </a:lnTo>
                    <a:lnTo>
                      <a:pt x="538607" y="451358"/>
                    </a:lnTo>
                    <a:lnTo>
                      <a:pt x="537083" y="451358"/>
                    </a:lnTo>
                    <a:lnTo>
                      <a:pt x="537083" y="1524"/>
                    </a:lnTo>
                    <a:lnTo>
                      <a:pt x="538607" y="1524"/>
                    </a:lnTo>
                    <a:lnTo>
                      <a:pt x="538607" y="3048"/>
                    </a:lnTo>
                    <a:lnTo>
                      <a:pt x="1524" y="3048"/>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016" name="Google Shape;1016;p20"/>
              <p:cNvSpPr txBox="1"/>
              <p:nvPr/>
            </p:nvSpPr>
            <p:spPr>
              <a:xfrm>
                <a:off x="0" y="-38100"/>
                <a:ext cx="537027"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5</a:t>
                </a:r>
                <a:endParaRPr sz="1688"/>
              </a:p>
            </p:txBody>
          </p:sp>
        </p:grpSp>
        <p:sp>
          <p:nvSpPr>
            <p:cNvPr id="1017" name="Google Shape;1017;p20"/>
            <p:cNvSpPr txBox="1"/>
            <p:nvPr/>
          </p:nvSpPr>
          <p:spPr>
            <a:xfrm>
              <a:off x="3890662" y="2465354"/>
              <a:ext cx="2328540" cy="206826"/>
            </a:xfrm>
            <a:prstGeom prst="rect">
              <a:avLst/>
            </a:prstGeom>
            <a:noFill/>
            <a:ln>
              <a:noFill/>
            </a:ln>
          </p:spPr>
          <p:txBody>
            <a:bodyPr spcFirstLastPara="1" wrap="square" lIns="0" tIns="0" rIns="0" bIns="0" anchor="t" anchorCtr="0">
              <a:spAutoFit/>
            </a:bodyPr>
            <a:lstStyle/>
            <a:p>
              <a:pPr>
                <a:lnSpc>
                  <a:spcPct val="120000"/>
                </a:lnSpc>
              </a:pPr>
              <a:r>
                <a:rPr lang="en-US" sz="1050">
                  <a:solidFill>
                    <a:srgbClr val="FFFFFF"/>
                  </a:solidFill>
                  <a:latin typeface="Arial"/>
                  <a:ea typeface="Arial"/>
                  <a:cs typeface="Arial"/>
                  <a:sym typeface="Arial"/>
                </a:rPr>
                <a:t>Company Overview</a:t>
              </a:r>
              <a:endParaRPr sz="1688"/>
            </a:p>
          </p:txBody>
        </p:sp>
        <p:grpSp>
          <p:nvGrpSpPr>
            <p:cNvPr id="1018" name="Google Shape;1018;p20"/>
            <p:cNvGrpSpPr/>
            <p:nvPr/>
          </p:nvGrpSpPr>
          <p:grpSpPr>
            <a:xfrm>
              <a:off x="3822093" y="3379157"/>
              <a:ext cx="2465678" cy="351665"/>
              <a:chOff x="0" y="-19050"/>
              <a:chExt cx="3287570" cy="468888"/>
            </a:xfrm>
          </p:grpSpPr>
          <p:sp>
            <p:nvSpPr>
              <p:cNvPr id="1019" name="Google Shape;1019;p20"/>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020" name="Google Shape;1020;p20"/>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Investment Thesis</a:t>
                </a:r>
                <a:endParaRPr sz="1688"/>
              </a:p>
            </p:txBody>
          </p:sp>
        </p:grpSp>
        <p:grpSp>
          <p:nvGrpSpPr>
            <p:cNvPr id="1021" name="Google Shape;1021;p20"/>
            <p:cNvGrpSpPr/>
            <p:nvPr/>
          </p:nvGrpSpPr>
          <p:grpSpPr>
            <a:xfrm>
              <a:off x="3822093" y="3868663"/>
              <a:ext cx="2465678" cy="351665"/>
              <a:chOff x="0" y="-19050"/>
              <a:chExt cx="3287570" cy="468888"/>
            </a:xfrm>
          </p:grpSpPr>
          <p:sp>
            <p:nvSpPr>
              <p:cNvPr id="1022" name="Google Shape;1022;p20"/>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023" name="Google Shape;1023;p20"/>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Valuation</a:t>
                </a:r>
                <a:endParaRPr sz="1688"/>
              </a:p>
            </p:txBody>
          </p:sp>
        </p:grpSp>
        <p:grpSp>
          <p:nvGrpSpPr>
            <p:cNvPr id="1024" name="Google Shape;1024;p20"/>
            <p:cNvGrpSpPr/>
            <p:nvPr/>
          </p:nvGrpSpPr>
          <p:grpSpPr>
            <a:xfrm>
              <a:off x="3820950" y="4358168"/>
              <a:ext cx="2467928" cy="352805"/>
              <a:chOff x="-1524" y="-19050"/>
              <a:chExt cx="3290570" cy="470408"/>
            </a:xfrm>
          </p:grpSpPr>
          <p:sp>
            <p:nvSpPr>
              <p:cNvPr id="1025" name="Google Shape;1025;p20"/>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026" name="Google Shape;1026;p20"/>
              <p:cNvSpPr/>
              <p:nvPr/>
            </p:nvSpPr>
            <p:spPr>
              <a:xfrm>
                <a:off x="-1524" y="-1524"/>
                <a:ext cx="3290570" cy="452882"/>
              </a:xfrm>
              <a:custGeom>
                <a:avLst/>
                <a:gdLst/>
                <a:ahLst/>
                <a:cxnLst/>
                <a:rect l="l" t="t" r="r" b="b"/>
                <a:pathLst>
                  <a:path w="3290570" h="452882" extrusionOk="0">
                    <a:moveTo>
                      <a:pt x="1524" y="0"/>
                    </a:moveTo>
                    <a:lnTo>
                      <a:pt x="3289046" y="0"/>
                    </a:lnTo>
                    <a:cubicBezTo>
                      <a:pt x="3289935" y="0"/>
                      <a:pt x="3290570" y="762"/>
                      <a:pt x="3290570" y="1524"/>
                    </a:cubicBezTo>
                    <a:lnTo>
                      <a:pt x="3290570" y="451358"/>
                    </a:lnTo>
                    <a:cubicBezTo>
                      <a:pt x="3290570" y="452247"/>
                      <a:pt x="3289808" y="452882"/>
                      <a:pt x="3289046"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289046" y="449834"/>
                    </a:lnTo>
                    <a:lnTo>
                      <a:pt x="3289046" y="451358"/>
                    </a:lnTo>
                    <a:lnTo>
                      <a:pt x="3287522" y="451358"/>
                    </a:lnTo>
                    <a:lnTo>
                      <a:pt x="3287522" y="1524"/>
                    </a:lnTo>
                    <a:lnTo>
                      <a:pt x="3289046" y="1524"/>
                    </a:lnTo>
                    <a:lnTo>
                      <a:pt x="3289046" y="3048"/>
                    </a:lnTo>
                    <a:lnTo>
                      <a:pt x="1524" y="3048"/>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027" name="Google Shape;1027;p20"/>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Catalysts and Risks</a:t>
                </a:r>
                <a:endParaRPr sz="1688"/>
              </a:p>
            </p:txBody>
          </p:sp>
        </p:grpSp>
        <p:grpSp>
          <p:nvGrpSpPr>
            <p:cNvPr id="1028" name="Google Shape;1028;p20"/>
            <p:cNvGrpSpPr/>
            <p:nvPr/>
          </p:nvGrpSpPr>
          <p:grpSpPr>
            <a:xfrm>
              <a:off x="3482837" y="4833386"/>
              <a:ext cx="339280" cy="365953"/>
              <a:chOff x="0" y="-38100"/>
              <a:chExt cx="452374" cy="487938"/>
            </a:xfrm>
          </p:grpSpPr>
          <p:sp>
            <p:nvSpPr>
              <p:cNvPr id="1029" name="Google Shape;1029;p20"/>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030" name="Google Shape;1030;p20"/>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6</a:t>
                </a:r>
                <a:endParaRPr sz="1688"/>
              </a:p>
            </p:txBody>
          </p:sp>
        </p:grpSp>
        <p:grpSp>
          <p:nvGrpSpPr>
            <p:cNvPr id="1031" name="Google Shape;1031;p20"/>
            <p:cNvGrpSpPr/>
            <p:nvPr/>
          </p:nvGrpSpPr>
          <p:grpSpPr>
            <a:xfrm>
              <a:off x="3822093" y="4847674"/>
              <a:ext cx="2465678" cy="351665"/>
              <a:chOff x="0" y="-19050"/>
              <a:chExt cx="3287570" cy="468888"/>
            </a:xfrm>
          </p:grpSpPr>
          <p:sp>
            <p:nvSpPr>
              <p:cNvPr id="1032" name="Google Shape;1032;p20"/>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033" name="Google Shape;1033;p20"/>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Recommendation</a:t>
                </a:r>
                <a:endParaRPr sz="1688"/>
              </a:p>
            </p:txBody>
          </p:sp>
        </p:grpSp>
        <p:grpSp>
          <p:nvGrpSpPr>
            <p:cNvPr id="1034" name="Google Shape;1034;p20"/>
            <p:cNvGrpSpPr/>
            <p:nvPr/>
          </p:nvGrpSpPr>
          <p:grpSpPr>
            <a:xfrm>
              <a:off x="3465829" y="2893212"/>
              <a:ext cx="341596" cy="365953"/>
              <a:chOff x="0" y="-38100"/>
              <a:chExt cx="455461" cy="487938"/>
            </a:xfrm>
          </p:grpSpPr>
          <p:sp>
            <p:nvSpPr>
              <p:cNvPr id="1035" name="Google Shape;1035;p20"/>
              <p:cNvSpPr/>
              <p:nvPr/>
            </p:nvSpPr>
            <p:spPr>
              <a:xfrm>
                <a:off x="0" y="0"/>
                <a:ext cx="455422" cy="449834"/>
              </a:xfrm>
              <a:custGeom>
                <a:avLst/>
                <a:gdLst/>
                <a:ahLst/>
                <a:cxnLst/>
                <a:rect l="l" t="t" r="r" b="b"/>
                <a:pathLst>
                  <a:path w="455422" h="449834" extrusionOk="0">
                    <a:moveTo>
                      <a:pt x="0" y="0"/>
                    </a:moveTo>
                    <a:lnTo>
                      <a:pt x="455422" y="0"/>
                    </a:lnTo>
                    <a:lnTo>
                      <a:pt x="4554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036" name="Google Shape;1036;p20"/>
              <p:cNvSpPr txBox="1"/>
              <p:nvPr/>
            </p:nvSpPr>
            <p:spPr>
              <a:xfrm>
                <a:off x="0" y="-38100"/>
                <a:ext cx="45546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2</a:t>
                </a:r>
                <a:endParaRPr sz="1688"/>
              </a:p>
            </p:txBody>
          </p:sp>
        </p:grpSp>
        <p:grpSp>
          <p:nvGrpSpPr>
            <p:cNvPr id="1037" name="Google Shape;1037;p20"/>
            <p:cNvGrpSpPr/>
            <p:nvPr/>
          </p:nvGrpSpPr>
          <p:grpSpPr>
            <a:xfrm>
              <a:off x="3805085" y="2907500"/>
              <a:ext cx="2482692" cy="351665"/>
              <a:chOff x="0" y="-19050"/>
              <a:chExt cx="3310255" cy="468888"/>
            </a:xfrm>
          </p:grpSpPr>
          <p:sp>
            <p:nvSpPr>
              <p:cNvPr id="1038" name="Google Shape;1038;p20"/>
              <p:cNvSpPr/>
              <p:nvPr/>
            </p:nvSpPr>
            <p:spPr>
              <a:xfrm>
                <a:off x="0" y="0"/>
                <a:ext cx="3310255" cy="449834"/>
              </a:xfrm>
              <a:custGeom>
                <a:avLst/>
                <a:gdLst/>
                <a:ahLst/>
                <a:cxnLst/>
                <a:rect l="l" t="t" r="r" b="b"/>
                <a:pathLst>
                  <a:path w="3310255" h="449834" extrusionOk="0">
                    <a:moveTo>
                      <a:pt x="0" y="0"/>
                    </a:moveTo>
                    <a:lnTo>
                      <a:pt x="3310255" y="0"/>
                    </a:lnTo>
                    <a:lnTo>
                      <a:pt x="3310255"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039" name="Google Shape;1039;p20"/>
              <p:cNvSpPr txBox="1"/>
              <p:nvPr/>
            </p:nvSpPr>
            <p:spPr>
              <a:xfrm>
                <a:off x="0" y="-19050"/>
                <a:ext cx="3310246"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Investment</a:t>
                </a:r>
                <a:r>
                  <a:rPr lang="en-US" sz="1050">
                    <a:solidFill>
                      <a:srgbClr val="000000"/>
                    </a:solidFill>
                    <a:latin typeface="Arial"/>
                    <a:ea typeface="Arial"/>
                    <a:cs typeface="Arial"/>
                    <a:sym typeface="Arial"/>
                  </a:rPr>
                  <a:t> </a:t>
                </a:r>
                <a:r>
                  <a:rPr lang="en-US" sz="1050">
                    <a:solidFill>
                      <a:srgbClr val="FFFFFF"/>
                    </a:solidFill>
                    <a:latin typeface="Arial"/>
                    <a:ea typeface="Arial"/>
                    <a:cs typeface="Arial"/>
                    <a:sym typeface="Arial"/>
                  </a:rPr>
                  <a:t>Thesis</a:t>
                </a:r>
                <a:endParaRPr sz="1688"/>
              </a:p>
            </p:txBody>
          </p:sp>
        </p:grpSp>
      </p:grpSp>
      <p:cxnSp>
        <p:nvCxnSpPr>
          <p:cNvPr id="1040" name="Google Shape;1040;p20"/>
          <p:cNvCxnSpPr/>
          <p:nvPr/>
        </p:nvCxnSpPr>
        <p:spPr>
          <a:xfrm rot="39499">
            <a:off x="-9578" y="2182319"/>
            <a:ext cx="1658019" cy="0"/>
          </a:xfrm>
          <a:prstGeom prst="straightConnector1">
            <a:avLst/>
          </a:prstGeom>
          <a:noFill/>
          <a:ln w="19050" cap="rnd" cmpd="sng">
            <a:solidFill>
              <a:srgbClr val="39598F"/>
            </a:solidFill>
            <a:prstDash val="solid"/>
            <a:round/>
            <a:headEnd type="none" w="sm" len="sm"/>
            <a:tailEnd type="none" w="sm" len="sm"/>
          </a:ln>
        </p:spPr>
      </p:cxnSp>
      <p:sp>
        <p:nvSpPr>
          <p:cNvPr id="1041" name="Google Shape;1041;p20"/>
          <p:cNvSpPr txBox="1"/>
          <p:nvPr/>
        </p:nvSpPr>
        <p:spPr>
          <a:xfrm>
            <a:off x="529564" y="1678468"/>
            <a:ext cx="2328863" cy="398764"/>
          </a:xfrm>
          <a:prstGeom prst="rect">
            <a:avLst/>
          </a:prstGeom>
          <a:noFill/>
          <a:ln>
            <a:noFill/>
          </a:ln>
        </p:spPr>
        <p:txBody>
          <a:bodyPr spcFirstLastPara="1" wrap="square" lIns="0" tIns="0" rIns="0" bIns="0" anchor="t" anchorCtr="0">
            <a:spAutoFit/>
          </a:bodyPr>
          <a:lstStyle/>
          <a:p>
            <a:pPr>
              <a:lnSpc>
                <a:spcPct val="108010"/>
              </a:lnSpc>
            </a:pPr>
            <a:r>
              <a:rPr lang="en-US" sz="2399">
                <a:solidFill>
                  <a:srgbClr val="333F44"/>
                </a:solidFill>
                <a:latin typeface="Open Sans Light"/>
                <a:ea typeface="Open Sans Light"/>
                <a:cs typeface="Open Sans Light"/>
                <a:sym typeface="Open Sans Light"/>
              </a:rPr>
              <a:t>Agenda</a:t>
            </a:r>
            <a:endParaRPr sz="1688"/>
          </a:p>
        </p:txBody>
      </p:sp>
      <p:pic>
        <p:nvPicPr>
          <p:cNvPr id="3" name="Picture 2" descr="Air Liquide annonce une nouvelle identité visuelle - L'ADN">
            <a:extLst>
              <a:ext uri="{FF2B5EF4-FFF2-40B4-BE49-F238E27FC236}">
                <a16:creationId xmlns:a16="http://schemas.microsoft.com/office/drawing/2014/main" id="{D22DFB8D-A1EB-D8DE-F99E-AF977923D5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9164" y="1554637"/>
            <a:ext cx="4025671" cy="12307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4">
          <a:extLst>
            <a:ext uri="{FF2B5EF4-FFF2-40B4-BE49-F238E27FC236}">
              <a16:creationId xmlns:a16="http://schemas.microsoft.com/office/drawing/2014/main" id="{FED491BC-060C-4B62-EF88-A15B05B4025A}"/>
            </a:ext>
          </a:extLst>
        </p:cNvPr>
        <p:cNvGrpSpPr/>
        <p:nvPr/>
      </p:nvGrpSpPr>
      <p:grpSpPr>
        <a:xfrm>
          <a:off x="0" y="0"/>
          <a:ext cx="0" cy="0"/>
          <a:chOff x="0" y="0"/>
          <a:chExt cx="0" cy="0"/>
        </a:xfrm>
      </p:grpSpPr>
      <p:sp>
        <p:nvSpPr>
          <p:cNvPr id="565" name="Google Shape;565;p12">
            <a:extLst>
              <a:ext uri="{FF2B5EF4-FFF2-40B4-BE49-F238E27FC236}">
                <a16:creationId xmlns:a16="http://schemas.microsoft.com/office/drawing/2014/main" id="{70994CEF-9595-BB5D-AF08-B646796FC327}"/>
              </a:ext>
            </a:extLst>
          </p:cNvPr>
          <p:cNvSpPr txBox="1"/>
          <p:nvPr/>
        </p:nvSpPr>
        <p:spPr>
          <a:xfrm>
            <a:off x="-3429000" y="342186"/>
            <a:ext cx="3200400" cy="1107611"/>
          </a:xfrm>
          <a:prstGeom prst="rect">
            <a:avLst/>
          </a:prstGeom>
          <a:noFill/>
          <a:ln>
            <a:noFill/>
          </a:ln>
        </p:spPr>
        <p:txBody>
          <a:bodyPr spcFirstLastPara="1" wrap="square" lIns="0" tIns="0" rIns="0" bIns="0" anchor="t" anchorCtr="0">
            <a:spAutoFit/>
          </a:bodyPr>
          <a:lstStyle/>
          <a:p>
            <a:pPr algn="r">
              <a:lnSpc>
                <a:spcPct val="120007"/>
              </a:lnSpc>
            </a:pPr>
            <a:r>
              <a:rPr lang="en-US" sz="2399" b="1">
                <a:solidFill>
                  <a:srgbClr val="000000"/>
                </a:solidFill>
                <a:latin typeface="Arial"/>
                <a:ea typeface="Arial"/>
                <a:cs typeface="Arial"/>
                <a:sym typeface="Arial"/>
              </a:rPr>
              <a:t>Arial Slide Title – 24</a:t>
            </a:r>
            <a:endParaRPr sz="1688"/>
          </a:p>
          <a:p>
            <a:pPr algn="r">
              <a:lnSpc>
                <a:spcPct val="119959"/>
              </a:lnSpc>
            </a:pPr>
            <a:r>
              <a:rPr lang="en-US" sz="1400">
                <a:solidFill>
                  <a:srgbClr val="000000"/>
                </a:solidFill>
                <a:latin typeface="Arial"/>
                <a:ea typeface="Arial"/>
                <a:cs typeface="Arial"/>
                <a:sym typeface="Arial"/>
              </a:rPr>
              <a:t>Content/Section Title Text – 14</a:t>
            </a:r>
            <a:endParaRPr sz="1688"/>
          </a:p>
          <a:p>
            <a:pPr algn="r">
              <a:lnSpc>
                <a:spcPct val="120015"/>
              </a:lnSpc>
            </a:pPr>
            <a:r>
              <a:rPr lang="en-US" sz="1199">
                <a:solidFill>
                  <a:srgbClr val="000000"/>
                </a:solidFill>
                <a:latin typeface="Arial"/>
                <a:ea typeface="Arial"/>
                <a:cs typeface="Arial"/>
                <a:sym typeface="Arial"/>
              </a:rPr>
              <a:t>Bullet and Subtitle Text – 12</a:t>
            </a:r>
            <a:endParaRPr sz="1688"/>
          </a:p>
          <a:p>
            <a:pPr algn="r">
              <a:lnSpc>
                <a:spcPct val="120075"/>
              </a:lnSpc>
            </a:pPr>
            <a:r>
              <a:rPr lang="en-US" sz="999">
                <a:solidFill>
                  <a:srgbClr val="000000"/>
                </a:solidFill>
                <a:latin typeface="Arial"/>
                <a:ea typeface="Arial"/>
                <a:cs typeface="Arial"/>
                <a:sym typeface="Arial"/>
              </a:rPr>
              <a:t>Chart, Profile, and Currency Text – 10</a:t>
            </a:r>
            <a:endParaRPr sz="1688"/>
          </a:p>
        </p:txBody>
      </p:sp>
      <p:grpSp>
        <p:nvGrpSpPr>
          <p:cNvPr id="566" name="Google Shape;566;p12">
            <a:extLst>
              <a:ext uri="{FF2B5EF4-FFF2-40B4-BE49-F238E27FC236}">
                <a16:creationId xmlns:a16="http://schemas.microsoft.com/office/drawing/2014/main" id="{54C6677C-0603-CE36-2E20-F21B89D7106B}"/>
              </a:ext>
            </a:extLst>
          </p:cNvPr>
          <p:cNvGrpSpPr/>
          <p:nvPr/>
        </p:nvGrpSpPr>
        <p:grpSpPr>
          <a:xfrm>
            <a:off x="-2192501" y="2633500"/>
            <a:ext cx="1970251" cy="496313"/>
            <a:chOff x="0" y="-28575"/>
            <a:chExt cx="2802135" cy="705866"/>
          </a:xfrm>
        </p:grpSpPr>
        <p:sp>
          <p:nvSpPr>
            <p:cNvPr id="567" name="Google Shape;567;p12">
              <a:extLst>
                <a:ext uri="{FF2B5EF4-FFF2-40B4-BE49-F238E27FC236}">
                  <a16:creationId xmlns:a16="http://schemas.microsoft.com/office/drawing/2014/main" id="{8C81F7F6-4BE7-3F8D-3222-12C0D3E07C13}"/>
                </a:ext>
              </a:extLst>
            </p:cNvPr>
            <p:cNvSpPr/>
            <p:nvPr/>
          </p:nvSpPr>
          <p:spPr>
            <a:xfrm>
              <a:off x="0" y="0"/>
              <a:ext cx="2802128" cy="677291"/>
            </a:xfrm>
            <a:custGeom>
              <a:avLst/>
              <a:gdLst/>
              <a:ahLst/>
              <a:cxnLst/>
              <a:rect l="l" t="t" r="r" b="b"/>
              <a:pathLst>
                <a:path w="2802128" h="677291" extrusionOk="0">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68" name="Google Shape;568;p12">
              <a:extLst>
                <a:ext uri="{FF2B5EF4-FFF2-40B4-BE49-F238E27FC236}">
                  <a16:creationId xmlns:a16="http://schemas.microsoft.com/office/drawing/2014/main" id="{596002F0-13AA-74FD-EDAE-D099CCE8BBE2}"/>
                </a:ext>
              </a:extLst>
            </p:cNvPr>
            <p:cNvSpPr txBox="1"/>
            <p:nvPr/>
          </p:nvSpPr>
          <p:spPr>
            <a:xfrm>
              <a:off x="0" y="-28575"/>
              <a:ext cx="2802135" cy="705837"/>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Outline: black, ½ pt.</a:t>
              </a:r>
              <a:endParaRPr sz="1688"/>
            </a:p>
          </p:txBody>
        </p:sp>
      </p:grpSp>
      <p:grpSp>
        <p:nvGrpSpPr>
          <p:cNvPr id="569" name="Google Shape;569;p12">
            <a:extLst>
              <a:ext uri="{FF2B5EF4-FFF2-40B4-BE49-F238E27FC236}">
                <a16:creationId xmlns:a16="http://schemas.microsoft.com/office/drawing/2014/main" id="{E6ED2171-A055-9EEC-6B6F-5A11440696DF}"/>
              </a:ext>
            </a:extLst>
          </p:cNvPr>
          <p:cNvGrpSpPr/>
          <p:nvPr/>
        </p:nvGrpSpPr>
        <p:grpSpPr>
          <a:xfrm>
            <a:off x="-2186151" y="3363382"/>
            <a:ext cx="1957566" cy="486436"/>
            <a:chOff x="0" y="-28575"/>
            <a:chExt cx="2784094" cy="691820"/>
          </a:xfrm>
        </p:grpSpPr>
        <p:sp>
          <p:nvSpPr>
            <p:cNvPr id="570" name="Google Shape;570;p12">
              <a:extLst>
                <a:ext uri="{FF2B5EF4-FFF2-40B4-BE49-F238E27FC236}">
                  <a16:creationId xmlns:a16="http://schemas.microsoft.com/office/drawing/2014/main" id="{F6588F47-BC00-5357-570D-0993EC64DF3A}"/>
                </a:ext>
              </a:extLst>
            </p:cNvPr>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CCD1D7"/>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71" name="Google Shape;571;p12">
              <a:extLst>
                <a:ext uri="{FF2B5EF4-FFF2-40B4-BE49-F238E27FC236}">
                  <a16:creationId xmlns:a16="http://schemas.microsoft.com/office/drawing/2014/main" id="{9CED16A3-6363-9A50-33D7-C422EFFA88D8}"/>
                </a:ext>
              </a:extLst>
            </p:cNvPr>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204 – 209 – 215</a:t>
              </a:r>
              <a:endParaRPr sz="1688"/>
            </a:p>
          </p:txBody>
        </p:sp>
      </p:grpSp>
      <p:grpSp>
        <p:nvGrpSpPr>
          <p:cNvPr id="572" name="Google Shape;572;p12">
            <a:extLst>
              <a:ext uri="{FF2B5EF4-FFF2-40B4-BE49-F238E27FC236}">
                <a16:creationId xmlns:a16="http://schemas.microsoft.com/office/drawing/2014/main" id="{1AD7AEBC-3829-2B8F-5619-228B409CFF60}"/>
              </a:ext>
            </a:extLst>
          </p:cNvPr>
          <p:cNvGrpSpPr/>
          <p:nvPr/>
        </p:nvGrpSpPr>
        <p:grpSpPr>
          <a:xfrm>
            <a:off x="-2186151" y="4089757"/>
            <a:ext cx="1957566" cy="486436"/>
            <a:chOff x="0" y="-28575"/>
            <a:chExt cx="2784094" cy="691820"/>
          </a:xfrm>
        </p:grpSpPr>
        <p:sp>
          <p:nvSpPr>
            <p:cNvPr id="573" name="Google Shape;573;p12">
              <a:extLst>
                <a:ext uri="{FF2B5EF4-FFF2-40B4-BE49-F238E27FC236}">
                  <a16:creationId xmlns:a16="http://schemas.microsoft.com/office/drawing/2014/main" id="{2504180B-F219-8346-DE6C-36CBA495D915}"/>
                </a:ext>
              </a:extLst>
            </p:cNvPr>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485059"/>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74" name="Google Shape;574;p12">
              <a:extLst>
                <a:ext uri="{FF2B5EF4-FFF2-40B4-BE49-F238E27FC236}">
                  <a16:creationId xmlns:a16="http://schemas.microsoft.com/office/drawing/2014/main" id="{45DA98AC-DA77-5E22-7A68-BD197BF72DBE}"/>
                </a:ext>
              </a:extLst>
            </p:cNvPr>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72 – 80 – 89 </a:t>
              </a:r>
              <a:endParaRPr sz="1688"/>
            </a:p>
          </p:txBody>
        </p:sp>
      </p:grpSp>
      <p:grpSp>
        <p:nvGrpSpPr>
          <p:cNvPr id="575" name="Google Shape;575;p12">
            <a:extLst>
              <a:ext uri="{FF2B5EF4-FFF2-40B4-BE49-F238E27FC236}">
                <a16:creationId xmlns:a16="http://schemas.microsoft.com/office/drawing/2014/main" id="{7DA69FD1-D83B-FA9C-5E12-9DF01D1C97D3}"/>
              </a:ext>
            </a:extLst>
          </p:cNvPr>
          <p:cNvGrpSpPr/>
          <p:nvPr/>
        </p:nvGrpSpPr>
        <p:grpSpPr>
          <a:xfrm>
            <a:off x="-2186151" y="4816132"/>
            <a:ext cx="1957566" cy="486436"/>
            <a:chOff x="0" y="-28575"/>
            <a:chExt cx="2784094" cy="691820"/>
          </a:xfrm>
        </p:grpSpPr>
        <p:sp>
          <p:nvSpPr>
            <p:cNvPr id="576" name="Google Shape;576;p12">
              <a:extLst>
                <a:ext uri="{FF2B5EF4-FFF2-40B4-BE49-F238E27FC236}">
                  <a16:creationId xmlns:a16="http://schemas.microsoft.com/office/drawing/2014/main" id="{3AAA6544-3EBF-A01A-DBD6-79E2BBA94BCA}"/>
                </a:ext>
              </a:extLst>
            </p:cNvPr>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5E7C9E"/>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77" name="Google Shape;577;p12">
              <a:extLst>
                <a:ext uri="{FF2B5EF4-FFF2-40B4-BE49-F238E27FC236}">
                  <a16:creationId xmlns:a16="http://schemas.microsoft.com/office/drawing/2014/main" id="{B20E579C-918A-478A-FCDE-191147A814FD}"/>
                </a:ext>
              </a:extLst>
            </p:cNvPr>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94 – 124 – 158</a:t>
              </a:r>
              <a:endParaRPr sz="1688"/>
            </a:p>
          </p:txBody>
        </p:sp>
      </p:grpSp>
      <p:grpSp>
        <p:nvGrpSpPr>
          <p:cNvPr id="578" name="Google Shape;578;p12">
            <a:extLst>
              <a:ext uri="{FF2B5EF4-FFF2-40B4-BE49-F238E27FC236}">
                <a16:creationId xmlns:a16="http://schemas.microsoft.com/office/drawing/2014/main" id="{F330CAA6-6688-C98B-3A74-49DFD15D48D7}"/>
              </a:ext>
            </a:extLst>
          </p:cNvPr>
          <p:cNvGrpSpPr/>
          <p:nvPr/>
        </p:nvGrpSpPr>
        <p:grpSpPr>
          <a:xfrm>
            <a:off x="-2186151" y="5542509"/>
            <a:ext cx="1957566" cy="486436"/>
            <a:chOff x="0" y="-28575"/>
            <a:chExt cx="2784094" cy="691820"/>
          </a:xfrm>
        </p:grpSpPr>
        <p:sp>
          <p:nvSpPr>
            <p:cNvPr id="579" name="Google Shape;579;p12">
              <a:extLst>
                <a:ext uri="{FF2B5EF4-FFF2-40B4-BE49-F238E27FC236}">
                  <a16:creationId xmlns:a16="http://schemas.microsoft.com/office/drawing/2014/main" id="{FE172399-CD57-AE62-1874-A06C8852A99D}"/>
                </a:ext>
              </a:extLst>
            </p:cNvPr>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80" name="Google Shape;580;p12">
              <a:extLst>
                <a:ext uri="{FF2B5EF4-FFF2-40B4-BE49-F238E27FC236}">
                  <a16:creationId xmlns:a16="http://schemas.microsoft.com/office/drawing/2014/main" id="{F75403DD-4B9A-FEE4-49D4-546EB7618119}"/>
                </a:ext>
              </a:extLst>
            </p:cNvPr>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17 – 61 – 99</a:t>
              </a:r>
              <a:endParaRPr sz="1688"/>
            </a:p>
          </p:txBody>
        </p:sp>
      </p:grpSp>
      <p:grpSp>
        <p:nvGrpSpPr>
          <p:cNvPr id="581" name="Google Shape;581;p12">
            <a:extLst>
              <a:ext uri="{FF2B5EF4-FFF2-40B4-BE49-F238E27FC236}">
                <a16:creationId xmlns:a16="http://schemas.microsoft.com/office/drawing/2014/main" id="{0D3368F0-2810-1C39-B7C5-0A2406A8D497}"/>
              </a:ext>
            </a:extLst>
          </p:cNvPr>
          <p:cNvGrpSpPr/>
          <p:nvPr/>
        </p:nvGrpSpPr>
        <p:grpSpPr>
          <a:xfrm>
            <a:off x="-2186151" y="1916319"/>
            <a:ext cx="1957566" cy="483632"/>
            <a:chOff x="0" y="-28575"/>
            <a:chExt cx="2784094" cy="687832"/>
          </a:xfrm>
        </p:grpSpPr>
        <p:sp>
          <p:nvSpPr>
            <p:cNvPr id="582" name="Google Shape;582;p12">
              <a:extLst>
                <a:ext uri="{FF2B5EF4-FFF2-40B4-BE49-F238E27FC236}">
                  <a16:creationId xmlns:a16="http://schemas.microsoft.com/office/drawing/2014/main" id="{041C0E9B-8ED2-5203-B919-8489E994154F}"/>
                </a:ext>
              </a:extLst>
            </p:cNvPr>
            <p:cNvSpPr/>
            <p:nvPr/>
          </p:nvSpPr>
          <p:spPr>
            <a:xfrm>
              <a:off x="0" y="0"/>
              <a:ext cx="2784094" cy="659257"/>
            </a:xfrm>
            <a:custGeom>
              <a:avLst/>
              <a:gdLst/>
              <a:ahLst/>
              <a:cxnLst/>
              <a:rect l="l" t="t" r="r" b="b"/>
              <a:pathLst>
                <a:path w="2784094" h="659257" extrusionOk="0">
                  <a:moveTo>
                    <a:pt x="0" y="0"/>
                  </a:moveTo>
                  <a:lnTo>
                    <a:pt x="2784094" y="0"/>
                  </a:lnTo>
                  <a:lnTo>
                    <a:pt x="2784094" y="659257"/>
                  </a:lnTo>
                  <a:lnTo>
                    <a:pt x="0" y="659257"/>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83" name="Google Shape;583;p12">
              <a:extLst>
                <a:ext uri="{FF2B5EF4-FFF2-40B4-BE49-F238E27FC236}">
                  <a16:creationId xmlns:a16="http://schemas.microsoft.com/office/drawing/2014/main" id="{42B3E8E5-E493-CCD8-FDE3-D4D91BD77450}"/>
                </a:ext>
              </a:extLst>
            </p:cNvPr>
            <p:cNvSpPr txBox="1"/>
            <p:nvPr/>
          </p:nvSpPr>
          <p:spPr>
            <a:xfrm>
              <a:off x="0" y="-28575"/>
              <a:ext cx="2784073" cy="687775"/>
            </a:xfrm>
            <a:prstGeom prst="rect">
              <a:avLst/>
            </a:prstGeom>
            <a:noFill/>
            <a:ln>
              <a:noFill/>
            </a:ln>
          </p:spPr>
          <p:txBody>
            <a:bodyPr spcFirstLastPara="1" wrap="square" lIns="47625" tIns="47625" rIns="47625" bIns="47625" anchor="ctr" anchorCtr="0">
              <a:noAutofit/>
            </a:bodyPr>
            <a:lstStyle/>
            <a:p>
              <a:pPr marL="154432" lvl="1" indent="-76140">
                <a:lnSpc>
                  <a:spcPct val="120015"/>
                </a:lnSpc>
                <a:buClr>
                  <a:srgbClr val="FFFFFF"/>
                </a:buClr>
                <a:buSzPts val="1279"/>
                <a:buFont typeface="Arial"/>
                <a:buChar char="•"/>
              </a:pPr>
              <a:r>
                <a:rPr lang="en-US" sz="1199">
                  <a:solidFill>
                    <a:srgbClr val="FFFFFF"/>
                  </a:solidFill>
                  <a:latin typeface="Arial"/>
                  <a:ea typeface="Arial"/>
                  <a:cs typeface="Arial"/>
                  <a:sym typeface="Arial"/>
                </a:rPr>
                <a:t>Normal shapes w/ text</a:t>
              </a:r>
              <a:endParaRPr sz="1688"/>
            </a:p>
          </p:txBody>
        </p:sp>
      </p:grpSp>
      <p:sp>
        <p:nvSpPr>
          <p:cNvPr id="584" name="Google Shape;584;p12">
            <a:extLst>
              <a:ext uri="{FF2B5EF4-FFF2-40B4-BE49-F238E27FC236}">
                <a16:creationId xmlns:a16="http://schemas.microsoft.com/office/drawing/2014/main" id="{9CA5627F-63DC-1BE2-C4BE-7EA2645527BF}"/>
              </a:ext>
            </a:extLst>
          </p:cNvPr>
          <p:cNvSpPr txBox="1"/>
          <p:nvPr/>
        </p:nvSpPr>
        <p:spPr>
          <a:xfrm>
            <a:off x="239485" y="6382553"/>
            <a:ext cx="3537857" cy="332399"/>
          </a:xfrm>
          <a:prstGeom prst="rect">
            <a:avLst/>
          </a:prstGeom>
          <a:noFill/>
          <a:ln>
            <a:noFill/>
          </a:ln>
        </p:spPr>
        <p:txBody>
          <a:bodyPr spcFirstLastPara="1" wrap="square" lIns="0" tIns="0" rIns="0" bIns="0" anchor="t" anchorCtr="0">
            <a:spAutoFit/>
          </a:bodyPr>
          <a:lstStyle/>
          <a:p>
            <a:pPr>
              <a:lnSpc>
                <a:spcPct val="120000"/>
              </a:lnSpc>
            </a:pPr>
            <a:r>
              <a:rPr lang="en-US">
                <a:solidFill>
                  <a:srgbClr val="2A90BC"/>
                </a:solidFill>
                <a:latin typeface="Arimo"/>
                <a:ea typeface="Arimo"/>
                <a:cs typeface="Arimo"/>
                <a:sym typeface="Arimo"/>
              </a:rPr>
              <a:t>ESSEC Capital Investments Club</a:t>
            </a:r>
            <a:endParaRPr sz="1688"/>
          </a:p>
        </p:txBody>
      </p:sp>
      <p:cxnSp>
        <p:nvCxnSpPr>
          <p:cNvPr id="585" name="Google Shape;585;p12">
            <a:extLst>
              <a:ext uri="{FF2B5EF4-FFF2-40B4-BE49-F238E27FC236}">
                <a16:creationId xmlns:a16="http://schemas.microsoft.com/office/drawing/2014/main" id="{ED555B89-6A59-EB95-7F25-BEFCBA33EBE3}"/>
              </a:ext>
            </a:extLst>
          </p:cNvPr>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586" name="Google Shape;586;p12">
            <a:extLst>
              <a:ext uri="{FF2B5EF4-FFF2-40B4-BE49-F238E27FC236}">
                <a16:creationId xmlns:a16="http://schemas.microsoft.com/office/drawing/2014/main" id="{C8943344-DE2B-5302-31F9-B73F7210995F}"/>
              </a:ext>
            </a:extLst>
          </p:cNvPr>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cxnSp>
        <p:nvCxnSpPr>
          <p:cNvPr id="587" name="Google Shape;587;p12">
            <a:extLst>
              <a:ext uri="{FF2B5EF4-FFF2-40B4-BE49-F238E27FC236}">
                <a16:creationId xmlns:a16="http://schemas.microsoft.com/office/drawing/2014/main" id="{3EDFEBE8-C0EF-101E-8308-79010D22AA6E}"/>
              </a:ext>
            </a:extLst>
          </p:cNvPr>
          <p:cNvCxnSpPr/>
          <p:nvPr/>
        </p:nvCxnSpPr>
        <p:spPr>
          <a:xfrm rot="8930">
            <a:off x="-11128" y="6240264"/>
            <a:ext cx="9166256" cy="0"/>
          </a:xfrm>
          <a:prstGeom prst="straightConnector1">
            <a:avLst/>
          </a:prstGeom>
          <a:noFill/>
          <a:ln w="19050" cap="rnd" cmpd="sng">
            <a:solidFill>
              <a:srgbClr val="39598F"/>
            </a:solidFill>
            <a:prstDash val="solid"/>
            <a:round/>
            <a:headEnd type="none" w="sm" len="sm"/>
            <a:tailEnd type="none" w="sm" len="sm"/>
          </a:ln>
        </p:spPr>
      </p:cxnSp>
      <p:sp>
        <p:nvSpPr>
          <p:cNvPr id="588" name="Google Shape;588;p12">
            <a:extLst>
              <a:ext uri="{FF2B5EF4-FFF2-40B4-BE49-F238E27FC236}">
                <a16:creationId xmlns:a16="http://schemas.microsoft.com/office/drawing/2014/main" id="{3666B92E-6AEB-1563-6376-3BAB4B54B90D}"/>
              </a:ext>
            </a:extLst>
          </p:cNvPr>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9" b="-138"/>
            </a:stretch>
          </a:blip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89" name="Google Shape;589;p12">
            <a:extLst>
              <a:ext uri="{FF2B5EF4-FFF2-40B4-BE49-F238E27FC236}">
                <a16:creationId xmlns:a16="http://schemas.microsoft.com/office/drawing/2014/main" id="{B41CDC6B-0B12-F446-198A-466666512DF0}"/>
              </a:ext>
            </a:extLst>
          </p:cNvPr>
          <p:cNvSpPr txBox="1"/>
          <p:nvPr/>
        </p:nvSpPr>
        <p:spPr>
          <a:xfrm>
            <a:off x="64294" y="455032"/>
            <a:ext cx="3985673" cy="398764"/>
          </a:xfrm>
          <a:prstGeom prst="rect">
            <a:avLst/>
          </a:prstGeom>
          <a:noFill/>
          <a:ln>
            <a:noFill/>
          </a:ln>
        </p:spPr>
        <p:txBody>
          <a:bodyPr spcFirstLastPara="1" wrap="square" lIns="0" tIns="0" rIns="0" bIns="0" anchor="t" anchorCtr="0">
            <a:spAutoFit/>
          </a:bodyPr>
          <a:lstStyle/>
          <a:p>
            <a:pPr>
              <a:lnSpc>
                <a:spcPct val="108010"/>
              </a:lnSpc>
            </a:pPr>
            <a:r>
              <a:rPr lang="en-US" sz="2399" dirty="0">
                <a:solidFill>
                  <a:srgbClr val="333F44"/>
                </a:solidFill>
                <a:latin typeface="Open Sans Light"/>
                <a:ea typeface="Open Sans Light"/>
                <a:cs typeface="Open Sans Light"/>
                <a:sym typeface="Open Sans Light"/>
              </a:rPr>
              <a:t>Catalyst path</a:t>
            </a:r>
            <a:endParaRPr sz="1688" dirty="0"/>
          </a:p>
        </p:txBody>
      </p:sp>
      <p:graphicFrame>
        <p:nvGraphicFramePr>
          <p:cNvPr id="2" name="Tableau 1">
            <a:extLst>
              <a:ext uri="{FF2B5EF4-FFF2-40B4-BE49-F238E27FC236}">
                <a16:creationId xmlns:a16="http://schemas.microsoft.com/office/drawing/2014/main" id="{CD7B88A7-3902-A665-DE34-B6D6B3DB0CF1}"/>
              </a:ext>
            </a:extLst>
          </p:cNvPr>
          <p:cNvGraphicFramePr>
            <a:graphicFrameLocks noGrp="1"/>
          </p:cNvGraphicFramePr>
          <p:nvPr>
            <p:extLst>
              <p:ext uri="{D42A27DB-BD31-4B8C-83A1-F6EECF244321}">
                <p14:modId xmlns:p14="http://schemas.microsoft.com/office/powerpoint/2010/main" val="1037290891"/>
              </p:ext>
            </p:extLst>
          </p:nvPr>
        </p:nvGraphicFramePr>
        <p:xfrm>
          <a:off x="335178" y="1390747"/>
          <a:ext cx="8219100" cy="4520860"/>
        </p:xfrm>
        <a:graphic>
          <a:graphicData uri="http://schemas.openxmlformats.org/drawingml/2006/table">
            <a:tbl>
              <a:tblPr firstRow="1" firstCol="1" bandRow="1">
                <a:tableStyleId>{3B4B98B0-60AC-42C2-AFA5-B58CD77FA1E5}</a:tableStyleId>
              </a:tblPr>
              <a:tblGrid>
                <a:gridCol w="1468166">
                  <a:extLst>
                    <a:ext uri="{9D8B030D-6E8A-4147-A177-3AD203B41FA5}">
                      <a16:colId xmlns:a16="http://schemas.microsoft.com/office/drawing/2014/main" val="3141864898"/>
                    </a:ext>
                  </a:extLst>
                </a:gridCol>
                <a:gridCol w="2086666">
                  <a:extLst>
                    <a:ext uri="{9D8B030D-6E8A-4147-A177-3AD203B41FA5}">
                      <a16:colId xmlns:a16="http://schemas.microsoft.com/office/drawing/2014/main" val="2096812899"/>
                    </a:ext>
                  </a:extLst>
                </a:gridCol>
                <a:gridCol w="4664268">
                  <a:extLst>
                    <a:ext uri="{9D8B030D-6E8A-4147-A177-3AD203B41FA5}">
                      <a16:colId xmlns:a16="http://schemas.microsoft.com/office/drawing/2014/main" val="2482046253"/>
                    </a:ext>
                  </a:extLst>
                </a:gridCol>
              </a:tblGrid>
              <a:tr h="257300">
                <a:tc>
                  <a:txBody>
                    <a:bodyPr/>
                    <a:lstStyle/>
                    <a:p>
                      <a:pPr algn="ctr">
                        <a:buNone/>
                      </a:pPr>
                      <a:r>
                        <a:rPr lang="en-US" sz="1000" kern="100">
                          <a:effectLst/>
                        </a:rPr>
                        <a:t>Horizon</a:t>
                      </a:r>
                      <a:endParaRPr lang="fr-FR" sz="1000" kern="100">
                        <a:effectLst/>
                        <a:latin typeface="Times New Roman" panose="02020603050405020304" pitchFamily="18"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000" kern="100">
                          <a:effectLst/>
                        </a:rPr>
                        <a:t>Event catalyst</a:t>
                      </a:r>
                      <a:endParaRPr lang="fr-FR" sz="1000" kern="100">
                        <a:effectLst/>
                        <a:latin typeface="Times New Roman" panose="02020603050405020304" pitchFamily="18"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000" kern="100" dirty="0">
                          <a:effectLst/>
                        </a:rPr>
                        <a:t>Expected impact</a:t>
                      </a:r>
                      <a:endParaRPr lang="fr-FR" sz="1000" kern="100" dirty="0">
                        <a:effectLst/>
                        <a:latin typeface="Times New Roman" panose="02020603050405020304" pitchFamily="18"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3592040"/>
                  </a:ext>
                </a:extLst>
              </a:tr>
              <a:tr h="1021986">
                <a:tc>
                  <a:txBody>
                    <a:bodyPr/>
                    <a:lstStyle/>
                    <a:p>
                      <a:pPr>
                        <a:buNone/>
                      </a:pPr>
                      <a:r>
                        <a:rPr lang="en-US" sz="1000" kern="100">
                          <a:effectLst/>
                        </a:rPr>
                        <a:t>Q1 2026</a:t>
                      </a:r>
                      <a:endParaRPr lang="fr-FR" sz="1000" kern="100">
                        <a:effectLst/>
                        <a:latin typeface="Times New Roman" panose="02020603050405020304" pitchFamily="18"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FR" sz="1000" kern="100">
                          <a:effectLst/>
                        </a:rPr>
                        <a:t>"Hard-to-abate" contract signings</a:t>
                      </a:r>
                      <a:endParaRPr lang="fr-FR" sz="1000" kern="100">
                        <a:effectLst/>
                        <a:latin typeface="Times New Roman" panose="02020603050405020304" pitchFamily="18"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fr-FR" sz="1000" kern="100">
                          <a:effectLst/>
                        </a:rPr>
                        <a:t>Backlog Acceleration &amp; Risk Reduction: Signing 15-20 year take-or-pay contracts with steel (Thyssenkrupp) and cement giants. This provides a massive boost to the investment backlog and proves that decarbonization is a concrete revenue stream. It mechanically lowers the equity risk premium in DCF models, as long-term cash flow visibility reaches record levels.</a:t>
                      </a:r>
                      <a:endParaRPr lang="fr-FR" sz="1000" kern="100">
                        <a:effectLst/>
                        <a:latin typeface="Times New Roman" panose="02020603050405020304" pitchFamily="18"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0664066"/>
                  </a:ext>
                </a:extLst>
              </a:tr>
              <a:tr h="875989">
                <a:tc>
                  <a:txBody>
                    <a:bodyPr/>
                    <a:lstStyle/>
                    <a:p>
                      <a:pPr>
                        <a:buNone/>
                      </a:pPr>
                      <a:r>
                        <a:rPr lang="en-US" sz="1000" kern="100">
                          <a:effectLst/>
                        </a:rPr>
                        <a:t>Q2 2026</a:t>
                      </a:r>
                      <a:endParaRPr lang="fr-FR" sz="1000" kern="100">
                        <a:effectLst/>
                        <a:latin typeface="Times New Roman" panose="02020603050405020304" pitchFamily="18"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FR" sz="1000" kern="100">
                          <a:effectLst/>
                        </a:rPr>
                        <a:t>Commissioning of giant projects</a:t>
                      </a:r>
                      <a:endParaRPr lang="fr-FR" sz="1000" kern="100">
                        <a:effectLst/>
                        <a:latin typeface="Times New Roman" panose="02020603050405020304" pitchFamily="18"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fr-FR" sz="1000" kern="100">
                          <a:effectLst/>
                        </a:rPr>
                        <a:t>The operational launch of units like Normand'Hy (200 MW electrolyzer) marks the shift from R&amp;D to industrial scale. We expect an immediate uplift in the Large Industries segment's operating margin. This will also trigger the recognition of government operational subsidies (OPEX support), directly flowing into the EBITDA.</a:t>
                      </a:r>
                      <a:endParaRPr lang="fr-FR" sz="1000" kern="100">
                        <a:effectLst/>
                        <a:latin typeface="Aptos" panose="020B0004020202020204" pitchFamily="34"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1106903"/>
                  </a:ext>
                </a:extLst>
              </a:tr>
              <a:tr h="875989">
                <a:tc>
                  <a:txBody>
                    <a:bodyPr/>
                    <a:lstStyle/>
                    <a:p>
                      <a:pPr>
                        <a:buNone/>
                      </a:pPr>
                      <a:r>
                        <a:rPr lang="en-US" sz="1000" kern="100">
                          <a:effectLst/>
                        </a:rPr>
                        <a:t>Q3 2026</a:t>
                      </a:r>
                      <a:endParaRPr lang="fr-FR" sz="1000" kern="100">
                        <a:effectLst/>
                        <a:latin typeface="Times New Roman" panose="02020603050405020304" pitchFamily="18"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FR" sz="1000" kern="100">
                          <a:effectLst/>
                        </a:rPr>
                        <a:t>Central Bank pivot (ECB/Fed)</a:t>
                      </a:r>
                      <a:endParaRPr lang="fr-FR" sz="1000" kern="100">
                        <a:effectLst/>
                        <a:latin typeface="Times New Roman" panose="02020603050405020304" pitchFamily="18"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fr-FR" sz="1000" kern="100">
                          <a:effectLst/>
                        </a:rPr>
                        <a:t>As a capital-intensive "Bond Proxy," Air Liquide is highly sensitive to interest rates. A pivot lowers the WACC (Weighted Average Cost of Capital), making future green projects more NPV-positive. Historically, lower rates trigger a rotation into high-quality yield stocks, driving a re-rating of the P/E multiple toward its 5-year high.</a:t>
                      </a:r>
                      <a:endParaRPr lang="fr-FR" sz="1000" kern="100">
                        <a:effectLst/>
                        <a:latin typeface="Aptos" panose="020B0004020202020204" pitchFamily="34"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4784502"/>
                  </a:ext>
                </a:extLst>
              </a:tr>
              <a:tr h="875989">
                <a:tc>
                  <a:txBody>
                    <a:bodyPr/>
                    <a:lstStyle/>
                    <a:p>
                      <a:pPr>
                        <a:buNone/>
                      </a:pPr>
                      <a:r>
                        <a:rPr lang="en-US" sz="1000" kern="100">
                          <a:effectLst/>
                        </a:rPr>
                        <a:t>Q3 2026</a:t>
                      </a:r>
                      <a:endParaRPr lang="fr-FR" sz="1000" kern="100">
                        <a:effectLst/>
                        <a:latin typeface="Times New Roman" panose="02020603050405020304" pitchFamily="18"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FR" sz="1000" kern="100">
                          <a:effectLst/>
                        </a:rPr>
                        <a:t>Acceleration of Electronics demand</a:t>
                      </a:r>
                      <a:endParaRPr lang="fr-FR" sz="1000" kern="100">
                        <a:effectLst/>
                        <a:latin typeface="Times New Roman" panose="02020603050405020304" pitchFamily="18"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fr-FR" sz="1000" kern="100">
                          <a:effectLst/>
                        </a:rPr>
                        <a:t>The ramp-up of new semiconductor Giga-fabs (TSMC, Intel) in Arizona and Germany will spike demand for carrier gases and extreme-purity materials. Since the Electronics branch carries significantly higher margins than the group average, this "mix effect" will drive a disproportionate increase in net earnings per share (EPS).</a:t>
                      </a:r>
                      <a:endParaRPr lang="fr-FR" sz="1000" kern="100">
                        <a:effectLst/>
                        <a:latin typeface="Aptos" panose="020B0004020202020204" pitchFamily="34"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1928952"/>
                  </a:ext>
                </a:extLst>
              </a:tr>
              <a:tr h="613607">
                <a:tc>
                  <a:txBody>
                    <a:bodyPr/>
                    <a:lstStyle/>
                    <a:p>
                      <a:pPr>
                        <a:buNone/>
                      </a:pPr>
                      <a:r>
                        <a:rPr lang="en-US" sz="1000" kern="100">
                          <a:effectLst/>
                        </a:rPr>
                        <a:t>Recurrent</a:t>
                      </a:r>
                      <a:endParaRPr lang="fr-FR" sz="1000" kern="100">
                        <a:effectLst/>
                        <a:latin typeface="Times New Roman" panose="02020603050405020304" pitchFamily="18"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FR" sz="1000" kern="100">
                          <a:effectLst/>
                        </a:rPr>
                        <a:t>Awarding of free shares</a:t>
                      </a:r>
                      <a:endParaRPr lang="fr-FR" sz="1000" kern="100">
                        <a:effectLst/>
                        <a:latin typeface="Times New Roman" panose="02020603050405020304" pitchFamily="18"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fr-FR" sz="1000" kern="100" dirty="0" err="1">
                          <a:effectLst/>
                        </a:rPr>
                        <a:t>Usually</a:t>
                      </a:r>
                      <a:r>
                        <a:rPr lang="fr-FR" sz="1000" kern="100" dirty="0">
                          <a:effectLst/>
                        </a:rPr>
                        <a:t> </a:t>
                      </a:r>
                      <a:r>
                        <a:rPr lang="fr-FR" sz="1000" kern="100" dirty="0" err="1">
                          <a:effectLst/>
                        </a:rPr>
                        <a:t>executed</a:t>
                      </a:r>
                      <a:r>
                        <a:rPr lang="fr-FR" sz="1000" kern="100" dirty="0">
                          <a:effectLst/>
                        </a:rPr>
                        <a:t> on a 1-for-10 basis </a:t>
                      </a:r>
                      <a:r>
                        <a:rPr lang="fr-FR" sz="1000" kern="100" dirty="0" err="1">
                          <a:effectLst/>
                        </a:rPr>
                        <a:t>every</a:t>
                      </a:r>
                      <a:r>
                        <a:rPr lang="fr-FR" sz="1000" kern="100" dirty="0">
                          <a:effectLst/>
                        </a:rPr>
                        <a:t> </a:t>
                      </a:r>
                      <a:r>
                        <a:rPr lang="fr-FR" sz="1000" kern="100" dirty="0" err="1">
                          <a:effectLst/>
                        </a:rPr>
                        <a:t>two</a:t>
                      </a:r>
                      <a:r>
                        <a:rPr lang="fr-FR" sz="1000" kern="100" dirty="0">
                          <a:effectLst/>
                        </a:rPr>
                        <a:t> </a:t>
                      </a:r>
                      <a:r>
                        <a:rPr lang="fr-FR" sz="1000" kern="100" dirty="0" err="1">
                          <a:effectLst/>
                        </a:rPr>
                        <a:t>years</a:t>
                      </a:r>
                      <a:r>
                        <a:rPr lang="fr-FR" sz="1000" kern="100" dirty="0">
                          <a:effectLst/>
                        </a:rPr>
                        <a:t>. This </a:t>
                      </a:r>
                      <a:r>
                        <a:rPr lang="fr-FR" sz="1000" kern="100" dirty="0" err="1">
                          <a:effectLst/>
                        </a:rPr>
                        <a:t>operation</a:t>
                      </a:r>
                      <a:r>
                        <a:rPr lang="fr-FR" sz="1000" kern="100" dirty="0">
                          <a:effectLst/>
                        </a:rPr>
                        <a:t> </a:t>
                      </a:r>
                      <a:r>
                        <a:rPr lang="fr-FR" sz="1000" kern="100" dirty="0" err="1">
                          <a:effectLst/>
                        </a:rPr>
                        <a:t>technically</a:t>
                      </a:r>
                      <a:r>
                        <a:rPr lang="fr-FR" sz="1000" kern="100" dirty="0">
                          <a:effectLst/>
                        </a:rPr>
                        <a:t> </a:t>
                      </a:r>
                      <a:r>
                        <a:rPr lang="fr-FR" sz="1000" kern="100" dirty="0" err="1">
                          <a:effectLst/>
                        </a:rPr>
                        <a:t>lowers</a:t>
                      </a:r>
                      <a:r>
                        <a:rPr lang="fr-FR" sz="1000" kern="100" dirty="0">
                          <a:effectLst/>
                        </a:rPr>
                        <a:t> the </a:t>
                      </a:r>
                      <a:r>
                        <a:rPr lang="fr-FR" sz="1000" kern="100" dirty="0" err="1">
                          <a:effectLst/>
                        </a:rPr>
                        <a:t>price</a:t>
                      </a:r>
                      <a:r>
                        <a:rPr lang="fr-FR" sz="1000" kern="100" dirty="0">
                          <a:effectLst/>
                        </a:rPr>
                        <a:t> per </a:t>
                      </a:r>
                      <a:r>
                        <a:rPr lang="fr-FR" sz="1000" kern="100" dirty="0" err="1">
                          <a:effectLst/>
                        </a:rPr>
                        <a:t>share</a:t>
                      </a:r>
                      <a:r>
                        <a:rPr lang="fr-FR" sz="1000" kern="100" dirty="0">
                          <a:effectLst/>
                        </a:rPr>
                        <a:t>, </a:t>
                      </a:r>
                      <a:r>
                        <a:rPr lang="fr-FR" sz="1000" kern="100" dirty="0" err="1">
                          <a:effectLst/>
                        </a:rPr>
                        <a:t>increasing</a:t>
                      </a:r>
                      <a:r>
                        <a:rPr lang="fr-FR" sz="1000" kern="100" dirty="0">
                          <a:effectLst/>
                        </a:rPr>
                        <a:t> </a:t>
                      </a:r>
                      <a:r>
                        <a:rPr lang="fr-FR" sz="1000" kern="100" dirty="0" err="1">
                          <a:effectLst/>
                        </a:rPr>
                        <a:t>liquidity</a:t>
                      </a:r>
                      <a:r>
                        <a:rPr lang="fr-FR" sz="1000" kern="100" dirty="0">
                          <a:effectLst/>
                        </a:rPr>
                        <a:t>. </a:t>
                      </a:r>
                      <a:r>
                        <a:rPr lang="fr-FR" sz="1000" kern="100" dirty="0" err="1">
                          <a:effectLst/>
                        </a:rPr>
                        <a:t>Historically</a:t>
                      </a:r>
                      <a:r>
                        <a:rPr lang="fr-FR" sz="1000" kern="100" dirty="0">
                          <a:effectLst/>
                        </a:rPr>
                        <a:t>, the "dilution" </a:t>
                      </a:r>
                      <a:r>
                        <a:rPr lang="fr-FR" sz="1000" kern="100" dirty="0" err="1">
                          <a:effectLst/>
                        </a:rPr>
                        <a:t>is</a:t>
                      </a:r>
                      <a:r>
                        <a:rPr lang="fr-FR" sz="1000" kern="100" dirty="0">
                          <a:effectLst/>
                        </a:rPr>
                        <a:t> </a:t>
                      </a:r>
                      <a:r>
                        <a:rPr lang="fr-FR" sz="1000" kern="100" dirty="0" err="1">
                          <a:effectLst/>
                        </a:rPr>
                        <a:t>closed</a:t>
                      </a:r>
                      <a:r>
                        <a:rPr lang="fr-FR" sz="1000" kern="100" dirty="0">
                          <a:effectLst/>
                        </a:rPr>
                        <a:t> by the </a:t>
                      </a:r>
                      <a:r>
                        <a:rPr lang="fr-FR" sz="1000" kern="100" dirty="0" err="1">
                          <a:effectLst/>
                        </a:rPr>
                        <a:t>market</a:t>
                      </a:r>
                      <a:r>
                        <a:rPr lang="fr-FR" sz="1000" kern="100" dirty="0">
                          <a:effectLst/>
                        </a:rPr>
                        <a:t> </a:t>
                      </a:r>
                      <a:r>
                        <a:rPr lang="fr-FR" sz="1000" kern="100" dirty="0" err="1">
                          <a:effectLst/>
                        </a:rPr>
                        <a:t>within</a:t>
                      </a:r>
                      <a:r>
                        <a:rPr lang="fr-FR" sz="1000" kern="100" dirty="0">
                          <a:effectLst/>
                        </a:rPr>
                        <a:t> </a:t>
                      </a:r>
                      <a:r>
                        <a:rPr lang="fr-FR" sz="1000" kern="100" dirty="0" err="1">
                          <a:effectLst/>
                        </a:rPr>
                        <a:t>months</a:t>
                      </a:r>
                      <a:r>
                        <a:rPr lang="fr-FR" sz="1000" kern="100" dirty="0">
                          <a:effectLst/>
                        </a:rPr>
                        <a:t> due to the </a:t>
                      </a:r>
                      <a:r>
                        <a:rPr lang="fr-FR" sz="1000" kern="100" dirty="0" err="1">
                          <a:effectLst/>
                        </a:rPr>
                        <a:t>strong</a:t>
                      </a:r>
                      <a:r>
                        <a:rPr lang="fr-FR" sz="1000" kern="100" dirty="0">
                          <a:effectLst/>
                        </a:rPr>
                        <a:t> </a:t>
                      </a:r>
                      <a:r>
                        <a:rPr lang="fr-FR" sz="1000" kern="100" dirty="0" err="1">
                          <a:effectLst/>
                        </a:rPr>
                        <a:t>buy-side</a:t>
                      </a:r>
                      <a:r>
                        <a:rPr lang="fr-FR" sz="1000" kern="100" dirty="0">
                          <a:effectLst/>
                        </a:rPr>
                        <a:t> </a:t>
                      </a:r>
                      <a:r>
                        <a:rPr lang="fr-FR" sz="1000" kern="100" dirty="0" err="1">
                          <a:effectLst/>
                        </a:rPr>
                        <a:t>demand</a:t>
                      </a:r>
                      <a:r>
                        <a:rPr lang="fr-FR" sz="1000" kern="100" dirty="0">
                          <a:effectLst/>
                        </a:rPr>
                        <a:t>.</a:t>
                      </a:r>
                      <a:endParaRPr lang="fr-FR" sz="1000" kern="100" dirty="0">
                        <a:effectLst/>
                        <a:latin typeface="Aptos" panose="020B0004020202020204" pitchFamily="34" charset="0"/>
                        <a:ea typeface="Times New Roman" panose="02020603050405020304" pitchFamily="18" charset="0"/>
                      </a:endParaRPr>
                    </a:p>
                  </a:txBody>
                  <a:tcPr marL="59336" marR="5933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3887264"/>
                  </a:ext>
                </a:extLst>
              </a:tr>
            </a:tbl>
          </a:graphicData>
        </a:graphic>
      </p:graphicFrame>
    </p:spTree>
    <p:extLst>
      <p:ext uri="{BB962C8B-B14F-4D97-AF65-F5344CB8AC3E}">
        <p14:creationId xmlns:p14="http://schemas.microsoft.com/office/powerpoint/2010/main" val="1259815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4">
          <a:extLst>
            <a:ext uri="{FF2B5EF4-FFF2-40B4-BE49-F238E27FC236}">
              <a16:creationId xmlns:a16="http://schemas.microsoft.com/office/drawing/2014/main" id="{8777E65D-36FD-2569-22E6-1300AC37A818}"/>
            </a:ext>
          </a:extLst>
        </p:cNvPr>
        <p:cNvGrpSpPr/>
        <p:nvPr/>
      </p:nvGrpSpPr>
      <p:grpSpPr>
        <a:xfrm>
          <a:off x="0" y="0"/>
          <a:ext cx="0" cy="0"/>
          <a:chOff x="0" y="0"/>
          <a:chExt cx="0" cy="0"/>
        </a:xfrm>
      </p:grpSpPr>
      <p:sp>
        <p:nvSpPr>
          <p:cNvPr id="565" name="Google Shape;565;p12">
            <a:extLst>
              <a:ext uri="{FF2B5EF4-FFF2-40B4-BE49-F238E27FC236}">
                <a16:creationId xmlns:a16="http://schemas.microsoft.com/office/drawing/2014/main" id="{E5C5C1BA-C532-8B82-89B2-B613040D9D14}"/>
              </a:ext>
            </a:extLst>
          </p:cNvPr>
          <p:cNvSpPr txBox="1"/>
          <p:nvPr/>
        </p:nvSpPr>
        <p:spPr>
          <a:xfrm>
            <a:off x="-3429000" y="342186"/>
            <a:ext cx="3200400" cy="1107611"/>
          </a:xfrm>
          <a:prstGeom prst="rect">
            <a:avLst/>
          </a:prstGeom>
          <a:noFill/>
          <a:ln>
            <a:noFill/>
          </a:ln>
        </p:spPr>
        <p:txBody>
          <a:bodyPr spcFirstLastPara="1" wrap="square" lIns="0" tIns="0" rIns="0" bIns="0" anchor="t" anchorCtr="0">
            <a:spAutoFit/>
          </a:bodyPr>
          <a:lstStyle/>
          <a:p>
            <a:pPr algn="r">
              <a:lnSpc>
                <a:spcPct val="120007"/>
              </a:lnSpc>
            </a:pPr>
            <a:r>
              <a:rPr lang="en-US" sz="2399" b="1">
                <a:solidFill>
                  <a:srgbClr val="000000"/>
                </a:solidFill>
                <a:latin typeface="Arial"/>
                <a:ea typeface="Arial"/>
                <a:cs typeface="Arial"/>
                <a:sym typeface="Arial"/>
              </a:rPr>
              <a:t>Arial Slide Title – 24</a:t>
            </a:r>
            <a:endParaRPr sz="1688"/>
          </a:p>
          <a:p>
            <a:pPr algn="r">
              <a:lnSpc>
                <a:spcPct val="119959"/>
              </a:lnSpc>
            </a:pPr>
            <a:r>
              <a:rPr lang="en-US" sz="1400">
                <a:solidFill>
                  <a:srgbClr val="000000"/>
                </a:solidFill>
                <a:latin typeface="Arial"/>
                <a:ea typeface="Arial"/>
                <a:cs typeface="Arial"/>
                <a:sym typeface="Arial"/>
              </a:rPr>
              <a:t>Content/Section Title Text – 14</a:t>
            </a:r>
            <a:endParaRPr sz="1688"/>
          </a:p>
          <a:p>
            <a:pPr algn="r">
              <a:lnSpc>
                <a:spcPct val="120015"/>
              </a:lnSpc>
            </a:pPr>
            <a:r>
              <a:rPr lang="en-US" sz="1199">
                <a:solidFill>
                  <a:srgbClr val="000000"/>
                </a:solidFill>
                <a:latin typeface="Arial"/>
                <a:ea typeface="Arial"/>
                <a:cs typeface="Arial"/>
                <a:sym typeface="Arial"/>
              </a:rPr>
              <a:t>Bullet and Subtitle Text – 12</a:t>
            </a:r>
            <a:endParaRPr sz="1688"/>
          </a:p>
          <a:p>
            <a:pPr algn="r">
              <a:lnSpc>
                <a:spcPct val="120075"/>
              </a:lnSpc>
            </a:pPr>
            <a:r>
              <a:rPr lang="en-US" sz="999">
                <a:solidFill>
                  <a:srgbClr val="000000"/>
                </a:solidFill>
                <a:latin typeface="Arial"/>
                <a:ea typeface="Arial"/>
                <a:cs typeface="Arial"/>
                <a:sym typeface="Arial"/>
              </a:rPr>
              <a:t>Chart, Profile, and Currency Text – 10</a:t>
            </a:r>
            <a:endParaRPr sz="1688"/>
          </a:p>
        </p:txBody>
      </p:sp>
      <p:grpSp>
        <p:nvGrpSpPr>
          <p:cNvPr id="566" name="Google Shape;566;p12">
            <a:extLst>
              <a:ext uri="{FF2B5EF4-FFF2-40B4-BE49-F238E27FC236}">
                <a16:creationId xmlns:a16="http://schemas.microsoft.com/office/drawing/2014/main" id="{5D18ACEF-12FB-A384-D9AF-2E234DA7DFCA}"/>
              </a:ext>
            </a:extLst>
          </p:cNvPr>
          <p:cNvGrpSpPr/>
          <p:nvPr/>
        </p:nvGrpSpPr>
        <p:grpSpPr>
          <a:xfrm>
            <a:off x="-2192501" y="2633500"/>
            <a:ext cx="1970251" cy="496313"/>
            <a:chOff x="0" y="-28575"/>
            <a:chExt cx="2802135" cy="705866"/>
          </a:xfrm>
        </p:grpSpPr>
        <p:sp>
          <p:nvSpPr>
            <p:cNvPr id="567" name="Google Shape;567;p12">
              <a:extLst>
                <a:ext uri="{FF2B5EF4-FFF2-40B4-BE49-F238E27FC236}">
                  <a16:creationId xmlns:a16="http://schemas.microsoft.com/office/drawing/2014/main" id="{9047FB78-DC70-6E1C-A6C1-3418FBD8D992}"/>
                </a:ext>
              </a:extLst>
            </p:cNvPr>
            <p:cNvSpPr/>
            <p:nvPr/>
          </p:nvSpPr>
          <p:spPr>
            <a:xfrm>
              <a:off x="0" y="0"/>
              <a:ext cx="2802128" cy="677291"/>
            </a:xfrm>
            <a:custGeom>
              <a:avLst/>
              <a:gdLst/>
              <a:ahLst/>
              <a:cxnLst/>
              <a:rect l="l" t="t" r="r" b="b"/>
              <a:pathLst>
                <a:path w="2802128" h="677291" extrusionOk="0">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68" name="Google Shape;568;p12">
              <a:extLst>
                <a:ext uri="{FF2B5EF4-FFF2-40B4-BE49-F238E27FC236}">
                  <a16:creationId xmlns:a16="http://schemas.microsoft.com/office/drawing/2014/main" id="{1137B09B-596F-EC80-A7D0-D82E072A5369}"/>
                </a:ext>
              </a:extLst>
            </p:cNvPr>
            <p:cNvSpPr txBox="1"/>
            <p:nvPr/>
          </p:nvSpPr>
          <p:spPr>
            <a:xfrm>
              <a:off x="0" y="-28575"/>
              <a:ext cx="2802135" cy="705837"/>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Outline: black, ½ pt.</a:t>
              </a:r>
              <a:endParaRPr sz="1688"/>
            </a:p>
          </p:txBody>
        </p:sp>
      </p:grpSp>
      <p:grpSp>
        <p:nvGrpSpPr>
          <p:cNvPr id="569" name="Google Shape;569;p12">
            <a:extLst>
              <a:ext uri="{FF2B5EF4-FFF2-40B4-BE49-F238E27FC236}">
                <a16:creationId xmlns:a16="http://schemas.microsoft.com/office/drawing/2014/main" id="{03FCA7E7-FF94-971B-A7A7-4E01FCE322E3}"/>
              </a:ext>
            </a:extLst>
          </p:cNvPr>
          <p:cNvGrpSpPr/>
          <p:nvPr/>
        </p:nvGrpSpPr>
        <p:grpSpPr>
          <a:xfrm>
            <a:off x="-2186151" y="3363382"/>
            <a:ext cx="1957566" cy="486436"/>
            <a:chOff x="0" y="-28575"/>
            <a:chExt cx="2784094" cy="691820"/>
          </a:xfrm>
        </p:grpSpPr>
        <p:sp>
          <p:nvSpPr>
            <p:cNvPr id="570" name="Google Shape;570;p12">
              <a:extLst>
                <a:ext uri="{FF2B5EF4-FFF2-40B4-BE49-F238E27FC236}">
                  <a16:creationId xmlns:a16="http://schemas.microsoft.com/office/drawing/2014/main" id="{1A6531DC-7F72-CF2A-C234-DA927D801A8B}"/>
                </a:ext>
              </a:extLst>
            </p:cNvPr>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CCD1D7"/>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71" name="Google Shape;571;p12">
              <a:extLst>
                <a:ext uri="{FF2B5EF4-FFF2-40B4-BE49-F238E27FC236}">
                  <a16:creationId xmlns:a16="http://schemas.microsoft.com/office/drawing/2014/main" id="{16D9F34C-BEF6-A900-8634-54BFC24C3EAB}"/>
                </a:ext>
              </a:extLst>
            </p:cNvPr>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204 – 209 – 215</a:t>
              </a:r>
              <a:endParaRPr sz="1688"/>
            </a:p>
          </p:txBody>
        </p:sp>
      </p:grpSp>
      <p:grpSp>
        <p:nvGrpSpPr>
          <p:cNvPr id="572" name="Google Shape;572;p12">
            <a:extLst>
              <a:ext uri="{FF2B5EF4-FFF2-40B4-BE49-F238E27FC236}">
                <a16:creationId xmlns:a16="http://schemas.microsoft.com/office/drawing/2014/main" id="{D0D5F514-BC18-F487-59C5-21808212421C}"/>
              </a:ext>
            </a:extLst>
          </p:cNvPr>
          <p:cNvGrpSpPr/>
          <p:nvPr/>
        </p:nvGrpSpPr>
        <p:grpSpPr>
          <a:xfrm>
            <a:off x="-2186151" y="4089757"/>
            <a:ext cx="1957566" cy="486436"/>
            <a:chOff x="0" y="-28575"/>
            <a:chExt cx="2784094" cy="691820"/>
          </a:xfrm>
        </p:grpSpPr>
        <p:sp>
          <p:nvSpPr>
            <p:cNvPr id="573" name="Google Shape;573;p12">
              <a:extLst>
                <a:ext uri="{FF2B5EF4-FFF2-40B4-BE49-F238E27FC236}">
                  <a16:creationId xmlns:a16="http://schemas.microsoft.com/office/drawing/2014/main" id="{5EBAD6F8-21CE-170F-B035-A81717C0E218}"/>
                </a:ext>
              </a:extLst>
            </p:cNvPr>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485059"/>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74" name="Google Shape;574;p12">
              <a:extLst>
                <a:ext uri="{FF2B5EF4-FFF2-40B4-BE49-F238E27FC236}">
                  <a16:creationId xmlns:a16="http://schemas.microsoft.com/office/drawing/2014/main" id="{25A9E185-D73B-6A48-C0E9-EB3BED26DF2A}"/>
                </a:ext>
              </a:extLst>
            </p:cNvPr>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72 – 80 – 89 </a:t>
              </a:r>
              <a:endParaRPr sz="1688"/>
            </a:p>
          </p:txBody>
        </p:sp>
      </p:grpSp>
      <p:grpSp>
        <p:nvGrpSpPr>
          <p:cNvPr id="575" name="Google Shape;575;p12">
            <a:extLst>
              <a:ext uri="{FF2B5EF4-FFF2-40B4-BE49-F238E27FC236}">
                <a16:creationId xmlns:a16="http://schemas.microsoft.com/office/drawing/2014/main" id="{F2118C7B-1F31-77D1-1F86-05F1ED582B13}"/>
              </a:ext>
            </a:extLst>
          </p:cNvPr>
          <p:cNvGrpSpPr/>
          <p:nvPr/>
        </p:nvGrpSpPr>
        <p:grpSpPr>
          <a:xfrm>
            <a:off x="-2186151" y="4816132"/>
            <a:ext cx="1957566" cy="486436"/>
            <a:chOff x="0" y="-28575"/>
            <a:chExt cx="2784094" cy="691820"/>
          </a:xfrm>
        </p:grpSpPr>
        <p:sp>
          <p:nvSpPr>
            <p:cNvPr id="576" name="Google Shape;576;p12">
              <a:extLst>
                <a:ext uri="{FF2B5EF4-FFF2-40B4-BE49-F238E27FC236}">
                  <a16:creationId xmlns:a16="http://schemas.microsoft.com/office/drawing/2014/main" id="{5E93AF44-F194-C155-B9B2-A892B4C70EE1}"/>
                </a:ext>
              </a:extLst>
            </p:cNvPr>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5E7C9E"/>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77" name="Google Shape;577;p12">
              <a:extLst>
                <a:ext uri="{FF2B5EF4-FFF2-40B4-BE49-F238E27FC236}">
                  <a16:creationId xmlns:a16="http://schemas.microsoft.com/office/drawing/2014/main" id="{A6766257-E31F-7499-DD20-F88813ED06B3}"/>
                </a:ext>
              </a:extLst>
            </p:cNvPr>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94 – 124 – 158</a:t>
              </a:r>
              <a:endParaRPr sz="1688"/>
            </a:p>
          </p:txBody>
        </p:sp>
      </p:grpSp>
      <p:grpSp>
        <p:nvGrpSpPr>
          <p:cNvPr id="578" name="Google Shape;578;p12">
            <a:extLst>
              <a:ext uri="{FF2B5EF4-FFF2-40B4-BE49-F238E27FC236}">
                <a16:creationId xmlns:a16="http://schemas.microsoft.com/office/drawing/2014/main" id="{1542FEEE-D68C-3468-5869-6EBBE2D2E506}"/>
              </a:ext>
            </a:extLst>
          </p:cNvPr>
          <p:cNvGrpSpPr/>
          <p:nvPr/>
        </p:nvGrpSpPr>
        <p:grpSpPr>
          <a:xfrm>
            <a:off x="-2186151" y="5542509"/>
            <a:ext cx="1957566" cy="486436"/>
            <a:chOff x="0" y="-28575"/>
            <a:chExt cx="2784094" cy="691820"/>
          </a:xfrm>
        </p:grpSpPr>
        <p:sp>
          <p:nvSpPr>
            <p:cNvPr id="579" name="Google Shape;579;p12">
              <a:extLst>
                <a:ext uri="{FF2B5EF4-FFF2-40B4-BE49-F238E27FC236}">
                  <a16:creationId xmlns:a16="http://schemas.microsoft.com/office/drawing/2014/main" id="{7210CFF8-B4EC-DA83-F786-0D75F22C4D07}"/>
                </a:ext>
              </a:extLst>
            </p:cNvPr>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80" name="Google Shape;580;p12">
              <a:extLst>
                <a:ext uri="{FF2B5EF4-FFF2-40B4-BE49-F238E27FC236}">
                  <a16:creationId xmlns:a16="http://schemas.microsoft.com/office/drawing/2014/main" id="{D1404E27-EDCF-9A83-5CD5-F56DA5ECA10A}"/>
                </a:ext>
              </a:extLst>
            </p:cNvPr>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17 – 61 – 99</a:t>
              </a:r>
              <a:endParaRPr sz="1688"/>
            </a:p>
          </p:txBody>
        </p:sp>
      </p:grpSp>
      <p:grpSp>
        <p:nvGrpSpPr>
          <p:cNvPr id="581" name="Google Shape;581;p12">
            <a:extLst>
              <a:ext uri="{FF2B5EF4-FFF2-40B4-BE49-F238E27FC236}">
                <a16:creationId xmlns:a16="http://schemas.microsoft.com/office/drawing/2014/main" id="{7612A2BD-6625-FFF4-4EA5-0AE14177CE22}"/>
              </a:ext>
            </a:extLst>
          </p:cNvPr>
          <p:cNvGrpSpPr/>
          <p:nvPr/>
        </p:nvGrpSpPr>
        <p:grpSpPr>
          <a:xfrm>
            <a:off x="-2186151" y="1916319"/>
            <a:ext cx="1957566" cy="483632"/>
            <a:chOff x="0" y="-28575"/>
            <a:chExt cx="2784094" cy="687832"/>
          </a:xfrm>
        </p:grpSpPr>
        <p:sp>
          <p:nvSpPr>
            <p:cNvPr id="582" name="Google Shape;582;p12">
              <a:extLst>
                <a:ext uri="{FF2B5EF4-FFF2-40B4-BE49-F238E27FC236}">
                  <a16:creationId xmlns:a16="http://schemas.microsoft.com/office/drawing/2014/main" id="{13589FB9-BF73-E338-0448-BDC8C1B2926F}"/>
                </a:ext>
              </a:extLst>
            </p:cNvPr>
            <p:cNvSpPr/>
            <p:nvPr/>
          </p:nvSpPr>
          <p:spPr>
            <a:xfrm>
              <a:off x="0" y="0"/>
              <a:ext cx="2784094" cy="659257"/>
            </a:xfrm>
            <a:custGeom>
              <a:avLst/>
              <a:gdLst/>
              <a:ahLst/>
              <a:cxnLst/>
              <a:rect l="l" t="t" r="r" b="b"/>
              <a:pathLst>
                <a:path w="2784094" h="659257" extrusionOk="0">
                  <a:moveTo>
                    <a:pt x="0" y="0"/>
                  </a:moveTo>
                  <a:lnTo>
                    <a:pt x="2784094" y="0"/>
                  </a:lnTo>
                  <a:lnTo>
                    <a:pt x="2784094" y="659257"/>
                  </a:lnTo>
                  <a:lnTo>
                    <a:pt x="0" y="659257"/>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83" name="Google Shape;583;p12">
              <a:extLst>
                <a:ext uri="{FF2B5EF4-FFF2-40B4-BE49-F238E27FC236}">
                  <a16:creationId xmlns:a16="http://schemas.microsoft.com/office/drawing/2014/main" id="{E49EB3DF-974E-26FC-52EE-262BAC2DE7B0}"/>
                </a:ext>
              </a:extLst>
            </p:cNvPr>
            <p:cNvSpPr txBox="1"/>
            <p:nvPr/>
          </p:nvSpPr>
          <p:spPr>
            <a:xfrm>
              <a:off x="0" y="-28575"/>
              <a:ext cx="2784073" cy="687775"/>
            </a:xfrm>
            <a:prstGeom prst="rect">
              <a:avLst/>
            </a:prstGeom>
            <a:noFill/>
            <a:ln>
              <a:noFill/>
            </a:ln>
          </p:spPr>
          <p:txBody>
            <a:bodyPr spcFirstLastPara="1" wrap="square" lIns="47625" tIns="47625" rIns="47625" bIns="47625" anchor="ctr" anchorCtr="0">
              <a:noAutofit/>
            </a:bodyPr>
            <a:lstStyle/>
            <a:p>
              <a:pPr marL="154432" lvl="1" indent="-76140">
                <a:lnSpc>
                  <a:spcPct val="120015"/>
                </a:lnSpc>
                <a:buClr>
                  <a:srgbClr val="FFFFFF"/>
                </a:buClr>
                <a:buSzPts val="1279"/>
                <a:buFont typeface="Arial"/>
                <a:buChar char="•"/>
              </a:pPr>
              <a:r>
                <a:rPr lang="en-US" sz="1199">
                  <a:solidFill>
                    <a:srgbClr val="FFFFFF"/>
                  </a:solidFill>
                  <a:latin typeface="Arial"/>
                  <a:ea typeface="Arial"/>
                  <a:cs typeface="Arial"/>
                  <a:sym typeface="Arial"/>
                </a:rPr>
                <a:t>Normal shapes w/ text</a:t>
              </a:r>
              <a:endParaRPr sz="1688"/>
            </a:p>
          </p:txBody>
        </p:sp>
      </p:grpSp>
      <p:sp>
        <p:nvSpPr>
          <p:cNvPr id="584" name="Google Shape;584;p12">
            <a:extLst>
              <a:ext uri="{FF2B5EF4-FFF2-40B4-BE49-F238E27FC236}">
                <a16:creationId xmlns:a16="http://schemas.microsoft.com/office/drawing/2014/main" id="{C4816427-4D5B-0399-A4AE-25A014D8C19D}"/>
              </a:ext>
            </a:extLst>
          </p:cNvPr>
          <p:cNvSpPr txBox="1"/>
          <p:nvPr/>
        </p:nvSpPr>
        <p:spPr>
          <a:xfrm>
            <a:off x="239485" y="6382553"/>
            <a:ext cx="3537857" cy="332399"/>
          </a:xfrm>
          <a:prstGeom prst="rect">
            <a:avLst/>
          </a:prstGeom>
          <a:noFill/>
          <a:ln>
            <a:noFill/>
          </a:ln>
        </p:spPr>
        <p:txBody>
          <a:bodyPr spcFirstLastPara="1" wrap="square" lIns="0" tIns="0" rIns="0" bIns="0" anchor="t" anchorCtr="0">
            <a:spAutoFit/>
          </a:bodyPr>
          <a:lstStyle/>
          <a:p>
            <a:pPr>
              <a:lnSpc>
                <a:spcPct val="120000"/>
              </a:lnSpc>
            </a:pPr>
            <a:r>
              <a:rPr lang="en-US">
                <a:solidFill>
                  <a:srgbClr val="2A90BC"/>
                </a:solidFill>
                <a:latin typeface="Arimo"/>
                <a:ea typeface="Arimo"/>
                <a:cs typeface="Arimo"/>
                <a:sym typeface="Arimo"/>
              </a:rPr>
              <a:t>ESSEC Capital Investments Club</a:t>
            </a:r>
            <a:endParaRPr sz="1688"/>
          </a:p>
        </p:txBody>
      </p:sp>
      <p:cxnSp>
        <p:nvCxnSpPr>
          <p:cNvPr id="585" name="Google Shape;585;p12">
            <a:extLst>
              <a:ext uri="{FF2B5EF4-FFF2-40B4-BE49-F238E27FC236}">
                <a16:creationId xmlns:a16="http://schemas.microsoft.com/office/drawing/2014/main" id="{14AC88D9-678C-2C9E-DB48-6838AA9E54D0}"/>
              </a:ext>
            </a:extLst>
          </p:cNvPr>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586" name="Google Shape;586;p12">
            <a:extLst>
              <a:ext uri="{FF2B5EF4-FFF2-40B4-BE49-F238E27FC236}">
                <a16:creationId xmlns:a16="http://schemas.microsoft.com/office/drawing/2014/main" id="{2C12C5C0-E065-62C6-4FF0-F6BB9C952095}"/>
              </a:ext>
            </a:extLst>
          </p:cNvPr>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cxnSp>
        <p:nvCxnSpPr>
          <p:cNvPr id="587" name="Google Shape;587;p12">
            <a:extLst>
              <a:ext uri="{FF2B5EF4-FFF2-40B4-BE49-F238E27FC236}">
                <a16:creationId xmlns:a16="http://schemas.microsoft.com/office/drawing/2014/main" id="{5B8E8053-881B-E6CA-0CEA-EA3AB7EC49DC}"/>
              </a:ext>
            </a:extLst>
          </p:cNvPr>
          <p:cNvCxnSpPr/>
          <p:nvPr/>
        </p:nvCxnSpPr>
        <p:spPr>
          <a:xfrm rot="8930">
            <a:off x="-11128" y="6240264"/>
            <a:ext cx="9166256" cy="0"/>
          </a:xfrm>
          <a:prstGeom prst="straightConnector1">
            <a:avLst/>
          </a:prstGeom>
          <a:noFill/>
          <a:ln w="19050" cap="rnd" cmpd="sng">
            <a:solidFill>
              <a:srgbClr val="39598F"/>
            </a:solidFill>
            <a:prstDash val="solid"/>
            <a:round/>
            <a:headEnd type="none" w="sm" len="sm"/>
            <a:tailEnd type="none" w="sm" len="sm"/>
          </a:ln>
        </p:spPr>
      </p:cxnSp>
      <p:sp>
        <p:nvSpPr>
          <p:cNvPr id="588" name="Google Shape;588;p12">
            <a:extLst>
              <a:ext uri="{FF2B5EF4-FFF2-40B4-BE49-F238E27FC236}">
                <a16:creationId xmlns:a16="http://schemas.microsoft.com/office/drawing/2014/main" id="{547C12E5-FB89-AA58-701C-379CBDE986A4}"/>
              </a:ext>
            </a:extLst>
          </p:cNvPr>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9" b="-138"/>
            </a:stretch>
          </a:blip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589" name="Google Shape;589;p12">
            <a:extLst>
              <a:ext uri="{FF2B5EF4-FFF2-40B4-BE49-F238E27FC236}">
                <a16:creationId xmlns:a16="http://schemas.microsoft.com/office/drawing/2014/main" id="{498BFF59-CD5C-D908-48B8-2F76BB39217F}"/>
              </a:ext>
            </a:extLst>
          </p:cNvPr>
          <p:cNvSpPr txBox="1"/>
          <p:nvPr/>
        </p:nvSpPr>
        <p:spPr>
          <a:xfrm>
            <a:off x="64294" y="455032"/>
            <a:ext cx="3985673" cy="398764"/>
          </a:xfrm>
          <a:prstGeom prst="rect">
            <a:avLst/>
          </a:prstGeom>
          <a:noFill/>
          <a:ln>
            <a:noFill/>
          </a:ln>
        </p:spPr>
        <p:txBody>
          <a:bodyPr spcFirstLastPara="1" wrap="square" lIns="0" tIns="0" rIns="0" bIns="0" anchor="t" anchorCtr="0">
            <a:spAutoFit/>
          </a:bodyPr>
          <a:lstStyle/>
          <a:p>
            <a:pPr>
              <a:lnSpc>
                <a:spcPct val="108010"/>
              </a:lnSpc>
            </a:pPr>
            <a:r>
              <a:rPr lang="en-US" sz="2399" dirty="0">
                <a:solidFill>
                  <a:srgbClr val="333F44"/>
                </a:solidFill>
                <a:latin typeface="Open Sans Light"/>
                <a:ea typeface="Open Sans Light"/>
                <a:cs typeface="Open Sans Light"/>
                <a:sym typeface="Open Sans Light"/>
              </a:rPr>
              <a:t>Risks considerations</a:t>
            </a:r>
            <a:endParaRPr sz="1688" dirty="0"/>
          </a:p>
        </p:txBody>
      </p:sp>
      <p:graphicFrame>
        <p:nvGraphicFramePr>
          <p:cNvPr id="2" name="Tableau 1">
            <a:extLst>
              <a:ext uri="{FF2B5EF4-FFF2-40B4-BE49-F238E27FC236}">
                <a16:creationId xmlns:a16="http://schemas.microsoft.com/office/drawing/2014/main" id="{3DB6652E-C3D3-AEF7-356E-ABDCDF06EDD0}"/>
              </a:ext>
            </a:extLst>
          </p:cNvPr>
          <p:cNvGraphicFramePr>
            <a:graphicFrameLocks noGrp="1"/>
          </p:cNvGraphicFramePr>
          <p:nvPr>
            <p:extLst>
              <p:ext uri="{D42A27DB-BD31-4B8C-83A1-F6EECF244321}">
                <p14:modId xmlns:p14="http://schemas.microsoft.com/office/powerpoint/2010/main" val="1999828096"/>
              </p:ext>
            </p:extLst>
          </p:nvPr>
        </p:nvGraphicFramePr>
        <p:xfrm>
          <a:off x="401999" y="1353609"/>
          <a:ext cx="8231638" cy="4507794"/>
        </p:xfrm>
        <a:graphic>
          <a:graphicData uri="http://schemas.openxmlformats.org/drawingml/2006/table">
            <a:tbl>
              <a:tblPr firstRow="1" firstCol="1" bandRow="1">
                <a:tableStyleId>{3B4B98B0-60AC-42C2-AFA5-B58CD77FA1E5}</a:tableStyleId>
              </a:tblPr>
              <a:tblGrid>
                <a:gridCol w="1470405">
                  <a:extLst>
                    <a:ext uri="{9D8B030D-6E8A-4147-A177-3AD203B41FA5}">
                      <a16:colId xmlns:a16="http://schemas.microsoft.com/office/drawing/2014/main" val="2470350848"/>
                    </a:ext>
                  </a:extLst>
                </a:gridCol>
                <a:gridCol w="2089850">
                  <a:extLst>
                    <a:ext uri="{9D8B030D-6E8A-4147-A177-3AD203B41FA5}">
                      <a16:colId xmlns:a16="http://schemas.microsoft.com/office/drawing/2014/main" val="2224907866"/>
                    </a:ext>
                  </a:extLst>
                </a:gridCol>
                <a:gridCol w="4671383">
                  <a:extLst>
                    <a:ext uri="{9D8B030D-6E8A-4147-A177-3AD203B41FA5}">
                      <a16:colId xmlns:a16="http://schemas.microsoft.com/office/drawing/2014/main" val="171003716"/>
                    </a:ext>
                  </a:extLst>
                </a:gridCol>
              </a:tblGrid>
              <a:tr h="315703">
                <a:tc>
                  <a:txBody>
                    <a:bodyPr/>
                    <a:lstStyle/>
                    <a:p>
                      <a:pPr algn="ctr">
                        <a:buNone/>
                      </a:pPr>
                      <a:r>
                        <a:rPr lang="en-US" sz="1100" kern="100">
                          <a:effectLst/>
                        </a:rPr>
                        <a:t>Risk Level</a:t>
                      </a:r>
                      <a:endParaRPr lang="fr-FR" sz="1200" kern="1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100" kern="100">
                          <a:effectLst/>
                        </a:rPr>
                        <a:t>Risk Factor </a:t>
                      </a:r>
                      <a:endParaRPr lang="fr-FR" sz="1200" kern="1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100" kern="100" dirty="0">
                          <a:effectLst/>
                        </a:rPr>
                        <a:t>Description &amp; Impact Analysis</a:t>
                      </a:r>
                      <a:endParaRPr lang="fr-FR" sz="1200" kern="1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5258049"/>
                  </a:ext>
                </a:extLst>
              </a:tr>
              <a:tr h="786017">
                <a:tc>
                  <a:txBody>
                    <a:bodyPr/>
                    <a:lstStyle/>
                    <a:p>
                      <a:pPr>
                        <a:buNone/>
                      </a:pPr>
                      <a:r>
                        <a:rPr lang="fr-FR" sz="1100" kern="100">
                          <a:effectLst/>
                        </a:rPr>
                        <a:t>LOW</a:t>
                      </a:r>
                      <a:endParaRPr lang="fr-FR" sz="1200" kern="1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FR" sz="1100" kern="100">
                          <a:effectLst/>
                        </a:rPr>
                        <a:t>Regulatory Uncertainty</a:t>
                      </a:r>
                      <a:endParaRPr lang="fr-FR" sz="1200" kern="1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fr-FR" sz="1100" kern="100">
                          <a:effectLst/>
                        </a:rPr>
                        <a:t>Minor delays in the application of public subsidies (e.g., EU hydrogen subsidies). The impact is limited because Air Liquide self-finances a large part of its R&amp;D.</a:t>
                      </a:r>
                      <a:endParaRPr lang="fr-FR" sz="1200" kern="1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7034639"/>
                  </a:ext>
                </a:extLst>
              </a:tr>
              <a:tr h="786017">
                <a:tc>
                  <a:txBody>
                    <a:bodyPr/>
                    <a:lstStyle/>
                    <a:p>
                      <a:pPr>
                        <a:buNone/>
                      </a:pPr>
                      <a:r>
                        <a:rPr lang="fr-FR" sz="1100" kern="100">
                          <a:effectLst/>
                        </a:rPr>
                        <a:t>MEDIUM</a:t>
                      </a:r>
                      <a:endParaRPr lang="fr-FR" sz="1200" kern="1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FR" sz="1100" kern="100">
                          <a:effectLst/>
                        </a:rPr>
                        <a:t>Energy Volatility</a:t>
                      </a:r>
                      <a:endParaRPr lang="fr-FR" sz="1200" kern="1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fr-FR" sz="1100" kern="100">
                          <a:effectLst/>
                        </a:rPr>
                        <a:t>A sudden surge in electricity or gas prices. Although "pass-through" protects margins, an extreme peak can create a quarterly cash flow mismatch.</a:t>
                      </a:r>
                      <a:endParaRPr lang="fr-FR" sz="1200" kern="100">
                        <a:effectLst/>
                        <a:latin typeface="Aptos" panose="020B0004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9705790"/>
                  </a:ext>
                </a:extLst>
              </a:tr>
              <a:tr h="786017">
                <a:tc>
                  <a:txBody>
                    <a:bodyPr/>
                    <a:lstStyle/>
                    <a:p>
                      <a:pPr>
                        <a:buNone/>
                      </a:pPr>
                      <a:r>
                        <a:rPr lang="fr-FR" sz="1100" kern="100">
                          <a:effectLst/>
                        </a:rPr>
                        <a:t>MEDIUM</a:t>
                      </a:r>
                      <a:endParaRPr lang="fr-FR" sz="1200" kern="1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FR" sz="1100" kern="100" dirty="0">
                          <a:effectLst/>
                        </a:rPr>
                        <a:t>Capital </a:t>
                      </a:r>
                      <a:r>
                        <a:rPr lang="fr-FR" sz="1100" kern="100" dirty="0" err="1">
                          <a:effectLst/>
                        </a:rPr>
                        <a:t>Intensity</a:t>
                      </a:r>
                      <a:endParaRPr lang="fr-FR" sz="1200" kern="1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fr-FR" sz="1100" kern="100">
                          <a:effectLst/>
                        </a:rPr>
                        <a:t>A prolonged maintenance of high interest rates by the ECB/Fed increases the cost of debt financing for new giant projects (electrolysers).</a:t>
                      </a:r>
                      <a:endParaRPr lang="fr-FR" sz="1200" kern="100">
                        <a:effectLst/>
                        <a:latin typeface="Aptos" panose="020B0004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7413713"/>
                  </a:ext>
                </a:extLst>
              </a:tr>
              <a:tr h="786017">
                <a:tc>
                  <a:txBody>
                    <a:bodyPr/>
                    <a:lstStyle/>
                    <a:p>
                      <a:pPr>
                        <a:buNone/>
                      </a:pPr>
                      <a:r>
                        <a:rPr lang="fr-FR" sz="1100" kern="100">
                          <a:effectLst/>
                        </a:rPr>
                        <a:t>HIGH</a:t>
                      </a:r>
                      <a:endParaRPr lang="fr-FR" sz="1200" kern="1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FR" sz="1100" kern="100">
                          <a:effectLst/>
                        </a:rPr>
                        <a:t>Geopolitical Execution</a:t>
                      </a:r>
                      <a:endParaRPr lang="fr-FR" sz="1200" kern="1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fr-FR" sz="1100" kern="100">
                          <a:effectLst/>
                        </a:rPr>
                        <a:t>A severe economic slowdown in China or major trade fragmentation. This would directly impact the volumes of the Industrial Merchant and Electronics divisions.</a:t>
                      </a:r>
                      <a:endParaRPr lang="fr-FR" sz="1200" kern="100">
                        <a:effectLst/>
                        <a:latin typeface="Aptos" panose="020B0004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0969215"/>
                  </a:ext>
                </a:extLst>
              </a:tr>
              <a:tr h="1048023">
                <a:tc>
                  <a:txBody>
                    <a:bodyPr/>
                    <a:lstStyle/>
                    <a:p>
                      <a:pPr>
                        <a:buNone/>
                      </a:pPr>
                      <a:r>
                        <a:rPr lang="fr-FR" sz="1100" kern="100">
                          <a:effectLst/>
                        </a:rPr>
                        <a:t>HIGH</a:t>
                      </a:r>
                      <a:endParaRPr lang="fr-FR" sz="1200" kern="1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fr-FR" sz="1100" kern="100">
                          <a:effectLst/>
                        </a:rPr>
                        <a:t>Competition &amp; Market Share</a:t>
                      </a:r>
                      <a:endParaRPr lang="fr-FR" sz="1200" kern="1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fr-FR" sz="1100" kern="100" dirty="0">
                          <a:effectLst/>
                        </a:rPr>
                        <a:t>Commercial </a:t>
                      </a:r>
                      <a:r>
                        <a:rPr lang="fr-FR" sz="1100" kern="100" dirty="0" err="1">
                          <a:effectLst/>
                        </a:rPr>
                        <a:t>aggressiveness</a:t>
                      </a:r>
                      <a:r>
                        <a:rPr lang="fr-FR" sz="1100" kern="100" dirty="0">
                          <a:effectLst/>
                        </a:rPr>
                        <a:t> </a:t>
                      </a:r>
                      <a:r>
                        <a:rPr lang="fr-FR" sz="1100" kern="100" dirty="0" err="1">
                          <a:effectLst/>
                        </a:rPr>
                        <a:t>from</a:t>
                      </a:r>
                      <a:r>
                        <a:rPr lang="fr-FR" sz="1100" kern="100" dirty="0">
                          <a:effectLst/>
                        </a:rPr>
                        <a:t> Linde or Air </a:t>
                      </a:r>
                      <a:r>
                        <a:rPr lang="fr-FR" sz="1100" kern="100" dirty="0" err="1">
                          <a:effectLst/>
                        </a:rPr>
                        <a:t>Products</a:t>
                      </a:r>
                      <a:r>
                        <a:rPr lang="fr-FR" sz="1100" kern="100" dirty="0">
                          <a:effectLst/>
                        </a:rPr>
                        <a:t> on large </a:t>
                      </a:r>
                      <a:r>
                        <a:rPr lang="fr-FR" sz="1100" kern="100" dirty="0" err="1">
                          <a:effectLst/>
                        </a:rPr>
                        <a:t>semiconductor</a:t>
                      </a:r>
                      <a:r>
                        <a:rPr lang="fr-FR" sz="1100" kern="100" dirty="0">
                          <a:effectLst/>
                        </a:rPr>
                        <a:t> </a:t>
                      </a:r>
                      <a:r>
                        <a:rPr lang="fr-FR" sz="1100" kern="100" dirty="0" err="1">
                          <a:effectLst/>
                        </a:rPr>
                        <a:t>contracts</a:t>
                      </a:r>
                      <a:r>
                        <a:rPr lang="fr-FR" sz="1100" kern="100" dirty="0">
                          <a:effectLst/>
                        </a:rPr>
                        <a:t> ("Over-</a:t>
                      </a:r>
                      <a:r>
                        <a:rPr lang="fr-FR" sz="1100" kern="100" dirty="0" err="1">
                          <a:effectLst/>
                        </a:rPr>
                        <a:t>bidding</a:t>
                      </a:r>
                      <a:r>
                        <a:rPr lang="fr-FR" sz="1100" kern="100" dirty="0">
                          <a:effectLst/>
                        </a:rPr>
                        <a:t>"). This </a:t>
                      </a:r>
                      <a:r>
                        <a:rPr lang="fr-FR" sz="1100" kern="100" dirty="0" err="1">
                          <a:effectLst/>
                        </a:rPr>
                        <a:t>could</a:t>
                      </a:r>
                      <a:r>
                        <a:rPr lang="fr-FR" sz="1100" kern="100" dirty="0">
                          <a:effectLst/>
                        </a:rPr>
                        <a:t> force Air Liquide to </a:t>
                      </a:r>
                      <a:r>
                        <a:rPr lang="fr-FR" sz="1100" kern="100" dirty="0" err="1">
                          <a:effectLst/>
                        </a:rPr>
                        <a:t>reduce</a:t>
                      </a:r>
                      <a:r>
                        <a:rPr lang="fr-FR" sz="1100" kern="100" dirty="0">
                          <a:effectLst/>
                        </a:rPr>
                        <a:t> </a:t>
                      </a:r>
                      <a:r>
                        <a:rPr lang="fr-FR" sz="1100" kern="100" dirty="0" err="1">
                          <a:effectLst/>
                        </a:rPr>
                        <a:t>its</a:t>
                      </a:r>
                      <a:r>
                        <a:rPr lang="fr-FR" sz="1100" kern="100" dirty="0">
                          <a:effectLst/>
                        </a:rPr>
                        <a:t> </a:t>
                      </a:r>
                      <a:r>
                        <a:rPr lang="fr-FR" sz="1100" kern="100" dirty="0" err="1">
                          <a:effectLst/>
                        </a:rPr>
                        <a:t>prices</a:t>
                      </a:r>
                      <a:r>
                        <a:rPr lang="fr-FR" sz="1100" kern="100" dirty="0">
                          <a:effectLst/>
                        </a:rPr>
                        <a:t> to </a:t>
                      </a:r>
                      <a:r>
                        <a:rPr lang="fr-FR" sz="1100" kern="100" dirty="0" err="1">
                          <a:effectLst/>
                        </a:rPr>
                        <a:t>retain</a:t>
                      </a:r>
                      <a:r>
                        <a:rPr lang="fr-FR" sz="1100" kern="100" dirty="0">
                          <a:effectLst/>
                        </a:rPr>
                        <a:t> </a:t>
                      </a:r>
                      <a:r>
                        <a:rPr lang="fr-FR" sz="1100" kern="100" dirty="0" err="1">
                          <a:effectLst/>
                        </a:rPr>
                        <a:t>its</a:t>
                      </a:r>
                      <a:r>
                        <a:rPr lang="fr-FR" sz="1100" kern="100" dirty="0">
                          <a:effectLst/>
                        </a:rPr>
                        <a:t> key </a:t>
                      </a:r>
                      <a:r>
                        <a:rPr lang="fr-FR" sz="1100" kern="100" dirty="0" err="1">
                          <a:effectLst/>
                        </a:rPr>
                        <a:t>customers</a:t>
                      </a:r>
                      <a:r>
                        <a:rPr lang="fr-FR" sz="1100" kern="100" dirty="0">
                          <a:effectLst/>
                        </a:rPr>
                        <a:t>.</a:t>
                      </a:r>
                      <a:endParaRPr lang="fr-FR" sz="1200" kern="100" dirty="0">
                        <a:effectLst/>
                        <a:latin typeface="Aptos" panose="020B0004020202020204" pitchFamily="34"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7013266"/>
                  </a:ext>
                </a:extLst>
              </a:tr>
            </a:tbl>
          </a:graphicData>
        </a:graphic>
      </p:graphicFrame>
    </p:spTree>
    <p:extLst>
      <p:ext uri="{BB962C8B-B14F-4D97-AF65-F5344CB8AC3E}">
        <p14:creationId xmlns:p14="http://schemas.microsoft.com/office/powerpoint/2010/main" val="2847758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23"/>
        <p:cNvGrpSpPr/>
        <p:nvPr/>
      </p:nvGrpSpPr>
      <p:grpSpPr>
        <a:xfrm>
          <a:off x="0" y="0"/>
          <a:ext cx="0" cy="0"/>
          <a:chOff x="0" y="0"/>
          <a:chExt cx="0" cy="0"/>
        </a:xfrm>
      </p:grpSpPr>
      <p:sp>
        <p:nvSpPr>
          <p:cNvPr id="1124" name="Google Shape;1124;p22"/>
          <p:cNvSpPr txBox="1"/>
          <p:nvPr/>
        </p:nvSpPr>
        <p:spPr>
          <a:xfrm>
            <a:off x="-3429000" y="342186"/>
            <a:ext cx="3200400" cy="1107611"/>
          </a:xfrm>
          <a:prstGeom prst="rect">
            <a:avLst/>
          </a:prstGeom>
          <a:noFill/>
          <a:ln>
            <a:noFill/>
          </a:ln>
        </p:spPr>
        <p:txBody>
          <a:bodyPr spcFirstLastPara="1" wrap="square" lIns="0" tIns="0" rIns="0" bIns="0" anchor="t" anchorCtr="0">
            <a:spAutoFit/>
          </a:bodyPr>
          <a:lstStyle/>
          <a:p>
            <a:pPr algn="r">
              <a:lnSpc>
                <a:spcPct val="120007"/>
              </a:lnSpc>
            </a:pPr>
            <a:r>
              <a:rPr lang="en-US" sz="2399" b="1">
                <a:solidFill>
                  <a:srgbClr val="000000"/>
                </a:solidFill>
                <a:latin typeface="Arial"/>
                <a:ea typeface="Arial"/>
                <a:cs typeface="Arial"/>
                <a:sym typeface="Arial"/>
              </a:rPr>
              <a:t>Arial Slide Title – 24</a:t>
            </a:r>
            <a:endParaRPr sz="1688"/>
          </a:p>
          <a:p>
            <a:pPr algn="r">
              <a:lnSpc>
                <a:spcPct val="119959"/>
              </a:lnSpc>
            </a:pPr>
            <a:r>
              <a:rPr lang="en-US" sz="1400">
                <a:solidFill>
                  <a:srgbClr val="000000"/>
                </a:solidFill>
                <a:latin typeface="Arial"/>
                <a:ea typeface="Arial"/>
                <a:cs typeface="Arial"/>
                <a:sym typeface="Arial"/>
              </a:rPr>
              <a:t>Content/Section Title Text – 14</a:t>
            </a:r>
            <a:endParaRPr sz="1688"/>
          </a:p>
          <a:p>
            <a:pPr algn="r">
              <a:lnSpc>
                <a:spcPct val="120015"/>
              </a:lnSpc>
            </a:pPr>
            <a:r>
              <a:rPr lang="en-US" sz="1199">
                <a:solidFill>
                  <a:srgbClr val="000000"/>
                </a:solidFill>
                <a:latin typeface="Arial"/>
                <a:ea typeface="Arial"/>
                <a:cs typeface="Arial"/>
                <a:sym typeface="Arial"/>
              </a:rPr>
              <a:t>Bullet and Subtitle Text – 12</a:t>
            </a:r>
            <a:endParaRPr sz="1688"/>
          </a:p>
          <a:p>
            <a:pPr algn="r">
              <a:lnSpc>
                <a:spcPct val="120075"/>
              </a:lnSpc>
            </a:pPr>
            <a:r>
              <a:rPr lang="en-US" sz="999">
                <a:solidFill>
                  <a:srgbClr val="000000"/>
                </a:solidFill>
                <a:latin typeface="Arial"/>
                <a:ea typeface="Arial"/>
                <a:cs typeface="Arial"/>
                <a:sym typeface="Arial"/>
              </a:rPr>
              <a:t>Chart, Profile, and Currency Text – 10</a:t>
            </a:r>
            <a:endParaRPr sz="1688"/>
          </a:p>
        </p:txBody>
      </p:sp>
      <p:grpSp>
        <p:nvGrpSpPr>
          <p:cNvPr id="1125" name="Google Shape;1125;p22"/>
          <p:cNvGrpSpPr/>
          <p:nvPr/>
        </p:nvGrpSpPr>
        <p:grpSpPr>
          <a:xfrm>
            <a:off x="-2192501" y="2633500"/>
            <a:ext cx="1970251" cy="496313"/>
            <a:chOff x="0" y="-28575"/>
            <a:chExt cx="2802135" cy="705866"/>
          </a:xfrm>
        </p:grpSpPr>
        <p:sp>
          <p:nvSpPr>
            <p:cNvPr id="1126" name="Google Shape;1126;p22"/>
            <p:cNvSpPr/>
            <p:nvPr/>
          </p:nvSpPr>
          <p:spPr>
            <a:xfrm>
              <a:off x="0" y="0"/>
              <a:ext cx="2802128" cy="677291"/>
            </a:xfrm>
            <a:custGeom>
              <a:avLst/>
              <a:gdLst/>
              <a:ahLst/>
              <a:cxnLst/>
              <a:rect l="l" t="t" r="r" b="b"/>
              <a:pathLst>
                <a:path w="2802128" h="677291" extrusionOk="0">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27" name="Google Shape;1127;p22"/>
            <p:cNvSpPr txBox="1"/>
            <p:nvPr/>
          </p:nvSpPr>
          <p:spPr>
            <a:xfrm>
              <a:off x="0" y="-28575"/>
              <a:ext cx="2802135" cy="705837"/>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Outline: black, ½ pt.</a:t>
              </a:r>
              <a:endParaRPr sz="1688"/>
            </a:p>
          </p:txBody>
        </p:sp>
      </p:grpSp>
      <p:grpSp>
        <p:nvGrpSpPr>
          <p:cNvPr id="1128" name="Google Shape;1128;p22"/>
          <p:cNvGrpSpPr/>
          <p:nvPr/>
        </p:nvGrpSpPr>
        <p:grpSpPr>
          <a:xfrm>
            <a:off x="-2186151" y="3363382"/>
            <a:ext cx="1957566" cy="486436"/>
            <a:chOff x="0" y="-28575"/>
            <a:chExt cx="2784094" cy="691820"/>
          </a:xfrm>
        </p:grpSpPr>
        <p:sp>
          <p:nvSpPr>
            <p:cNvPr id="1129" name="Google Shape;1129;p22"/>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CCD1D7"/>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30" name="Google Shape;1130;p22"/>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204 – 209 – 215</a:t>
              </a:r>
              <a:endParaRPr sz="1688"/>
            </a:p>
          </p:txBody>
        </p:sp>
      </p:grpSp>
      <p:grpSp>
        <p:nvGrpSpPr>
          <p:cNvPr id="1131" name="Google Shape;1131;p22"/>
          <p:cNvGrpSpPr/>
          <p:nvPr/>
        </p:nvGrpSpPr>
        <p:grpSpPr>
          <a:xfrm>
            <a:off x="-2186151" y="4089757"/>
            <a:ext cx="1957566" cy="486436"/>
            <a:chOff x="0" y="-28575"/>
            <a:chExt cx="2784094" cy="691820"/>
          </a:xfrm>
        </p:grpSpPr>
        <p:sp>
          <p:nvSpPr>
            <p:cNvPr id="1132" name="Google Shape;1132;p22"/>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485059"/>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33" name="Google Shape;1133;p22"/>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72 – 80 – 89 </a:t>
              </a:r>
              <a:endParaRPr sz="1688"/>
            </a:p>
          </p:txBody>
        </p:sp>
      </p:grpSp>
      <p:grpSp>
        <p:nvGrpSpPr>
          <p:cNvPr id="1134" name="Google Shape;1134;p22"/>
          <p:cNvGrpSpPr/>
          <p:nvPr/>
        </p:nvGrpSpPr>
        <p:grpSpPr>
          <a:xfrm>
            <a:off x="-2186151" y="4816132"/>
            <a:ext cx="1957566" cy="486436"/>
            <a:chOff x="0" y="-28575"/>
            <a:chExt cx="2784094" cy="691820"/>
          </a:xfrm>
        </p:grpSpPr>
        <p:sp>
          <p:nvSpPr>
            <p:cNvPr id="1135" name="Google Shape;1135;p22"/>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5E7C9E"/>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36" name="Google Shape;1136;p22"/>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94 – 124 – 158</a:t>
              </a:r>
              <a:endParaRPr sz="1688"/>
            </a:p>
          </p:txBody>
        </p:sp>
      </p:grpSp>
      <p:grpSp>
        <p:nvGrpSpPr>
          <p:cNvPr id="1137" name="Google Shape;1137;p22"/>
          <p:cNvGrpSpPr/>
          <p:nvPr/>
        </p:nvGrpSpPr>
        <p:grpSpPr>
          <a:xfrm>
            <a:off x="-2186151" y="5542509"/>
            <a:ext cx="1957566" cy="486436"/>
            <a:chOff x="0" y="-28575"/>
            <a:chExt cx="2784094" cy="691820"/>
          </a:xfrm>
        </p:grpSpPr>
        <p:sp>
          <p:nvSpPr>
            <p:cNvPr id="1138" name="Google Shape;1138;p22"/>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39" name="Google Shape;1139;p22"/>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17 – 61 – 99</a:t>
              </a:r>
              <a:endParaRPr sz="1688"/>
            </a:p>
          </p:txBody>
        </p:sp>
      </p:grpSp>
      <p:grpSp>
        <p:nvGrpSpPr>
          <p:cNvPr id="1140" name="Google Shape;1140;p22"/>
          <p:cNvGrpSpPr/>
          <p:nvPr/>
        </p:nvGrpSpPr>
        <p:grpSpPr>
          <a:xfrm>
            <a:off x="-2186151" y="1916319"/>
            <a:ext cx="1957566" cy="483632"/>
            <a:chOff x="0" y="-28575"/>
            <a:chExt cx="2784094" cy="687832"/>
          </a:xfrm>
        </p:grpSpPr>
        <p:sp>
          <p:nvSpPr>
            <p:cNvPr id="1141" name="Google Shape;1141;p22"/>
            <p:cNvSpPr/>
            <p:nvPr/>
          </p:nvSpPr>
          <p:spPr>
            <a:xfrm>
              <a:off x="0" y="0"/>
              <a:ext cx="2784094" cy="659257"/>
            </a:xfrm>
            <a:custGeom>
              <a:avLst/>
              <a:gdLst/>
              <a:ahLst/>
              <a:cxnLst/>
              <a:rect l="l" t="t" r="r" b="b"/>
              <a:pathLst>
                <a:path w="2784094" h="659257" extrusionOk="0">
                  <a:moveTo>
                    <a:pt x="0" y="0"/>
                  </a:moveTo>
                  <a:lnTo>
                    <a:pt x="2784094" y="0"/>
                  </a:lnTo>
                  <a:lnTo>
                    <a:pt x="2784094" y="659257"/>
                  </a:lnTo>
                  <a:lnTo>
                    <a:pt x="0" y="659257"/>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42" name="Google Shape;1142;p22"/>
            <p:cNvSpPr txBox="1"/>
            <p:nvPr/>
          </p:nvSpPr>
          <p:spPr>
            <a:xfrm>
              <a:off x="0" y="-28575"/>
              <a:ext cx="2784073" cy="687775"/>
            </a:xfrm>
            <a:prstGeom prst="rect">
              <a:avLst/>
            </a:prstGeom>
            <a:noFill/>
            <a:ln>
              <a:noFill/>
            </a:ln>
          </p:spPr>
          <p:txBody>
            <a:bodyPr spcFirstLastPara="1" wrap="square" lIns="47625" tIns="47625" rIns="47625" bIns="47625" anchor="ctr" anchorCtr="0">
              <a:noAutofit/>
            </a:bodyPr>
            <a:lstStyle/>
            <a:p>
              <a:pPr marL="154432" lvl="1" indent="-76140">
                <a:lnSpc>
                  <a:spcPct val="120015"/>
                </a:lnSpc>
                <a:buClr>
                  <a:srgbClr val="FFFFFF"/>
                </a:buClr>
                <a:buSzPts val="1279"/>
                <a:buFont typeface="Arial"/>
                <a:buChar char="•"/>
              </a:pPr>
              <a:r>
                <a:rPr lang="en-US" sz="1199">
                  <a:solidFill>
                    <a:srgbClr val="FFFFFF"/>
                  </a:solidFill>
                  <a:latin typeface="Arial"/>
                  <a:ea typeface="Arial"/>
                  <a:cs typeface="Arial"/>
                  <a:sym typeface="Arial"/>
                </a:rPr>
                <a:t>Normal shapes w/ text</a:t>
              </a:r>
              <a:endParaRPr sz="1688"/>
            </a:p>
          </p:txBody>
        </p:sp>
      </p:grpSp>
      <p:sp>
        <p:nvSpPr>
          <p:cNvPr id="1143" name="Google Shape;1143;p22"/>
          <p:cNvSpPr txBox="1"/>
          <p:nvPr/>
        </p:nvSpPr>
        <p:spPr>
          <a:xfrm>
            <a:off x="239485" y="6382553"/>
            <a:ext cx="3537857" cy="332399"/>
          </a:xfrm>
          <a:prstGeom prst="rect">
            <a:avLst/>
          </a:prstGeom>
          <a:noFill/>
          <a:ln>
            <a:noFill/>
          </a:ln>
        </p:spPr>
        <p:txBody>
          <a:bodyPr spcFirstLastPara="1" wrap="square" lIns="0" tIns="0" rIns="0" bIns="0" anchor="t" anchorCtr="0">
            <a:spAutoFit/>
          </a:bodyPr>
          <a:lstStyle/>
          <a:p>
            <a:pPr>
              <a:lnSpc>
                <a:spcPct val="120000"/>
              </a:lnSpc>
            </a:pPr>
            <a:r>
              <a:rPr lang="en-US">
                <a:solidFill>
                  <a:srgbClr val="2A90BC"/>
                </a:solidFill>
                <a:latin typeface="Arimo"/>
                <a:ea typeface="Arimo"/>
                <a:cs typeface="Arimo"/>
                <a:sym typeface="Arimo"/>
              </a:rPr>
              <a:t>ESSEC Capital Investments Club</a:t>
            </a:r>
            <a:endParaRPr sz="1688"/>
          </a:p>
        </p:txBody>
      </p:sp>
      <p:cxnSp>
        <p:nvCxnSpPr>
          <p:cNvPr id="1144" name="Google Shape;1144;p22"/>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1145" name="Google Shape;1145;p22"/>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cxnSp>
        <p:nvCxnSpPr>
          <p:cNvPr id="1146" name="Google Shape;1146;p22"/>
          <p:cNvCxnSpPr/>
          <p:nvPr/>
        </p:nvCxnSpPr>
        <p:spPr>
          <a:xfrm rot="8930">
            <a:off x="-11128" y="6240264"/>
            <a:ext cx="9166256" cy="0"/>
          </a:xfrm>
          <a:prstGeom prst="straightConnector1">
            <a:avLst/>
          </a:prstGeom>
          <a:noFill/>
          <a:ln w="19050" cap="rnd" cmpd="sng">
            <a:solidFill>
              <a:srgbClr val="39598F"/>
            </a:solidFill>
            <a:prstDash val="solid"/>
            <a:round/>
            <a:headEnd type="none" w="sm" len="sm"/>
            <a:tailEnd type="none" w="sm" len="sm"/>
          </a:ln>
        </p:spPr>
      </p:cxnSp>
      <p:sp>
        <p:nvSpPr>
          <p:cNvPr id="1147" name="Google Shape;1147;p22"/>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9" b="-138"/>
            </a:stretch>
          </a:blip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grpSp>
        <p:nvGrpSpPr>
          <p:cNvPr id="1148" name="Google Shape;1148;p22"/>
          <p:cNvGrpSpPr/>
          <p:nvPr/>
        </p:nvGrpSpPr>
        <p:grpSpPr>
          <a:xfrm>
            <a:off x="3246975" y="2850825"/>
            <a:ext cx="2647741" cy="2582039"/>
            <a:chOff x="3464687" y="2446304"/>
            <a:chExt cx="2824257" cy="2754175"/>
          </a:xfrm>
        </p:grpSpPr>
        <p:grpSp>
          <p:nvGrpSpPr>
            <p:cNvPr id="1149" name="Google Shape;1149;p22"/>
            <p:cNvGrpSpPr/>
            <p:nvPr/>
          </p:nvGrpSpPr>
          <p:grpSpPr>
            <a:xfrm>
              <a:off x="3464687" y="2448986"/>
              <a:ext cx="2824257" cy="339661"/>
              <a:chOff x="-1524" y="-1524"/>
              <a:chExt cx="3765677" cy="452882"/>
            </a:xfrm>
          </p:grpSpPr>
          <p:sp>
            <p:nvSpPr>
              <p:cNvPr id="1150" name="Google Shape;1150;p22"/>
              <p:cNvSpPr/>
              <p:nvPr/>
            </p:nvSpPr>
            <p:spPr>
              <a:xfrm>
                <a:off x="0" y="0"/>
                <a:ext cx="3762629" cy="449834"/>
              </a:xfrm>
              <a:custGeom>
                <a:avLst/>
                <a:gdLst/>
                <a:ahLst/>
                <a:cxnLst/>
                <a:rect l="l" t="t" r="r" b="b"/>
                <a:pathLst>
                  <a:path w="3762629" h="449834" extrusionOk="0">
                    <a:moveTo>
                      <a:pt x="0" y="0"/>
                    </a:moveTo>
                    <a:lnTo>
                      <a:pt x="3762629" y="0"/>
                    </a:lnTo>
                    <a:lnTo>
                      <a:pt x="3762629"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51" name="Google Shape;1151;p22"/>
              <p:cNvSpPr/>
              <p:nvPr/>
            </p:nvSpPr>
            <p:spPr>
              <a:xfrm>
                <a:off x="-1524" y="-1524"/>
                <a:ext cx="3765677" cy="452882"/>
              </a:xfrm>
              <a:custGeom>
                <a:avLst/>
                <a:gdLst/>
                <a:ahLst/>
                <a:cxnLst/>
                <a:rect l="l" t="t" r="r" b="b"/>
                <a:pathLst>
                  <a:path w="3765677" h="452882" extrusionOk="0">
                    <a:moveTo>
                      <a:pt x="1524" y="0"/>
                    </a:moveTo>
                    <a:lnTo>
                      <a:pt x="3764153" y="0"/>
                    </a:lnTo>
                    <a:cubicBezTo>
                      <a:pt x="3765042" y="0"/>
                      <a:pt x="3765677" y="762"/>
                      <a:pt x="3765677" y="1524"/>
                    </a:cubicBezTo>
                    <a:lnTo>
                      <a:pt x="3765677" y="451358"/>
                    </a:lnTo>
                    <a:cubicBezTo>
                      <a:pt x="3765677" y="452247"/>
                      <a:pt x="3764915" y="452882"/>
                      <a:pt x="3764153"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764153" y="449834"/>
                    </a:lnTo>
                    <a:lnTo>
                      <a:pt x="3764153" y="451358"/>
                    </a:lnTo>
                    <a:lnTo>
                      <a:pt x="3762629" y="451358"/>
                    </a:lnTo>
                    <a:lnTo>
                      <a:pt x="3762629" y="1524"/>
                    </a:lnTo>
                    <a:lnTo>
                      <a:pt x="3764153" y="1524"/>
                    </a:lnTo>
                    <a:lnTo>
                      <a:pt x="3764153" y="3048"/>
                    </a:lnTo>
                    <a:lnTo>
                      <a:pt x="1524" y="3048"/>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grpSp>
        <p:sp>
          <p:nvSpPr>
            <p:cNvPr id="1152" name="Google Shape;1152;p22"/>
            <p:cNvSpPr txBox="1"/>
            <p:nvPr/>
          </p:nvSpPr>
          <p:spPr>
            <a:xfrm>
              <a:off x="3551406" y="2446304"/>
              <a:ext cx="115123" cy="295466"/>
            </a:xfrm>
            <a:prstGeom prst="rect">
              <a:avLst/>
            </a:prstGeom>
            <a:noFill/>
            <a:ln>
              <a:noFill/>
            </a:ln>
          </p:spPr>
          <p:txBody>
            <a:bodyPr spcFirstLastPara="1" wrap="square" lIns="0" tIns="0" rIns="0" bIns="0" anchor="t" anchorCtr="0">
              <a:spAutoFit/>
            </a:bodyPr>
            <a:lstStyle/>
            <a:p>
              <a:pPr algn="ctr">
                <a:lnSpc>
                  <a:spcPct val="120000"/>
                </a:lnSpc>
              </a:pPr>
              <a:r>
                <a:rPr lang="en-US" sz="1500" b="1">
                  <a:solidFill>
                    <a:srgbClr val="FFFFFF"/>
                  </a:solidFill>
                  <a:latin typeface="Arial"/>
                  <a:ea typeface="Arial"/>
                  <a:cs typeface="Arial"/>
                  <a:sym typeface="Arial"/>
                </a:rPr>
                <a:t>1</a:t>
              </a:r>
              <a:endParaRPr sz="1688"/>
            </a:p>
          </p:txBody>
        </p:sp>
        <p:grpSp>
          <p:nvGrpSpPr>
            <p:cNvPr id="1153" name="Google Shape;1153;p22"/>
            <p:cNvGrpSpPr/>
            <p:nvPr/>
          </p:nvGrpSpPr>
          <p:grpSpPr>
            <a:xfrm>
              <a:off x="3482837" y="3364869"/>
              <a:ext cx="339280" cy="365953"/>
              <a:chOff x="0" y="-38100"/>
              <a:chExt cx="452374" cy="487938"/>
            </a:xfrm>
          </p:grpSpPr>
          <p:sp>
            <p:nvSpPr>
              <p:cNvPr id="1154" name="Google Shape;1154;p22"/>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55" name="Google Shape;1155;p22"/>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3</a:t>
                </a:r>
                <a:endParaRPr sz="1688"/>
              </a:p>
            </p:txBody>
          </p:sp>
        </p:grpSp>
        <p:grpSp>
          <p:nvGrpSpPr>
            <p:cNvPr id="1156" name="Google Shape;1156;p22"/>
            <p:cNvGrpSpPr/>
            <p:nvPr/>
          </p:nvGrpSpPr>
          <p:grpSpPr>
            <a:xfrm>
              <a:off x="3482837" y="3854375"/>
              <a:ext cx="339280" cy="365953"/>
              <a:chOff x="0" y="-38100"/>
              <a:chExt cx="452374" cy="487938"/>
            </a:xfrm>
          </p:grpSpPr>
          <p:sp>
            <p:nvSpPr>
              <p:cNvPr id="1157" name="Google Shape;1157;p22"/>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58" name="Google Shape;1158;p22"/>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4</a:t>
                </a:r>
                <a:endParaRPr sz="1688"/>
              </a:p>
            </p:txBody>
          </p:sp>
        </p:grpSp>
        <p:grpSp>
          <p:nvGrpSpPr>
            <p:cNvPr id="1159" name="Google Shape;1159;p22"/>
            <p:cNvGrpSpPr/>
            <p:nvPr/>
          </p:nvGrpSpPr>
          <p:grpSpPr>
            <a:xfrm>
              <a:off x="3482836" y="4372455"/>
              <a:ext cx="402812" cy="337378"/>
              <a:chOff x="0" y="0"/>
              <a:chExt cx="537083" cy="449838"/>
            </a:xfrm>
          </p:grpSpPr>
          <p:sp>
            <p:nvSpPr>
              <p:cNvPr id="1160" name="Google Shape;1160;p22"/>
              <p:cNvSpPr/>
              <p:nvPr/>
            </p:nvSpPr>
            <p:spPr>
              <a:xfrm>
                <a:off x="0" y="0"/>
                <a:ext cx="537083" cy="449834"/>
              </a:xfrm>
              <a:custGeom>
                <a:avLst/>
                <a:gdLst/>
                <a:ahLst/>
                <a:cxnLst/>
                <a:rect l="l" t="t" r="r" b="b"/>
                <a:pathLst>
                  <a:path w="537083" h="449834" extrusionOk="0">
                    <a:moveTo>
                      <a:pt x="0" y="0"/>
                    </a:moveTo>
                    <a:lnTo>
                      <a:pt x="537083" y="0"/>
                    </a:lnTo>
                    <a:lnTo>
                      <a:pt x="537083"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61" name="Google Shape;1161;p22"/>
              <p:cNvSpPr txBox="1"/>
              <p:nvPr/>
            </p:nvSpPr>
            <p:spPr>
              <a:xfrm>
                <a:off x="1" y="22269"/>
                <a:ext cx="450819" cy="427569"/>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dirty="0">
                    <a:solidFill>
                      <a:srgbClr val="FFFFFF"/>
                    </a:solidFill>
                    <a:latin typeface="Arial"/>
                    <a:ea typeface="Arial"/>
                    <a:cs typeface="Arial"/>
                    <a:sym typeface="Arial"/>
                  </a:rPr>
                  <a:t>5</a:t>
                </a:r>
                <a:endParaRPr sz="1688" dirty="0"/>
              </a:p>
            </p:txBody>
          </p:sp>
        </p:grpSp>
        <p:sp>
          <p:nvSpPr>
            <p:cNvPr id="1162" name="Google Shape;1162;p22"/>
            <p:cNvSpPr txBox="1"/>
            <p:nvPr/>
          </p:nvSpPr>
          <p:spPr>
            <a:xfrm>
              <a:off x="3890662" y="2465354"/>
              <a:ext cx="2328540" cy="206826"/>
            </a:xfrm>
            <a:prstGeom prst="rect">
              <a:avLst/>
            </a:prstGeom>
            <a:noFill/>
            <a:ln>
              <a:noFill/>
            </a:ln>
          </p:spPr>
          <p:txBody>
            <a:bodyPr spcFirstLastPara="1" wrap="square" lIns="0" tIns="0" rIns="0" bIns="0" anchor="t" anchorCtr="0">
              <a:spAutoFit/>
            </a:bodyPr>
            <a:lstStyle/>
            <a:p>
              <a:pPr>
                <a:lnSpc>
                  <a:spcPct val="120000"/>
                </a:lnSpc>
              </a:pPr>
              <a:r>
                <a:rPr lang="en-US" sz="1050">
                  <a:solidFill>
                    <a:srgbClr val="FFFFFF"/>
                  </a:solidFill>
                  <a:latin typeface="Arial"/>
                  <a:ea typeface="Arial"/>
                  <a:cs typeface="Arial"/>
                  <a:sym typeface="Arial"/>
                </a:rPr>
                <a:t>Company Overview</a:t>
              </a:r>
              <a:endParaRPr sz="1688"/>
            </a:p>
          </p:txBody>
        </p:sp>
        <p:grpSp>
          <p:nvGrpSpPr>
            <p:cNvPr id="1163" name="Google Shape;1163;p22"/>
            <p:cNvGrpSpPr/>
            <p:nvPr/>
          </p:nvGrpSpPr>
          <p:grpSpPr>
            <a:xfrm>
              <a:off x="3822093" y="3379157"/>
              <a:ext cx="2465678" cy="351665"/>
              <a:chOff x="0" y="-19050"/>
              <a:chExt cx="3287570" cy="468888"/>
            </a:xfrm>
          </p:grpSpPr>
          <p:sp>
            <p:nvSpPr>
              <p:cNvPr id="1164" name="Google Shape;1164;p22"/>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65" name="Google Shape;1165;p22"/>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Investment Thesis</a:t>
                </a:r>
                <a:endParaRPr sz="1688"/>
              </a:p>
            </p:txBody>
          </p:sp>
        </p:grpSp>
        <p:grpSp>
          <p:nvGrpSpPr>
            <p:cNvPr id="1166" name="Google Shape;1166;p22"/>
            <p:cNvGrpSpPr/>
            <p:nvPr/>
          </p:nvGrpSpPr>
          <p:grpSpPr>
            <a:xfrm>
              <a:off x="3822093" y="3868663"/>
              <a:ext cx="2465678" cy="351665"/>
              <a:chOff x="0" y="-19050"/>
              <a:chExt cx="3287570" cy="468888"/>
            </a:xfrm>
          </p:grpSpPr>
          <p:sp>
            <p:nvSpPr>
              <p:cNvPr id="1167" name="Google Shape;1167;p22"/>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68" name="Google Shape;1168;p22"/>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Valuation</a:t>
                </a:r>
                <a:endParaRPr sz="1688"/>
              </a:p>
            </p:txBody>
          </p:sp>
        </p:grpSp>
        <p:grpSp>
          <p:nvGrpSpPr>
            <p:cNvPr id="1169" name="Google Shape;1169;p22"/>
            <p:cNvGrpSpPr/>
            <p:nvPr/>
          </p:nvGrpSpPr>
          <p:grpSpPr>
            <a:xfrm>
              <a:off x="3822093" y="4358168"/>
              <a:ext cx="2465678" cy="351665"/>
              <a:chOff x="0" y="-19050"/>
              <a:chExt cx="3287570" cy="468888"/>
            </a:xfrm>
          </p:grpSpPr>
          <p:sp>
            <p:nvSpPr>
              <p:cNvPr id="1170" name="Google Shape;1170;p22"/>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71" name="Google Shape;1171;p22"/>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Catalysts and Risks</a:t>
                </a:r>
                <a:endParaRPr sz="1688"/>
              </a:p>
            </p:txBody>
          </p:sp>
        </p:grpSp>
        <p:grpSp>
          <p:nvGrpSpPr>
            <p:cNvPr id="1172" name="Google Shape;1172;p22"/>
            <p:cNvGrpSpPr/>
            <p:nvPr/>
          </p:nvGrpSpPr>
          <p:grpSpPr>
            <a:xfrm>
              <a:off x="3481694" y="4833386"/>
              <a:ext cx="341566" cy="367093"/>
              <a:chOff x="-1524" y="-38100"/>
              <a:chExt cx="455422" cy="489458"/>
            </a:xfrm>
          </p:grpSpPr>
          <p:sp>
            <p:nvSpPr>
              <p:cNvPr id="1173" name="Google Shape;1173;p22"/>
              <p:cNvSpPr/>
              <p:nvPr/>
            </p:nvSpPr>
            <p:spPr>
              <a:xfrm>
                <a:off x="0" y="0"/>
                <a:ext cx="452374" cy="449834"/>
              </a:xfrm>
              <a:custGeom>
                <a:avLst/>
                <a:gdLst/>
                <a:ahLst/>
                <a:cxnLst/>
                <a:rect l="l" t="t" r="r" b="b"/>
                <a:pathLst>
                  <a:path w="452374" h="449834" extrusionOk="0">
                    <a:moveTo>
                      <a:pt x="0" y="0"/>
                    </a:moveTo>
                    <a:lnTo>
                      <a:pt x="452374" y="0"/>
                    </a:lnTo>
                    <a:lnTo>
                      <a:pt x="452374" y="449834"/>
                    </a:lnTo>
                    <a:lnTo>
                      <a:pt x="0" y="449834"/>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74" name="Google Shape;1174;p22"/>
              <p:cNvSpPr/>
              <p:nvPr/>
            </p:nvSpPr>
            <p:spPr>
              <a:xfrm>
                <a:off x="-1524" y="-1524"/>
                <a:ext cx="455422" cy="452882"/>
              </a:xfrm>
              <a:custGeom>
                <a:avLst/>
                <a:gdLst/>
                <a:ahLst/>
                <a:cxnLst/>
                <a:rect l="l" t="t" r="r" b="b"/>
                <a:pathLst>
                  <a:path w="455422" h="452882" extrusionOk="0">
                    <a:moveTo>
                      <a:pt x="1524" y="0"/>
                    </a:moveTo>
                    <a:lnTo>
                      <a:pt x="453898" y="0"/>
                    </a:lnTo>
                    <a:cubicBezTo>
                      <a:pt x="454787" y="0"/>
                      <a:pt x="455422" y="762"/>
                      <a:pt x="455422" y="1524"/>
                    </a:cubicBezTo>
                    <a:lnTo>
                      <a:pt x="455422" y="451358"/>
                    </a:lnTo>
                    <a:cubicBezTo>
                      <a:pt x="455422" y="452247"/>
                      <a:pt x="454660" y="452882"/>
                      <a:pt x="453898"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453898" y="449834"/>
                    </a:lnTo>
                    <a:lnTo>
                      <a:pt x="453898" y="451358"/>
                    </a:lnTo>
                    <a:lnTo>
                      <a:pt x="452374" y="451358"/>
                    </a:lnTo>
                    <a:lnTo>
                      <a:pt x="452374" y="1524"/>
                    </a:lnTo>
                    <a:lnTo>
                      <a:pt x="453898" y="1524"/>
                    </a:lnTo>
                    <a:lnTo>
                      <a:pt x="453898" y="3048"/>
                    </a:lnTo>
                    <a:lnTo>
                      <a:pt x="1524" y="3048"/>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75" name="Google Shape;1175;p22"/>
              <p:cNvSpPr txBox="1"/>
              <p:nvPr/>
            </p:nvSpPr>
            <p:spPr>
              <a:xfrm>
                <a:off x="0" y="-38100"/>
                <a:ext cx="45234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6</a:t>
                </a:r>
                <a:endParaRPr sz="1688"/>
              </a:p>
            </p:txBody>
          </p:sp>
        </p:grpSp>
        <p:grpSp>
          <p:nvGrpSpPr>
            <p:cNvPr id="1176" name="Google Shape;1176;p22"/>
            <p:cNvGrpSpPr/>
            <p:nvPr/>
          </p:nvGrpSpPr>
          <p:grpSpPr>
            <a:xfrm>
              <a:off x="3820950" y="4847674"/>
              <a:ext cx="2467928" cy="352805"/>
              <a:chOff x="-1524" y="-19050"/>
              <a:chExt cx="3290570" cy="470408"/>
            </a:xfrm>
          </p:grpSpPr>
          <p:sp>
            <p:nvSpPr>
              <p:cNvPr id="1177" name="Google Shape;1177;p22"/>
              <p:cNvSpPr/>
              <p:nvPr/>
            </p:nvSpPr>
            <p:spPr>
              <a:xfrm>
                <a:off x="0" y="0"/>
                <a:ext cx="3287522" cy="449834"/>
              </a:xfrm>
              <a:custGeom>
                <a:avLst/>
                <a:gdLst/>
                <a:ahLst/>
                <a:cxnLst/>
                <a:rect l="l" t="t" r="r" b="b"/>
                <a:pathLst>
                  <a:path w="3287522" h="449834" extrusionOk="0">
                    <a:moveTo>
                      <a:pt x="0" y="0"/>
                    </a:moveTo>
                    <a:lnTo>
                      <a:pt x="3287522" y="0"/>
                    </a:lnTo>
                    <a:lnTo>
                      <a:pt x="3287522" y="449834"/>
                    </a:lnTo>
                    <a:lnTo>
                      <a:pt x="0" y="449834"/>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78" name="Google Shape;1178;p22"/>
              <p:cNvSpPr/>
              <p:nvPr/>
            </p:nvSpPr>
            <p:spPr>
              <a:xfrm>
                <a:off x="-1524" y="-1524"/>
                <a:ext cx="3290570" cy="452882"/>
              </a:xfrm>
              <a:custGeom>
                <a:avLst/>
                <a:gdLst/>
                <a:ahLst/>
                <a:cxnLst/>
                <a:rect l="l" t="t" r="r" b="b"/>
                <a:pathLst>
                  <a:path w="3290570" h="452882" extrusionOk="0">
                    <a:moveTo>
                      <a:pt x="1524" y="0"/>
                    </a:moveTo>
                    <a:lnTo>
                      <a:pt x="3289046" y="0"/>
                    </a:lnTo>
                    <a:cubicBezTo>
                      <a:pt x="3289935" y="0"/>
                      <a:pt x="3290570" y="762"/>
                      <a:pt x="3290570" y="1524"/>
                    </a:cubicBezTo>
                    <a:lnTo>
                      <a:pt x="3290570" y="451358"/>
                    </a:lnTo>
                    <a:cubicBezTo>
                      <a:pt x="3290570" y="452247"/>
                      <a:pt x="3289808" y="452882"/>
                      <a:pt x="3289046" y="452882"/>
                    </a:cubicBezTo>
                    <a:lnTo>
                      <a:pt x="1524" y="452882"/>
                    </a:lnTo>
                    <a:cubicBezTo>
                      <a:pt x="635" y="452882"/>
                      <a:pt x="0" y="452120"/>
                      <a:pt x="0" y="451358"/>
                    </a:cubicBezTo>
                    <a:lnTo>
                      <a:pt x="0" y="1524"/>
                    </a:lnTo>
                    <a:cubicBezTo>
                      <a:pt x="0" y="635"/>
                      <a:pt x="762" y="0"/>
                      <a:pt x="1524" y="0"/>
                    </a:cubicBezTo>
                    <a:moveTo>
                      <a:pt x="1524" y="3048"/>
                    </a:moveTo>
                    <a:lnTo>
                      <a:pt x="1524" y="1524"/>
                    </a:lnTo>
                    <a:lnTo>
                      <a:pt x="3048" y="1524"/>
                    </a:lnTo>
                    <a:lnTo>
                      <a:pt x="3048" y="451358"/>
                    </a:lnTo>
                    <a:lnTo>
                      <a:pt x="1524" y="451358"/>
                    </a:lnTo>
                    <a:lnTo>
                      <a:pt x="1524" y="449834"/>
                    </a:lnTo>
                    <a:lnTo>
                      <a:pt x="3289046" y="449834"/>
                    </a:lnTo>
                    <a:lnTo>
                      <a:pt x="3289046" y="451358"/>
                    </a:lnTo>
                    <a:lnTo>
                      <a:pt x="3287522" y="451358"/>
                    </a:lnTo>
                    <a:lnTo>
                      <a:pt x="3287522" y="1524"/>
                    </a:lnTo>
                    <a:lnTo>
                      <a:pt x="3289046" y="1524"/>
                    </a:lnTo>
                    <a:lnTo>
                      <a:pt x="3289046" y="3048"/>
                    </a:lnTo>
                    <a:lnTo>
                      <a:pt x="1524" y="3048"/>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79" name="Google Shape;1179;p22"/>
              <p:cNvSpPr txBox="1"/>
              <p:nvPr/>
            </p:nvSpPr>
            <p:spPr>
              <a:xfrm>
                <a:off x="0" y="-19050"/>
                <a:ext cx="3287570"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Recommendation</a:t>
                </a:r>
                <a:endParaRPr sz="1688"/>
              </a:p>
            </p:txBody>
          </p:sp>
        </p:grpSp>
        <p:grpSp>
          <p:nvGrpSpPr>
            <p:cNvPr id="1180" name="Google Shape;1180;p22"/>
            <p:cNvGrpSpPr/>
            <p:nvPr/>
          </p:nvGrpSpPr>
          <p:grpSpPr>
            <a:xfrm>
              <a:off x="3465829" y="2893212"/>
              <a:ext cx="341596" cy="365953"/>
              <a:chOff x="0" y="-38100"/>
              <a:chExt cx="455461" cy="487938"/>
            </a:xfrm>
          </p:grpSpPr>
          <p:sp>
            <p:nvSpPr>
              <p:cNvPr id="1181" name="Google Shape;1181;p22"/>
              <p:cNvSpPr/>
              <p:nvPr/>
            </p:nvSpPr>
            <p:spPr>
              <a:xfrm>
                <a:off x="0" y="0"/>
                <a:ext cx="455422" cy="449834"/>
              </a:xfrm>
              <a:custGeom>
                <a:avLst/>
                <a:gdLst/>
                <a:ahLst/>
                <a:cxnLst/>
                <a:rect l="l" t="t" r="r" b="b"/>
                <a:pathLst>
                  <a:path w="455422" h="449834" extrusionOk="0">
                    <a:moveTo>
                      <a:pt x="0" y="0"/>
                    </a:moveTo>
                    <a:lnTo>
                      <a:pt x="455422" y="0"/>
                    </a:lnTo>
                    <a:lnTo>
                      <a:pt x="455422"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82" name="Google Shape;1182;p22"/>
              <p:cNvSpPr txBox="1"/>
              <p:nvPr/>
            </p:nvSpPr>
            <p:spPr>
              <a:xfrm>
                <a:off x="0" y="-38100"/>
                <a:ext cx="455461" cy="487938"/>
              </a:xfrm>
              <a:prstGeom prst="rect">
                <a:avLst/>
              </a:prstGeom>
              <a:noFill/>
              <a:ln>
                <a:noFill/>
              </a:ln>
            </p:spPr>
            <p:txBody>
              <a:bodyPr spcFirstLastPara="1" wrap="square" lIns="47625" tIns="47625" rIns="47625" bIns="47625" anchor="ctr" anchorCtr="0">
                <a:noAutofit/>
              </a:bodyPr>
              <a:lstStyle/>
              <a:p>
                <a:pPr algn="ctr">
                  <a:lnSpc>
                    <a:spcPct val="120000"/>
                  </a:lnSpc>
                </a:pPr>
                <a:r>
                  <a:rPr lang="en-US" sz="1500" b="1">
                    <a:solidFill>
                      <a:srgbClr val="FFFFFF"/>
                    </a:solidFill>
                    <a:latin typeface="Arial"/>
                    <a:ea typeface="Arial"/>
                    <a:cs typeface="Arial"/>
                    <a:sym typeface="Arial"/>
                  </a:rPr>
                  <a:t>2</a:t>
                </a:r>
                <a:endParaRPr sz="1688"/>
              </a:p>
            </p:txBody>
          </p:sp>
        </p:grpSp>
        <p:grpSp>
          <p:nvGrpSpPr>
            <p:cNvPr id="1183" name="Google Shape;1183;p22"/>
            <p:cNvGrpSpPr/>
            <p:nvPr/>
          </p:nvGrpSpPr>
          <p:grpSpPr>
            <a:xfrm>
              <a:off x="3805085" y="2907500"/>
              <a:ext cx="2482692" cy="351665"/>
              <a:chOff x="0" y="-19050"/>
              <a:chExt cx="3310255" cy="468888"/>
            </a:xfrm>
          </p:grpSpPr>
          <p:sp>
            <p:nvSpPr>
              <p:cNvPr id="1184" name="Google Shape;1184;p22"/>
              <p:cNvSpPr/>
              <p:nvPr/>
            </p:nvSpPr>
            <p:spPr>
              <a:xfrm>
                <a:off x="0" y="0"/>
                <a:ext cx="3310255" cy="449834"/>
              </a:xfrm>
              <a:custGeom>
                <a:avLst/>
                <a:gdLst/>
                <a:ahLst/>
                <a:cxnLst/>
                <a:rect l="l" t="t" r="r" b="b"/>
                <a:pathLst>
                  <a:path w="3310255" h="449834" extrusionOk="0">
                    <a:moveTo>
                      <a:pt x="0" y="0"/>
                    </a:moveTo>
                    <a:lnTo>
                      <a:pt x="3310255" y="0"/>
                    </a:lnTo>
                    <a:lnTo>
                      <a:pt x="3310255" y="449834"/>
                    </a:lnTo>
                    <a:lnTo>
                      <a:pt x="0" y="449834"/>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185" name="Google Shape;1185;p22"/>
              <p:cNvSpPr txBox="1"/>
              <p:nvPr/>
            </p:nvSpPr>
            <p:spPr>
              <a:xfrm>
                <a:off x="0" y="-19050"/>
                <a:ext cx="3310246" cy="468888"/>
              </a:xfrm>
              <a:prstGeom prst="rect">
                <a:avLst/>
              </a:prstGeom>
              <a:noFill/>
              <a:ln>
                <a:noFill/>
              </a:ln>
            </p:spPr>
            <p:txBody>
              <a:bodyPr spcFirstLastPara="1" wrap="square" lIns="47625" tIns="47625" rIns="47625" bIns="47625" anchor="ctr" anchorCtr="0">
                <a:noAutofit/>
              </a:bodyPr>
              <a:lstStyle/>
              <a:p>
                <a:pPr>
                  <a:lnSpc>
                    <a:spcPct val="120000"/>
                  </a:lnSpc>
                </a:pPr>
                <a:r>
                  <a:rPr lang="en-US" sz="1050">
                    <a:solidFill>
                      <a:srgbClr val="FFFFFF"/>
                    </a:solidFill>
                    <a:latin typeface="Arial"/>
                    <a:ea typeface="Arial"/>
                    <a:cs typeface="Arial"/>
                    <a:sym typeface="Arial"/>
                  </a:rPr>
                  <a:t>Investment</a:t>
                </a:r>
                <a:r>
                  <a:rPr lang="en-US" sz="1050">
                    <a:solidFill>
                      <a:srgbClr val="000000"/>
                    </a:solidFill>
                    <a:latin typeface="Arial"/>
                    <a:ea typeface="Arial"/>
                    <a:cs typeface="Arial"/>
                    <a:sym typeface="Arial"/>
                  </a:rPr>
                  <a:t> </a:t>
                </a:r>
                <a:r>
                  <a:rPr lang="en-US" sz="1050">
                    <a:solidFill>
                      <a:srgbClr val="FFFFFF"/>
                    </a:solidFill>
                    <a:latin typeface="Arial"/>
                    <a:ea typeface="Arial"/>
                    <a:cs typeface="Arial"/>
                    <a:sym typeface="Arial"/>
                  </a:rPr>
                  <a:t>Thesis</a:t>
                </a:r>
                <a:endParaRPr sz="1688"/>
              </a:p>
            </p:txBody>
          </p:sp>
        </p:grpSp>
      </p:grpSp>
      <p:cxnSp>
        <p:nvCxnSpPr>
          <p:cNvPr id="1186" name="Google Shape;1186;p22"/>
          <p:cNvCxnSpPr/>
          <p:nvPr/>
        </p:nvCxnSpPr>
        <p:spPr>
          <a:xfrm rot="39499">
            <a:off x="-9578" y="2182319"/>
            <a:ext cx="1658019" cy="0"/>
          </a:xfrm>
          <a:prstGeom prst="straightConnector1">
            <a:avLst/>
          </a:prstGeom>
          <a:noFill/>
          <a:ln w="19050" cap="rnd" cmpd="sng">
            <a:solidFill>
              <a:srgbClr val="39598F"/>
            </a:solidFill>
            <a:prstDash val="solid"/>
            <a:round/>
            <a:headEnd type="none" w="sm" len="sm"/>
            <a:tailEnd type="none" w="sm" len="sm"/>
          </a:ln>
        </p:spPr>
      </p:cxnSp>
      <p:sp>
        <p:nvSpPr>
          <p:cNvPr id="1187" name="Google Shape;1187;p22"/>
          <p:cNvSpPr txBox="1"/>
          <p:nvPr/>
        </p:nvSpPr>
        <p:spPr>
          <a:xfrm>
            <a:off x="529564" y="1678468"/>
            <a:ext cx="2328863" cy="398764"/>
          </a:xfrm>
          <a:prstGeom prst="rect">
            <a:avLst/>
          </a:prstGeom>
          <a:noFill/>
          <a:ln>
            <a:noFill/>
          </a:ln>
        </p:spPr>
        <p:txBody>
          <a:bodyPr spcFirstLastPara="1" wrap="square" lIns="0" tIns="0" rIns="0" bIns="0" anchor="t" anchorCtr="0">
            <a:spAutoFit/>
          </a:bodyPr>
          <a:lstStyle/>
          <a:p>
            <a:pPr>
              <a:lnSpc>
                <a:spcPct val="108010"/>
              </a:lnSpc>
            </a:pPr>
            <a:r>
              <a:rPr lang="en-US" sz="2399">
                <a:solidFill>
                  <a:srgbClr val="333F44"/>
                </a:solidFill>
                <a:latin typeface="Open Sans Light"/>
                <a:ea typeface="Open Sans Light"/>
                <a:cs typeface="Open Sans Light"/>
                <a:sym typeface="Open Sans Light"/>
              </a:rPr>
              <a:t>Agenda</a:t>
            </a:r>
            <a:endParaRPr sz="1688"/>
          </a:p>
        </p:txBody>
      </p:sp>
      <p:pic>
        <p:nvPicPr>
          <p:cNvPr id="3" name="Picture 2" descr="Air Liquide annonce une nouvelle identité visuelle - L'ADN">
            <a:extLst>
              <a:ext uri="{FF2B5EF4-FFF2-40B4-BE49-F238E27FC236}">
                <a16:creationId xmlns:a16="http://schemas.microsoft.com/office/drawing/2014/main" id="{2BE57262-FE3C-7C42-C76C-3328EE6070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9164" y="1554637"/>
            <a:ext cx="4025671" cy="12307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6"/>
        <p:cNvGrpSpPr/>
        <p:nvPr/>
      </p:nvGrpSpPr>
      <p:grpSpPr>
        <a:xfrm>
          <a:off x="0" y="0"/>
          <a:ext cx="0" cy="0"/>
          <a:chOff x="0" y="0"/>
          <a:chExt cx="0" cy="0"/>
        </a:xfrm>
      </p:grpSpPr>
      <p:sp>
        <p:nvSpPr>
          <p:cNvPr id="1197" name="Google Shape;1197;p23"/>
          <p:cNvSpPr txBox="1"/>
          <p:nvPr/>
        </p:nvSpPr>
        <p:spPr>
          <a:xfrm>
            <a:off x="-3429000" y="342186"/>
            <a:ext cx="3200400" cy="1107611"/>
          </a:xfrm>
          <a:prstGeom prst="rect">
            <a:avLst/>
          </a:prstGeom>
          <a:noFill/>
          <a:ln>
            <a:noFill/>
          </a:ln>
        </p:spPr>
        <p:txBody>
          <a:bodyPr spcFirstLastPara="1" wrap="square" lIns="0" tIns="0" rIns="0" bIns="0" anchor="t" anchorCtr="0">
            <a:spAutoFit/>
          </a:bodyPr>
          <a:lstStyle/>
          <a:p>
            <a:pPr algn="r">
              <a:lnSpc>
                <a:spcPct val="120007"/>
              </a:lnSpc>
            </a:pPr>
            <a:r>
              <a:rPr lang="en-US" sz="2399" b="1">
                <a:solidFill>
                  <a:srgbClr val="000000"/>
                </a:solidFill>
                <a:latin typeface="Arial"/>
                <a:ea typeface="Arial"/>
                <a:cs typeface="Arial"/>
                <a:sym typeface="Arial"/>
              </a:rPr>
              <a:t>Arial Slide Title – 24</a:t>
            </a:r>
            <a:endParaRPr sz="1688"/>
          </a:p>
          <a:p>
            <a:pPr algn="r">
              <a:lnSpc>
                <a:spcPct val="119959"/>
              </a:lnSpc>
            </a:pPr>
            <a:r>
              <a:rPr lang="en-US" sz="1400">
                <a:solidFill>
                  <a:srgbClr val="000000"/>
                </a:solidFill>
                <a:latin typeface="Arial"/>
                <a:ea typeface="Arial"/>
                <a:cs typeface="Arial"/>
                <a:sym typeface="Arial"/>
              </a:rPr>
              <a:t>Content/Section Title Text – 14</a:t>
            </a:r>
            <a:endParaRPr sz="1688"/>
          </a:p>
          <a:p>
            <a:pPr algn="r">
              <a:lnSpc>
                <a:spcPct val="120015"/>
              </a:lnSpc>
            </a:pPr>
            <a:r>
              <a:rPr lang="en-US" sz="1199">
                <a:solidFill>
                  <a:srgbClr val="000000"/>
                </a:solidFill>
                <a:latin typeface="Arial"/>
                <a:ea typeface="Arial"/>
                <a:cs typeface="Arial"/>
                <a:sym typeface="Arial"/>
              </a:rPr>
              <a:t>Bullet and Subtitle Text – 12</a:t>
            </a:r>
            <a:endParaRPr sz="1688"/>
          </a:p>
          <a:p>
            <a:pPr algn="r">
              <a:lnSpc>
                <a:spcPct val="120075"/>
              </a:lnSpc>
            </a:pPr>
            <a:r>
              <a:rPr lang="en-US" sz="999">
                <a:solidFill>
                  <a:srgbClr val="000000"/>
                </a:solidFill>
                <a:latin typeface="Arial"/>
                <a:ea typeface="Arial"/>
                <a:cs typeface="Arial"/>
                <a:sym typeface="Arial"/>
              </a:rPr>
              <a:t>Chart, Profile, and Currency Text – 10</a:t>
            </a:r>
            <a:endParaRPr sz="1688"/>
          </a:p>
        </p:txBody>
      </p:sp>
      <p:grpSp>
        <p:nvGrpSpPr>
          <p:cNvPr id="1198" name="Google Shape;1198;p23"/>
          <p:cNvGrpSpPr/>
          <p:nvPr/>
        </p:nvGrpSpPr>
        <p:grpSpPr>
          <a:xfrm>
            <a:off x="-2192501" y="2633500"/>
            <a:ext cx="1970251" cy="496313"/>
            <a:chOff x="0" y="-28575"/>
            <a:chExt cx="2802135" cy="705866"/>
          </a:xfrm>
        </p:grpSpPr>
        <p:sp>
          <p:nvSpPr>
            <p:cNvPr id="1199" name="Google Shape;1199;p23"/>
            <p:cNvSpPr/>
            <p:nvPr/>
          </p:nvSpPr>
          <p:spPr>
            <a:xfrm>
              <a:off x="0" y="0"/>
              <a:ext cx="2802128" cy="677291"/>
            </a:xfrm>
            <a:custGeom>
              <a:avLst/>
              <a:gdLst/>
              <a:ahLst/>
              <a:cxnLst/>
              <a:rect l="l" t="t" r="r" b="b"/>
              <a:pathLst>
                <a:path w="2802128" h="677291" extrusionOk="0">
                  <a:moveTo>
                    <a:pt x="9017" y="0"/>
                  </a:moveTo>
                  <a:lnTo>
                    <a:pt x="2793111" y="0"/>
                  </a:lnTo>
                  <a:cubicBezTo>
                    <a:pt x="2798064" y="0"/>
                    <a:pt x="2802128" y="4064"/>
                    <a:pt x="2802128" y="9017"/>
                  </a:cubicBezTo>
                  <a:lnTo>
                    <a:pt x="2802128" y="668274"/>
                  </a:lnTo>
                  <a:cubicBezTo>
                    <a:pt x="2802128" y="673227"/>
                    <a:pt x="2798064" y="677291"/>
                    <a:pt x="2793111" y="677291"/>
                  </a:cubicBezTo>
                  <a:lnTo>
                    <a:pt x="9017" y="677291"/>
                  </a:lnTo>
                  <a:cubicBezTo>
                    <a:pt x="4064" y="677291"/>
                    <a:pt x="0" y="673227"/>
                    <a:pt x="0" y="668274"/>
                  </a:cubicBezTo>
                  <a:lnTo>
                    <a:pt x="0" y="9017"/>
                  </a:lnTo>
                  <a:cubicBezTo>
                    <a:pt x="0" y="4064"/>
                    <a:pt x="4064" y="0"/>
                    <a:pt x="9017" y="0"/>
                  </a:cubicBezTo>
                  <a:moveTo>
                    <a:pt x="9017" y="18034"/>
                  </a:moveTo>
                  <a:lnTo>
                    <a:pt x="9017" y="9017"/>
                  </a:lnTo>
                  <a:lnTo>
                    <a:pt x="18034" y="9017"/>
                  </a:lnTo>
                  <a:lnTo>
                    <a:pt x="18034" y="668274"/>
                  </a:lnTo>
                  <a:lnTo>
                    <a:pt x="9017" y="668274"/>
                  </a:lnTo>
                  <a:lnTo>
                    <a:pt x="9017" y="659257"/>
                  </a:lnTo>
                  <a:lnTo>
                    <a:pt x="2793111" y="659257"/>
                  </a:lnTo>
                  <a:lnTo>
                    <a:pt x="2793111" y="668274"/>
                  </a:lnTo>
                  <a:lnTo>
                    <a:pt x="2784094" y="668274"/>
                  </a:lnTo>
                  <a:lnTo>
                    <a:pt x="2784094" y="9017"/>
                  </a:lnTo>
                  <a:lnTo>
                    <a:pt x="2793111" y="9017"/>
                  </a:lnTo>
                  <a:lnTo>
                    <a:pt x="2793111" y="18034"/>
                  </a:lnTo>
                  <a:lnTo>
                    <a:pt x="9017" y="18034"/>
                  </a:lnTo>
                  <a:close/>
                </a:path>
              </a:pathLst>
            </a:custGeom>
            <a:solidFill>
              <a:srgbClr val="000000"/>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200" name="Google Shape;1200;p23"/>
            <p:cNvSpPr txBox="1"/>
            <p:nvPr/>
          </p:nvSpPr>
          <p:spPr>
            <a:xfrm>
              <a:off x="0" y="-28575"/>
              <a:ext cx="2802135" cy="705837"/>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Outline: black, ½ pt.</a:t>
              </a:r>
              <a:endParaRPr sz="1688"/>
            </a:p>
          </p:txBody>
        </p:sp>
      </p:grpSp>
      <p:grpSp>
        <p:nvGrpSpPr>
          <p:cNvPr id="1201" name="Google Shape;1201;p23"/>
          <p:cNvGrpSpPr/>
          <p:nvPr/>
        </p:nvGrpSpPr>
        <p:grpSpPr>
          <a:xfrm>
            <a:off x="-2186151" y="3363382"/>
            <a:ext cx="1957566" cy="486436"/>
            <a:chOff x="0" y="-28575"/>
            <a:chExt cx="2784094" cy="691820"/>
          </a:xfrm>
        </p:grpSpPr>
        <p:sp>
          <p:nvSpPr>
            <p:cNvPr id="1202" name="Google Shape;1202;p23"/>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CCD1D7"/>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203" name="Google Shape;1203;p23"/>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000000"/>
                  </a:solidFill>
                  <a:latin typeface="Arial"/>
                  <a:ea typeface="Arial"/>
                  <a:cs typeface="Arial"/>
                  <a:sym typeface="Arial"/>
                </a:rPr>
                <a:t>204 – 209 – 215</a:t>
              </a:r>
              <a:endParaRPr sz="1688"/>
            </a:p>
          </p:txBody>
        </p:sp>
      </p:grpSp>
      <p:grpSp>
        <p:nvGrpSpPr>
          <p:cNvPr id="1204" name="Google Shape;1204;p23"/>
          <p:cNvGrpSpPr/>
          <p:nvPr/>
        </p:nvGrpSpPr>
        <p:grpSpPr>
          <a:xfrm>
            <a:off x="-2186151" y="4089757"/>
            <a:ext cx="1957566" cy="486436"/>
            <a:chOff x="0" y="-28575"/>
            <a:chExt cx="2784094" cy="691820"/>
          </a:xfrm>
        </p:grpSpPr>
        <p:sp>
          <p:nvSpPr>
            <p:cNvPr id="1205" name="Google Shape;1205;p23"/>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485059"/>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206" name="Google Shape;1206;p23"/>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72 – 80 – 89 </a:t>
              </a:r>
              <a:endParaRPr sz="1688"/>
            </a:p>
          </p:txBody>
        </p:sp>
      </p:grpSp>
      <p:grpSp>
        <p:nvGrpSpPr>
          <p:cNvPr id="1207" name="Google Shape;1207;p23"/>
          <p:cNvGrpSpPr/>
          <p:nvPr/>
        </p:nvGrpSpPr>
        <p:grpSpPr>
          <a:xfrm>
            <a:off x="-2186151" y="4816132"/>
            <a:ext cx="1957566" cy="486436"/>
            <a:chOff x="0" y="-28575"/>
            <a:chExt cx="2784094" cy="691820"/>
          </a:xfrm>
        </p:grpSpPr>
        <p:sp>
          <p:nvSpPr>
            <p:cNvPr id="1208" name="Google Shape;1208;p23"/>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5E7C9E"/>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209" name="Google Shape;1209;p23"/>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94 – 124 – 158</a:t>
              </a:r>
              <a:endParaRPr sz="1688"/>
            </a:p>
          </p:txBody>
        </p:sp>
      </p:grpSp>
      <p:grpSp>
        <p:nvGrpSpPr>
          <p:cNvPr id="1210" name="Google Shape;1210;p23"/>
          <p:cNvGrpSpPr/>
          <p:nvPr/>
        </p:nvGrpSpPr>
        <p:grpSpPr>
          <a:xfrm>
            <a:off x="-2186151" y="5542509"/>
            <a:ext cx="1957566" cy="486436"/>
            <a:chOff x="0" y="-28575"/>
            <a:chExt cx="2784094" cy="691820"/>
          </a:xfrm>
        </p:grpSpPr>
        <p:sp>
          <p:nvSpPr>
            <p:cNvPr id="1211" name="Google Shape;1211;p23"/>
            <p:cNvSpPr/>
            <p:nvPr/>
          </p:nvSpPr>
          <p:spPr>
            <a:xfrm>
              <a:off x="0" y="0"/>
              <a:ext cx="2784094" cy="663194"/>
            </a:xfrm>
            <a:custGeom>
              <a:avLst/>
              <a:gdLst/>
              <a:ahLst/>
              <a:cxnLst/>
              <a:rect l="l" t="t" r="r" b="b"/>
              <a:pathLst>
                <a:path w="2784094" h="663194" extrusionOk="0">
                  <a:moveTo>
                    <a:pt x="0" y="0"/>
                  </a:moveTo>
                  <a:lnTo>
                    <a:pt x="2784094" y="0"/>
                  </a:lnTo>
                  <a:lnTo>
                    <a:pt x="2784094" y="663194"/>
                  </a:lnTo>
                  <a:lnTo>
                    <a:pt x="0" y="663194"/>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212" name="Google Shape;1212;p23"/>
            <p:cNvSpPr txBox="1"/>
            <p:nvPr/>
          </p:nvSpPr>
          <p:spPr>
            <a:xfrm>
              <a:off x="0" y="-28575"/>
              <a:ext cx="2784073" cy="691820"/>
            </a:xfrm>
            <a:prstGeom prst="rect">
              <a:avLst/>
            </a:prstGeom>
            <a:noFill/>
            <a:ln>
              <a:noFill/>
            </a:ln>
          </p:spPr>
          <p:txBody>
            <a:bodyPr spcFirstLastPara="1" wrap="square" lIns="47625" tIns="47625" rIns="47625" bIns="47625" anchor="ctr" anchorCtr="0">
              <a:noAutofit/>
            </a:bodyPr>
            <a:lstStyle/>
            <a:p>
              <a:pPr algn="ctr">
                <a:lnSpc>
                  <a:spcPct val="120015"/>
                </a:lnSpc>
              </a:pPr>
              <a:r>
                <a:rPr lang="en-US" sz="1199">
                  <a:solidFill>
                    <a:srgbClr val="FFFFFF"/>
                  </a:solidFill>
                  <a:latin typeface="Arial"/>
                  <a:ea typeface="Arial"/>
                  <a:cs typeface="Arial"/>
                  <a:sym typeface="Arial"/>
                </a:rPr>
                <a:t>17 – 61 – 99</a:t>
              </a:r>
              <a:endParaRPr sz="1688"/>
            </a:p>
          </p:txBody>
        </p:sp>
      </p:grpSp>
      <p:grpSp>
        <p:nvGrpSpPr>
          <p:cNvPr id="1213" name="Google Shape;1213;p23"/>
          <p:cNvGrpSpPr/>
          <p:nvPr/>
        </p:nvGrpSpPr>
        <p:grpSpPr>
          <a:xfrm>
            <a:off x="-2186151" y="1916319"/>
            <a:ext cx="1957566" cy="483632"/>
            <a:chOff x="0" y="-28575"/>
            <a:chExt cx="2784094" cy="687832"/>
          </a:xfrm>
        </p:grpSpPr>
        <p:sp>
          <p:nvSpPr>
            <p:cNvPr id="1214" name="Google Shape;1214;p23"/>
            <p:cNvSpPr/>
            <p:nvPr/>
          </p:nvSpPr>
          <p:spPr>
            <a:xfrm>
              <a:off x="0" y="0"/>
              <a:ext cx="2784094" cy="659257"/>
            </a:xfrm>
            <a:custGeom>
              <a:avLst/>
              <a:gdLst/>
              <a:ahLst/>
              <a:cxnLst/>
              <a:rect l="l" t="t" r="r" b="b"/>
              <a:pathLst>
                <a:path w="2784094" h="659257" extrusionOk="0">
                  <a:moveTo>
                    <a:pt x="0" y="0"/>
                  </a:moveTo>
                  <a:lnTo>
                    <a:pt x="2784094" y="0"/>
                  </a:lnTo>
                  <a:lnTo>
                    <a:pt x="2784094" y="659257"/>
                  </a:lnTo>
                  <a:lnTo>
                    <a:pt x="0" y="659257"/>
                  </a:lnTo>
                  <a:close/>
                </a:path>
              </a:pathLst>
            </a:custGeom>
            <a:solidFill>
              <a:srgbClr val="113D63"/>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215" name="Google Shape;1215;p23"/>
            <p:cNvSpPr txBox="1"/>
            <p:nvPr/>
          </p:nvSpPr>
          <p:spPr>
            <a:xfrm>
              <a:off x="0" y="-28575"/>
              <a:ext cx="2784073" cy="687775"/>
            </a:xfrm>
            <a:prstGeom prst="rect">
              <a:avLst/>
            </a:prstGeom>
            <a:noFill/>
            <a:ln>
              <a:noFill/>
            </a:ln>
          </p:spPr>
          <p:txBody>
            <a:bodyPr spcFirstLastPara="1" wrap="square" lIns="47625" tIns="47625" rIns="47625" bIns="47625" anchor="ctr" anchorCtr="0">
              <a:noAutofit/>
            </a:bodyPr>
            <a:lstStyle/>
            <a:p>
              <a:pPr marL="154432" lvl="1" indent="-76140">
                <a:lnSpc>
                  <a:spcPct val="120015"/>
                </a:lnSpc>
                <a:buClr>
                  <a:srgbClr val="FFFFFF"/>
                </a:buClr>
                <a:buSzPts val="1279"/>
                <a:buFont typeface="Arial"/>
                <a:buChar char="•"/>
              </a:pPr>
              <a:r>
                <a:rPr lang="en-US" sz="1199">
                  <a:solidFill>
                    <a:srgbClr val="FFFFFF"/>
                  </a:solidFill>
                  <a:latin typeface="Arial"/>
                  <a:ea typeface="Arial"/>
                  <a:cs typeface="Arial"/>
                  <a:sym typeface="Arial"/>
                </a:rPr>
                <a:t>Normal shapes w/ text</a:t>
              </a:r>
              <a:endParaRPr sz="1688"/>
            </a:p>
          </p:txBody>
        </p:sp>
      </p:grpSp>
      <p:sp>
        <p:nvSpPr>
          <p:cNvPr id="1216" name="Google Shape;1216;p23"/>
          <p:cNvSpPr txBox="1"/>
          <p:nvPr/>
        </p:nvSpPr>
        <p:spPr>
          <a:xfrm>
            <a:off x="239485" y="6382553"/>
            <a:ext cx="3537857" cy="332399"/>
          </a:xfrm>
          <a:prstGeom prst="rect">
            <a:avLst/>
          </a:prstGeom>
          <a:noFill/>
          <a:ln>
            <a:noFill/>
          </a:ln>
        </p:spPr>
        <p:txBody>
          <a:bodyPr spcFirstLastPara="1" wrap="square" lIns="0" tIns="0" rIns="0" bIns="0" anchor="t" anchorCtr="0">
            <a:spAutoFit/>
          </a:bodyPr>
          <a:lstStyle/>
          <a:p>
            <a:pPr>
              <a:lnSpc>
                <a:spcPct val="120000"/>
              </a:lnSpc>
            </a:pPr>
            <a:r>
              <a:rPr lang="en-US">
                <a:solidFill>
                  <a:srgbClr val="2A90BC"/>
                </a:solidFill>
                <a:latin typeface="Arimo"/>
                <a:ea typeface="Arimo"/>
                <a:cs typeface="Arimo"/>
                <a:sym typeface="Arimo"/>
              </a:rPr>
              <a:t>ESSEC Capital Investments Club</a:t>
            </a:r>
            <a:endParaRPr sz="1688"/>
          </a:p>
        </p:txBody>
      </p:sp>
      <p:cxnSp>
        <p:nvCxnSpPr>
          <p:cNvPr id="1217" name="Google Shape;1217;p23"/>
          <p:cNvCxnSpPr/>
          <p:nvPr/>
        </p:nvCxnSpPr>
        <p:spPr>
          <a:xfrm rot="8930">
            <a:off x="-11128" y="830064"/>
            <a:ext cx="9166256" cy="0"/>
          </a:xfrm>
          <a:prstGeom prst="straightConnector1">
            <a:avLst/>
          </a:prstGeom>
          <a:noFill/>
          <a:ln w="19050" cap="rnd" cmpd="sng">
            <a:solidFill>
              <a:srgbClr val="39598F"/>
            </a:solidFill>
            <a:prstDash val="solid"/>
            <a:round/>
            <a:headEnd type="none" w="sm" len="sm"/>
            <a:tailEnd type="none" w="sm" len="sm"/>
          </a:ln>
        </p:spPr>
      </p:cxnSp>
      <p:sp>
        <p:nvSpPr>
          <p:cNvPr id="1218" name="Google Shape;1218;p23"/>
          <p:cNvSpPr/>
          <p:nvPr/>
        </p:nvSpPr>
        <p:spPr>
          <a:xfrm>
            <a:off x="0" y="838200"/>
            <a:ext cx="155466" cy="374869"/>
          </a:xfrm>
          <a:custGeom>
            <a:avLst/>
            <a:gdLst/>
            <a:ahLst/>
            <a:cxnLst/>
            <a:rect l="l" t="t" r="r" b="b"/>
            <a:pathLst>
              <a:path w="221107" h="533146" extrusionOk="0">
                <a:moveTo>
                  <a:pt x="0" y="0"/>
                </a:moveTo>
                <a:lnTo>
                  <a:pt x="221107" y="0"/>
                </a:lnTo>
                <a:lnTo>
                  <a:pt x="221107" y="533146"/>
                </a:lnTo>
                <a:lnTo>
                  <a:pt x="0" y="533146"/>
                </a:lnTo>
                <a:close/>
              </a:path>
            </a:pathLst>
          </a:custGeom>
          <a:solidFill>
            <a:srgbClr val="39598F"/>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cxnSp>
        <p:nvCxnSpPr>
          <p:cNvPr id="1219" name="Google Shape;1219;p23"/>
          <p:cNvCxnSpPr/>
          <p:nvPr/>
        </p:nvCxnSpPr>
        <p:spPr>
          <a:xfrm rot="8930">
            <a:off x="-11128" y="6240264"/>
            <a:ext cx="9166256" cy="0"/>
          </a:xfrm>
          <a:prstGeom prst="straightConnector1">
            <a:avLst/>
          </a:prstGeom>
          <a:noFill/>
          <a:ln w="19050" cap="rnd" cmpd="sng">
            <a:solidFill>
              <a:srgbClr val="39598F"/>
            </a:solidFill>
            <a:prstDash val="solid"/>
            <a:round/>
            <a:headEnd type="none" w="sm" len="sm"/>
            <a:tailEnd type="none" w="sm" len="sm"/>
          </a:ln>
        </p:spPr>
      </p:cxnSp>
      <p:sp>
        <p:nvSpPr>
          <p:cNvPr id="1220" name="Google Shape;1220;p23"/>
          <p:cNvSpPr/>
          <p:nvPr/>
        </p:nvSpPr>
        <p:spPr>
          <a:xfrm>
            <a:off x="8554278" y="121136"/>
            <a:ext cx="513737" cy="671284"/>
          </a:xfrm>
          <a:custGeom>
            <a:avLst/>
            <a:gdLst/>
            <a:ahLst/>
            <a:cxnLst/>
            <a:rect l="l" t="t" r="r" b="b"/>
            <a:pathLst>
              <a:path w="547986" h="716036" extrusionOk="0">
                <a:moveTo>
                  <a:pt x="0" y="0"/>
                </a:moveTo>
                <a:lnTo>
                  <a:pt x="547986" y="0"/>
                </a:lnTo>
                <a:lnTo>
                  <a:pt x="547986" y="716036"/>
                </a:lnTo>
                <a:lnTo>
                  <a:pt x="0" y="716036"/>
                </a:lnTo>
                <a:lnTo>
                  <a:pt x="0" y="0"/>
                </a:lnTo>
                <a:close/>
              </a:path>
            </a:pathLst>
          </a:custGeom>
          <a:blipFill rotWithShape="1">
            <a:blip r:embed="rId3">
              <a:alphaModFix/>
            </a:blip>
            <a:stretch>
              <a:fillRect t="-139" b="-138"/>
            </a:stretch>
          </a:blip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graphicFrame>
        <p:nvGraphicFramePr>
          <p:cNvPr id="1221" name="Google Shape;1221;p23"/>
          <p:cNvGraphicFramePr/>
          <p:nvPr>
            <p:extLst>
              <p:ext uri="{D42A27DB-BD31-4B8C-83A1-F6EECF244321}">
                <p14:modId xmlns:p14="http://schemas.microsoft.com/office/powerpoint/2010/main" val="913336916"/>
              </p:ext>
            </p:extLst>
          </p:nvPr>
        </p:nvGraphicFramePr>
        <p:xfrm>
          <a:off x="450814" y="2396854"/>
          <a:ext cx="4114827" cy="2603697"/>
        </p:xfrm>
        <a:graphic>
          <a:graphicData uri="http://schemas.openxmlformats.org/drawingml/2006/table">
            <a:tbl>
              <a:tblPr>
                <a:noFill/>
              </a:tblPr>
              <a:tblGrid>
                <a:gridCol w="1371609">
                  <a:extLst>
                    <a:ext uri="{9D8B030D-6E8A-4147-A177-3AD203B41FA5}">
                      <a16:colId xmlns:a16="http://schemas.microsoft.com/office/drawing/2014/main" val="20000"/>
                    </a:ext>
                  </a:extLst>
                </a:gridCol>
                <a:gridCol w="1371609">
                  <a:extLst>
                    <a:ext uri="{9D8B030D-6E8A-4147-A177-3AD203B41FA5}">
                      <a16:colId xmlns:a16="http://schemas.microsoft.com/office/drawing/2014/main" val="20001"/>
                    </a:ext>
                  </a:extLst>
                </a:gridCol>
                <a:gridCol w="1371609">
                  <a:extLst>
                    <a:ext uri="{9D8B030D-6E8A-4147-A177-3AD203B41FA5}">
                      <a16:colId xmlns:a16="http://schemas.microsoft.com/office/drawing/2014/main" val="20002"/>
                    </a:ext>
                  </a:extLst>
                </a:gridCol>
              </a:tblGrid>
              <a:tr h="366844">
                <a:tc>
                  <a:txBody>
                    <a:bodyPr/>
                    <a:lstStyle/>
                    <a:p>
                      <a:pPr marL="0" marR="0" lvl="0" indent="0" algn="ctr" rtl="0">
                        <a:lnSpc>
                          <a:spcPct val="120000"/>
                        </a:lnSpc>
                        <a:spcBef>
                          <a:spcPts val="0"/>
                        </a:spcBef>
                        <a:spcAft>
                          <a:spcPts val="0"/>
                        </a:spcAft>
                        <a:buNone/>
                      </a:pPr>
                      <a:r>
                        <a:rPr lang="en-US" sz="1100" b="1" u="none" strike="noStrike" cap="none">
                          <a:solidFill>
                            <a:srgbClr val="FFFFFF"/>
                          </a:solidFill>
                          <a:latin typeface="Arial"/>
                          <a:ea typeface="Arial"/>
                          <a:cs typeface="Arial"/>
                          <a:sym typeface="Arial"/>
                        </a:rPr>
                        <a:t>Analysis</a:t>
                      </a:r>
                      <a:endParaRPr sz="1000" u="none" strike="noStrike" cap="none"/>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A6A6A6"/>
                    </a:solidFill>
                  </a:tcPr>
                </a:tc>
                <a:tc>
                  <a:txBody>
                    <a:bodyPr/>
                    <a:lstStyle/>
                    <a:p>
                      <a:pPr marL="0" marR="0" lvl="0" indent="0" algn="ctr" rtl="0">
                        <a:lnSpc>
                          <a:spcPct val="120000"/>
                        </a:lnSpc>
                        <a:spcBef>
                          <a:spcPts val="0"/>
                        </a:spcBef>
                        <a:spcAft>
                          <a:spcPts val="0"/>
                        </a:spcAft>
                        <a:buNone/>
                      </a:pPr>
                      <a:r>
                        <a:rPr lang="en-US" sz="1100" b="1" u="none" strike="noStrike" cap="none">
                          <a:solidFill>
                            <a:srgbClr val="FFFFFF"/>
                          </a:solidFill>
                          <a:latin typeface="Arial"/>
                          <a:ea typeface="Arial"/>
                          <a:cs typeface="Arial"/>
                          <a:sym typeface="Arial"/>
                        </a:rPr>
                        <a:t>Price</a:t>
                      </a:r>
                      <a:endParaRPr sz="1000" u="none" strike="noStrike" cap="none"/>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A6A6A6"/>
                    </a:solidFill>
                  </a:tcPr>
                </a:tc>
                <a:tc>
                  <a:txBody>
                    <a:bodyPr/>
                    <a:lstStyle/>
                    <a:p>
                      <a:pPr marL="0" marR="0" lvl="0" indent="0" algn="ctr" rtl="0">
                        <a:lnSpc>
                          <a:spcPct val="120000"/>
                        </a:lnSpc>
                        <a:spcBef>
                          <a:spcPts val="0"/>
                        </a:spcBef>
                        <a:spcAft>
                          <a:spcPts val="0"/>
                        </a:spcAft>
                        <a:buNone/>
                      </a:pPr>
                      <a:r>
                        <a:rPr lang="en-US" sz="1100" b="1" u="none" strike="noStrike" cap="none">
                          <a:solidFill>
                            <a:srgbClr val="FFFFFF"/>
                          </a:solidFill>
                          <a:latin typeface="Arial"/>
                          <a:ea typeface="Arial"/>
                          <a:cs typeface="Arial"/>
                          <a:sym typeface="Arial"/>
                        </a:rPr>
                        <a:t>Weight</a:t>
                      </a:r>
                      <a:endParaRPr sz="1000" u="none" strike="noStrike" cap="none"/>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A6A6A6"/>
                    </a:solidFill>
                  </a:tcPr>
                </a:tc>
                <a:extLst>
                  <a:ext uri="{0D108BD9-81ED-4DB2-BD59-A6C34878D82A}">
                    <a16:rowId xmlns:a16="http://schemas.microsoft.com/office/drawing/2014/main" val="10000"/>
                  </a:ext>
                </a:extLst>
              </a:tr>
              <a:tr h="366844">
                <a:tc>
                  <a:txBody>
                    <a:bodyPr/>
                    <a:lstStyle/>
                    <a:p>
                      <a:pPr marL="0" marR="0" lvl="0" indent="0" algn="l" rtl="0">
                        <a:lnSpc>
                          <a:spcPct val="120000"/>
                        </a:lnSpc>
                        <a:spcBef>
                          <a:spcPts val="0"/>
                        </a:spcBef>
                        <a:spcAft>
                          <a:spcPts val="0"/>
                        </a:spcAft>
                        <a:buNone/>
                      </a:pPr>
                      <a:r>
                        <a:rPr lang="en-US" sz="1100" u="none" strike="noStrike" cap="none">
                          <a:solidFill>
                            <a:srgbClr val="000000"/>
                          </a:solidFill>
                          <a:latin typeface="Arial"/>
                          <a:ea typeface="Arial"/>
                          <a:cs typeface="Arial"/>
                          <a:sym typeface="Arial"/>
                        </a:rPr>
                        <a:t>Current price</a:t>
                      </a:r>
                      <a:endParaRPr sz="1000" u="none" strike="noStrike" cap="none"/>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0D8E8"/>
                    </a:solidFill>
                  </a:tcPr>
                </a:tc>
                <a:tc>
                  <a:txBody>
                    <a:bodyPr/>
                    <a:lstStyle/>
                    <a:p>
                      <a:pPr marL="0" marR="0" lvl="0" indent="0" algn="ctr" rtl="0">
                        <a:lnSpc>
                          <a:spcPct val="120000"/>
                        </a:lnSpc>
                        <a:spcBef>
                          <a:spcPts val="0"/>
                        </a:spcBef>
                        <a:spcAft>
                          <a:spcPts val="0"/>
                        </a:spcAft>
                        <a:buNone/>
                      </a:pPr>
                      <a:r>
                        <a:rPr lang="en-US" sz="1100" u="none" strike="noStrike" cap="none" dirty="0">
                          <a:solidFill>
                            <a:srgbClr val="000000"/>
                          </a:solidFill>
                          <a:latin typeface="Arial"/>
                          <a:cs typeface="Arial"/>
                          <a:sym typeface="Arial"/>
                        </a:rPr>
                        <a:t>$76.81</a:t>
                      </a:r>
                      <a:endParaRPr sz="1000" u="none" strike="noStrike" cap="none" dirty="0"/>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0D8E8"/>
                    </a:solidFill>
                  </a:tcPr>
                </a:tc>
                <a:tc>
                  <a:txBody>
                    <a:bodyPr/>
                    <a:lstStyle/>
                    <a:p>
                      <a:pPr marL="0" marR="0" lvl="0" indent="0" algn="ctr" rtl="0">
                        <a:lnSpc>
                          <a:spcPct val="120000"/>
                        </a:lnSpc>
                        <a:spcBef>
                          <a:spcPts val="0"/>
                        </a:spcBef>
                        <a:spcAft>
                          <a:spcPts val="0"/>
                        </a:spcAft>
                        <a:buNone/>
                      </a:pPr>
                      <a:r>
                        <a:rPr lang="en-US" sz="1100" u="none" strike="noStrike" cap="none" dirty="0">
                          <a:solidFill>
                            <a:srgbClr val="000000"/>
                          </a:solidFill>
                          <a:latin typeface="Arial"/>
                          <a:ea typeface="Arial"/>
                          <a:cs typeface="Arial"/>
                          <a:sym typeface="Arial"/>
                        </a:rPr>
                        <a:t>10%</a:t>
                      </a:r>
                      <a:endParaRPr sz="1000" u="none" strike="noStrike" cap="none" dirty="0"/>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0D8E8"/>
                    </a:solidFill>
                  </a:tcPr>
                </a:tc>
                <a:extLst>
                  <a:ext uri="{0D108BD9-81ED-4DB2-BD59-A6C34878D82A}">
                    <a16:rowId xmlns:a16="http://schemas.microsoft.com/office/drawing/2014/main" val="10001"/>
                  </a:ext>
                </a:extLst>
              </a:tr>
              <a:tr h="366844">
                <a:tc>
                  <a:txBody>
                    <a:bodyPr/>
                    <a:lstStyle/>
                    <a:p>
                      <a:pPr marL="0" marR="0" lvl="0" indent="0" algn="l" rtl="0">
                        <a:lnSpc>
                          <a:spcPct val="120000"/>
                        </a:lnSpc>
                        <a:spcBef>
                          <a:spcPts val="0"/>
                        </a:spcBef>
                        <a:spcAft>
                          <a:spcPts val="0"/>
                        </a:spcAft>
                        <a:buNone/>
                      </a:pPr>
                      <a:r>
                        <a:rPr lang="en-US" sz="1100" u="none" strike="noStrike" cap="none">
                          <a:solidFill>
                            <a:srgbClr val="000000"/>
                          </a:solidFill>
                          <a:latin typeface="Arial"/>
                          <a:ea typeface="Arial"/>
                          <a:cs typeface="Arial"/>
                          <a:sym typeface="Arial"/>
                        </a:rPr>
                        <a:t>Brokers</a:t>
                      </a:r>
                      <a:endParaRPr sz="1000" u="none" strike="noStrike" cap="none"/>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9EDF4"/>
                    </a:solidFill>
                  </a:tcPr>
                </a:tc>
                <a:tc>
                  <a:txBody>
                    <a:bodyPr/>
                    <a:lstStyle/>
                    <a:p>
                      <a:pPr marL="0" marR="0" lvl="0" indent="0" algn="ctr" rtl="0">
                        <a:lnSpc>
                          <a:spcPct val="120000"/>
                        </a:lnSpc>
                        <a:spcBef>
                          <a:spcPts val="0"/>
                        </a:spcBef>
                        <a:spcAft>
                          <a:spcPts val="0"/>
                        </a:spcAft>
                        <a:buNone/>
                      </a:pPr>
                      <a:r>
                        <a:rPr lang="en-US" sz="1100" u="none" strike="noStrike" cap="none" dirty="0">
                          <a:solidFill>
                            <a:srgbClr val="000000"/>
                          </a:solidFill>
                          <a:latin typeface="Arial"/>
                          <a:cs typeface="Arial"/>
                          <a:sym typeface="Arial"/>
                        </a:rPr>
                        <a:t>$81.93</a:t>
                      </a:r>
                      <a:endParaRPr sz="1000" u="none" strike="noStrike" cap="none" dirty="0"/>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9EDF4"/>
                    </a:solidFill>
                  </a:tcPr>
                </a:tc>
                <a:tc>
                  <a:txBody>
                    <a:bodyPr/>
                    <a:lstStyle/>
                    <a:p>
                      <a:pPr marL="0" marR="0" lvl="0" indent="0" algn="ctr" rtl="0">
                        <a:lnSpc>
                          <a:spcPct val="120000"/>
                        </a:lnSpc>
                        <a:spcBef>
                          <a:spcPts val="0"/>
                        </a:spcBef>
                        <a:spcAft>
                          <a:spcPts val="0"/>
                        </a:spcAft>
                        <a:buNone/>
                      </a:pPr>
                      <a:r>
                        <a:rPr lang="en-US" sz="1100" u="none" strike="noStrike" cap="none">
                          <a:solidFill>
                            <a:srgbClr val="000000"/>
                          </a:solidFill>
                          <a:latin typeface="Arial"/>
                          <a:ea typeface="Arial"/>
                          <a:cs typeface="Arial"/>
                          <a:sym typeface="Arial"/>
                        </a:rPr>
                        <a:t>20%</a:t>
                      </a:r>
                      <a:endParaRPr sz="1000" u="none" strike="noStrike" cap="none"/>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366844">
                <a:tc>
                  <a:txBody>
                    <a:bodyPr/>
                    <a:lstStyle/>
                    <a:p>
                      <a:pPr marL="0" marR="0" lvl="0" indent="0" algn="l" rtl="0">
                        <a:lnSpc>
                          <a:spcPct val="120000"/>
                        </a:lnSpc>
                        <a:spcBef>
                          <a:spcPts val="0"/>
                        </a:spcBef>
                        <a:spcAft>
                          <a:spcPts val="0"/>
                        </a:spcAft>
                        <a:buNone/>
                      </a:pPr>
                      <a:r>
                        <a:rPr lang="en-US" sz="1100" u="none" strike="noStrike" cap="none" dirty="0">
                          <a:solidFill>
                            <a:srgbClr val="000000"/>
                          </a:solidFill>
                          <a:latin typeface="Arial"/>
                          <a:ea typeface="Arial"/>
                          <a:cs typeface="Arial"/>
                          <a:sym typeface="Arial"/>
                        </a:rPr>
                        <a:t>Comparables</a:t>
                      </a:r>
                      <a:endParaRPr sz="1000" u="none" strike="noStrike" cap="none" dirty="0"/>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0D8E8"/>
                    </a:solidFill>
                  </a:tcPr>
                </a:tc>
                <a:tc>
                  <a:txBody>
                    <a:bodyPr/>
                    <a:lstStyle/>
                    <a:p>
                      <a:pPr marL="0" marR="0" lvl="0" indent="0" algn="ctr" rtl="0">
                        <a:lnSpc>
                          <a:spcPct val="120000"/>
                        </a:lnSpc>
                        <a:spcBef>
                          <a:spcPts val="0"/>
                        </a:spcBef>
                        <a:spcAft>
                          <a:spcPts val="0"/>
                        </a:spcAft>
                        <a:buNone/>
                      </a:pPr>
                      <a:r>
                        <a:rPr lang="en-US" sz="1100" u="none" strike="noStrike" cap="none" dirty="0">
                          <a:solidFill>
                            <a:srgbClr val="000000"/>
                          </a:solidFill>
                          <a:latin typeface="Arial"/>
                          <a:cs typeface="Arial"/>
                          <a:sym typeface="Arial"/>
                        </a:rPr>
                        <a:t>$90.71</a:t>
                      </a:r>
                      <a:endParaRPr sz="1000" u="none" strike="noStrike" cap="none" dirty="0"/>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0D8E8"/>
                    </a:solidFill>
                  </a:tcPr>
                </a:tc>
                <a:tc>
                  <a:txBody>
                    <a:bodyPr/>
                    <a:lstStyle/>
                    <a:p>
                      <a:pPr marL="0" marR="0" lvl="0" indent="0" algn="ctr" rtl="0">
                        <a:lnSpc>
                          <a:spcPct val="120017"/>
                        </a:lnSpc>
                        <a:spcBef>
                          <a:spcPts val="0"/>
                        </a:spcBef>
                        <a:spcAft>
                          <a:spcPts val="0"/>
                        </a:spcAft>
                        <a:buNone/>
                      </a:pPr>
                      <a:r>
                        <a:rPr lang="en-US" sz="1000" u="none" strike="noStrike" cap="none">
                          <a:solidFill>
                            <a:srgbClr val="000000"/>
                          </a:solidFill>
                          <a:latin typeface="Arial"/>
                          <a:ea typeface="Arial"/>
                          <a:cs typeface="Arial"/>
                          <a:sym typeface="Arial"/>
                        </a:rPr>
                        <a:t>20%</a:t>
                      </a:r>
                      <a:endParaRPr sz="1000" u="none" strike="noStrike" cap="none"/>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0D8E8"/>
                    </a:solidFill>
                  </a:tcPr>
                </a:tc>
                <a:extLst>
                  <a:ext uri="{0D108BD9-81ED-4DB2-BD59-A6C34878D82A}">
                    <a16:rowId xmlns:a16="http://schemas.microsoft.com/office/drawing/2014/main" val="10003"/>
                  </a:ext>
                </a:extLst>
              </a:tr>
              <a:tr h="366844">
                <a:tc>
                  <a:txBody>
                    <a:bodyPr/>
                    <a:lstStyle/>
                    <a:p>
                      <a:pPr marL="0" marR="0" lvl="0" indent="0" algn="l" rtl="0">
                        <a:lnSpc>
                          <a:spcPct val="120000"/>
                        </a:lnSpc>
                        <a:spcBef>
                          <a:spcPts val="0"/>
                        </a:spcBef>
                        <a:spcAft>
                          <a:spcPts val="0"/>
                        </a:spcAft>
                        <a:buNone/>
                      </a:pPr>
                      <a:r>
                        <a:rPr lang="en-US" sz="1100" u="none" strike="noStrike" cap="none" dirty="0">
                          <a:solidFill>
                            <a:srgbClr val="000000"/>
                          </a:solidFill>
                          <a:latin typeface="Arial"/>
                          <a:ea typeface="Arial"/>
                          <a:cs typeface="Arial"/>
                          <a:sym typeface="Arial"/>
                        </a:rPr>
                        <a:t>DCF</a:t>
                      </a:r>
                      <a:endParaRPr sz="1000" u="none" strike="noStrike" cap="none" dirty="0"/>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9EDF4"/>
                    </a:solidFill>
                  </a:tcPr>
                </a:tc>
                <a:tc>
                  <a:txBody>
                    <a:bodyPr/>
                    <a:lstStyle/>
                    <a:p>
                      <a:pPr marL="0" marR="0" lvl="0" indent="0" algn="ctr" rtl="0">
                        <a:lnSpc>
                          <a:spcPct val="120000"/>
                        </a:lnSpc>
                        <a:spcBef>
                          <a:spcPts val="0"/>
                        </a:spcBef>
                        <a:spcAft>
                          <a:spcPts val="0"/>
                        </a:spcAft>
                        <a:buNone/>
                      </a:pPr>
                      <a:r>
                        <a:rPr lang="en-US" sz="1100" u="none" strike="noStrike" cap="none" dirty="0">
                          <a:solidFill>
                            <a:srgbClr val="000000"/>
                          </a:solidFill>
                          <a:latin typeface="Arial"/>
                          <a:cs typeface="Arial"/>
                          <a:sym typeface="Arial"/>
                        </a:rPr>
                        <a:t>$62.61</a:t>
                      </a:r>
                      <a:endParaRPr sz="1000" u="none" strike="noStrike" cap="none" dirty="0"/>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9EDF4"/>
                    </a:solidFill>
                  </a:tcPr>
                </a:tc>
                <a:tc>
                  <a:txBody>
                    <a:bodyPr/>
                    <a:lstStyle/>
                    <a:p>
                      <a:pPr marL="0" marR="0" lvl="0" indent="0" algn="ctr" rtl="0">
                        <a:lnSpc>
                          <a:spcPct val="120000"/>
                        </a:lnSpc>
                        <a:spcBef>
                          <a:spcPts val="0"/>
                        </a:spcBef>
                        <a:spcAft>
                          <a:spcPts val="0"/>
                        </a:spcAft>
                        <a:buNone/>
                      </a:pPr>
                      <a:r>
                        <a:rPr lang="en-US" sz="1100" u="none" strike="noStrike" cap="none">
                          <a:solidFill>
                            <a:srgbClr val="000000"/>
                          </a:solidFill>
                          <a:latin typeface="Arial"/>
                          <a:ea typeface="Arial"/>
                          <a:cs typeface="Arial"/>
                          <a:sym typeface="Arial"/>
                        </a:rPr>
                        <a:t>20%</a:t>
                      </a:r>
                      <a:endParaRPr sz="1000" u="none" strike="noStrike" cap="none"/>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9EDF4"/>
                    </a:solidFill>
                  </a:tcPr>
                </a:tc>
                <a:extLst>
                  <a:ext uri="{0D108BD9-81ED-4DB2-BD59-A6C34878D82A}">
                    <a16:rowId xmlns:a16="http://schemas.microsoft.com/office/drawing/2014/main" val="10004"/>
                  </a:ext>
                </a:extLst>
              </a:tr>
              <a:tr h="366844">
                <a:tc>
                  <a:txBody>
                    <a:bodyPr/>
                    <a:lstStyle/>
                    <a:p>
                      <a:pPr marL="0" marR="0" lvl="0" indent="0" algn="l" rtl="0">
                        <a:lnSpc>
                          <a:spcPct val="120000"/>
                        </a:lnSpc>
                        <a:spcBef>
                          <a:spcPts val="0"/>
                        </a:spcBef>
                        <a:spcAft>
                          <a:spcPts val="0"/>
                        </a:spcAft>
                        <a:buNone/>
                      </a:pPr>
                      <a:r>
                        <a:rPr lang="fr-FR" sz="1100" u="none" strike="noStrike" cap="none" dirty="0">
                          <a:latin typeface="Arial" panose="020B0604020202020204" pitchFamily="34" charset="0"/>
                          <a:cs typeface="Arial" panose="020B0604020202020204" pitchFamily="34" charset="0"/>
                        </a:rPr>
                        <a:t>DDM</a:t>
                      </a:r>
                      <a:endParaRPr sz="1100" u="none" strike="noStrike" cap="none" dirty="0">
                        <a:latin typeface="Arial" panose="020B0604020202020204" pitchFamily="34" charset="0"/>
                        <a:cs typeface="Arial" panose="020B0604020202020204" pitchFamily="34" charset="0"/>
                      </a:endParaRPr>
                    </a:p>
                  </a:txBody>
                  <a:tcPr marL="85734" marR="85734" marT="85734" marB="85734"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9EDF4"/>
                    </a:solidFill>
                  </a:tcPr>
                </a:tc>
                <a:tc>
                  <a:txBody>
                    <a:bodyPr/>
                    <a:lstStyle/>
                    <a:p>
                      <a:pPr marL="0" marR="0" lvl="0" indent="0" algn="ctr" rtl="0">
                        <a:lnSpc>
                          <a:spcPct val="120000"/>
                        </a:lnSpc>
                        <a:spcBef>
                          <a:spcPts val="0"/>
                        </a:spcBef>
                        <a:spcAft>
                          <a:spcPts val="0"/>
                        </a:spcAft>
                        <a:buNone/>
                      </a:pPr>
                      <a:r>
                        <a:rPr lang="fr-FR" sz="1000" u="none" strike="noStrike" cap="none" dirty="0"/>
                        <a:t>$118.02</a:t>
                      </a:r>
                      <a:endParaRPr sz="1000" u="none" strike="noStrike" cap="none" dirty="0"/>
                    </a:p>
                  </a:txBody>
                  <a:tcPr marL="85734" marR="85734" marT="85734" marB="85734"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9EDF4"/>
                    </a:solidFill>
                  </a:tcPr>
                </a:tc>
                <a:tc>
                  <a:txBody>
                    <a:bodyPr/>
                    <a:lstStyle/>
                    <a:p>
                      <a:pPr marL="0" marR="0" lvl="0" indent="0" algn="ctr" rtl="0">
                        <a:lnSpc>
                          <a:spcPct val="120000"/>
                        </a:lnSpc>
                        <a:spcBef>
                          <a:spcPts val="0"/>
                        </a:spcBef>
                        <a:spcAft>
                          <a:spcPts val="0"/>
                        </a:spcAft>
                        <a:buNone/>
                      </a:pPr>
                      <a:r>
                        <a:rPr lang="fr-FR" sz="1000" u="none" strike="noStrike" cap="none" dirty="0"/>
                        <a:t>30%</a:t>
                      </a:r>
                      <a:endParaRPr sz="1000" u="none" strike="noStrike" cap="none" dirty="0"/>
                    </a:p>
                  </a:txBody>
                  <a:tcPr marL="85734" marR="85734" marT="85734" marB="85734"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9EDF4"/>
                    </a:solidFill>
                  </a:tcPr>
                </a:tc>
                <a:extLst>
                  <a:ext uri="{0D108BD9-81ED-4DB2-BD59-A6C34878D82A}">
                    <a16:rowId xmlns:a16="http://schemas.microsoft.com/office/drawing/2014/main" val="362053106"/>
                  </a:ext>
                </a:extLst>
              </a:tr>
              <a:tr h="402633">
                <a:tc>
                  <a:txBody>
                    <a:bodyPr/>
                    <a:lstStyle/>
                    <a:p>
                      <a:pPr marL="0" marR="0" lvl="0" indent="0" algn="l" rtl="0">
                        <a:lnSpc>
                          <a:spcPct val="120000"/>
                        </a:lnSpc>
                        <a:spcBef>
                          <a:spcPts val="0"/>
                        </a:spcBef>
                        <a:spcAft>
                          <a:spcPts val="0"/>
                        </a:spcAft>
                        <a:buNone/>
                      </a:pPr>
                      <a:r>
                        <a:rPr lang="en-US" sz="1100" b="1" u="none" strike="noStrike" cap="none">
                          <a:solidFill>
                            <a:srgbClr val="000000"/>
                          </a:solidFill>
                          <a:latin typeface="Arial"/>
                          <a:ea typeface="Arial"/>
                          <a:cs typeface="Arial"/>
                          <a:sym typeface="Arial"/>
                        </a:rPr>
                        <a:t>Target Price</a:t>
                      </a:r>
                      <a:endParaRPr sz="1000" u="none" strike="noStrike" cap="none"/>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D9D9"/>
                    </a:solidFill>
                  </a:tcPr>
                </a:tc>
                <a:tc>
                  <a:txBody>
                    <a:bodyPr/>
                    <a:lstStyle/>
                    <a:p>
                      <a:pPr marL="0" marR="0" lvl="0" indent="0" algn="ctr" rtl="0">
                        <a:lnSpc>
                          <a:spcPct val="120015"/>
                        </a:lnSpc>
                        <a:spcBef>
                          <a:spcPts val="0"/>
                        </a:spcBef>
                        <a:spcAft>
                          <a:spcPts val="0"/>
                        </a:spcAft>
                        <a:buNone/>
                      </a:pPr>
                      <a:r>
                        <a:rPr lang="en-US" sz="1200" b="1" u="none" strike="noStrike" cap="none" dirty="0">
                          <a:solidFill>
                            <a:srgbClr val="00B050"/>
                          </a:solidFill>
                          <a:latin typeface="Arial"/>
                          <a:cs typeface="Arial"/>
                          <a:sym typeface="Arial"/>
                        </a:rPr>
                        <a:t>$90.14</a:t>
                      </a:r>
                      <a:endParaRPr sz="1000" u="none" strike="noStrike" cap="none" dirty="0">
                        <a:solidFill>
                          <a:srgbClr val="00B050"/>
                        </a:solidFill>
                      </a:endParaRPr>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D9D9"/>
                    </a:solidFill>
                  </a:tcPr>
                </a:tc>
                <a:tc>
                  <a:txBody>
                    <a:bodyPr/>
                    <a:lstStyle/>
                    <a:p>
                      <a:pPr marL="0" marR="0" lvl="0" indent="0" algn="ctr" rtl="0">
                        <a:lnSpc>
                          <a:spcPct val="120000"/>
                        </a:lnSpc>
                        <a:spcBef>
                          <a:spcPts val="0"/>
                        </a:spcBef>
                        <a:spcAft>
                          <a:spcPts val="0"/>
                        </a:spcAft>
                        <a:buNone/>
                      </a:pPr>
                      <a:r>
                        <a:rPr lang="en-US" sz="1100" u="none" strike="noStrike" cap="none" dirty="0">
                          <a:solidFill>
                            <a:srgbClr val="000000"/>
                          </a:solidFill>
                          <a:latin typeface="Arial"/>
                          <a:ea typeface="Arial"/>
                          <a:cs typeface="Arial"/>
                          <a:sym typeface="Arial"/>
                        </a:rPr>
                        <a:t>100%</a:t>
                      </a:r>
                      <a:endParaRPr sz="1000" u="none" strike="noStrike" cap="none" dirty="0"/>
                    </a:p>
                  </a:txBody>
                  <a:tcPr marL="85734" marR="85734" marT="85734" marB="85734"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D9D9"/>
                    </a:solidFill>
                  </a:tcPr>
                </a:tc>
                <a:extLst>
                  <a:ext uri="{0D108BD9-81ED-4DB2-BD59-A6C34878D82A}">
                    <a16:rowId xmlns:a16="http://schemas.microsoft.com/office/drawing/2014/main" val="10005"/>
                  </a:ext>
                </a:extLst>
              </a:tr>
            </a:tbl>
          </a:graphicData>
        </a:graphic>
      </p:graphicFrame>
      <p:sp>
        <p:nvSpPr>
          <p:cNvPr id="1222" name="Google Shape;1222;p23"/>
          <p:cNvSpPr txBox="1"/>
          <p:nvPr/>
        </p:nvSpPr>
        <p:spPr>
          <a:xfrm>
            <a:off x="64294" y="455032"/>
            <a:ext cx="4733492" cy="398764"/>
          </a:xfrm>
          <a:prstGeom prst="rect">
            <a:avLst/>
          </a:prstGeom>
          <a:noFill/>
          <a:ln>
            <a:noFill/>
          </a:ln>
        </p:spPr>
        <p:txBody>
          <a:bodyPr spcFirstLastPara="1" wrap="square" lIns="0" tIns="0" rIns="0" bIns="0" anchor="t" anchorCtr="0">
            <a:spAutoFit/>
          </a:bodyPr>
          <a:lstStyle/>
          <a:p>
            <a:pPr>
              <a:lnSpc>
                <a:spcPct val="108010"/>
              </a:lnSpc>
            </a:pPr>
            <a:r>
              <a:rPr lang="en-US" sz="2399">
                <a:solidFill>
                  <a:srgbClr val="333F44"/>
                </a:solidFill>
                <a:latin typeface="Open Sans Light"/>
                <a:ea typeface="Open Sans Light"/>
                <a:cs typeface="Open Sans Light"/>
                <a:sym typeface="Open Sans Light"/>
              </a:rPr>
              <a:t>Price Target &amp; Recommendation</a:t>
            </a:r>
            <a:endParaRPr sz="1688"/>
          </a:p>
        </p:txBody>
      </p:sp>
      <p:grpSp>
        <p:nvGrpSpPr>
          <p:cNvPr id="1223" name="Google Shape;1223;p23"/>
          <p:cNvGrpSpPr/>
          <p:nvPr/>
        </p:nvGrpSpPr>
        <p:grpSpPr>
          <a:xfrm>
            <a:off x="450814" y="1765131"/>
            <a:ext cx="4120978" cy="305329"/>
            <a:chOff x="0" y="-9525"/>
            <a:chExt cx="5860946" cy="434245"/>
          </a:xfrm>
        </p:grpSpPr>
        <p:sp>
          <p:nvSpPr>
            <p:cNvPr id="1224" name="Google Shape;1224;p23"/>
            <p:cNvSpPr/>
            <p:nvPr/>
          </p:nvSpPr>
          <p:spPr>
            <a:xfrm>
              <a:off x="0" y="0"/>
              <a:ext cx="5860923" cy="424688"/>
            </a:xfrm>
            <a:custGeom>
              <a:avLst/>
              <a:gdLst/>
              <a:ahLst/>
              <a:cxnLst/>
              <a:rect l="l" t="t" r="r" b="b"/>
              <a:pathLst>
                <a:path w="5860923" h="424688" extrusionOk="0">
                  <a:moveTo>
                    <a:pt x="0" y="0"/>
                  </a:moveTo>
                  <a:lnTo>
                    <a:pt x="5860923" y="0"/>
                  </a:lnTo>
                  <a:lnTo>
                    <a:pt x="5860923" y="424688"/>
                  </a:lnTo>
                  <a:lnTo>
                    <a:pt x="0" y="424688"/>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225" name="Google Shape;1225;p23"/>
            <p:cNvSpPr txBox="1"/>
            <p:nvPr/>
          </p:nvSpPr>
          <p:spPr>
            <a:xfrm>
              <a:off x="0" y="-9525"/>
              <a:ext cx="5860946" cy="434245"/>
            </a:xfrm>
            <a:prstGeom prst="rect">
              <a:avLst/>
            </a:prstGeom>
            <a:noFill/>
            <a:ln>
              <a:noFill/>
            </a:ln>
          </p:spPr>
          <p:txBody>
            <a:bodyPr spcFirstLastPara="1" wrap="square" lIns="47625" tIns="47625" rIns="47625" bIns="47625" anchor="b" anchorCtr="0">
              <a:noAutofit/>
            </a:bodyPr>
            <a:lstStyle/>
            <a:p>
              <a:pPr>
                <a:lnSpc>
                  <a:spcPct val="108053"/>
                </a:lnSpc>
              </a:pPr>
              <a:r>
                <a:rPr lang="en-US" sz="1199" b="1">
                  <a:solidFill>
                    <a:srgbClr val="FFFFFF"/>
                  </a:solidFill>
                  <a:latin typeface="Arial"/>
                  <a:ea typeface="Arial"/>
                  <a:cs typeface="Arial"/>
                  <a:sym typeface="Arial"/>
                </a:rPr>
                <a:t>Price Target</a:t>
              </a:r>
              <a:endParaRPr sz="1688"/>
            </a:p>
          </p:txBody>
        </p:sp>
      </p:grpSp>
      <p:sp>
        <p:nvSpPr>
          <p:cNvPr id="1226" name="Google Shape;1226;p23"/>
          <p:cNvSpPr txBox="1"/>
          <p:nvPr/>
        </p:nvSpPr>
        <p:spPr>
          <a:xfrm>
            <a:off x="4797786" y="1877914"/>
            <a:ext cx="4114827" cy="3310330"/>
          </a:xfrm>
          <a:prstGeom prst="rect">
            <a:avLst/>
          </a:prstGeom>
          <a:noFill/>
          <a:ln>
            <a:noFill/>
          </a:ln>
        </p:spPr>
        <p:txBody>
          <a:bodyPr spcFirstLastPara="1" wrap="square" lIns="0" tIns="0" rIns="0" bIns="0" anchor="t" anchorCtr="0">
            <a:spAutoFit/>
          </a:bodyPr>
          <a:lstStyle/>
          <a:p>
            <a:pPr algn="ctr">
              <a:lnSpc>
                <a:spcPct val="120013"/>
              </a:lnSpc>
            </a:pPr>
            <a:r>
              <a:rPr lang="en-US" sz="1429" b="1" dirty="0">
                <a:ea typeface="Open Sans"/>
                <a:cs typeface="Open Sans"/>
                <a:sym typeface="Open Sans"/>
              </a:rPr>
              <a:t>We believe that under $80, KO is a low-risk play and therefore a buy for our core portfolio.</a:t>
            </a:r>
            <a:endParaRPr sz="1688" dirty="0"/>
          </a:p>
          <a:p>
            <a:pPr algn="ctr">
              <a:lnSpc>
                <a:spcPct val="120013"/>
              </a:lnSpc>
            </a:pPr>
            <a:endParaRPr sz="1429" b="1" dirty="0">
              <a:ea typeface="Open Sans"/>
              <a:cs typeface="Open Sans"/>
              <a:sym typeface="Open Sans"/>
            </a:endParaRPr>
          </a:p>
          <a:p>
            <a:pPr algn="ctr">
              <a:lnSpc>
                <a:spcPct val="120013"/>
              </a:lnSpc>
            </a:pPr>
            <a:r>
              <a:rPr lang="en-US" sz="1429" b="1" dirty="0">
                <a:ea typeface="Open Sans"/>
                <a:cs typeface="Open Sans"/>
                <a:sym typeface="Open Sans"/>
              </a:rPr>
              <a:t>Our price target is $90, giving us a 17% upside, but this is a short to medium-term play.  </a:t>
            </a:r>
          </a:p>
          <a:p>
            <a:pPr algn="ctr">
              <a:lnSpc>
                <a:spcPct val="120013"/>
              </a:lnSpc>
            </a:pPr>
            <a:endParaRPr lang="en-US" sz="1429" b="1" dirty="0">
              <a:ea typeface="Open Sans"/>
              <a:cs typeface="Open Sans"/>
              <a:sym typeface="Open Sans"/>
            </a:endParaRPr>
          </a:p>
          <a:p>
            <a:pPr algn="ctr">
              <a:lnSpc>
                <a:spcPct val="120013"/>
              </a:lnSpc>
            </a:pPr>
            <a:r>
              <a:rPr lang="fr-FR" sz="1688" b="1" dirty="0"/>
              <a:t>A stop in the 64-year </a:t>
            </a:r>
            <a:r>
              <a:rPr lang="fr-FR" sz="1688" b="1" dirty="0" err="1"/>
              <a:t>continuous</a:t>
            </a:r>
            <a:r>
              <a:rPr lang="fr-FR" sz="1688" b="1" dirty="0"/>
              <a:t> </a:t>
            </a:r>
            <a:r>
              <a:rPr lang="fr-FR" sz="1688" b="1" dirty="0" err="1"/>
              <a:t>increase</a:t>
            </a:r>
            <a:r>
              <a:rPr lang="fr-FR" sz="1688" b="1" dirty="0"/>
              <a:t> in </a:t>
            </a:r>
            <a:r>
              <a:rPr lang="fr-FR" sz="1688" b="1" dirty="0" err="1"/>
              <a:t>dividends</a:t>
            </a:r>
            <a:r>
              <a:rPr lang="fr-FR" sz="1688" b="1" dirty="0"/>
              <a:t> </a:t>
            </a:r>
            <a:r>
              <a:rPr lang="fr-FR" sz="1688" b="1" dirty="0" err="1"/>
              <a:t>is</a:t>
            </a:r>
            <a:r>
              <a:rPr lang="fr-FR" sz="1688" b="1" dirty="0"/>
              <a:t> </a:t>
            </a:r>
            <a:r>
              <a:rPr lang="fr-FR" sz="1688" b="1" dirty="0" err="1"/>
              <a:t>where</a:t>
            </a:r>
            <a:r>
              <a:rPr lang="fr-FR" sz="1688" b="1" dirty="0"/>
              <a:t> </a:t>
            </a:r>
            <a:r>
              <a:rPr lang="fr-FR" sz="1688" b="1" dirty="0" err="1"/>
              <a:t>we</a:t>
            </a:r>
            <a:r>
              <a:rPr lang="fr-FR" sz="1688" b="1" dirty="0"/>
              <a:t> </a:t>
            </a:r>
            <a:r>
              <a:rPr lang="fr-FR" sz="1688" b="1" dirty="0" err="1"/>
              <a:t>could</a:t>
            </a:r>
            <a:r>
              <a:rPr lang="fr-FR" sz="1688" b="1" dirty="0"/>
              <a:t> </a:t>
            </a:r>
            <a:r>
              <a:rPr lang="fr-FR" sz="1688" b="1" dirty="0" err="1"/>
              <a:t>consider</a:t>
            </a:r>
            <a:r>
              <a:rPr lang="fr-FR" sz="1688" b="1" dirty="0"/>
              <a:t> </a:t>
            </a:r>
            <a:r>
              <a:rPr lang="fr-FR" sz="1688" b="1" dirty="0" err="1"/>
              <a:t>selling</a:t>
            </a:r>
            <a:r>
              <a:rPr lang="fr-FR" sz="1688" b="1" dirty="0"/>
              <a:t> </a:t>
            </a:r>
            <a:r>
              <a:rPr lang="fr-FR" sz="1688" b="1" dirty="0" err="1"/>
              <a:t>before</a:t>
            </a:r>
            <a:r>
              <a:rPr lang="fr-FR" sz="1688" b="1" dirty="0"/>
              <a:t> </a:t>
            </a:r>
            <a:r>
              <a:rPr lang="fr-FR" sz="1688" b="1" dirty="0" err="1"/>
              <a:t>our</a:t>
            </a:r>
            <a:r>
              <a:rPr lang="fr-FR" sz="1688" b="1" dirty="0"/>
              <a:t> </a:t>
            </a:r>
            <a:r>
              <a:rPr lang="fr-FR" sz="1688" b="1" dirty="0" err="1"/>
              <a:t>price</a:t>
            </a:r>
            <a:r>
              <a:rPr lang="fr-FR" sz="1688" b="1" dirty="0"/>
              <a:t> </a:t>
            </a:r>
            <a:r>
              <a:rPr lang="fr-FR" sz="1688" b="1" dirty="0" err="1"/>
              <a:t>target</a:t>
            </a:r>
            <a:r>
              <a:rPr lang="fr-FR" sz="1688" b="1" dirty="0"/>
              <a:t>. </a:t>
            </a:r>
            <a:endParaRPr lang="fr-FR" sz="1688" dirty="0"/>
          </a:p>
          <a:p>
            <a:pPr algn="ctr">
              <a:lnSpc>
                <a:spcPct val="120013"/>
              </a:lnSpc>
            </a:pPr>
            <a:endParaRPr sz="1429" b="1" dirty="0">
              <a:ea typeface="Open Sans"/>
              <a:cs typeface="Open Sans"/>
              <a:sym typeface="Open Sans"/>
            </a:endParaRPr>
          </a:p>
          <a:p>
            <a:pPr algn="ctr">
              <a:lnSpc>
                <a:spcPct val="120013"/>
              </a:lnSpc>
            </a:pPr>
            <a:r>
              <a:rPr lang="en-US" sz="1429" b="1" dirty="0">
                <a:ea typeface="Open Sans"/>
                <a:cs typeface="Open Sans"/>
                <a:sym typeface="Open Sans"/>
              </a:rPr>
              <a:t>We put a stop loss at $65.</a:t>
            </a:r>
            <a:endParaRPr sz="1688" dirty="0"/>
          </a:p>
          <a:p>
            <a:pPr algn="ctr">
              <a:lnSpc>
                <a:spcPct val="120013"/>
              </a:lnSpc>
            </a:pPr>
            <a:endParaRPr sz="1429" b="1" dirty="0">
              <a:solidFill>
                <a:srgbClr val="FF0000"/>
              </a:solidFill>
              <a:latin typeface="Open Sans"/>
              <a:ea typeface="Open Sans"/>
              <a:cs typeface="Open Sans"/>
              <a:sym typeface="Open Sans"/>
            </a:endParaRPr>
          </a:p>
        </p:txBody>
      </p:sp>
      <p:grpSp>
        <p:nvGrpSpPr>
          <p:cNvPr id="1227" name="Google Shape;1227;p23"/>
          <p:cNvGrpSpPr/>
          <p:nvPr/>
        </p:nvGrpSpPr>
        <p:grpSpPr>
          <a:xfrm>
            <a:off x="457618" y="2113845"/>
            <a:ext cx="4114383" cy="297716"/>
            <a:chOff x="0" y="0"/>
            <a:chExt cx="5851567" cy="423418"/>
          </a:xfrm>
        </p:grpSpPr>
        <p:sp>
          <p:nvSpPr>
            <p:cNvPr id="1228" name="Google Shape;1228;p23"/>
            <p:cNvSpPr/>
            <p:nvPr/>
          </p:nvSpPr>
          <p:spPr>
            <a:xfrm>
              <a:off x="0" y="0"/>
              <a:ext cx="5851525" cy="423418"/>
            </a:xfrm>
            <a:custGeom>
              <a:avLst/>
              <a:gdLst/>
              <a:ahLst/>
              <a:cxnLst/>
              <a:rect l="l" t="t" r="r" b="b"/>
              <a:pathLst>
                <a:path w="5851525" h="423418" extrusionOk="0">
                  <a:moveTo>
                    <a:pt x="0" y="0"/>
                  </a:moveTo>
                  <a:lnTo>
                    <a:pt x="5851525" y="0"/>
                  </a:lnTo>
                  <a:lnTo>
                    <a:pt x="5851525" y="423418"/>
                  </a:lnTo>
                  <a:lnTo>
                    <a:pt x="0" y="423418"/>
                  </a:lnTo>
                  <a:close/>
                </a:path>
              </a:pathLst>
            </a:custGeom>
            <a:solidFill>
              <a:srgbClr val="333F44"/>
            </a:solidFill>
            <a:ln>
              <a:noFill/>
            </a:ln>
          </p:spPr>
          <p:txBody>
            <a:bodyPr spcFirstLastPara="1" wrap="square" lIns="85711" tIns="42844" rIns="85711" bIns="42844" anchor="t" anchorCtr="0">
              <a:noAutofit/>
            </a:bodyPr>
            <a:lstStyle/>
            <a:p>
              <a:endParaRPr sz="1688">
                <a:solidFill>
                  <a:schemeClr val="dk1"/>
                </a:solidFill>
                <a:latin typeface="Calibri"/>
                <a:ea typeface="Calibri"/>
                <a:cs typeface="Calibri"/>
                <a:sym typeface="Calibri"/>
              </a:endParaRPr>
            </a:p>
          </p:txBody>
        </p:sp>
        <p:sp>
          <p:nvSpPr>
            <p:cNvPr id="1229" name="Google Shape;1229;p23"/>
            <p:cNvSpPr txBox="1"/>
            <p:nvPr/>
          </p:nvSpPr>
          <p:spPr>
            <a:xfrm>
              <a:off x="0" y="9525"/>
              <a:ext cx="5851567" cy="413853"/>
            </a:xfrm>
            <a:prstGeom prst="rect">
              <a:avLst/>
            </a:prstGeom>
            <a:noFill/>
            <a:ln>
              <a:noFill/>
            </a:ln>
          </p:spPr>
          <p:txBody>
            <a:bodyPr spcFirstLastPara="1" wrap="square" lIns="47625" tIns="47625" rIns="47625" bIns="47625" anchor="b" anchorCtr="0">
              <a:noAutofit/>
            </a:bodyPr>
            <a:lstStyle/>
            <a:p>
              <a:pPr algn="ctr">
                <a:lnSpc>
                  <a:spcPct val="107970"/>
                </a:lnSpc>
              </a:pPr>
              <a:r>
                <a:rPr lang="en-US" sz="1400" b="1">
                  <a:solidFill>
                    <a:srgbClr val="FFFFFF"/>
                  </a:solidFill>
                  <a:latin typeface="Arial"/>
                  <a:ea typeface="Arial"/>
                  <a:cs typeface="Arial"/>
                  <a:sym typeface="Arial"/>
                </a:rPr>
                <a:t>Valuation Summary</a:t>
              </a:r>
              <a:endParaRPr sz="1688"/>
            </a:p>
          </p:txBody>
        </p:sp>
      </p:grpSp>
      <p:sp>
        <p:nvSpPr>
          <p:cNvPr id="2" name="ZoneTexte 1">
            <a:extLst>
              <a:ext uri="{FF2B5EF4-FFF2-40B4-BE49-F238E27FC236}">
                <a16:creationId xmlns:a16="http://schemas.microsoft.com/office/drawing/2014/main" id="{D5C1D78F-C404-35CD-ACF6-CD23DB37FE2E}"/>
              </a:ext>
            </a:extLst>
          </p:cNvPr>
          <p:cNvSpPr txBox="1"/>
          <p:nvPr/>
        </p:nvSpPr>
        <p:spPr>
          <a:xfrm>
            <a:off x="4797786" y="455032"/>
            <a:ext cx="3346754" cy="369332"/>
          </a:xfrm>
          <a:prstGeom prst="rect">
            <a:avLst/>
          </a:prstGeom>
          <a:noFill/>
        </p:spPr>
        <p:txBody>
          <a:bodyPr wrap="square" rtlCol="0">
            <a:spAutoFit/>
          </a:bodyPr>
          <a:lstStyle/>
          <a:p>
            <a:r>
              <a:rPr lang="fr-FR" dirty="0">
                <a:solidFill>
                  <a:srgbClr val="FF0000"/>
                </a:solidFill>
              </a:rPr>
              <a:t>Marvin (</a:t>
            </a:r>
            <a:r>
              <a:rPr lang="fr-FR" dirty="0" err="1">
                <a:solidFill>
                  <a:srgbClr val="FF0000"/>
                </a:solidFill>
              </a:rPr>
              <a:t>waiting</a:t>
            </a:r>
            <a:r>
              <a:rPr lang="fr-FR" dirty="0">
                <a:solidFill>
                  <a:srgbClr val="FF0000"/>
                </a:solidFill>
              </a:rPr>
              <a:t> for Bloomberg)</a:t>
            </a:r>
          </a:p>
        </p:txBody>
      </p:sp>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431</TotalTime>
  <Words>2601</Words>
  <Application>Microsoft Macintosh PowerPoint</Application>
  <PresentationFormat>Affichage à l'écran (4:3)</PresentationFormat>
  <Paragraphs>496</Paragraphs>
  <Slides>18</Slides>
  <Notes>18</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18</vt:i4>
      </vt:variant>
    </vt:vector>
  </HeadingPairs>
  <TitlesOfParts>
    <vt:vector size="28" baseType="lpstr">
      <vt:lpstr>Aptos</vt:lpstr>
      <vt:lpstr>Aptos Display</vt:lpstr>
      <vt:lpstr>Aptos Narrow</vt:lpstr>
      <vt:lpstr>Arial</vt:lpstr>
      <vt:lpstr>Arimo</vt:lpstr>
      <vt:lpstr>Calibri</vt:lpstr>
      <vt:lpstr>Open Sans</vt:lpstr>
      <vt:lpstr>Open Sans Light</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Marvin BRAUD</dc:creator>
  <cp:lastModifiedBy>Marvin BRAUD</cp:lastModifiedBy>
  <cp:revision>66</cp:revision>
  <dcterms:created xsi:type="dcterms:W3CDTF">2026-03-23T09:49:24Z</dcterms:created>
  <dcterms:modified xsi:type="dcterms:W3CDTF">2026-04-03T20:27:19Z</dcterms:modified>
</cp:coreProperties>
</file>